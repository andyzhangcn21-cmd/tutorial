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6.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erverZoom="100000" strictFirstAndLastChars="0">
  <p:sldMasterIdLst>
    <p:sldMasterId id="2147483648" r:id="rId1"/>
  </p:sldMasterIdLst>
  <p:notesMasterIdLst>
    <p:notesMasterId r:id="rId4"/>
  </p:notesMasterIdLst>
  <p:sldIdLst>
    <p:sldId id="256" r:id="rId3"/>
    <p:sldId id="991" r:id="rId5"/>
    <p:sldId id="995" r:id="rId6"/>
    <p:sldId id="997" r:id="rId7"/>
    <p:sldId id="998" r:id="rId8"/>
    <p:sldId id="999" r:id="rId9"/>
    <p:sldId id="1000" r:id="rId10"/>
    <p:sldId id="1001" r:id="rId11"/>
    <p:sldId id="1002" r:id="rId12"/>
    <p:sldId id="1003" r:id="rId13"/>
    <p:sldId id="1004" r:id="rId14"/>
    <p:sldId id="1005" r:id="rId15"/>
    <p:sldId id="1006" r:id="rId16"/>
    <p:sldId id="1007" r:id="rId17"/>
    <p:sldId id="1008" r:id="rId18"/>
    <p:sldId id="1009" r:id="rId19"/>
    <p:sldId id="947" r:id="rId20"/>
    <p:sldId id="948" r:id="rId21"/>
    <p:sldId id="949" r:id="rId22"/>
    <p:sldId id="950" r:id="rId23"/>
    <p:sldId id="952" r:id="rId24"/>
    <p:sldId id="953" r:id="rId25"/>
    <p:sldId id="954" r:id="rId26"/>
    <p:sldId id="1010" r:id="rId27"/>
    <p:sldId id="1011" r:id="rId28"/>
    <p:sldId id="955" r:id="rId29"/>
    <p:sldId id="956" r:id="rId30"/>
    <p:sldId id="957" r:id="rId31"/>
    <p:sldId id="958" r:id="rId32"/>
    <p:sldId id="1013" r:id="rId33"/>
    <p:sldId id="1014" r:id="rId34"/>
    <p:sldId id="1015" r:id="rId35"/>
  </p:sldIdLst>
  <p:sldSz cx="9144000" cy="5143500" type="screen16x9"/>
  <p:notesSz cx="6858000" cy="9144000"/>
  <p:custDataLst>
    <p:tags r:id="rId40"/>
  </p:custDataLst>
  <p:defaultTextStyle>
    <a:defPPr>
      <a:defRPr lang="en-US"/>
    </a:defPPr>
    <a:lvl1pPr algn="l" defTabSz="1087755" rtl="0" eaLnBrk="0" fontAlgn="base" hangingPunct="0">
      <a:spcBef>
        <a:spcPct val="0"/>
      </a:spcBef>
      <a:spcAft>
        <a:spcPct val="0"/>
      </a:spcAft>
      <a:defRPr sz="1100" kern="1200">
        <a:solidFill>
          <a:srgbClr val="000000"/>
        </a:solidFill>
        <a:latin typeface="Canela Text Regular" charset="0"/>
        <a:ea typeface="Canela Text Regular" charset="0"/>
        <a:cs typeface="Canela Text Regular" charset="0"/>
        <a:sym typeface="Canela Text Regular" charset="0"/>
      </a:defRPr>
    </a:lvl1pPr>
    <a:lvl2pPr marL="285750" indent="171450" algn="l" defTabSz="1087755" rtl="0" eaLnBrk="0" fontAlgn="base" hangingPunct="0">
      <a:spcBef>
        <a:spcPct val="0"/>
      </a:spcBef>
      <a:spcAft>
        <a:spcPct val="0"/>
      </a:spcAft>
      <a:defRPr sz="1100" kern="1200">
        <a:solidFill>
          <a:srgbClr val="000000"/>
        </a:solidFill>
        <a:latin typeface="Canela Text Regular" charset="0"/>
        <a:ea typeface="Canela Text Regular" charset="0"/>
        <a:cs typeface="Canela Text Regular" charset="0"/>
        <a:sym typeface="Canela Text Regular" charset="0"/>
      </a:defRPr>
    </a:lvl2pPr>
    <a:lvl3pPr marL="573405" indent="341630" algn="l" defTabSz="1087755" rtl="0" eaLnBrk="0" fontAlgn="base" hangingPunct="0">
      <a:spcBef>
        <a:spcPct val="0"/>
      </a:spcBef>
      <a:spcAft>
        <a:spcPct val="0"/>
      </a:spcAft>
      <a:defRPr sz="1100" kern="1200">
        <a:solidFill>
          <a:srgbClr val="000000"/>
        </a:solidFill>
        <a:latin typeface="Canela Text Regular" charset="0"/>
        <a:ea typeface="Canela Text Regular" charset="0"/>
        <a:cs typeface="Canela Text Regular" charset="0"/>
        <a:sym typeface="Canela Text Regular" charset="0"/>
      </a:defRPr>
    </a:lvl3pPr>
    <a:lvl4pPr marL="860425" indent="511175" algn="l" defTabSz="1087755" rtl="0" eaLnBrk="0" fontAlgn="base" hangingPunct="0">
      <a:spcBef>
        <a:spcPct val="0"/>
      </a:spcBef>
      <a:spcAft>
        <a:spcPct val="0"/>
      </a:spcAft>
      <a:defRPr sz="1100" kern="1200">
        <a:solidFill>
          <a:srgbClr val="000000"/>
        </a:solidFill>
        <a:latin typeface="Canela Text Regular" charset="0"/>
        <a:ea typeface="Canela Text Regular" charset="0"/>
        <a:cs typeface="Canela Text Regular" charset="0"/>
        <a:sym typeface="Canela Text Regular" charset="0"/>
      </a:defRPr>
    </a:lvl4pPr>
    <a:lvl5pPr marL="1148080" indent="681355" algn="l" defTabSz="1087755" rtl="0" eaLnBrk="0" fontAlgn="base" hangingPunct="0">
      <a:spcBef>
        <a:spcPct val="0"/>
      </a:spcBef>
      <a:spcAft>
        <a:spcPct val="0"/>
      </a:spcAft>
      <a:defRPr sz="1100" kern="1200">
        <a:solidFill>
          <a:srgbClr val="000000"/>
        </a:solidFill>
        <a:latin typeface="Canela Text Regular" charset="0"/>
        <a:ea typeface="Canela Text Regular" charset="0"/>
        <a:cs typeface="Canela Text Regular" charset="0"/>
        <a:sym typeface="Canela Text Regular" charset="0"/>
      </a:defRPr>
    </a:lvl5pPr>
    <a:lvl6pPr marL="2286000" algn="l" defTabSz="914400" rtl="0" eaLnBrk="1" latinLnBrk="0" hangingPunct="1">
      <a:defRPr sz="1100" kern="1200">
        <a:solidFill>
          <a:srgbClr val="000000"/>
        </a:solidFill>
        <a:latin typeface="Canela Text Regular" charset="0"/>
        <a:ea typeface="Canela Text Regular" charset="0"/>
        <a:cs typeface="Canela Text Regular" charset="0"/>
        <a:sym typeface="Canela Text Regular" charset="0"/>
      </a:defRPr>
    </a:lvl6pPr>
    <a:lvl7pPr marL="2743200" algn="l" defTabSz="914400" rtl="0" eaLnBrk="1" latinLnBrk="0" hangingPunct="1">
      <a:defRPr sz="1100" kern="1200">
        <a:solidFill>
          <a:srgbClr val="000000"/>
        </a:solidFill>
        <a:latin typeface="Canela Text Regular" charset="0"/>
        <a:ea typeface="Canela Text Regular" charset="0"/>
        <a:cs typeface="Canela Text Regular" charset="0"/>
        <a:sym typeface="Canela Text Regular" charset="0"/>
      </a:defRPr>
    </a:lvl7pPr>
    <a:lvl8pPr marL="3200400" algn="l" defTabSz="914400" rtl="0" eaLnBrk="1" latinLnBrk="0" hangingPunct="1">
      <a:defRPr sz="1100" kern="1200">
        <a:solidFill>
          <a:srgbClr val="000000"/>
        </a:solidFill>
        <a:latin typeface="Canela Text Regular" charset="0"/>
        <a:ea typeface="Canela Text Regular" charset="0"/>
        <a:cs typeface="Canela Text Regular" charset="0"/>
        <a:sym typeface="Canela Text Regular" charset="0"/>
      </a:defRPr>
    </a:lvl8pPr>
    <a:lvl9pPr marL="3657600" algn="l" defTabSz="914400" rtl="0" eaLnBrk="1" latinLnBrk="0" hangingPunct="1">
      <a:defRPr sz="1100" kern="1200">
        <a:solidFill>
          <a:srgbClr val="000000"/>
        </a:solidFill>
        <a:latin typeface="Canela Text Regular" charset="0"/>
        <a:ea typeface="Canela Text Regular" charset="0"/>
        <a:cs typeface="Canela Text Regular" charset="0"/>
        <a:sym typeface="Canela Text Regular" charset="0"/>
      </a:defRPr>
    </a:lvl9pPr>
  </p:defaultTextStyle>
  <p:extLst>
    <p:ext uri="{521415D9-36F7-43E2-AB2F-B90AF26B5E84}">
      <p14:sectionLst xmlns:p14="http://schemas.microsoft.com/office/powerpoint/2010/main">
        <p14:section name="默认节" id="{f9b09f28-63aa-4953-b668-2d441ddb8634}">
          <p14:sldIdLst>
            <p14:sldId id="256"/>
            <p14:sldId id="991"/>
          </p14:sldIdLst>
        </p14:section>
        <p14:section name="Assessing SQL" id="{2c098362-4d26-4e31-8345-3519faa06853}">
          <p14:sldIdLst>
            <p14:sldId id="995"/>
            <p14:sldId id="997"/>
          </p14:sldIdLst>
        </p14:section>
        <p14:section name="Functions and Procedures" id="{80515ca8-cde2-4419-bf1f-c7949e32d4e6}">
          <p14:sldIdLst>
            <p14:sldId id="998"/>
            <p14:sldId id="999"/>
            <p14:sldId id="1000"/>
            <p14:sldId id="1001"/>
            <p14:sldId id="1002"/>
            <p14:sldId id="1003"/>
            <p14:sldId id="1004"/>
            <p14:sldId id="1005"/>
            <p14:sldId id="1006"/>
            <p14:sldId id="1007"/>
            <p14:sldId id="1008"/>
            <p14:sldId id="1009"/>
          </p14:sldIdLst>
        </p14:section>
        <p14:section name="Trigger" id="{c9059702-9719-42aa-a36c-e29101a68f48}">
          <p14:sldIdLst>
            <p14:sldId id="947"/>
            <p14:sldId id="948"/>
            <p14:sldId id="949"/>
            <p14:sldId id="950"/>
            <p14:sldId id="952"/>
            <p14:sldId id="953"/>
            <p14:sldId id="954"/>
            <p14:sldId id="1010"/>
            <p14:sldId id="1011"/>
          </p14:sldIdLst>
        </p14:section>
        <p14:section name="Recursion" id="{f454f599-ad9a-4174-a505-6fe4271c4643}">
          <p14:sldIdLst>
            <p14:sldId id="955"/>
            <p14:sldId id="956"/>
            <p14:sldId id="957"/>
            <p14:sldId id="958"/>
            <p14:sldId id="1013"/>
            <p14:sldId id="1014"/>
            <p14:sldId id="1015"/>
          </p14:sldIdLst>
        </p14:section>
      </p14:sectionLst>
    </p:ext>
    <p:ext uri="{EFAFB233-063F-42B5-8137-9DF3F51BA10A}">
      <p15:sldGuideLst xmlns:p15="http://schemas.microsoft.com/office/powerpoint/2012/main">
        <p15:guide id="1" orient="horz" pos="1601" userDrawn="1">
          <p15:clr>
            <a:srgbClr val="A4A3A4"/>
          </p15:clr>
        </p15:guide>
        <p15:guide id="2" pos="287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AFD779-E397-40EB-AA4E-C3CA5DDCC859}" styleName="表样式 1">
    <a:wholeTbl>
      <a:tcTxStyle>
        <a:fontRef idx="none">
          <a:srgbClr val="000000"/>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seCell>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eCell>
    <a:swCell>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2926" autoAdjust="0"/>
  </p:normalViewPr>
  <p:slideViewPr>
    <p:cSldViewPr showGuides="1">
      <p:cViewPr varScale="1">
        <p:scale>
          <a:sx n="147" d="100"/>
          <a:sy n="147" d="100"/>
        </p:scale>
        <p:origin x="564" y="138"/>
      </p:cViewPr>
      <p:guideLst>
        <p:guide orient="horz" pos="1601"/>
        <p:guide pos="2879"/>
      </p:guideLst>
    </p:cSldViewPr>
  </p:slideViewPr>
  <p:notesTextViewPr>
    <p:cViewPr>
      <p:scale>
        <a:sx n="1" d="1"/>
        <a:sy n="1" d="1"/>
      </p:scale>
      <p:origin x="0" y="0"/>
    </p:cViewPr>
  </p:notesTextViewPr>
  <p:sorterViewPr>
    <p:cViewPr varScale="1">
      <p:scale>
        <a:sx n="100" d="100"/>
        <a:sy n="100" d="100"/>
      </p:scale>
      <p:origin x="0" y="-3966"/>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tags" Target="tags/tag6.xml"/><Relationship Id="rId4" Type="http://schemas.openxmlformats.org/officeDocument/2006/relationships/notesMaster" Target="notesMasters/notesMaster1.xml"/><Relationship Id="rId39" Type="http://schemas.openxmlformats.org/officeDocument/2006/relationships/commentAuthors" Target="commentAuthors.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Rectangle 1"/>
          <p:cNvSpPr>
            <a:spLocks noGrp="1" noRot="1" noChangeAspect="1"/>
          </p:cNvSpPr>
          <p:nvPr>
            <p:ph type="sldImg"/>
          </p:nvPr>
        </p:nvSpPr>
        <p:spPr bwMode="auto">
          <a:xfrm>
            <a:off x="381000" y="685800"/>
            <a:ext cx="6096000" cy="342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 name="Rectangle 2"/>
          <p:cNvSpPr>
            <a:spLocks noGrp="1"/>
          </p:cNvSpPr>
          <p:nvPr>
            <p:ph type="body" sz="quarter" idx="1"/>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lvl="0"/>
            <a:r>
              <a:rPr lang="en-US" altLang="en-US" noProof="0">
                <a:sym typeface="Helvetica Neue" charset="0"/>
              </a:rPr>
              <a:t>Click to edit Template text styles</a:t>
            </a:r>
            <a:endParaRPr lang="en-US" altLang="en-US" noProof="0">
              <a:sym typeface="Helvetica Neue" charset="0"/>
            </a:endParaRPr>
          </a:p>
          <a:p>
            <a:pPr lvl="1"/>
            <a:r>
              <a:rPr lang="en-US" altLang="en-US" noProof="0">
                <a:sym typeface="Helvetica Neue" charset="0"/>
              </a:rPr>
              <a:t>Second level</a:t>
            </a:r>
            <a:endParaRPr lang="en-US" altLang="en-US" noProof="0">
              <a:sym typeface="Helvetica Neue" charset="0"/>
            </a:endParaRPr>
          </a:p>
          <a:p>
            <a:pPr lvl="2"/>
            <a:r>
              <a:rPr lang="en-US" altLang="en-US" noProof="0">
                <a:sym typeface="Helvetica Neue" charset="0"/>
              </a:rPr>
              <a:t>Third level</a:t>
            </a:r>
            <a:endParaRPr lang="en-US" altLang="en-US" noProof="0">
              <a:sym typeface="Helvetica Neue" charset="0"/>
            </a:endParaRPr>
          </a:p>
          <a:p>
            <a:pPr lvl="3"/>
            <a:r>
              <a:rPr lang="en-US" altLang="en-US" noProof="0">
                <a:sym typeface="Helvetica Neue" charset="0"/>
              </a:rPr>
              <a:t>Fourth level</a:t>
            </a:r>
            <a:endParaRPr lang="en-US" altLang="en-US" noProof="0">
              <a:sym typeface="Helvetica Neue" charset="0"/>
            </a:endParaRPr>
          </a:p>
          <a:p>
            <a:pPr lvl="4"/>
            <a:r>
              <a:rPr lang="en-US" altLang="en-US" noProof="0">
                <a:sym typeface="Helvetica Neue" charset="0"/>
              </a:rPr>
              <a:t>Fifth level</a:t>
            </a:r>
            <a:endParaRPr lang="en-US" altLang="en-US" noProof="0">
              <a:sym typeface="Helvetica Neue" charset="0"/>
            </a:endParaRPr>
          </a:p>
        </p:txBody>
      </p:sp>
    </p:spTree>
  </p:cSld>
  <p:clrMap bg1="lt1" tx1="dk1" bg2="lt2" tx2="dk2" accent1="accent1" accent2="accent2" accent3="accent3" accent4="accent4" accent5="accent5" accent6="accent6" hlink="hlink" folHlink="folHlink"/>
  <p:notesStyle>
    <a:lvl1pPr algn="l" defTabSz="285750" rtl="0" eaLnBrk="0" fontAlgn="base" hangingPunct="0">
      <a:lnSpc>
        <a:spcPct val="117000"/>
      </a:lnSpc>
      <a:spcBef>
        <a:spcPct val="0"/>
      </a:spcBef>
      <a:spcAft>
        <a:spcPct val="0"/>
      </a:spcAft>
      <a:defRPr sz="1400" kern="1200">
        <a:solidFill>
          <a:srgbClr val="000000"/>
        </a:solidFill>
        <a:latin typeface="Helvetica Neue" charset="0"/>
        <a:ea typeface="Helvetica Neue" charset="0"/>
        <a:cs typeface="Helvetica Neue" charset="0"/>
        <a:sym typeface="Helvetica Neue" charset="0"/>
      </a:defRPr>
    </a:lvl1pPr>
    <a:lvl2pPr indent="142875" algn="l" defTabSz="285750" rtl="0" eaLnBrk="0" fontAlgn="base" hangingPunct="0">
      <a:lnSpc>
        <a:spcPct val="117000"/>
      </a:lnSpc>
      <a:spcBef>
        <a:spcPct val="0"/>
      </a:spcBef>
      <a:spcAft>
        <a:spcPct val="0"/>
      </a:spcAft>
      <a:defRPr sz="1400" kern="1200">
        <a:solidFill>
          <a:srgbClr val="000000"/>
        </a:solidFill>
        <a:latin typeface="Helvetica Neue" charset="0"/>
        <a:ea typeface="Helvetica Neue" charset="0"/>
        <a:cs typeface="Helvetica Neue" charset="0"/>
        <a:sym typeface="Helvetica Neue" charset="0"/>
      </a:defRPr>
    </a:lvl2pPr>
    <a:lvl3pPr indent="285750" algn="l" defTabSz="285750" rtl="0" eaLnBrk="0" fontAlgn="base" hangingPunct="0">
      <a:lnSpc>
        <a:spcPct val="117000"/>
      </a:lnSpc>
      <a:spcBef>
        <a:spcPct val="0"/>
      </a:spcBef>
      <a:spcAft>
        <a:spcPct val="0"/>
      </a:spcAft>
      <a:defRPr sz="1400" kern="1200">
        <a:solidFill>
          <a:srgbClr val="000000"/>
        </a:solidFill>
        <a:latin typeface="Helvetica Neue" charset="0"/>
        <a:ea typeface="Helvetica Neue" charset="0"/>
        <a:cs typeface="Helvetica Neue" charset="0"/>
        <a:sym typeface="Helvetica Neue" charset="0"/>
      </a:defRPr>
    </a:lvl3pPr>
    <a:lvl4pPr indent="430530" algn="l" defTabSz="285750" rtl="0" eaLnBrk="0" fontAlgn="base" hangingPunct="0">
      <a:lnSpc>
        <a:spcPct val="117000"/>
      </a:lnSpc>
      <a:spcBef>
        <a:spcPct val="0"/>
      </a:spcBef>
      <a:spcAft>
        <a:spcPct val="0"/>
      </a:spcAft>
      <a:defRPr sz="1400" kern="1200">
        <a:solidFill>
          <a:srgbClr val="000000"/>
        </a:solidFill>
        <a:latin typeface="Helvetica Neue" charset="0"/>
        <a:ea typeface="Helvetica Neue" charset="0"/>
        <a:cs typeface="Helvetica Neue" charset="0"/>
        <a:sym typeface="Helvetica Neue" charset="0"/>
      </a:defRPr>
    </a:lvl4pPr>
    <a:lvl5pPr indent="573405" algn="l" defTabSz="285750" rtl="0" eaLnBrk="0" fontAlgn="base" hangingPunct="0">
      <a:lnSpc>
        <a:spcPct val="117000"/>
      </a:lnSpc>
      <a:spcBef>
        <a:spcPct val="0"/>
      </a:spcBef>
      <a:spcAft>
        <a:spcPct val="0"/>
      </a:spcAft>
      <a:defRPr sz="1400" kern="1200">
        <a:solidFill>
          <a:srgbClr val="000000"/>
        </a:solidFill>
        <a:latin typeface="Helvetica Neue" charset="0"/>
        <a:ea typeface="Helvetica Neue" charset="0"/>
        <a:cs typeface="Helvetica Neue" charset="0"/>
        <a:sym typeface="Helvetica Neue" charset="0"/>
      </a:defRPr>
    </a:lvl5pPr>
    <a:lvl6pPr marL="1435100" algn="l" defTabSz="574040" rtl="0" eaLnBrk="1" latinLnBrk="0" hangingPunct="1">
      <a:defRPr sz="700" kern="1200">
        <a:solidFill>
          <a:schemeClr val="tx1"/>
        </a:solidFill>
        <a:latin typeface="+mn-lt"/>
        <a:ea typeface="+mn-ea"/>
        <a:cs typeface="+mn-cs"/>
      </a:defRPr>
    </a:lvl6pPr>
    <a:lvl7pPr marL="1722120" algn="l" defTabSz="574040" rtl="0" eaLnBrk="1" latinLnBrk="0" hangingPunct="1">
      <a:defRPr sz="700" kern="1200">
        <a:solidFill>
          <a:schemeClr val="tx1"/>
        </a:solidFill>
        <a:latin typeface="+mn-lt"/>
        <a:ea typeface="+mn-ea"/>
        <a:cs typeface="+mn-cs"/>
      </a:defRPr>
    </a:lvl7pPr>
    <a:lvl8pPr marL="2009140" algn="l" defTabSz="574040" rtl="0" eaLnBrk="1" latinLnBrk="0" hangingPunct="1">
      <a:defRPr sz="700" kern="1200">
        <a:solidFill>
          <a:schemeClr val="tx1"/>
        </a:solidFill>
        <a:latin typeface="+mn-lt"/>
        <a:ea typeface="+mn-ea"/>
        <a:cs typeface="+mn-cs"/>
      </a:defRPr>
    </a:lvl8pPr>
    <a:lvl9pPr marL="2295525" algn="l" defTabSz="574040" rtl="0" eaLnBrk="1" latinLnBrk="0" hangingPunct="1">
      <a:defRPr sz="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1"/>
          </p:nvPr>
        </p:nvSpPr>
        <p:spPr/>
        <p:txBody>
          <a:bodyPr/>
          <a:p>
            <a:r>
              <a:rPr lang="zh-CN" altLang="en-US"/>
              <a:t>I am very happy to have the opportunity to meet with you all in this course.</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B660626-6ED4-4019-A597-4C6DFE264C50}" type="slidenum">
              <a:rPr lang="en-US" altLang="en-US" sz="1200"/>
            </a:fld>
            <a:endParaRPr lang="en-US" altLang="en-US" sz="1200"/>
          </a:p>
        </p:txBody>
      </p:sp>
      <p:sp>
        <p:nvSpPr>
          <p:cNvPr id="63491" name="Rectangle 2"/>
          <p:cNvSpPr>
            <a:spLocks noGrp="1" noRot="1" noChangeAspect="1" noChangeArrowheads="1" noTextEdit="1"/>
          </p:cNvSpPr>
          <p:nvPr>
            <p:ph type="sldImg"/>
          </p:nvPr>
        </p:nvSpPr>
        <p:spPr/>
      </p:sp>
      <p:sp>
        <p:nvSpPr>
          <p:cNvPr id="63492"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6EA8CD4-BE8A-459D-9D31-26FCFAB06D25}" type="slidenum">
              <a:rPr lang="en-US" altLang="en-US" sz="1200"/>
            </a:fld>
            <a:endParaRPr lang="en-US" altLang="en-US" sz="1200"/>
          </a:p>
        </p:txBody>
      </p:sp>
      <p:sp>
        <p:nvSpPr>
          <p:cNvPr id="81923" name="Rectangle 2"/>
          <p:cNvSpPr>
            <a:spLocks noGrp="1" noRot="1" noChangeAspect="1" noChangeArrowheads="1" noTextEdit="1"/>
          </p:cNvSpPr>
          <p:nvPr>
            <p:ph type="sldImg"/>
          </p:nvPr>
        </p:nvSpPr>
        <p:spPr/>
      </p:sp>
      <p:sp>
        <p:nvSpPr>
          <p:cNvPr id="81924"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67040340-971D-4A83-83E8-822FA67F93DB}" type="slidenum">
              <a:rPr lang="en-US" altLang="en-US" sz="1200"/>
            </a:fld>
            <a:endParaRPr lang="en-US" altLang="en-US" sz="1200"/>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0D3EC4A-6F15-43AE-AA3C-5A809172836D}" type="slidenum">
              <a:rPr lang="en-US" altLang="en-US" sz="1200"/>
            </a:fld>
            <a:endParaRPr lang="en-US" altLang="en-US" sz="1200"/>
          </a:p>
        </p:txBody>
      </p:sp>
      <p:sp>
        <p:nvSpPr>
          <p:cNvPr id="83971" name="Rectangle 2"/>
          <p:cNvSpPr>
            <a:spLocks noGrp="1" noRot="1" noChangeAspect="1" noChangeArrowheads="1" noTextEdit="1"/>
          </p:cNvSpPr>
          <p:nvPr>
            <p:ph type="sldImg"/>
          </p:nvPr>
        </p:nvSpPr>
        <p:spPr/>
      </p:sp>
      <p:sp>
        <p:nvSpPr>
          <p:cNvPr id="83972"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anose="020B0604020202020204" pitchFamily="34" charset="0"/>
                <a:ea typeface="MS PGothic" panose="020B0600070205080204" pitchFamily="34" charset="-128"/>
              </a:defRPr>
            </a:lvl1pPr>
            <a:lvl2pPr marL="741680" indent="-285115" defTabSz="929005">
              <a:defRPr sz="1600">
                <a:solidFill>
                  <a:schemeClr val="tx1"/>
                </a:solidFill>
                <a:latin typeface="Helvetica" panose="020B0604020202020204" pitchFamily="34" charset="0"/>
                <a:ea typeface="MS PGothic" panose="020B0600070205080204" pitchFamily="34" charset="-128"/>
              </a:defRPr>
            </a:lvl2pPr>
            <a:lvl3pPr marL="1141095" indent="-227965" defTabSz="929005">
              <a:defRPr sz="1600">
                <a:solidFill>
                  <a:schemeClr val="tx1"/>
                </a:solidFill>
                <a:latin typeface="Helvetica" panose="020B0604020202020204" pitchFamily="34" charset="0"/>
                <a:ea typeface="MS PGothic" panose="020B0600070205080204" pitchFamily="34" charset="-128"/>
              </a:defRPr>
            </a:lvl3pPr>
            <a:lvl4pPr marL="1597660" indent="-227965" defTabSz="929005">
              <a:defRPr sz="1600">
                <a:solidFill>
                  <a:schemeClr val="tx1"/>
                </a:solidFill>
                <a:latin typeface="Helvetica" panose="020B0604020202020204" pitchFamily="34" charset="0"/>
                <a:ea typeface="MS PGothic" panose="020B0600070205080204" pitchFamily="34" charset="-128"/>
              </a:defRPr>
            </a:lvl4pPr>
            <a:lvl5pPr marL="2054225" indent="-227965" defTabSz="929005">
              <a:defRPr sz="1600">
                <a:solidFill>
                  <a:schemeClr val="tx1"/>
                </a:solidFill>
                <a:latin typeface="Helvetica" panose="020B0604020202020204"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anose="020B0604020202020204" pitchFamily="34" charset="0"/>
                <a:ea typeface="MS PGothic" panose="020B0600070205080204" pitchFamily="34" charset="-128"/>
              </a:defRPr>
            </a:lvl1pPr>
            <a:lvl2pPr marL="741680" indent="-285115" defTabSz="929005">
              <a:defRPr sz="1600">
                <a:solidFill>
                  <a:schemeClr val="tx1"/>
                </a:solidFill>
                <a:latin typeface="Helvetica" panose="020B0604020202020204" pitchFamily="34" charset="0"/>
                <a:ea typeface="MS PGothic" panose="020B0600070205080204" pitchFamily="34" charset="-128"/>
              </a:defRPr>
            </a:lvl2pPr>
            <a:lvl3pPr marL="1141095" indent="-227965" defTabSz="929005">
              <a:defRPr sz="1600">
                <a:solidFill>
                  <a:schemeClr val="tx1"/>
                </a:solidFill>
                <a:latin typeface="Helvetica" panose="020B0604020202020204" pitchFamily="34" charset="0"/>
                <a:ea typeface="MS PGothic" panose="020B0600070205080204" pitchFamily="34" charset="-128"/>
              </a:defRPr>
            </a:lvl3pPr>
            <a:lvl4pPr marL="1597660" indent="-227965" defTabSz="929005">
              <a:defRPr sz="1600">
                <a:solidFill>
                  <a:schemeClr val="tx1"/>
                </a:solidFill>
                <a:latin typeface="Helvetica" panose="020B0604020202020204" pitchFamily="34" charset="0"/>
                <a:ea typeface="MS PGothic" panose="020B0600070205080204" pitchFamily="34" charset="-128"/>
              </a:defRPr>
            </a:lvl4pPr>
            <a:lvl5pPr marL="2054225" indent="-227965" defTabSz="929005">
              <a:defRPr sz="1600">
                <a:solidFill>
                  <a:schemeClr val="tx1"/>
                </a:solidFill>
                <a:latin typeface="Helvetica" panose="020B0604020202020204"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Times New Roman" panose="02020603050405020304" pitchFamily="18" charset="0"/>
              </a:rPr>
              <a:t>/* ------------------------------------------------------------------</a:t>
            </a:r>
            <a:endParaRPr lang="en-US" altLang="zh-CN">
              <a:latin typeface="Times New Roman" panose="02020603050405020304" pitchFamily="18" charset="0"/>
            </a:endParaRPr>
          </a:p>
          <a:p>
            <a:r>
              <a:rPr lang="en-US" altLang="zh-CN">
                <a:latin typeface="Times New Roman" panose="02020603050405020304" pitchFamily="18" charset="0"/>
              </a:rPr>
              <a:t>   0.  Set-up</a:t>
            </a:r>
            <a:endParaRPr lang="en-US" altLang="zh-CN">
              <a:latin typeface="Times New Roman" panose="02020603050405020304" pitchFamily="18" charset="0"/>
            </a:endParaRPr>
          </a:p>
          <a:p>
            <a:r>
              <a:rPr lang="en-US" altLang="zh-CN">
                <a:latin typeface="Times New Roman" panose="02020603050405020304" pitchFamily="18" charset="0"/>
              </a:rPr>
              <a:t>-------------------------------------------------------------------*/</a:t>
            </a:r>
            <a:endParaRPr lang="en-US" altLang="zh-CN">
              <a:latin typeface="Times New Roman" panose="02020603050405020304" pitchFamily="18" charset="0"/>
            </a:endParaRPr>
          </a:p>
          <a:p>
            <a:r>
              <a:rPr lang="en-US" altLang="zh-CN">
                <a:latin typeface="Times New Roman" panose="02020603050405020304" pitchFamily="18" charset="0"/>
              </a:rPr>
              <a:t>DROP SCHEMA IF EXISTS demo_5 CASCADE;</a:t>
            </a:r>
            <a:endParaRPr lang="en-US" altLang="zh-CN">
              <a:latin typeface="Times New Roman" panose="02020603050405020304" pitchFamily="18" charset="0"/>
            </a:endParaRPr>
          </a:p>
          <a:p>
            <a:r>
              <a:rPr lang="en-US" altLang="zh-CN">
                <a:latin typeface="Times New Roman" panose="02020603050405020304" pitchFamily="18" charset="0"/>
              </a:rPr>
              <a:t>CREATE SCHEMA demo_5;</a:t>
            </a:r>
            <a:endParaRPr lang="en-US" altLang="zh-CN">
              <a:latin typeface="Times New Roman" panose="02020603050405020304" pitchFamily="18" charset="0"/>
            </a:endParaRPr>
          </a:p>
          <a:p>
            <a:r>
              <a:rPr lang="en-US" altLang="zh-CN">
                <a:latin typeface="Times New Roman" panose="02020603050405020304" pitchFamily="18" charset="0"/>
              </a:rPr>
              <a:t>SET search_path = demo_5, public;</a:t>
            </a:r>
            <a:endParaRPr lang="en-US" altLang="zh-CN">
              <a:latin typeface="Times New Roman" panose="02020603050405020304" pitchFamily="18" charset="0"/>
            </a:endParaRPr>
          </a:p>
          <a:p>
            <a:endParaRPr lang="en-US" altLang="zh-CN">
              <a:latin typeface="Times New Roman" panose="02020603050405020304" pitchFamily="18" charset="0"/>
            </a:endParaRPr>
          </a:p>
          <a:p>
            <a:r>
              <a:rPr lang="en-US" altLang="zh-CN">
                <a:latin typeface="Times New Roman" panose="02020603050405020304" pitchFamily="18" charset="0"/>
              </a:rPr>
              <a:t>/* two base tables used in the examples */</a:t>
            </a:r>
            <a:endParaRPr lang="en-US" altLang="zh-CN">
              <a:latin typeface="Times New Roman" panose="02020603050405020304" pitchFamily="18" charset="0"/>
            </a:endParaRPr>
          </a:p>
          <a:p>
            <a:r>
              <a:rPr lang="en-US" altLang="zh-CN">
                <a:latin typeface="Times New Roman" panose="02020603050405020304" pitchFamily="18" charset="0"/>
              </a:rPr>
              <a:t>CREATE TABLE department (</a:t>
            </a:r>
            <a:endParaRPr lang="en-US" altLang="zh-CN">
              <a:latin typeface="Times New Roman" panose="02020603050405020304" pitchFamily="18" charset="0"/>
            </a:endParaRPr>
          </a:p>
          <a:p>
            <a:r>
              <a:rPr lang="en-US" altLang="zh-CN">
                <a:latin typeface="Times New Roman" panose="02020603050405020304" pitchFamily="18" charset="0"/>
              </a:rPr>
              <a:t>    dept_name VARCHAR(20) PRIMARY KEY,</a:t>
            </a:r>
            <a:endParaRPr lang="en-US" altLang="zh-CN">
              <a:latin typeface="Times New Roman" panose="02020603050405020304" pitchFamily="18" charset="0"/>
            </a:endParaRPr>
          </a:p>
          <a:p>
            <a:r>
              <a:rPr lang="en-US" altLang="zh-CN">
                <a:latin typeface="Times New Roman" panose="02020603050405020304" pitchFamily="18" charset="0"/>
              </a:rPr>
              <a:t>    budget    NUMERIC(12,2) NOT NULL</a:t>
            </a:r>
            <a:endParaRPr lang="en-US" altLang="zh-CN">
              <a:latin typeface="Times New Roman" panose="02020603050405020304" pitchFamily="18" charset="0"/>
            </a:endParaRPr>
          </a:p>
          <a:p>
            <a:r>
              <a:rPr lang="en-US" altLang="zh-CN">
                <a:latin typeface="Times New Roman" panose="02020603050405020304" pitchFamily="18" charset="0"/>
              </a:rPr>
              <a:t>);</a:t>
            </a:r>
            <a:endParaRPr lang="en-US" altLang="zh-CN">
              <a:latin typeface="Times New Roman" panose="02020603050405020304" pitchFamily="18" charset="0"/>
            </a:endParaRPr>
          </a:p>
          <a:p>
            <a:endParaRPr lang="en-US" altLang="zh-CN">
              <a:latin typeface="Times New Roman" panose="02020603050405020304" pitchFamily="18" charset="0"/>
            </a:endParaRPr>
          </a:p>
          <a:p>
            <a:r>
              <a:rPr lang="en-US" altLang="zh-CN">
                <a:latin typeface="Times New Roman" panose="02020603050405020304" pitchFamily="18" charset="0"/>
              </a:rPr>
              <a:t>CREATE TABLE instructor (</a:t>
            </a:r>
            <a:endParaRPr lang="en-US" altLang="zh-CN">
              <a:latin typeface="Times New Roman" panose="02020603050405020304" pitchFamily="18" charset="0"/>
            </a:endParaRPr>
          </a:p>
          <a:p>
            <a:r>
              <a:rPr lang="en-US" altLang="zh-CN">
                <a:latin typeface="Times New Roman" panose="02020603050405020304" pitchFamily="18" charset="0"/>
              </a:rPr>
              <a:t>    id        VARCHAR(5)  PRIMARY KEY,</a:t>
            </a:r>
            <a:endParaRPr lang="en-US" altLang="zh-CN">
              <a:latin typeface="Times New Roman" panose="02020603050405020304" pitchFamily="18" charset="0"/>
            </a:endParaRPr>
          </a:p>
          <a:p>
            <a:r>
              <a:rPr lang="en-US" altLang="zh-CN">
                <a:latin typeface="Times New Roman" panose="02020603050405020304" pitchFamily="18" charset="0"/>
              </a:rPr>
              <a:t>    name      VARCHAR(20) NOT NULL,</a:t>
            </a:r>
            <a:endParaRPr lang="en-US" altLang="zh-CN">
              <a:latin typeface="Times New Roman" panose="02020603050405020304" pitchFamily="18" charset="0"/>
            </a:endParaRPr>
          </a:p>
          <a:p>
            <a:r>
              <a:rPr lang="en-US" altLang="zh-CN">
                <a:latin typeface="Times New Roman" panose="02020603050405020304" pitchFamily="18" charset="0"/>
              </a:rPr>
              <a:t>    dept_name VARCHAR(20) REFERENCES department,</a:t>
            </a:r>
            <a:endParaRPr lang="en-US" altLang="zh-CN">
              <a:latin typeface="Times New Roman" panose="02020603050405020304" pitchFamily="18" charset="0"/>
            </a:endParaRPr>
          </a:p>
          <a:p>
            <a:r>
              <a:rPr lang="en-US" altLang="zh-CN">
                <a:latin typeface="Times New Roman" panose="02020603050405020304" pitchFamily="18" charset="0"/>
              </a:rPr>
              <a:t>    salary    NUMERIC(8,2) NOT NULL</a:t>
            </a:r>
            <a:endParaRPr lang="en-US" altLang="zh-CN">
              <a:latin typeface="Times New Roman" panose="02020603050405020304" pitchFamily="18" charset="0"/>
            </a:endParaRPr>
          </a:p>
          <a:p>
            <a:r>
              <a:rPr lang="en-US" altLang="zh-CN">
                <a:latin typeface="Times New Roman" panose="02020603050405020304" pitchFamily="18" charset="0"/>
              </a:rPr>
              <a:t>);</a:t>
            </a:r>
            <a:endParaRPr lang="en-US" altLang="zh-CN">
              <a:latin typeface="Times New Roman" panose="02020603050405020304" pitchFamily="18" charset="0"/>
            </a:endParaRPr>
          </a:p>
          <a:p>
            <a:endParaRPr lang="en-US" altLang="zh-CN">
              <a:latin typeface="Times New Roman" panose="02020603050405020304" pitchFamily="18" charset="0"/>
            </a:endParaRPr>
          </a:p>
          <a:p>
            <a:r>
              <a:rPr lang="en-US" altLang="zh-CN">
                <a:latin typeface="Times New Roman" panose="02020603050405020304" pitchFamily="18" charset="0"/>
              </a:rPr>
              <a:t>/* tiny sample so that “&gt; 12” can still return something */</a:t>
            </a:r>
            <a:endParaRPr lang="en-US" altLang="zh-CN">
              <a:latin typeface="Times New Roman" panose="02020603050405020304" pitchFamily="18" charset="0"/>
            </a:endParaRPr>
          </a:p>
          <a:p>
            <a:r>
              <a:rPr lang="en-US" altLang="zh-CN">
                <a:latin typeface="Times New Roman" panose="02020603050405020304" pitchFamily="18" charset="0"/>
              </a:rPr>
              <a:t>INSERT INTO department VALUES</a:t>
            </a:r>
            <a:endParaRPr lang="en-US" altLang="zh-CN">
              <a:latin typeface="Times New Roman" panose="02020603050405020304" pitchFamily="18" charset="0"/>
            </a:endParaRPr>
          </a:p>
          <a:p>
            <a:r>
              <a:rPr lang="en-US" altLang="zh-CN">
                <a:latin typeface="Times New Roman" panose="02020603050405020304" pitchFamily="18" charset="0"/>
              </a:rPr>
              <a:t>  ('Physics', 1000000),</a:t>
            </a:r>
            <a:endParaRPr lang="en-US" altLang="zh-CN">
              <a:latin typeface="Times New Roman" panose="02020603050405020304" pitchFamily="18" charset="0"/>
            </a:endParaRPr>
          </a:p>
          <a:p>
            <a:r>
              <a:rPr lang="en-US" altLang="zh-CN">
                <a:latin typeface="Times New Roman" panose="02020603050405020304" pitchFamily="18" charset="0"/>
              </a:rPr>
              <a:t>  ('Music',   500000),</a:t>
            </a:r>
            <a:endParaRPr lang="en-US" altLang="zh-CN">
              <a:latin typeface="Times New Roman" panose="02020603050405020304" pitchFamily="18" charset="0"/>
            </a:endParaRPr>
          </a:p>
          <a:p>
            <a:r>
              <a:rPr lang="en-US" altLang="zh-CN">
                <a:latin typeface="Times New Roman" panose="02020603050405020304" pitchFamily="18" charset="0"/>
              </a:rPr>
              <a:t>  ('CS',      2000000);</a:t>
            </a:r>
            <a:endParaRPr lang="en-US" altLang="zh-CN">
              <a:latin typeface="Times New Roman" panose="02020603050405020304" pitchFamily="18" charset="0"/>
            </a:endParaRPr>
          </a:p>
          <a:p>
            <a:endParaRPr lang="en-US" altLang="zh-CN">
              <a:latin typeface="Times New Roman" panose="02020603050405020304" pitchFamily="18" charset="0"/>
            </a:endParaRPr>
          </a:p>
          <a:p>
            <a:r>
              <a:rPr lang="en-US" altLang="zh-CN">
                <a:latin typeface="Times New Roman" panose="02020603050405020304" pitchFamily="18" charset="0"/>
              </a:rPr>
              <a:t>INSERT INTO instructor(id, name, dept_name, salary)</a:t>
            </a:r>
            <a:endParaRPr lang="en-US" altLang="zh-CN">
              <a:latin typeface="Times New Roman" panose="02020603050405020304" pitchFamily="18" charset="0"/>
            </a:endParaRPr>
          </a:p>
          <a:p>
            <a:r>
              <a:rPr lang="en-US" altLang="zh-CN">
                <a:latin typeface="Times New Roman" panose="02020603050405020304" pitchFamily="18" charset="0"/>
              </a:rPr>
              <a:t>SELECT</a:t>
            </a:r>
            <a:endParaRPr lang="en-US" altLang="zh-CN">
              <a:latin typeface="Times New Roman" panose="02020603050405020304" pitchFamily="18" charset="0"/>
            </a:endParaRPr>
          </a:p>
          <a:p>
            <a:r>
              <a:rPr lang="en-US" altLang="zh-CN">
                <a:latin typeface="Times New Roman" panose="02020603050405020304" pitchFamily="18" charset="0"/>
              </a:rPr>
              <a:t>  'I'||lpad(seq::text,3,'0'),</a:t>
            </a:r>
            <a:endParaRPr lang="en-US" altLang="zh-CN">
              <a:latin typeface="Times New Roman" panose="02020603050405020304" pitchFamily="18" charset="0"/>
            </a:endParaRPr>
          </a:p>
          <a:p>
            <a:r>
              <a:rPr lang="en-US" altLang="zh-CN">
                <a:latin typeface="Times New Roman" panose="02020603050405020304" pitchFamily="18" charset="0"/>
              </a:rPr>
              <a:t>  'Prof-'||seq,</a:t>
            </a:r>
            <a:endParaRPr lang="en-US" altLang="zh-CN">
              <a:latin typeface="Times New Roman" panose="02020603050405020304" pitchFamily="18" charset="0"/>
            </a:endParaRPr>
          </a:p>
          <a:p>
            <a:r>
              <a:rPr lang="en-US" altLang="zh-CN">
                <a:latin typeface="Times New Roman" panose="02020603050405020304" pitchFamily="18" charset="0"/>
              </a:rPr>
              <a:t>  CASE WHEN seq%14=0 THEN 'Physics'</a:t>
            </a:r>
            <a:endParaRPr lang="en-US" altLang="zh-CN">
              <a:latin typeface="Times New Roman" panose="02020603050405020304" pitchFamily="18" charset="0"/>
            </a:endParaRPr>
          </a:p>
          <a:p>
            <a:r>
              <a:rPr lang="en-US" altLang="zh-CN">
                <a:latin typeface="Times New Roman" panose="02020603050405020304" pitchFamily="18" charset="0"/>
              </a:rPr>
              <a:t>       WHEN seq%5=0  THEN 'Music'</a:t>
            </a:r>
            <a:endParaRPr lang="en-US" altLang="zh-CN">
              <a:latin typeface="Times New Roman" panose="02020603050405020304" pitchFamily="18" charset="0"/>
            </a:endParaRPr>
          </a:p>
          <a:p>
            <a:r>
              <a:rPr lang="en-US" altLang="zh-CN">
                <a:latin typeface="Times New Roman" panose="02020603050405020304" pitchFamily="18" charset="0"/>
              </a:rPr>
              <a:t>       ELSE 'CS' END,</a:t>
            </a:r>
            <a:endParaRPr lang="en-US" altLang="zh-CN">
              <a:latin typeface="Times New Roman" panose="02020603050405020304" pitchFamily="18" charset="0"/>
            </a:endParaRPr>
          </a:p>
          <a:p>
            <a:r>
              <a:rPr lang="en-US" altLang="zh-CN">
                <a:latin typeface="Times New Roman" panose="02020603050405020304" pitchFamily="18" charset="0"/>
              </a:rPr>
              <a:t>  70000+random()*50000</a:t>
            </a:r>
            <a:endParaRPr lang="en-US" altLang="zh-CN">
              <a:latin typeface="Times New Roman" panose="02020603050405020304" pitchFamily="18" charset="0"/>
            </a:endParaRPr>
          </a:p>
          <a:p>
            <a:r>
              <a:rPr lang="en-US" altLang="zh-CN">
                <a:latin typeface="Times New Roman" panose="02020603050405020304" pitchFamily="18" charset="0"/>
              </a:rPr>
              <a:t>FROM generate_series(1,40) seq;   -- 40 rows: CS=24, Physics=3, Music=13</a:t>
            </a:r>
            <a:endParaRPr lang="en-US" altLang="zh-CN">
              <a:latin typeface="Times New Roman" panose="02020603050405020304" pitchFamily="18" charset="0"/>
            </a:endParaRPr>
          </a:p>
          <a:p>
            <a:endParaRPr lang="en-US" altLang="zh-CN">
              <a:latin typeface="Times New Roman" panose="02020603050405020304" pitchFamily="18" charset="0"/>
            </a:endParaRPr>
          </a:p>
          <a:p>
            <a:r>
              <a:rPr lang="en-US" altLang="zh-CN">
                <a:latin typeface="Times New Roman" panose="02020603050405020304" pitchFamily="18" charset="0"/>
              </a:rPr>
              <a:t>/* ------------------------------------------------------------------</a:t>
            </a:r>
            <a:endParaRPr lang="en-US" altLang="zh-CN">
              <a:latin typeface="Times New Roman" panose="02020603050405020304" pitchFamily="18" charset="0"/>
            </a:endParaRPr>
          </a:p>
          <a:p>
            <a:r>
              <a:rPr lang="en-US" altLang="zh-CN">
                <a:latin typeface="Times New Roman" panose="02020603050405020304" pitchFamily="18" charset="0"/>
              </a:rPr>
              <a:t>   1.  Scalar function  dept_count  (original example)</a:t>
            </a:r>
            <a:endParaRPr lang="en-US" altLang="zh-CN">
              <a:latin typeface="Times New Roman" panose="02020603050405020304" pitchFamily="18" charset="0"/>
            </a:endParaRPr>
          </a:p>
          <a:p>
            <a:r>
              <a:rPr lang="en-US" altLang="zh-CN">
                <a:latin typeface="Times New Roman" panose="02020603050405020304" pitchFamily="18" charset="0"/>
              </a:rPr>
              <a:t>-------------------------------------------------------------------*/</a:t>
            </a:r>
            <a:endParaRPr lang="en-US" altLang="zh-CN">
              <a:latin typeface="Times New Roman" panose="02020603050405020304" pitchFamily="18" charset="0"/>
            </a:endParaRPr>
          </a:p>
          <a:p>
            <a:r>
              <a:rPr lang="en-US" altLang="zh-CN">
                <a:latin typeface="Times New Roman" panose="02020603050405020304" pitchFamily="18" charset="0"/>
              </a:rPr>
              <a:t>CREATE OR REPLACE FUNCTION dept_count(p_dept_name VARCHAR(20))</a:t>
            </a:r>
            <a:endParaRPr lang="en-US" altLang="zh-CN">
              <a:latin typeface="Times New Roman" panose="02020603050405020304" pitchFamily="18" charset="0"/>
            </a:endParaRPr>
          </a:p>
          <a:p>
            <a:r>
              <a:rPr lang="en-US" altLang="zh-CN">
                <a:latin typeface="Times New Roman" panose="02020603050405020304" pitchFamily="18" charset="0"/>
              </a:rPr>
              <a:t>RETURNS INTEGER</a:t>
            </a:r>
            <a:endParaRPr lang="en-US" altLang="zh-CN">
              <a:latin typeface="Times New Roman" panose="02020603050405020304" pitchFamily="18" charset="0"/>
            </a:endParaRPr>
          </a:p>
          <a:p>
            <a:r>
              <a:rPr lang="en-US" altLang="zh-CN">
                <a:latin typeface="Times New Roman" panose="02020603050405020304" pitchFamily="18" charset="0"/>
              </a:rPr>
              <a:t>LANGUAGE plpgsql</a:t>
            </a:r>
            <a:endParaRPr lang="en-US" altLang="zh-CN">
              <a:latin typeface="Times New Roman" panose="02020603050405020304" pitchFamily="18" charset="0"/>
            </a:endParaRPr>
          </a:p>
          <a:p>
            <a:r>
              <a:rPr lang="en-US" altLang="zh-CN">
                <a:latin typeface="Times New Roman" panose="02020603050405020304" pitchFamily="18" charset="0"/>
              </a:rPr>
              <a:t>AS $$</a:t>
            </a:r>
            <a:endParaRPr lang="en-US" altLang="zh-CN">
              <a:latin typeface="Times New Roman" panose="02020603050405020304" pitchFamily="18" charset="0"/>
            </a:endParaRPr>
          </a:p>
          <a:p>
            <a:r>
              <a:rPr lang="en-US" altLang="zh-CN">
                <a:latin typeface="Times New Roman" panose="02020603050405020304" pitchFamily="18" charset="0"/>
              </a:rPr>
              <a:t>DECLARE</a:t>
            </a:r>
            <a:endParaRPr lang="en-US" altLang="zh-CN">
              <a:latin typeface="Times New Roman" panose="02020603050405020304" pitchFamily="18" charset="0"/>
            </a:endParaRPr>
          </a:p>
          <a:p>
            <a:r>
              <a:rPr lang="en-US" altLang="zh-CN">
                <a:latin typeface="Times New Roman" panose="02020603050405020304" pitchFamily="18" charset="0"/>
              </a:rPr>
              <a:t>    d_count INTEGER;</a:t>
            </a:r>
            <a:endParaRPr lang="en-US" altLang="zh-CN">
              <a:latin typeface="Times New Roman" panose="02020603050405020304" pitchFamily="18" charset="0"/>
            </a:endParaRPr>
          </a:p>
          <a:p>
            <a:r>
              <a:rPr lang="en-US" altLang="zh-CN">
                <a:latin typeface="Times New Roman" panose="02020603050405020304" pitchFamily="18" charset="0"/>
              </a:rPr>
              <a:t>BEGIN</a:t>
            </a:r>
            <a:endParaRPr lang="en-US" altLang="zh-CN">
              <a:latin typeface="Times New Roman" panose="02020603050405020304" pitchFamily="18" charset="0"/>
            </a:endParaRPr>
          </a:p>
          <a:p>
            <a:r>
              <a:rPr lang="en-US" altLang="zh-CN">
                <a:latin typeface="Times New Roman" panose="02020603050405020304" pitchFamily="18" charset="0"/>
              </a:rPr>
              <a:t>    SELECT COUNT(*) INTO d_count</a:t>
            </a:r>
            <a:endParaRPr lang="en-US" altLang="zh-CN">
              <a:latin typeface="Times New Roman" panose="02020603050405020304" pitchFamily="18" charset="0"/>
            </a:endParaRPr>
          </a:p>
          <a:p>
            <a:r>
              <a:rPr lang="en-US" altLang="zh-CN">
                <a:latin typeface="Times New Roman" panose="02020603050405020304" pitchFamily="18" charset="0"/>
              </a:rPr>
              <a:t>    FROM instructor</a:t>
            </a:r>
            <a:endParaRPr lang="en-US" altLang="zh-CN">
              <a:latin typeface="Times New Roman" panose="02020603050405020304" pitchFamily="18" charset="0"/>
            </a:endParaRPr>
          </a:p>
          <a:p>
            <a:r>
              <a:rPr lang="en-US" altLang="zh-CN">
                <a:latin typeface="Times New Roman" panose="02020603050405020304" pitchFamily="18" charset="0"/>
              </a:rPr>
              <a:t>    WHERE instructor.dept_name = p_dept_name;</a:t>
            </a:r>
            <a:endParaRPr lang="en-US" altLang="zh-CN">
              <a:latin typeface="Times New Roman" panose="02020603050405020304" pitchFamily="18" charset="0"/>
            </a:endParaRPr>
          </a:p>
          <a:p>
            <a:r>
              <a:rPr lang="en-US" altLang="zh-CN">
                <a:latin typeface="Times New Roman" panose="02020603050405020304" pitchFamily="18" charset="0"/>
              </a:rPr>
              <a:t>    RETURN d_count;</a:t>
            </a:r>
            <a:endParaRPr lang="en-US" altLang="zh-CN">
              <a:latin typeface="Times New Roman" panose="02020603050405020304" pitchFamily="18" charset="0"/>
            </a:endParaRPr>
          </a:p>
          <a:p>
            <a:r>
              <a:rPr lang="en-US" altLang="zh-CN">
                <a:latin typeface="Times New Roman" panose="02020603050405020304" pitchFamily="18" charset="0"/>
              </a:rPr>
              <a:t>END;</a:t>
            </a:r>
            <a:endParaRPr lang="en-US" altLang="zh-CN">
              <a:latin typeface="Times New Roman" panose="02020603050405020304" pitchFamily="18" charset="0"/>
            </a:endParaRPr>
          </a:p>
          <a:p>
            <a:r>
              <a:rPr lang="en-US" altLang="zh-CN">
                <a:latin typeface="Times New Roman" panose="02020603050405020304" pitchFamily="18" charset="0"/>
              </a:rPr>
              <a:t>$$;</a:t>
            </a:r>
            <a:endParaRPr lang="en-US" altLang="zh-CN">
              <a:latin typeface="Times New Roman" panose="02020603050405020304" pitchFamily="18" charset="0"/>
            </a:endParaRPr>
          </a:p>
          <a:p>
            <a:endParaRPr lang="en-US" altLang="zh-CN">
              <a:latin typeface="Times New Roman" panose="02020603050405020304" pitchFamily="18" charset="0"/>
            </a:endParaRPr>
          </a:p>
          <a:p>
            <a:r>
              <a:rPr lang="en-US" altLang="zh-CN">
                <a:latin typeface="Times New Roman" panose="02020603050405020304" pitchFamily="18" charset="0"/>
              </a:rPr>
              <a:t>/* usage */</a:t>
            </a:r>
            <a:endParaRPr lang="en-US" altLang="zh-CN">
              <a:latin typeface="Times New Roman" panose="02020603050405020304" pitchFamily="18" charset="0"/>
            </a:endParaRPr>
          </a:p>
          <a:p>
            <a:r>
              <a:rPr lang="en-US" altLang="zh-CN">
                <a:latin typeface="Times New Roman" panose="02020603050405020304" pitchFamily="18" charset="0"/>
              </a:rPr>
              <a:t>SELECT dept_name, budget</a:t>
            </a:r>
            <a:endParaRPr lang="en-US" altLang="zh-CN">
              <a:latin typeface="Times New Roman" panose="02020603050405020304" pitchFamily="18" charset="0"/>
            </a:endParaRPr>
          </a:p>
          <a:p>
            <a:r>
              <a:rPr lang="en-US" altLang="zh-CN">
                <a:latin typeface="Times New Roman" panose="02020603050405020304" pitchFamily="18" charset="0"/>
              </a:rPr>
              <a:t>FROM department</a:t>
            </a:r>
            <a:endParaRPr lang="en-US" altLang="zh-CN">
              <a:latin typeface="Times New Roman" panose="02020603050405020304" pitchFamily="18" charset="0"/>
            </a:endParaRPr>
          </a:p>
          <a:p>
            <a:r>
              <a:rPr lang="en-US" altLang="zh-CN">
                <a:latin typeface="Times New Roman" panose="02020603050405020304" pitchFamily="18" charset="0"/>
              </a:rPr>
              <a:t>WHERE dept_count(dept_name) &gt; 2;   -- returns CS and Music</a:t>
            </a:r>
            <a:endParaRPr lang="en-US" altLang="zh-CN">
              <a:latin typeface="Times New Roman" panose="02020603050405020304" pitchFamily="18" charset="0"/>
            </a:endParaRPr>
          </a:p>
          <a:p>
            <a:endParaRPr lang="en-US" altLang="zh-CN">
              <a:latin typeface="Times New Roman" panose="02020603050405020304" pitchFamily="18" charset="0"/>
            </a:endParaRPr>
          </a:p>
          <a:p>
            <a:r>
              <a:rPr lang="en-US" altLang="zh-CN">
                <a:latin typeface="Times New Roman" panose="02020603050405020304" pitchFamily="18" charset="0"/>
              </a:rPr>
              <a:t>/* ------------------------------------------------------------------</a:t>
            </a:r>
            <a:endParaRPr lang="en-US" altLang="zh-CN">
              <a:latin typeface="Times New Roman" panose="02020603050405020304" pitchFamily="18" charset="0"/>
            </a:endParaRPr>
          </a:p>
          <a:p>
            <a:r>
              <a:rPr lang="en-US" altLang="zh-CN">
                <a:latin typeface="Times New Roman" panose="02020603050405020304" pitchFamily="18" charset="0"/>
              </a:rPr>
              <a:t>   2.  Table function  instructor_of  (returns a setof rows)</a:t>
            </a:r>
            <a:endParaRPr lang="en-US" altLang="zh-CN">
              <a:latin typeface="Times New Roman" panose="02020603050405020304" pitchFamily="18" charset="0"/>
            </a:endParaRPr>
          </a:p>
          <a:p>
            <a:r>
              <a:rPr lang="en-US" altLang="zh-CN">
                <a:latin typeface="Times New Roman" panose="02020603050405020304" pitchFamily="18" charset="0"/>
              </a:rPr>
              <a:t>-------------------------------------------------------------------*/</a:t>
            </a:r>
            <a:endParaRPr lang="en-US" altLang="zh-CN">
              <a:latin typeface="Times New Roman" panose="02020603050405020304" pitchFamily="18" charset="0"/>
            </a:endParaRPr>
          </a:p>
          <a:p>
            <a:r>
              <a:rPr lang="en-US" altLang="zh-CN">
                <a:latin typeface="Times New Roman" panose="02020603050405020304" pitchFamily="18" charset="0"/>
              </a:rPr>
              <a:t>CREATE OR REPLACE FUNCTION instructor_of(p_dept_name VARCHAR(20))</a:t>
            </a:r>
            <a:endParaRPr lang="en-US" altLang="zh-CN">
              <a:latin typeface="Times New Roman" panose="02020603050405020304" pitchFamily="18" charset="0"/>
            </a:endParaRPr>
          </a:p>
          <a:p>
            <a:r>
              <a:rPr lang="en-US" altLang="zh-CN">
                <a:latin typeface="Times New Roman" panose="02020603050405020304" pitchFamily="18" charset="0"/>
              </a:rPr>
              <a:t>RETURNS TABLE (</a:t>
            </a:r>
            <a:endParaRPr lang="en-US" altLang="zh-CN">
              <a:latin typeface="Times New Roman" panose="02020603050405020304" pitchFamily="18" charset="0"/>
            </a:endParaRPr>
          </a:p>
          <a:p>
            <a:r>
              <a:rPr lang="en-US" altLang="zh-CN">
                <a:latin typeface="Times New Roman" panose="02020603050405020304" pitchFamily="18" charset="0"/>
              </a:rPr>
              <a:t>    id        VARCHAR(5),</a:t>
            </a:r>
            <a:endParaRPr lang="en-US" altLang="zh-CN">
              <a:latin typeface="Times New Roman" panose="02020603050405020304" pitchFamily="18" charset="0"/>
            </a:endParaRPr>
          </a:p>
          <a:p>
            <a:r>
              <a:rPr lang="en-US" altLang="zh-CN">
                <a:latin typeface="Times New Roman" panose="02020603050405020304" pitchFamily="18" charset="0"/>
              </a:rPr>
              <a:t>    name      VARCHAR(20),</a:t>
            </a:r>
            <a:endParaRPr lang="en-US" altLang="zh-CN">
              <a:latin typeface="Times New Roman" panose="02020603050405020304" pitchFamily="18" charset="0"/>
            </a:endParaRPr>
          </a:p>
          <a:p>
            <a:r>
              <a:rPr lang="en-US" altLang="zh-CN">
                <a:latin typeface="Times New Roman" panose="02020603050405020304" pitchFamily="18" charset="0"/>
              </a:rPr>
              <a:t>    dept_name VARCHAR(20),</a:t>
            </a:r>
            <a:endParaRPr lang="en-US" altLang="zh-CN">
              <a:latin typeface="Times New Roman" panose="02020603050405020304" pitchFamily="18" charset="0"/>
            </a:endParaRPr>
          </a:p>
          <a:p>
            <a:r>
              <a:rPr lang="en-US" altLang="zh-CN">
                <a:latin typeface="Times New Roman" panose="02020603050405020304" pitchFamily="18" charset="0"/>
              </a:rPr>
              <a:t>    salary    NUMERIC(8,2)</a:t>
            </a:r>
            <a:endParaRPr lang="en-US" altLang="zh-CN">
              <a:latin typeface="Times New Roman" panose="02020603050405020304" pitchFamily="18" charset="0"/>
            </a:endParaRPr>
          </a:p>
          <a:p>
            <a:r>
              <a:rPr lang="en-US" altLang="zh-CN">
                <a:latin typeface="Times New Roman" panose="02020603050405020304" pitchFamily="18" charset="0"/>
              </a:rPr>
              <a:t>)</a:t>
            </a:r>
            <a:endParaRPr lang="en-US" altLang="zh-CN">
              <a:latin typeface="Times New Roman" panose="02020603050405020304" pitchFamily="18" charset="0"/>
            </a:endParaRPr>
          </a:p>
          <a:p>
            <a:r>
              <a:rPr lang="en-US" altLang="zh-CN">
                <a:latin typeface="Times New Roman" panose="02020603050405020304" pitchFamily="18" charset="0"/>
              </a:rPr>
              <a:t>LANGUAGE sql</a:t>
            </a:r>
            <a:endParaRPr lang="en-US" altLang="zh-CN">
              <a:latin typeface="Times New Roman" panose="02020603050405020304" pitchFamily="18" charset="0"/>
            </a:endParaRPr>
          </a:p>
          <a:p>
            <a:r>
              <a:rPr lang="en-US" altLang="zh-CN">
                <a:latin typeface="Times New Roman" panose="02020603050405020304" pitchFamily="18" charset="0"/>
              </a:rPr>
              <a:t>AS $$</a:t>
            </a:r>
            <a:endParaRPr lang="en-US" altLang="zh-CN">
              <a:latin typeface="Times New Roman" panose="02020603050405020304" pitchFamily="18" charset="0"/>
            </a:endParaRPr>
          </a:p>
          <a:p>
            <a:r>
              <a:rPr lang="en-US" altLang="zh-CN">
                <a:latin typeface="Times New Roman" panose="02020603050405020304" pitchFamily="18" charset="0"/>
              </a:rPr>
              <a:t>    SELECT id, name, dept_name, salary</a:t>
            </a:r>
            <a:endParaRPr lang="en-US" altLang="zh-CN">
              <a:latin typeface="Times New Roman" panose="02020603050405020304" pitchFamily="18" charset="0"/>
            </a:endParaRPr>
          </a:p>
          <a:p>
            <a:r>
              <a:rPr lang="en-US" altLang="zh-CN">
                <a:latin typeface="Times New Roman" panose="02020603050405020304" pitchFamily="18" charset="0"/>
              </a:rPr>
              <a:t>    FROM instructor</a:t>
            </a:r>
            <a:endParaRPr lang="en-US" altLang="zh-CN">
              <a:latin typeface="Times New Roman" panose="02020603050405020304" pitchFamily="18" charset="0"/>
            </a:endParaRPr>
          </a:p>
          <a:p>
            <a:r>
              <a:rPr lang="en-US" altLang="zh-CN">
                <a:latin typeface="Times New Roman" panose="02020603050405020304" pitchFamily="18" charset="0"/>
              </a:rPr>
              <a:t>    WHERE instructor.dept_name = p_dept_name;</a:t>
            </a:r>
            <a:endParaRPr lang="en-US" altLang="zh-CN">
              <a:latin typeface="Times New Roman" panose="02020603050405020304" pitchFamily="18" charset="0"/>
            </a:endParaRPr>
          </a:p>
          <a:p>
            <a:r>
              <a:rPr lang="en-US" altLang="zh-CN">
                <a:latin typeface="Times New Roman" panose="02020603050405020304" pitchFamily="18" charset="0"/>
              </a:rPr>
              <a:t>$$;</a:t>
            </a:r>
            <a:endParaRPr lang="en-US" altLang="zh-CN">
              <a:latin typeface="Times New Roman" panose="02020603050405020304" pitchFamily="18" charset="0"/>
            </a:endParaRPr>
          </a:p>
          <a:p>
            <a:endParaRPr lang="en-US" altLang="zh-CN">
              <a:latin typeface="Times New Roman" panose="02020603050405020304" pitchFamily="18" charset="0"/>
            </a:endParaRPr>
          </a:p>
          <a:p>
            <a:r>
              <a:rPr lang="en-US" altLang="zh-CN">
                <a:latin typeface="Times New Roman" panose="02020603050405020304" pitchFamily="18" charset="0"/>
              </a:rPr>
              <a:t>/* usage */</a:t>
            </a:r>
            <a:endParaRPr lang="en-US" altLang="zh-CN">
              <a:latin typeface="Times New Roman" panose="02020603050405020304" pitchFamily="18" charset="0"/>
            </a:endParaRPr>
          </a:p>
          <a:p>
            <a:r>
              <a:rPr lang="en-US" altLang="zh-CN">
                <a:latin typeface="Times New Roman" panose="02020603050405020304" pitchFamily="18" charset="0"/>
              </a:rPr>
              <a:t>SELECT *</a:t>
            </a:r>
            <a:endParaRPr lang="en-US" altLang="zh-CN">
              <a:latin typeface="Times New Roman" panose="02020603050405020304" pitchFamily="18" charset="0"/>
            </a:endParaRPr>
          </a:p>
          <a:p>
            <a:r>
              <a:rPr lang="en-US" altLang="zh-CN">
                <a:latin typeface="Times New Roman" panose="02020603050405020304" pitchFamily="18" charset="0"/>
              </a:rPr>
              <a:t>FROM instructor_of('Music');        -- 13 rows</a:t>
            </a:r>
            <a:endParaRPr lang="en-US" altLang="zh-CN">
              <a:latin typeface="Times New Roman" panose="02020603050405020304" pitchFamily="18" charset="0"/>
            </a:endParaRPr>
          </a:p>
          <a:p>
            <a:endParaRPr lang="en-US" altLang="zh-CN">
              <a:latin typeface="Times New Roman" panose="02020603050405020304" pitchFamily="18" charset="0"/>
            </a:endParaRPr>
          </a:p>
          <a:p>
            <a:r>
              <a:rPr lang="en-US" altLang="zh-CN">
                <a:latin typeface="Times New Roman" panose="02020603050405020304" pitchFamily="18" charset="0"/>
              </a:rPr>
              <a:t>/* ------------------------------------------------------------------</a:t>
            </a:r>
            <a:endParaRPr lang="en-US" altLang="zh-CN">
              <a:latin typeface="Times New Roman" panose="02020603050405020304" pitchFamily="18" charset="0"/>
            </a:endParaRPr>
          </a:p>
          <a:p>
            <a:r>
              <a:rPr lang="en-US" altLang="zh-CN">
                <a:latin typeface="Times New Roman" panose="02020603050405020304" pitchFamily="18" charset="0"/>
              </a:rPr>
              <a:t>   3.  Stored procedure  dept_count_proc  (IN / OUT parameters)</a:t>
            </a:r>
            <a:endParaRPr lang="en-US" altLang="zh-CN">
              <a:latin typeface="Times New Roman" panose="02020603050405020304" pitchFamily="18" charset="0"/>
            </a:endParaRPr>
          </a:p>
          <a:p>
            <a:r>
              <a:rPr lang="en-US" altLang="zh-CN">
                <a:latin typeface="Times New Roman" panose="02020603050405020304" pitchFamily="18" charset="0"/>
              </a:rPr>
              <a:t>-------------------------------------------------------------------*/</a:t>
            </a:r>
            <a:endParaRPr lang="en-US" altLang="zh-CN">
              <a:latin typeface="Times New Roman" panose="02020603050405020304" pitchFamily="18" charset="0"/>
            </a:endParaRPr>
          </a:p>
          <a:p>
            <a:r>
              <a:rPr lang="en-US" altLang="zh-CN">
                <a:latin typeface="Times New Roman" panose="02020603050405020304" pitchFamily="18" charset="0"/>
              </a:rPr>
              <a:t>CREATE OR REPLACE PROCEDURE dept_count_proc(</a:t>
            </a:r>
            <a:endParaRPr lang="en-US" altLang="zh-CN">
              <a:latin typeface="Times New Roman" panose="02020603050405020304" pitchFamily="18" charset="0"/>
            </a:endParaRPr>
          </a:p>
          <a:p>
            <a:r>
              <a:rPr lang="en-US" altLang="zh-CN">
                <a:latin typeface="Times New Roman" panose="02020603050405020304" pitchFamily="18" charset="0"/>
              </a:rPr>
              <a:t>    IN  p_dept_name VARCHAR(20),</a:t>
            </a:r>
            <a:endParaRPr lang="en-US" altLang="zh-CN">
              <a:latin typeface="Times New Roman" panose="02020603050405020304" pitchFamily="18" charset="0"/>
            </a:endParaRPr>
          </a:p>
          <a:p>
            <a:r>
              <a:rPr lang="en-US" altLang="zh-CN">
                <a:latin typeface="Times New Roman" panose="02020603050405020304" pitchFamily="18" charset="0"/>
              </a:rPr>
              <a:t>    OUT p_d_count   INTEGER)</a:t>
            </a:r>
            <a:endParaRPr lang="en-US" altLang="zh-CN">
              <a:latin typeface="Times New Roman" panose="02020603050405020304" pitchFamily="18" charset="0"/>
            </a:endParaRPr>
          </a:p>
          <a:p>
            <a:r>
              <a:rPr lang="en-US" altLang="zh-CN">
                <a:latin typeface="Times New Roman" panose="02020603050405020304" pitchFamily="18" charset="0"/>
              </a:rPr>
              <a:t>LANGUAGE plpgsql</a:t>
            </a:r>
            <a:endParaRPr lang="en-US" altLang="zh-CN">
              <a:latin typeface="Times New Roman" panose="02020603050405020304" pitchFamily="18" charset="0"/>
            </a:endParaRPr>
          </a:p>
          <a:p>
            <a:r>
              <a:rPr lang="en-US" altLang="zh-CN">
                <a:latin typeface="Times New Roman" panose="02020603050405020304" pitchFamily="18" charset="0"/>
              </a:rPr>
              <a:t>AS $$</a:t>
            </a:r>
            <a:endParaRPr lang="en-US" altLang="zh-CN">
              <a:latin typeface="Times New Roman" panose="02020603050405020304" pitchFamily="18" charset="0"/>
            </a:endParaRPr>
          </a:p>
          <a:p>
            <a:r>
              <a:rPr lang="en-US" altLang="zh-CN">
                <a:latin typeface="Times New Roman" panose="02020603050405020304" pitchFamily="18" charset="0"/>
              </a:rPr>
              <a:t>BEGIN</a:t>
            </a:r>
            <a:endParaRPr lang="en-US" altLang="zh-CN">
              <a:latin typeface="Times New Roman" panose="02020603050405020304" pitchFamily="18" charset="0"/>
            </a:endParaRPr>
          </a:p>
          <a:p>
            <a:r>
              <a:rPr lang="en-US" altLang="zh-CN">
                <a:latin typeface="Times New Roman" panose="02020603050405020304" pitchFamily="18" charset="0"/>
              </a:rPr>
              <a:t>    SELECT COUNT(*) INTO p_d_count</a:t>
            </a:r>
            <a:endParaRPr lang="en-US" altLang="zh-CN">
              <a:latin typeface="Times New Roman" panose="02020603050405020304" pitchFamily="18" charset="0"/>
            </a:endParaRPr>
          </a:p>
          <a:p>
            <a:r>
              <a:rPr lang="en-US" altLang="zh-CN">
                <a:latin typeface="Times New Roman" panose="02020603050405020304" pitchFamily="18" charset="0"/>
              </a:rPr>
              <a:t>    FROM instructor</a:t>
            </a:r>
            <a:endParaRPr lang="en-US" altLang="zh-CN">
              <a:latin typeface="Times New Roman" panose="02020603050405020304" pitchFamily="18" charset="0"/>
            </a:endParaRPr>
          </a:p>
          <a:p>
            <a:r>
              <a:rPr lang="en-US" altLang="zh-CN">
                <a:latin typeface="Times New Roman" panose="02020603050405020304" pitchFamily="18" charset="0"/>
              </a:rPr>
              <a:t>    WHERE instructor.dept_name = p_dept_name;</a:t>
            </a:r>
            <a:endParaRPr lang="en-US" altLang="zh-CN">
              <a:latin typeface="Times New Roman" panose="02020603050405020304" pitchFamily="18" charset="0"/>
            </a:endParaRPr>
          </a:p>
          <a:p>
            <a:r>
              <a:rPr lang="en-US" altLang="zh-CN">
                <a:latin typeface="Times New Roman" panose="02020603050405020304" pitchFamily="18" charset="0"/>
              </a:rPr>
              <a:t>END;</a:t>
            </a:r>
            <a:endParaRPr lang="en-US" altLang="zh-CN">
              <a:latin typeface="Times New Roman" panose="02020603050405020304" pitchFamily="18" charset="0"/>
            </a:endParaRPr>
          </a:p>
          <a:p>
            <a:r>
              <a:rPr lang="en-US" altLang="zh-CN">
                <a:latin typeface="Times New Roman" panose="02020603050405020304" pitchFamily="18" charset="0"/>
              </a:rPr>
              <a:t>$$;</a:t>
            </a:r>
            <a:endParaRPr lang="en-US" altLang="zh-CN">
              <a:latin typeface="Times New Roman" panose="02020603050405020304" pitchFamily="18" charset="0"/>
            </a:endParaRPr>
          </a:p>
          <a:p>
            <a:endParaRPr lang="en-US" altLang="zh-CN">
              <a:latin typeface="Times New Roman" panose="02020603050405020304" pitchFamily="18" charset="0"/>
            </a:endParaRPr>
          </a:p>
          <a:p>
            <a:r>
              <a:rPr lang="en-US" altLang="zh-CN">
                <a:latin typeface="Times New Roman" panose="02020603050405020304" pitchFamily="18" charset="0"/>
              </a:rPr>
              <a:t>/* invocation from PL/pgSQL block (anonymous code) */</a:t>
            </a:r>
            <a:endParaRPr lang="en-US" altLang="zh-CN">
              <a:latin typeface="Times New Roman" panose="02020603050405020304" pitchFamily="18" charset="0"/>
            </a:endParaRPr>
          </a:p>
          <a:p>
            <a:r>
              <a:rPr lang="en-US" altLang="zh-CN">
                <a:latin typeface="Times New Roman" panose="02020603050405020304" pitchFamily="18" charset="0"/>
              </a:rPr>
              <a:t>DO $$</a:t>
            </a:r>
            <a:endParaRPr lang="en-US" altLang="zh-CN">
              <a:latin typeface="Times New Roman" panose="02020603050405020304" pitchFamily="18" charset="0"/>
            </a:endParaRPr>
          </a:p>
          <a:p>
            <a:r>
              <a:rPr lang="en-US" altLang="zh-CN">
                <a:latin typeface="Times New Roman" panose="02020603050405020304" pitchFamily="18" charset="0"/>
              </a:rPr>
              <a:t>DECLARE</a:t>
            </a:r>
            <a:endParaRPr lang="en-US" altLang="zh-CN">
              <a:latin typeface="Times New Roman" panose="02020603050405020304" pitchFamily="18" charset="0"/>
            </a:endParaRPr>
          </a:p>
          <a:p>
            <a:r>
              <a:rPr lang="en-US" altLang="zh-CN">
                <a:latin typeface="Times New Roman" panose="02020603050405020304" pitchFamily="18" charset="0"/>
              </a:rPr>
              <a:t>    v_count INTEGER;</a:t>
            </a:r>
            <a:endParaRPr lang="en-US" altLang="zh-CN">
              <a:latin typeface="Times New Roman" panose="02020603050405020304" pitchFamily="18" charset="0"/>
            </a:endParaRPr>
          </a:p>
          <a:p>
            <a:r>
              <a:rPr lang="en-US" altLang="zh-CN">
                <a:latin typeface="Times New Roman" panose="02020603050405020304" pitchFamily="18" charset="0"/>
              </a:rPr>
              <a:t>BEGIN</a:t>
            </a:r>
            <a:endParaRPr lang="en-US" altLang="zh-CN">
              <a:latin typeface="Times New Roman" panose="02020603050405020304" pitchFamily="18" charset="0"/>
            </a:endParaRPr>
          </a:p>
          <a:p>
            <a:r>
              <a:rPr lang="en-US" altLang="zh-CN">
                <a:latin typeface="Times New Roman" panose="02020603050405020304" pitchFamily="18" charset="0"/>
              </a:rPr>
              <a:t>    CALL dept_count_proc('Physics', v_count);</a:t>
            </a:r>
            <a:endParaRPr lang="en-US" altLang="zh-CN">
              <a:latin typeface="Times New Roman" panose="02020603050405020304" pitchFamily="18" charset="0"/>
            </a:endParaRPr>
          </a:p>
          <a:p>
            <a:r>
              <a:rPr lang="en-US" altLang="zh-CN">
                <a:latin typeface="Times New Roman" panose="02020603050405020304" pitchFamily="18" charset="0"/>
              </a:rPr>
              <a:t>    RAISE NOTICE 'Physics has % instructors', v_count;</a:t>
            </a:r>
            <a:endParaRPr lang="en-US" altLang="zh-CN">
              <a:latin typeface="Times New Roman" panose="02020603050405020304" pitchFamily="18" charset="0"/>
            </a:endParaRPr>
          </a:p>
          <a:p>
            <a:r>
              <a:rPr lang="en-US" altLang="zh-CN">
                <a:latin typeface="Times New Roman" panose="02020603050405020304" pitchFamily="18" charset="0"/>
              </a:rPr>
              <a:t>END;</a:t>
            </a:r>
            <a:endParaRPr lang="en-US" altLang="zh-CN">
              <a:latin typeface="Times New Roman" panose="02020603050405020304" pitchFamily="18" charset="0"/>
            </a:endParaRPr>
          </a:p>
          <a:p>
            <a:r>
              <a:rPr lang="en-US" altLang="zh-CN">
                <a:latin typeface="Times New Roman" panose="02020603050405020304" pitchFamily="18" charset="0"/>
              </a:rPr>
              <a:t>$$;</a:t>
            </a:r>
            <a:endParaRPr lang="en-US" altLang="zh-CN">
              <a:latin typeface="Times New Roman" panose="02020603050405020304" pitchFamily="18" charset="0"/>
            </a:endParaRPr>
          </a:p>
          <a:p>
            <a:endParaRPr lang="en-US" altLang="zh-CN">
              <a:latin typeface="Times New Roman" panose="02020603050405020304" pitchFamily="18" charset="0"/>
            </a:endParaRPr>
          </a:p>
          <a:p>
            <a:r>
              <a:rPr lang="en-US" altLang="zh-CN">
                <a:latin typeface="Times New Roman" panose="02020603050405020304" pitchFamily="18" charset="0"/>
              </a:rPr>
              <a:t>/* ------------------------------------------------------------------</a:t>
            </a:r>
            <a:endParaRPr lang="en-US" altLang="zh-CN">
              <a:latin typeface="Times New Roman" panose="02020603050405020304" pitchFamily="18" charset="0"/>
            </a:endParaRPr>
          </a:p>
          <a:p>
            <a:r>
              <a:rPr lang="en-US" altLang="zh-CN">
                <a:latin typeface="Times New Roman" panose="02020603050405020304" pitchFamily="18" charset="0"/>
              </a:rPr>
              <a:t>   4.  Dynamic-SQL demo  (build &amp; run any statement at run time)</a:t>
            </a:r>
            <a:endParaRPr lang="en-US" altLang="zh-CN">
              <a:latin typeface="Times New Roman" panose="02020603050405020304" pitchFamily="18" charset="0"/>
            </a:endParaRPr>
          </a:p>
          <a:p>
            <a:r>
              <a:rPr lang="en-US" altLang="zh-CN">
                <a:latin typeface="Times New Roman" panose="02020603050405020304" pitchFamily="18" charset="0"/>
              </a:rPr>
              <a:t>-------------------------------------------------------------------*/</a:t>
            </a:r>
            <a:endParaRPr lang="en-US" altLang="zh-CN">
              <a:latin typeface="Times New Roman" panose="02020603050405020304" pitchFamily="18" charset="0"/>
            </a:endParaRPr>
          </a:p>
          <a:p>
            <a:r>
              <a:rPr lang="en-US" altLang="zh-CN">
                <a:latin typeface="Times New Roman" panose="02020603050405020304" pitchFamily="18" charset="0"/>
              </a:rPr>
              <a:t>CREATE OR REPLACE FUNCTION dynamic_instructor_cnt(</a:t>
            </a:r>
            <a:endParaRPr lang="en-US" altLang="zh-CN">
              <a:latin typeface="Times New Roman" panose="02020603050405020304" pitchFamily="18" charset="0"/>
            </a:endParaRPr>
          </a:p>
          <a:p>
            <a:r>
              <a:rPr lang="en-US" altLang="zh-CN">
                <a:latin typeface="Times New Roman" panose="02020603050405020304" pitchFamily="18" charset="0"/>
              </a:rPr>
              <a:t>    p_dept_name VARCHAR(20)</a:t>
            </a:r>
            <a:endParaRPr lang="en-US" altLang="zh-CN">
              <a:latin typeface="Times New Roman" panose="02020603050405020304" pitchFamily="18" charset="0"/>
            </a:endParaRPr>
          </a:p>
          <a:p>
            <a:r>
              <a:rPr lang="en-US" altLang="zh-CN">
                <a:latin typeface="Times New Roman" panose="02020603050405020304" pitchFamily="18" charset="0"/>
              </a:rPr>
              <a:t>)</a:t>
            </a:r>
            <a:endParaRPr lang="en-US" altLang="zh-CN">
              <a:latin typeface="Times New Roman" panose="02020603050405020304" pitchFamily="18" charset="0"/>
            </a:endParaRPr>
          </a:p>
          <a:p>
            <a:r>
              <a:rPr lang="en-US" altLang="zh-CN">
                <a:latin typeface="Times New Roman" panose="02020603050405020304" pitchFamily="18" charset="0"/>
              </a:rPr>
              <a:t>RETURNS INTEGER</a:t>
            </a:r>
            <a:endParaRPr lang="en-US" altLang="zh-CN">
              <a:latin typeface="Times New Roman" panose="02020603050405020304" pitchFamily="18" charset="0"/>
            </a:endParaRPr>
          </a:p>
          <a:p>
            <a:r>
              <a:rPr lang="en-US" altLang="zh-CN">
                <a:latin typeface="Times New Roman" panose="02020603050405020304" pitchFamily="18" charset="0"/>
              </a:rPr>
              <a:t>LANGUAGE plpgsql</a:t>
            </a:r>
            <a:endParaRPr lang="en-US" altLang="zh-CN">
              <a:latin typeface="Times New Roman" panose="02020603050405020304" pitchFamily="18" charset="0"/>
            </a:endParaRPr>
          </a:p>
          <a:p>
            <a:r>
              <a:rPr lang="en-US" altLang="zh-CN">
                <a:latin typeface="Times New Roman" panose="02020603050405020304" pitchFamily="18" charset="0"/>
              </a:rPr>
              <a:t>AS $$</a:t>
            </a:r>
            <a:endParaRPr lang="en-US" altLang="zh-CN">
              <a:latin typeface="Times New Roman" panose="02020603050405020304" pitchFamily="18" charset="0"/>
            </a:endParaRPr>
          </a:p>
          <a:p>
            <a:r>
              <a:rPr lang="en-US" altLang="zh-CN">
                <a:latin typeface="Times New Roman" panose="02020603050405020304" pitchFamily="18" charset="0"/>
              </a:rPr>
              <a:t>DECLARE</a:t>
            </a:r>
            <a:endParaRPr lang="en-US" altLang="zh-CN">
              <a:latin typeface="Times New Roman" panose="02020603050405020304" pitchFamily="18" charset="0"/>
            </a:endParaRPr>
          </a:p>
          <a:p>
            <a:r>
              <a:rPr lang="en-US" altLang="zh-CN">
                <a:latin typeface="Times New Roman" panose="02020603050405020304" pitchFamily="18" charset="0"/>
              </a:rPr>
              <a:t>    v_sql  TEXT;</a:t>
            </a:r>
            <a:endParaRPr lang="en-US" altLang="zh-CN">
              <a:latin typeface="Times New Roman" panose="02020603050405020304" pitchFamily="18" charset="0"/>
            </a:endParaRPr>
          </a:p>
          <a:p>
            <a:r>
              <a:rPr lang="en-US" altLang="zh-CN">
                <a:latin typeface="Times New Roman" panose="02020603050405020304" pitchFamily="18" charset="0"/>
              </a:rPr>
              <a:t>    v_cnt  INTEGER;</a:t>
            </a:r>
            <a:endParaRPr lang="en-US" altLang="zh-CN">
              <a:latin typeface="Times New Roman" panose="02020603050405020304" pitchFamily="18" charset="0"/>
            </a:endParaRPr>
          </a:p>
          <a:p>
            <a:r>
              <a:rPr lang="en-US" altLang="zh-CN">
                <a:latin typeface="Times New Roman" panose="02020603050405020304" pitchFamily="18" charset="0"/>
              </a:rPr>
              <a:t>BEGIN</a:t>
            </a:r>
            <a:endParaRPr lang="en-US" altLang="zh-CN">
              <a:latin typeface="Times New Roman" panose="02020603050405020304" pitchFamily="18" charset="0"/>
            </a:endParaRPr>
          </a:p>
          <a:p>
            <a:r>
              <a:rPr lang="en-US" altLang="zh-CN">
                <a:latin typeface="Times New Roman" panose="02020603050405020304" pitchFamily="18" charset="0"/>
              </a:rPr>
              <a:t>    v_sql := format(</a:t>
            </a:r>
            <a:endParaRPr lang="en-US" altLang="zh-CN">
              <a:latin typeface="Times New Roman" panose="02020603050405020304" pitchFamily="18" charset="0"/>
            </a:endParaRPr>
          </a:p>
          <a:p>
            <a:r>
              <a:rPr lang="en-US" altLang="zh-CN">
                <a:latin typeface="Times New Roman" panose="02020603050405020304" pitchFamily="18" charset="0"/>
              </a:rPr>
              <a:t>        'SELECT COUNT(*) FROM instructor WHERE dept_name = %L',</a:t>
            </a:r>
            <a:endParaRPr lang="en-US" altLang="zh-CN">
              <a:latin typeface="Times New Roman" panose="02020603050405020304" pitchFamily="18" charset="0"/>
            </a:endParaRPr>
          </a:p>
          <a:p>
            <a:r>
              <a:rPr lang="en-US" altLang="zh-CN">
                <a:latin typeface="Times New Roman" panose="02020603050405020304" pitchFamily="18" charset="0"/>
              </a:rPr>
              <a:t>        p_dept_name);</a:t>
            </a:r>
            <a:endParaRPr lang="en-US" altLang="zh-CN">
              <a:latin typeface="Times New Roman" panose="02020603050405020304" pitchFamily="18" charset="0"/>
            </a:endParaRPr>
          </a:p>
          <a:p>
            <a:r>
              <a:rPr lang="en-US" altLang="zh-CN">
                <a:latin typeface="Times New Roman" panose="02020603050405020304" pitchFamily="18" charset="0"/>
              </a:rPr>
              <a:t>    EXECUTE v_sql INTO v_cnt;</a:t>
            </a:r>
            <a:endParaRPr lang="en-US" altLang="zh-CN">
              <a:latin typeface="Times New Roman" panose="02020603050405020304" pitchFamily="18" charset="0"/>
            </a:endParaRPr>
          </a:p>
          <a:p>
            <a:r>
              <a:rPr lang="en-US" altLang="zh-CN">
                <a:latin typeface="Times New Roman" panose="02020603050405020304" pitchFamily="18" charset="0"/>
              </a:rPr>
              <a:t>    RETURN v_cnt;</a:t>
            </a:r>
            <a:endParaRPr lang="en-US" altLang="zh-CN">
              <a:latin typeface="Times New Roman" panose="02020603050405020304" pitchFamily="18" charset="0"/>
            </a:endParaRPr>
          </a:p>
          <a:p>
            <a:r>
              <a:rPr lang="en-US" altLang="zh-CN">
                <a:latin typeface="Times New Roman" panose="02020603050405020304" pitchFamily="18" charset="0"/>
              </a:rPr>
              <a:t>END;</a:t>
            </a:r>
            <a:endParaRPr lang="en-US" altLang="zh-CN">
              <a:latin typeface="Times New Roman" panose="02020603050405020304" pitchFamily="18" charset="0"/>
            </a:endParaRPr>
          </a:p>
          <a:p>
            <a:r>
              <a:rPr lang="en-US" altLang="zh-CN">
                <a:latin typeface="Times New Roman" panose="02020603050405020304" pitchFamily="18" charset="0"/>
              </a:rPr>
              <a:t>$$;</a:t>
            </a:r>
            <a:endParaRPr lang="en-US" altLang="zh-CN">
              <a:latin typeface="Times New Roman" panose="02020603050405020304" pitchFamily="18" charset="0"/>
            </a:endParaRPr>
          </a:p>
          <a:p>
            <a:endParaRPr lang="en-US" altLang="zh-CN">
              <a:latin typeface="Times New Roman" panose="02020603050405020304" pitchFamily="18" charset="0"/>
            </a:endParaRPr>
          </a:p>
          <a:p>
            <a:r>
              <a:rPr lang="en-US" altLang="zh-CN">
                <a:latin typeface="Times New Roman" panose="02020603050405020304" pitchFamily="18" charset="0"/>
              </a:rPr>
              <a:t>/* quick test */</a:t>
            </a:r>
            <a:endParaRPr lang="en-US" altLang="zh-CN">
              <a:latin typeface="Times New Roman" panose="02020603050405020304" pitchFamily="18" charset="0"/>
            </a:endParaRPr>
          </a:p>
          <a:p>
            <a:r>
              <a:rPr lang="en-US" altLang="zh-CN">
                <a:latin typeface="Times New Roman" panose="02020603050405020304" pitchFamily="18" charset="0"/>
              </a:rPr>
              <a:t>SELECT dynamic_instructor_cnt('CS');   -- 24</a:t>
            </a:r>
            <a:endParaRPr lang="en-US" altLang="zh-CN">
              <a:latin typeface="Times New Roman" panose="02020603050405020304" pitchFamily="18" charset="0"/>
            </a:endParaRPr>
          </a:p>
          <a:p>
            <a:endParaRPr lang="en-US" altLang="zh-CN">
              <a:latin typeface="Times New Roman" panose="02020603050405020304" pitchFamily="18" charset="0"/>
            </a:endParaRPr>
          </a:p>
          <a:p>
            <a:r>
              <a:rPr lang="en-US" altLang="zh-CN">
                <a:latin typeface="Times New Roman" panose="02020603050405020304" pitchFamily="18" charset="0"/>
              </a:rPr>
              <a:t>/* ------------------------------------------------------------------</a:t>
            </a:r>
            <a:endParaRPr lang="en-US" altLang="zh-CN">
              <a:latin typeface="Times New Roman" panose="02020603050405020304" pitchFamily="18" charset="0"/>
            </a:endParaRPr>
          </a:p>
          <a:p>
            <a:r>
              <a:rPr lang="en-US" altLang="zh-CN">
                <a:latin typeface="Times New Roman" panose="02020603050405020304" pitchFamily="18" charset="0"/>
              </a:rPr>
              <a:t>   5.  Overloading demo  (same name, different arity)</a:t>
            </a:r>
            <a:endParaRPr lang="en-US" altLang="zh-CN">
              <a:latin typeface="Times New Roman" panose="02020603050405020304" pitchFamily="18" charset="0"/>
            </a:endParaRPr>
          </a:p>
          <a:p>
            <a:r>
              <a:rPr lang="en-US" altLang="zh-CN">
                <a:latin typeface="Times New Roman" panose="02020603050405020304" pitchFamily="18" charset="0"/>
              </a:rPr>
              <a:t>-------------------------------------------------------------------*/</a:t>
            </a:r>
            <a:endParaRPr lang="en-US" altLang="zh-CN">
              <a:latin typeface="Times New Roman" panose="02020603050405020304" pitchFamily="18" charset="0"/>
            </a:endParaRPr>
          </a:p>
          <a:p>
            <a:r>
              <a:rPr lang="en-US" altLang="zh-CN">
                <a:latin typeface="Times New Roman" panose="02020603050405020304" pitchFamily="18" charset="0"/>
              </a:rPr>
              <a:t>CREATE OR REPLACE FUNCTION add_instructor(</a:t>
            </a:r>
            <a:endParaRPr lang="en-US" altLang="zh-CN">
              <a:latin typeface="Times New Roman" panose="02020603050405020304" pitchFamily="18" charset="0"/>
            </a:endParaRPr>
          </a:p>
          <a:p>
            <a:r>
              <a:rPr lang="en-US" altLang="zh-CN">
                <a:latin typeface="Times New Roman" panose="02020603050405020304" pitchFamily="18" charset="0"/>
              </a:rPr>
              <a:t>    p_id   VARCHAR(5),</a:t>
            </a:r>
            <a:endParaRPr lang="en-US" altLang="zh-CN">
              <a:latin typeface="Times New Roman" panose="02020603050405020304" pitchFamily="18" charset="0"/>
            </a:endParaRPr>
          </a:p>
          <a:p>
            <a:r>
              <a:rPr lang="en-US" altLang="zh-CN">
                <a:latin typeface="Times New Roman" panose="02020603050405020304" pitchFamily="18" charset="0"/>
              </a:rPr>
              <a:t>    p_name VARCHAR(20),</a:t>
            </a:r>
            <a:endParaRPr lang="en-US" altLang="zh-CN">
              <a:latin typeface="Times New Roman" panose="02020603050405020304" pitchFamily="18" charset="0"/>
            </a:endParaRPr>
          </a:p>
          <a:p>
            <a:r>
              <a:rPr lang="en-US" altLang="zh-CN">
                <a:latin typeface="Times New Roman" panose="02020603050405020304" pitchFamily="18" charset="0"/>
              </a:rPr>
              <a:t>    p_dept VARCHAR(20)</a:t>
            </a:r>
            <a:endParaRPr lang="en-US" altLang="zh-CN">
              <a:latin typeface="Times New Roman" panose="02020603050405020304" pitchFamily="18" charset="0"/>
            </a:endParaRPr>
          </a:p>
          <a:p>
            <a:r>
              <a:rPr lang="en-US" altLang="zh-CN">
                <a:latin typeface="Times New Roman" panose="02020603050405020304" pitchFamily="18" charset="0"/>
              </a:rPr>
              <a:t>)</a:t>
            </a:r>
            <a:endParaRPr lang="en-US" altLang="zh-CN">
              <a:latin typeface="Times New Roman" panose="02020603050405020304" pitchFamily="18" charset="0"/>
            </a:endParaRPr>
          </a:p>
          <a:p>
            <a:r>
              <a:rPr lang="en-US" altLang="zh-CN">
                <a:latin typeface="Times New Roman" panose="02020603050405020304" pitchFamily="18" charset="0"/>
              </a:rPr>
              <a:t>RETURNS VOID</a:t>
            </a:r>
            <a:endParaRPr lang="en-US" altLang="zh-CN">
              <a:latin typeface="Times New Roman" panose="02020603050405020304" pitchFamily="18" charset="0"/>
            </a:endParaRPr>
          </a:p>
          <a:p>
            <a:r>
              <a:rPr lang="en-US" altLang="zh-CN">
                <a:latin typeface="Times New Roman" panose="02020603050405020304" pitchFamily="18" charset="0"/>
              </a:rPr>
              <a:t>LANGUAGE sql</a:t>
            </a:r>
            <a:endParaRPr lang="en-US" altLang="zh-CN">
              <a:latin typeface="Times New Roman" panose="02020603050405020304" pitchFamily="18" charset="0"/>
            </a:endParaRPr>
          </a:p>
          <a:p>
            <a:r>
              <a:rPr lang="en-US" altLang="zh-CN">
                <a:latin typeface="Times New Roman" panose="02020603050405020304" pitchFamily="18" charset="0"/>
              </a:rPr>
              <a:t>AS $$</a:t>
            </a:r>
            <a:endParaRPr lang="en-US" altLang="zh-CN">
              <a:latin typeface="Times New Roman" panose="02020603050405020304" pitchFamily="18" charset="0"/>
            </a:endParaRPr>
          </a:p>
          <a:p>
            <a:r>
              <a:rPr lang="en-US" altLang="zh-CN">
                <a:latin typeface="Times New Roman" panose="02020603050405020304" pitchFamily="18" charset="0"/>
              </a:rPr>
              <a:t>    INSERT INTO instructor(id, name, dept_name, salary)</a:t>
            </a:r>
            <a:endParaRPr lang="en-US" altLang="zh-CN">
              <a:latin typeface="Times New Roman" panose="02020603050405020304" pitchFamily="18" charset="0"/>
            </a:endParaRPr>
          </a:p>
          <a:p>
            <a:r>
              <a:rPr lang="en-US" altLang="zh-CN">
                <a:latin typeface="Times New Roman" panose="02020603050405020304" pitchFamily="18" charset="0"/>
              </a:rPr>
              <a:t>    VALUES (p_id, p_name, p_dept, 0);</a:t>
            </a:r>
            <a:endParaRPr lang="en-US" altLang="zh-CN">
              <a:latin typeface="Times New Roman" panose="02020603050405020304" pitchFamily="18" charset="0"/>
            </a:endParaRPr>
          </a:p>
          <a:p>
            <a:r>
              <a:rPr lang="en-US" altLang="zh-CN">
                <a:latin typeface="Times New Roman" panose="02020603050405020304" pitchFamily="18" charset="0"/>
              </a:rPr>
              <a:t>$$;</a:t>
            </a:r>
            <a:endParaRPr lang="en-US" altLang="zh-CN">
              <a:latin typeface="Times New Roman" panose="02020603050405020304" pitchFamily="18" charset="0"/>
            </a:endParaRPr>
          </a:p>
          <a:p>
            <a:endParaRPr lang="en-US" altLang="zh-CN">
              <a:latin typeface="Times New Roman" panose="02020603050405020304" pitchFamily="18" charset="0"/>
            </a:endParaRPr>
          </a:p>
          <a:p>
            <a:r>
              <a:rPr lang="en-US" altLang="zh-CN">
                <a:latin typeface="Times New Roman" panose="02020603050405020304" pitchFamily="18" charset="0"/>
              </a:rPr>
              <a:t>CREATE OR REPLACE FUNCTION add_instructor(</a:t>
            </a:r>
            <a:endParaRPr lang="en-US" altLang="zh-CN">
              <a:latin typeface="Times New Roman" panose="02020603050405020304" pitchFamily="18" charset="0"/>
            </a:endParaRPr>
          </a:p>
          <a:p>
            <a:r>
              <a:rPr lang="en-US" altLang="zh-CN">
                <a:latin typeface="Times New Roman" panose="02020603050405020304" pitchFamily="18" charset="0"/>
              </a:rPr>
              <a:t>    p_id   VARCHAR(5),</a:t>
            </a:r>
            <a:endParaRPr lang="en-US" altLang="zh-CN">
              <a:latin typeface="Times New Roman" panose="02020603050405020304" pitchFamily="18" charset="0"/>
            </a:endParaRPr>
          </a:p>
          <a:p>
            <a:r>
              <a:rPr lang="en-US" altLang="zh-CN">
                <a:latin typeface="Times New Roman" panose="02020603050405020304" pitchFamily="18" charset="0"/>
              </a:rPr>
              <a:t>    p_name VARCHAR(20),</a:t>
            </a:r>
            <a:endParaRPr lang="en-US" altLang="zh-CN">
              <a:latin typeface="Times New Roman" panose="02020603050405020304" pitchFamily="18" charset="0"/>
            </a:endParaRPr>
          </a:p>
          <a:p>
            <a:r>
              <a:rPr lang="en-US" altLang="zh-CN">
                <a:latin typeface="Times New Roman" panose="02020603050405020304" pitchFamily="18" charset="0"/>
              </a:rPr>
              <a:t>    p_dept VARCHAR(20),</a:t>
            </a:r>
            <a:endParaRPr lang="en-US" altLang="zh-CN">
              <a:latin typeface="Times New Roman" panose="02020603050405020304" pitchFamily="18" charset="0"/>
            </a:endParaRPr>
          </a:p>
          <a:p>
            <a:r>
              <a:rPr lang="en-US" altLang="zh-CN">
                <a:latin typeface="Times New Roman" panose="02020603050405020304" pitchFamily="18" charset="0"/>
              </a:rPr>
              <a:t>    p_sal  NUMERIC(8,2)</a:t>
            </a:r>
            <a:endParaRPr lang="en-US" altLang="zh-CN">
              <a:latin typeface="Times New Roman" panose="02020603050405020304" pitchFamily="18" charset="0"/>
            </a:endParaRPr>
          </a:p>
          <a:p>
            <a:r>
              <a:rPr lang="en-US" altLang="zh-CN">
                <a:latin typeface="Times New Roman" panose="02020603050405020304" pitchFamily="18" charset="0"/>
              </a:rPr>
              <a:t>)</a:t>
            </a:r>
            <a:endParaRPr lang="en-US" altLang="zh-CN">
              <a:latin typeface="Times New Roman" panose="02020603050405020304" pitchFamily="18" charset="0"/>
            </a:endParaRPr>
          </a:p>
          <a:p>
            <a:r>
              <a:rPr lang="en-US" altLang="zh-CN">
                <a:latin typeface="Times New Roman" panose="02020603050405020304" pitchFamily="18" charset="0"/>
              </a:rPr>
              <a:t>RETURNS VOID</a:t>
            </a:r>
            <a:endParaRPr lang="en-US" altLang="zh-CN">
              <a:latin typeface="Times New Roman" panose="02020603050405020304" pitchFamily="18" charset="0"/>
            </a:endParaRPr>
          </a:p>
          <a:p>
            <a:r>
              <a:rPr lang="en-US" altLang="zh-CN">
                <a:latin typeface="Times New Roman" panose="02020603050405020304" pitchFamily="18" charset="0"/>
              </a:rPr>
              <a:t>LANGUAGE sql</a:t>
            </a:r>
            <a:endParaRPr lang="en-US" altLang="zh-CN">
              <a:latin typeface="Times New Roman" panose="02020603050405020304" pitchFamily="18" charset="0"/>
            </a:endParaRPr>
          </a:p>
          <a:p>
            <a:r>
              <a:rPr lang="en-US" altLang="zh-CN">
                <a:latin typeface="Times New Roman" panose="02020603050405020304" pitchFamily="18" charset="0"/>
              </a:rPr>
              <a:t>AS $$</a:t>
            </a:r>
            <a:endParaRPr lang="en-US" altLang="zh-CN">
              <a:latin typeface="Times New Roman" panose="02020603050405020304" pitchFamily="18" charset="0"/>
            </a:endParaRPr>
          </a:p>
          <a:p>
            <a:r>
              <a:rPr lang="en-US" altLang="zh-CN">
                <a:latin typeface="Times New Roman" panose="02020603050405020304" pitchFamily="18" charset="0"/>
              </a:rPr>
              <a:t>    INSERT INTO instructor(id, name, dept_name, salary)</a:t>
            </a:r>
            <a:endParaRPr lang="en-US" altLang="zh-CN">
              <a:latin typeface="Times New Roman" panose="02020603050405020304" pitchFamily="18" charset="0"/>
            </a:endParaRPr>
          </a:p>
          <a:p>
            <a:r>
              <a:rPr lang="en-US" altLang="zh-CN">
                <a:latin typeface="Times New Roman" panose="02020603050405020304" pitchFamily="18" charset="0"/>
              </a:rPr>
              <a:t>    VALUES (p_id, p_name, p_dept, p_sal);</a:t>
            </a:r>
            <a:endParaRPr lang="en-US" altLang="zh-CN">
              <a:latin typeface="Times New Roman" panose="02020603050405020304" pitchFamily="18" charset="0"/>
            </a:endParaRPr>
          </a:p>
          <a:p>
            <a:r>
              <a:rPr lang="en-US" altLang="zh-CN">
                <a:latin typeface="Times New Roman" panose="02020603050405020304" pitchFamily="18" charset="0"/>
              </a:rPr>
              <a:t>$$;</a:t>
            </a:r>
            <a:endParaRPr lang="en-US" altLang="zh-CN">
              <a:latin typeface="Times New Roman" panose="02020603050405020304" pitchFamily="18" charset="0"/>
            </a:endParaRPr>
          </a:p>
          <a:p>
            <a:endParaRPr lang="en-US" altLang="zh-CN">
              <a:latin typeface="Times New Roman" panose="02020603050405020304" pitchFamily="18" charset="0"/>
            </a:endParaRPr>
          </a:p>
          <a:p>
            <a:r>
              <a:rPr lang="en-US" altLang="zh-CN">
                <a:latin typeface="Times New Roman" panose="02020603050405020304" pitchFamily="18" charset="0"/>
              </a:rPr>
              <a:t>/* both variants coexist */</a:t>
            </a:r>
            <a:endParaRPr lang="en-US" altLang="zh-CN">
              <a:latin typeface="Times New Roman" panose="02020603050405020304" pitchFamily="18" charset="0"/>
            </a:endParaRPr>
          </a:p>
          <a:p>
            <a:r>
              <a:rPr lang="en-US" altLang="zh-CN">
                <a:latin typeface="Times New Roman" panose="02020603050405020304" pitchFamily="18" charset="0"/>
              </a:rPr>
              <a:t>SELECT add_instructor('I999', 'New-1', 'Music');</a:t>
            </a:r>
            <a:endParaRPr lang="en-US" altLang="zh-CN">
              <a:latin typeface="Times New Roman" panose="02020603050405020304" pitchFamily="18" charset="0"/>
            </a:endParaRPr>
          </a:p>
          <a:p>
            <a:r>
              <a:rPr lang="en-US" altLang="zh-CN">
                <a:latin typeface="Times New Roman" panose="02020603050405020304" pitchFamily="18" charset="0"/>
              </a:rPr>
              <a:t>SELECT add_instructor('I998', 'New-2', 'CS', 95000);</a:t>
            </a:r>
            <a:endParaRPr lang="en-US" altLang="zh-CN">
              <a:latin typeface="Times New Roman" panose="02020603050405020304" pitchFamily="18" charset="0"/>
            </a:endParaRPr>
          </a:p>
          <a:p>
            <a:endParaRPr lang="en-US" altLang="zh-CN">
              <a:latin typeface="Times New Roman" panose="02020603050405020304" pitchFamily="18" charset="0"/>
            </a:endParaRPr>
          </a:p>
          <a:p>
            <a:r>
              <a:rPr lang="en-US" altLang="zh-CN">
                <a:latin typeface="Times New Roman" panose="02020603050405020304" pitchFamily="18" charset="0"/>
              </a:rPr>
              <a:t>/* ------------------------------------------------------------------</a:t>
            </a:r>
            <a:endParaRPr lang="en-US" altLang="zh-CN">
              <a:latin typeface="Times New Roman" panose="02020603050405020304" pitchFamily="18" charset="0"/>
            </a:endParaRPr>
          </a:p>
          <a:p>
            <a:r>
              <a:rPr lang="en-US" altLang="zh-CN">
                <a:latin typeface="Times New Roman" panose="02020603050405020304" pitchFamily="18" charset="0"/>
              </a:rPr>
              <a:t>   6.  Clean-up  (optional)</a:t>
            </a:r>
            <a:endParaRPr lang="en-US" altLang="zh-CN">
              <a:latin typeface="Times New Roman" panose="02020603050405020304" pitchFamily="18" charset="0"/>
            </a:endParaRPr>
          </a:p>
          <a:p>
            <a:r>
              <a:rPr lang="en-US" altLang="zh-CN">
                <a:latin typeface="Times New Roman" panose="02020603050405020304" pitchFamily="18" charset="0"/>
              </a:rPr>
              <a:t>-------------------------------------------------------------------*/</a:t>
            </a:r>
            <a:endParaRPr lang="en-US" altLang="zh-CN">
              <a:latin typeface="Times New Roman" panose="02020603050405020304" pitchFamily="18" charset="0"/>
            </a:endParaRPr>
          </a:p>
          <a:p>
            <a:r>
              <a:rPr lang="en-US" altLang="zh-CN">
                <a:latin typeface="Times New Roman" panose="02020603050405020304" pitchFamily="18" charset="0"/>
              </a:rPr>
              <a:t>-- DROP SCHEMA demo_5 CASCADE;</a:t>
            </a:r>
            <a:endParaRPr lang="en-US" altLang="zh-CN">
              <a:latin typeface="Times New Roman" panose="02020603050405020304" pitchFamily="18" charset="0"/>
            </a:endParaRPr>
          </a:p>
          <a:p>
            <a:endParaRPr lang="en-US" altLang="zh-CN">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anose="020B0604020202020204" pitchFamily="34" charset="0"/>
                <a:ea typeface="MS PGothic" panose="020B0600070205080204" pitchFamily="34" charset="-128"/>
              </a:defRPr>
            </a:lvl1pPr>
            <a:lvl2pPr marL="741680" indent="-285115" defTabSz="929005">
              <a:defRPr sz="1600">
                <a:solidFill>
                  <a:schemeClr val="tx1"/>
                </a:solidFill>
                <a:latin typeface="Helvetica" panose="020B0604020202020204" pitchFamily="34" charset="0"/>
                <a:ea typeface="MS PGothic" panose="020B0600070205080204" pitchFamily="34" charset="-128"/>
              </a:defRPr>
            </a:lvl2pPr>
            <a:lvl3pPr marL="1141095" indent="-227965" defTabSz="929005">
              <a:defRPr sz="1600">
                <a:solidFill>
                  <a:schemeClr val="tx1"/>
                </a:solidFill>
                <a:latin typeface="Helvetica" panose="020B0604020202020204" pitchFamily="34" charset="0"/>
                <a:ea typeface="MS PGothic" panose="020B0600070205080204" pitchFamily="34" charset="-128"/>
              </a:defRPr>
            </a:lvl3pPr>
            <a:lvl4pPr marL="1597660" indent="-227965" defTabSz="929005">
              <a:defRPr sz="1600">
                <a:solidFill>
                  <a:schemeClr val="tx1"/>
                </a:solidFill>
                <a:latin typeface="Helvetica" panose="020B0604020202020204" pitchFamily="34" charset="0"/>
                <a:ea typeface="MS PGothic" panose="020B0600070205080204" pitchFamily="34" charset="-128"/>
              </a:defRPr>
            </a:lvl4pPr>
            <a:lvl5pPr marL="2054225" indent="-227965" defTabSz="929005">
              <a:defRPr sz="1600">
                <a:solidFill>
                  <a:schemeClr val="tx1"/>
                </a:solidFill>
                <a:latin typeface="Helvetica" panose="020B0604020202020204"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A0A2931-304C-4865-B2DC-2F6371DEAF73}" type="slidenum">
              <a:rPr lang="en-US" altLang="en-US" sz="1200"/>
            </a:fld>
            <a:endParaRPr lang="en-US" altLang="en-US" sz="1200"/>
          </a:p>
        </p:txBody>
      </p:sp>
      <p:sp>
        <p:nvSpPr>
          <p:cNvPr id="88067" name="Rectangle 2"/>
          <p:cNvSpPr>
            <a:spLocks noGrp="1" noRot="1" noChangeAspect="1" noChangeArrowheads="1" noTextEdit="1"/>
          </p:cNvSpPr>
          <p:nvPr>
            <p:ph type="sldImg"/>
          </p:nvPr>
        </p:nvSpPr>
        <p:spPr/>
      </p:sp>
      <p:sp>
        <p:nvSpPr>
          <p:cNvPr id="88068"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anose="020B0604020202020204" pitchFamily="34" charset="0"/>
                <a:ea typeface="MS PGothic" panose="020B0600070205080204" pitchFamily="34" charset="-128"/>
              </a:defRPr>
            </a:lvl1pPr>
            <a:lvl2pPr marL="741680" indent="-285115" defTabSz="929005">
              <a:defRPr sz="1600">
                <a:solidFill>
                  <a:schemeClr val="tx1"/>
                </a:solidFill>
                <a:latin typeface="Helvetica" panose="020B0604020202020204" pitchFamily="34" charset="0"/>
                <a:ea typeface="MS PGothic" panose="020B0600070205080204" pitchFamily="34" charset="-128"/>
              </a:defRPr>
            </a:lvl2pPr>
            <a:lvl3pPr marL="1141095" indent="-227965" defTabSz="929005">
              <a:defRPr sz="1600">
                <a:solidFill>
                  <a:schemeClr val="tx1"/>
                </a:solidFill>
                <a:latin typeface="Helvetica" panose="020B0604020202020204" pitchFamily="34" charset="0"/>
                <a:ea typeface="MS PGothic" panose="020B0600070205080204" pitchFamily="34" charset="-128"/>
              </a:defRPr>
            </a:lvl3pPr>
            <a:lvl4pPr marL="1597660" indent="-227965" defTabSz="929005">
              <a:defRPr sz="1600">
                <a:solidFill>
                  <a:schemeClr val="tx1"/>
                </a:solidFill>
                <a:latin typeface="Helvetica" panose="020B0604020202020204" pitchFamily="34" charset="0"/>
                <a:ea typeface="MS PGothic" panose="020B0600070205080204" pitchFamily="34" charset="-128"/>
              </a:defRPr>
            </a:lvl4pPr>
            <a:lvl5pPr marL="2054225" indent="-227965" defTabSz="929005">
              <a:defRPr sz="1600">
                <a:solidFill>
                  <a:schemeClr val="tx1"/>
                </a:solidFill>
                <a:latin typeface="Helvetica" panose="020B0604020202020204"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anose="020B0604020202020204" pitchFamily="34" charset="0"/>
                <a:ea typeface="MS PGothic" panose="020B0600070205080204" pitchFamily="34" charset="-128"/>
              </a:defRPr>
            </a:lvl1pPr>
            <a:lvl2pPr marL="741680" indent="-285115" defTabSz="929005">
              <a:defRPr sz="1600">
                <a:solidFill>
                  <a:schemeClr val="tx1"/>
                </a:solidFill>
                <a:latin typeface="Helvetica" panose="020B0604020202020204" pitchFamily="34" charset="0"/>
                <a:ea typeface="MS PGothic" panose="020B0600070205080204" pitchFamily="34" charset="-128"/>
              </a:defRPr>
            </a:lvl2pPr>
            <a:lvl3pPr marL="1141095" indent="-227965" defTabSz="929005">
              <a:defRPr sz="1600">
                <a:solidFill>
                  <a:schemeClr val="tx1"/>
                </a:solidFill>
                <a:latin typeface="Helvetica" panose="020B0604020202020204" pitchFamily="34" charset="0"/>
                <a:ea typeface="MS PGothic" panose="020B0600070205080204" pitchFamily="34" charset="-128"/>
              </a:defRPr>
            </a:lvl3pPr>
            <a:lvl4pPr marL="1597660" indent="-227965" defTabSz="929005">
              <a:defRPr sz="1600">
                <a:solidFill>
                  <a:schemeClr val="tx1"/>
                </a:solidFill>
                <a:latin typeface="Helvetica" panose="020B0604020202020204" pitchFamily="34" charset="0"/>
                <a:ea typeface="MS PGothic" panose="020B0600070205080204" pitchFamily="34" charset="-128"/>
              </a:defRPr>
            </a:lvl4pPr>
            <a:lvl5pPr marL="2054225" indent="-227965" defTabSz="929005">
              <a:defRPr sz="1600">
                <a:solidFill>
                  <a:schemeClr val="tx1"/>
                </a:solidFill>
                <a:latin typeface="Helvetica" panose="020B0604020202020204"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C7B0BBF-B3C9-440E-B986-950E14E24760}" type="slidenum">
              <a:rPr lang="en-US" altLang="en-US" sz="1200"/>
            </a:fld>
            <a:endParaRPr lang="en-US" altLang="en-US" sz="1200"/>
          </a:p>
        </p:txBody>
      </p:sp>
      <p:sp>
        <p:nvSpPr>
          <p:cNvPr id="91139" name="Rectangle 2"/>
          <p:cNvSpPr>
            <a:spLocks noGrp="1" noRot="1" noChangeAspect="1" noChangeArrowheads="1" noTextEdit="1"/>
          </p:cNvSpPr>
          <p:nvPr>
            <p:ph type="sldImg"/>
          </p:nvPr>
        </p:nvSpPr>
        <p:spPr/>
      </p:sp>
      <p:sp>
        <p:nvSpPr>
          <p:cNvPr id="91140"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anose="020B0604020202020204" pitchFamily="34" charset="0"/>
                <a:ea typeface="MS PGothic" panose="020B0600070205080204" pitchFamily="34" charset="-128"/>
              </a:defRPr>
            </a:lvl1pPr>
            <a:lvl2pPr marL="741680" indent="-285115" defTabSz="929005">
              <a:defRPr sz="1600">
                <a:solidFill>
                  <a:schemeClr val="tx1"/>
                </a:solidFill>
                <a:latin typeface="Helvetica" panose="020B0604020202020204" pitchFamily="34" charset="0"/>
                <a:ea typeface="MS PGothic" panose="020B0600070205080204" pitchFamily="34" charset="-128"/>
              </a:defRPr>
            </a:lvl2pPr>
            <a:lvl3pPr marL="1141095" indent="-227965" defTabSz="929005">
              <a:defRPr sz="1600">
                <a:solidFill>
                  <a:schemeClr val="tx1"/>
                </a:solidFill>
                <a:latin typeface="Helvetica" panose="020B0604020202020204" pitchFamily="34" charset="0"/>
                <a:ea typeface="MS PGothic" panose="020B0600070205080204" pitchFamily="34" charset="-128"/>
              </a:defRPr>
            </a:lvl3pPr>
            <a:lvl4pPr marL="1597660" indent="-227965" defTabSz="929005">
              <a:defRPr sz="1600">
                <a:solidFill>
                  <a:schemeClr val="tx1"/>
                </a:solidFill>
                <a:latin typeface="Helvetica" panose="020B0604020202020204" pitchFamily="34" charset="0"/>
                <a:ea typeface="MS PGothic" panose="020B0600070205080204" pitchFamily="34" charset="-128"/>
              </a:defRPr>
            </a:lvl4pPr>
            <a:lvl5pPr marL="2054225" indent="-227965" defTabSz="929005">
              <a:defRPr sz="1600">
                <a:solidFill>
                  <a:schemeClr val="tx1"/>
                </a:solidFill>
                <a:latin typeface="Helvetica" panose="020B0604020202020204"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AFD31E9-BE10-4267-BC2D-73ADA680375F}" type="slidenum">
              <a:rPr lang="en-US" altLang="en-US" sz="1200"/>
            </a:fld>
            <a:endParaRPr lang="en-US" altLang="en-US" sz="1200"/>
          </a:p>
        </p:txBody>
      </p:sp>
      <p:sp>
        <p:nvSpPr>
          <p:cNvPr id="95235" name="Rectangle 2"/>
          <p:cNvSpPr>
            <a:spLocks noGrp="1" noRot="1" noChangeAspect="1" noChangeArrowheads="1" noTextEdit="1"/>
          </p:cNvSpPr>
          <p:nvPr>
            <p:ph type="sldImg"/>
          </p:nvPr>
        </p:nvSpPr>
        <p:spPr>
          <a:xfrm>
            <a:off x="1177925" y="695325"/>
            <a:ext cx="4641850" cy="3481388"/>
          </a:xfrm>
        </p:spPr>
      </p:sp>
      <p:sp>
        <p:nvSpPr>
          <p:cNvPr id="95236" name="Rectangle 3"/>
          <p:cNvSpPr>
            <a:spLocks noGrp="1" noChangeArrowheads="1"/>
          </p:cNvSpPr>
          <p:nvPr>
            <p:ph type="body" idx="1"/>
          </p:nvPr>
        </p:nvSpPr>
        <p:spPr>
          <a:xfrm>
            <a:off x="931863" y="4410075"/>
            <a:ext cx="5133975" cy="4178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anose="020B0604020202020204" pitchFamily="34" charset="0"/>
                <a:ea typeface="MS PGothic" panose="020B0600070205080204" pitchFamily="34" charset="-128"/>
              </a:defRPr>
            </a:lvl1pPr>
            <a:lvl2pPr marL="741680" indent="-285115" defTabSz="929005">
              <a:defRPr sz="1600">
                <a:solidFill>
                  <a:schemeClr val="tx1"/>
                </a:solidFill>
                <a:latin typeface="Helvetica" panose="020B0604020202020204" pitchFamily="34" charset="0"/>
                <a:ea typeface="MS PGothic" panose="020B0600070205080204" pitchFamily="34" charset="-128"/>
              </a:defRPr>
            </a:lvl2pPr>
            <a:lvl3pPr marL="1141095" indent="-227965" defTabSz="929005">
              <a:defRPr sz="1600">
                <a:solidFill>
                  <a:schemeClr val="tx1"/>
                </a:solidFill>
                <a:latin typeface="Helvetica" panose="020B0604020202020204" pitchFamily="34" charset="0"/>
                <a:ea typeface="MS PGothic" panose="020B0600070205080204" pitchFamily="34" charset="-128"/>
              </a:defRPr>
            </a:lvl3pPr>
            <a:lvl4pPr marL="1597660" indent="-227965" defTabSz="929005">
              <a:defRPr sz="1600">
                <a:solidFill>
                  <a:schemeClr val="tx1"/>
                </a:solidFill>
                <a:latin typeface="Helvetica" panose="020B0604020202020204" pitchFamily="34" charset="0"/>
                <a:ea typeface="MS PGothic" panose="020B0600070205080204" pitchFamily="34" charset="-128"/>
              </a:defRPr>
            </a:lvl4pPr>
            <a:lvl5pPr marL="2054225" indent="-227965" defTabSz="929005">
              <a:defRPr sz="1600">
                <a:solidFill>
                  <a:schemeClr val="tx1"/>
                </a:solidFill>
                <a:latin typeface="Helvetica" panose="020B0604020202020204"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p:sp>
      <p:sp>
        <p:nvSpPr>
          <p:cNvPr id="9728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7F04CF4B-324E-46D0-BA47-9EB6AD9CA672}" type="slidenum">
              <a:rPr lang="en-US" altLang="en-US" sz="1200"/>
            </a:fld>
            <a:endParaRPr lang="en-US" altLang="en-US" sz="1200"/>
          </a:p>
        </p:txBody>
      </p:sp>
      <p:sp>
        <p:nvSpPr>
          <p:cNvPr id="98307" name="Rectangle 2"/>
          <p:cNvSpPr>
            <a:spLocks noGrp="1" noRot="1" noChangeAspect="1" noChangeArrowheads="1" noTextEdit="1"/>
          </p:cNvSpPr>
          <p:nvPr>
            <p:ph type="sldImg"/>
          </p:nvPr>
        </p:nvSpPr>
        <p:spPr>
          <a:xfrm>
            <a:off x="1177925" y="695325"/>
            <a:ext cx="4641850" cy="3481388"/>
          </a:xfrm>
        </p:spPr>
      </p:sp>
      <p:sp>
        <p:nvSpPr>
          <p:cNvPr id="98308" name="Rectangle 3"/>
          <p:cNvSpPr>
            <a:spLocks noGrp="1" noChangeArrowheads="1"/>
          </p:cNvSpPr>
          <p:nvPr>
            <p:ph type="body" idx="1"/>
          </p:nvPr>
        </p:nvSpPr>
        <p:spPr>
          <a:xfrm>
            <a:off x="931863" y="4410075"/>
            <a:ext cx="5133975" cy="4178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A0967849-B9F5-4791-B1A9-03C13B822321}" type="slidenum">
              <a:rPr lang="en-US" altLang="en-US" sz="1200"/>
            </a:fld>
            <a:endParaRPr lang="en-US" altLang="en-US" sz="1200"/>
          </a:p>
        </p:txBody>
      </p:sp>
      <p:sp>
        <p:nvSpPr>
          <p:cNvPr id="99331" name="Rectangle 2"/>
          <p:cNvSpPr>
            <a:spLocks noGrp="1" noRot="1" noChangeAspect="1" noChangeArrowheads="1" noTextEdit="1"/>
          </p:cNvSpPr>
          <p:nvPr>
            <p:ph type="sldImg"/>
          </p:nvPr>
        </p:nvSpPr>
        <p:spPr>
          <a:xfrm>
            <a:off x="1177925" y="695325"/>
            <a:ext cx="4641850" cy="3481388"/>
          </a:xfrm>
        </p:spPr>
      </p:sp>
      <p:sp>
        <p:nvSpPr>
          <p:cNvPr id="99332" name="Rectangle 3"/>
          <p:cNvSpPr>
            <a:spLocks noGrp="1" noChangeArrowheads="1"/>
          </p:cNvSpPr>
          <p:nvPr>
            <p:ph type="body" idx="1"/>
          </p:nvPr>
        </p:nvSpPr>
        <p:spPr>
          <a:xfrm>
            <a:off x="931863" y="4410075"/>
            <a:ext cx="5133975" cy="4178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667AE9D-16D3-4C16-919A-75B127D37AD1}" type="slidenum">
              <a:rPr lang="en-US" altLang="en-US" sz="1200"/>
            </a:fld>
            <a:endParaRPr lang="en-US" altLang="en-US" sz="1200"/>
          </a:p>
        </p:txBody>
      </p:sp>
      <p:sp>
        <p:nvSpPr>
          <p:cNvPr id="100355" name="Rectangle 2"/>
          <p:cNvSpPr>
            <a:spLocks noGrp="1" noRot="1" noChangeAspect="1" noChangeArrowheads="1" noTextEdit="1"/>
          </p:cNvSpPr>
          <p:nvPr>
            <p:ph type="sldImg"/>
          </p:nvPr>
        </p:nvSpPr>
        <p:spPr>
          <a:xfrm>
            <a:off x="1177925" y="695325"/>
            <a:ext cx="4641850" cy="3481388"/>
          </a:xfrm>
        </p:spPr>
      </p:sp>
      <p:sp>
        <p:nvSpPr>
          <p:cNvPr id="100356" name="Rectangle 3"/>
          <p:cNvSpPr>
            <a:spLocks noGrp="1" noChangeArrowheads="1"/>
          </p:cNvSpPr>
          <p:nvPr>
            <p:ph type="body" idx="1"/>
          </p:nvPr>
        </p:nvSpPr>
        <p:spPr>
          <a:xfrm>
            <a:off x="931863" y="4410075"/>
            <a:ext cx="5133975" cy="4178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1"/>
          </p:nvPr>
        </p:nvSpPr>
        <p:spPr/>
        <p:txBody>
          <a:bodyPr/>
          <a:p>
            <a:r>
              <a:rPr lang="en-US" altLang="zh-CN"/>
              <a:t>Method And Apparatus For Testing On-line Services</a:t>
            </a:r>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516BC0A-7AF6-411D-BE71-BCBBBCBA9517}" type="slidenum">
              <a:rPr lang="en-US" altLang="en-US" sz="1200"/>
            </a:fld>
            <a:endParaRPr lang="en-US" altLang="en-US" sz="1200"/>
          </a:p>
        </p:txBody>
      </p:sp>
      <p:sp>
        <p:nvSpPr>
          <p:cNvPr id="102403" name="Rectangle 2"/>
          <p:cNvSpPr>
            <a:spLocks noGrp="1" noRot="1" noChangeAspect="1" noChangeArrowheads="1" noTextEdit="1"/>
          </p:cNvSpPr>
          <p:nvPr>
            <p:ph type="sldImg"/>
          </p:nvPr>
        </p:nvSpPr>
        <p:spPr/>
      </p:sp>
      <p:sp>
        <p:nvSpPr>
          <p:cNvPr id="102404"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0C6C070-221F-4423-9214-3514A79EC7A3}" type="slidenum">
              <a:rPr lang="en-US" altLang="en-US" sz="1200"/>
            </a:fld>
            <a:endParaRPr lang="en-US" altLang="en-US" sz="1200"/>
          </a:p>
        </p:txBody>
      </p:sp>
      <p:sp>
        <p:nvSpPr>
          <p:cNvPr id="103427" name="Rectangle 2"/>
          <p:cNvSpPr>
            <a:spLocks noGrp="1" noRot="1" noChangeAspect="1" noChangeArrowheads="1" noTextEdit="1"/>
          </p:cNvSpPr>
          <p:nvPr>
            <p:ph type="sldImg"/>
          </p:nvPr>
        </p:nvSpPr>
        <p:spPr/>
      </p:sp>
      <p:sp>
        <p:nvSpPr>
          <p:cNvPr id="103428"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anose="020B0604020202020204" pitchFamily="34" charset="0"/>
                <a:ea typeface="MS PGothic" panose="020B0600070205080204" pitchFamily="34" charset="-128"/>
              </a:defRPr>
            </a:lvl1pPr>
            <a:lvl2pPr marL="741680" indent="-285115" defTabSz="929005">
              <a:defRPr sz="1600">
                <a:solidFill>
                  <a:schemeClr val="tx1"/>
                </a:solidFill>
                <a:latin typeface="Helvetica" panose="020B0604020202020204" pitchFamily="34" charset="0"/>
                <a:ea typeface="MS PGothic" panose="020B0600070205080204" pitchFamily="34" charset="-128"/>
              </a:defRPr>
            </a:lvl2pPr>
            <a:lvl3pPr marL="1141095" indent="-227965" defTabSz="929005">
              <a:defRPr sz="1600">
                <a:solidFill>
                  <a:schemeClr val="tx1"/>
                </a:solidFill>
                <a:latin typeface="Helvetica" panose="020B0604020202020204" pitchFamily="34" charset="0"/>
                <a:ea typeface="MS PGothic" panose="020B0600070205080204" pitchFamily="34" charset="-128"/>
              </a:defRPr>
            </a:lvl3pPr>
            <a:lvl4pPr marL="1597660" indent="-227965" defTabSz="929005">
              <a:defRPr sz="1600">
                <a:solidFill>
                  <a:schemeClr val="tx1"/>
                </a:solidFill>
                <a:latin typeface="Helvetica" panose="020B0604020202020204" pitchFamily="34" charset="0"/>
                <a:ea typeface="MS PGothic" panose="020B0600070205080204" pitchFamily="34" charset="-128"/>
              </a:defRPr>
            </a:lvl4pPr>
            <a:lvl5pPr marL="2054225" indent="-227965" defTabSz="929005">
              <a:defRPr sz="1600">
                <a:solidFill>
                  <a:schemeClr val="tx1"/>
                </a:solidFill>
                <a:latin typeface="Helvetica" panose="020B0604020202020204"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AAEAC40-D26E-4DE7-A131-BE43F6F065EA}" type="slidenum">
              <a:rPr lang="en-US" altLang="en-US" sz="1200"/>
            </a:fld>
            <a:endParaRPr lang="en-US" altLang="en-US" sz="1200"/>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2183"/>
            <a:ext cx="6858000" cy="1790680"/>
          </a:xfrm>
        </p:spPr>
        <p:txBody>
          <a:bodyPr anchor="b"/>
          <a:lstStyle>
            <a:lvl1pPr algn="ctr">
              <a:defRPr sz="3800"/>
            </a:lvl1pPr>
          </a:lstStyle>
          <a:p>
            <a:r>
              <a:rPr lang="en-US"/>
              <a:t>Click to edit Master title style</a:t>
            </a:r>
            <a:endParaRPr lang="en-US"/>
          </a:p>
        </p:txBody>
      </p:sp>
      <p:sp>
        <p:nvSpPr>
          <p:cNvPr id="3" name="Subtitle 2"/>
          <p:cNvSpPr>
            <a:spLocks noGrp="1"/>
          </p:cNvSpPr>
          <p:nvPr>
            <p:ph type="subTitle" idx="1"/>
          </p:nvPr>
        </p:nvSpPr>
        <p:spPr>
          <a:xfrm>
            <a:off x="1143000" y="2701508"/>
            <a:ext cx="6858000" cy="1241505"/>
          </a:xfrm>
        </p:spPr>
        <p:txBody>
          <a:bodyPr/>
          <a:lstStyle>
            <a:lvl1pPr marL="0" indent="0" algn="ctr">
              <a:buNone/>
              <a:defRPr sz="1600"/>
            </a:lvl1pPr>
            <a:lvl2pPr marL="287020" indent="0" algn="ctr">
              <a:buNone/>
              <a:defRPr sz="1200"/>
            </a:lvl2pPr>
            <a:lvl3pPr marL="574040" indent="0" algn="ctr">
              <a:buNone/>
              <a:defRPr sz="1200"/>
            </a:lvl3pPr>
            <a:lvl4pPr marL="861060" indent="0" algn="ctr">
              <a:buNone/>
              <a:defRPr sz="1100"/>
            </a:lvl4pPr>
            <a:lvl5pPr marL="1148080" indent="0" algn="ctr">
              <a:buNone/>
              <a:defRPr sz="1100"/>
            </a:lvl5pPr>
            <a:lvl6pPr marL="1435100" indent="0" algn="ctr">
              <a:buNone/>
              <a:defRPr sz="1100"/>
            </a:lvl6pPr>
            <a:lvl7pPr marL="1722120" indent="0" algn="ctr">
              <a:buNone/>
              <a:defRPr sz="1100"/>
            </a:lvl7pPr>
            <a:lvl8pPr marL="2009140" indent="0" algn="ctr">
              <a:buNone/>
              <a:defRPr sz="1100"/>
            </a:lvl8pPr>
            <a:lvl9pPr marL="2295525" indent="0" algn="ctr">
              <a:buNone/>
              <a:defRPr sz="1100"/>
            </a:lvl9pPr>
          </a:lstStyle>
          <a:p>
            <a:r>
              <a:rPr lang="en-US"/>
              <a:t>Click to edit Master subtitle style</a:t>
            </a:r>
            <a:endParaRPr lang="en-US"/>
          </a:p>
        </p:txBody>
      </p:sp>
      <p:sp>
        <p:nvSpPr>
          <p:cNvPr id="4" name="Rectangle 5"/>
          <p:cNvSpPr>
            <a:spLocks noGrp="1"/>
          </p:cNvSpPr>
          <p:nvPr>
            <p:ph type="sldNum" sz="quarter" idx="10"/>
          </p:nvPr>
        </p:nvSpPr>
        <p:spPr/>
        <p:txBody>
          <a:bodyPr/>
          <a:lstStyle>
            <a:lvl1pPr>
              <a:defRPr/>
            </a:lvl1pPr>
          </a:lstStyle>
          <a:p>
            <a:fld id="{606C9A41-D864-428D-9C31-5294F3735FA1}" type="slidenum">
              <a:rPr lang="en-US" altLang="en-US"/>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5"/>
          <p:cNvSpPr>
            <a:spLocks noGrp="1"/>
          </p:cNvSpPr>
          <p:nvPr>
            <p:ph type="sldNum" sz="quarter" idx="10"/>
          </p:nvPr>
        </p:nvSpPr>
        <p:spPr/>
        <p:txBody>
          <a:bodyPr/>
          <a:lstStyle>
            <a:lvl1pPr>
              <a:defRPr/>
            </a:lvl1pPr>
          </a:lstStyle>
          <a:p>
            <a:fld id="{C4BFCE12-62F8-4935-B4B3-E8FB1AC9A4A0}" type="slidenum">
              <a:rPr lang="en-US" altLang="en-US"/>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964" y="1282528"/>
            <a:ext cx="7887146" cy="2138940"/>
          </a:xfrm>
        </p:spPr>
        <p:txBody>
          <a:bodyPr anchor="b"/>
          <a:lstStyle>
            <a:lvl1pPr>
              <a:defRPr sz="3800"/>
            </a:lvl1pPr>
          </a:lstStyle>
          <a:p>
            <a:r>
              <a:rPr lang="en-US"/>
              <a:t>Click to edit Master title style</a:t>
            </a:r>
            <a:endParaRPr lang="en-US"/>
          </a:p>
        </p:txBody>
      </p:sp>
      <p:sp>
        <p:nvSpPr>
          <p:cNvPr id="3" name="Text Placeholder 2"/>
          <p:cNvSpPr>
            <a:spLocks noGrp="1"/>
          </p:cNvSpPr>
          <p:nvPr>
            <p:ph type="body" idx="1"/>
          </p:nvPr>
        </p:nvSpPr>
        <p:spPr>
          <a:xfrm>
            <a:off x="623964" y="3442396"/>
            <a:ext cx="7887146" cy="1125141"/>
          </a:xfrm>
        </p:spPr>
        <p:txBody>
          <a:bodyPr/>
          <a:lstStyle>
            <a:lvl1pPr marL="0" indent="0">
              <a:buNone/>
              <a:defRPr sz="1600"/>
            </a:lvl1pPr>
            <a:lvl2pPr marL="287020" indent="0">
              <a:buNone/>
              <a:defRPr sz="1200"/>
            </a:lvl2pPr>
            <a:lvl3pPr marL="574040" indent="0">
              <a:buNone/>
              <a:defRPr sz="1200"/>
            </a:lvl3pPr>
            <a:lvl4pPr marL="861060" indent="0">
              <a:buNone/>
              <a:defRPr sz="1100"/>
            </a:lvl4pPr>
            <a:lvl5pPr marL="1148080" indent="0">
              <a:buNone/>
              <a:defRPr sz="1100"/>
            </a:lvl5pPr>
            <a:lvl6pPr marL="1435100" indent="0">
              <a:buNone/>
              <a:defRPr sz="1100"/>
            </a:lvl6pPr>
            <a:lvl7pPr marL="1722120" indent="0">
              <a:buNone/>
              <a:defRPr sz="1100"/>
            </a:lvl7pPr>
            <a:lvl8pPr marL="2009140" indent="0">
              <a:buNone/>
              <a:defRPr sz="1100"/>
            </a:lvl8pPr>
            <a:lvl9pPr marL="2295525" indent="0">
              <a:buNone/>
              <a:defRPr sz="1100"/>
            </a:lvl9pPr>
          </a:lstStyle>
          <a:p>
            <a:pPr lvl="0"/>
            <a:r>
              <a:rPr lang="en-US"/>
              <a:t>Click to edit Master text styles</a:t>
            </a:r>
            <a:endParaRPr lang="en-US"/>
          </a:p>
        </p:txBody>
      </p:sp>
      <p:sp>
        <p:nvSpPr>
          <p:cNvPr id="4" name="Rectangle 5"/>
          <p:cNvSpPr>
            <a:spLocks noGrp="1"/>
          </p:cNvSpPr>
          <p:nvPr>
            <p:ph type="sldNum" sz="quarter" idx="10"/>
          </p:nvPr>
        </p:nvSpPr>
        <p:spPr/>
        <p:txBody>
          <a:bodyPr/>
          <a:lstStyle>
            <a:lvl1pPr>
              <a:defRPr/>
            </a:lvl1pPr>
          </a:lstStyle>
          <a:p>
            <a:fld id="{6EB6FB98-0011-4161-BE35-0A73E2FACDA8}" type="slidenum">
              <a:rPr lang="en-US" altLang="en-US"/>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348258" y="719117"/>
            <a:ext cx="4169049" cy="404933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24463" y="719117"/>
            <a:ext cx="4170164" cy="404933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5"/>
          <p:cNvSpPr>
            <a:spLocks noGrp="1"/>
          </p:cNvSpPr>
          <p:nvPr>
            <p:ph type="sldNum" sz="quarter" idx="10"/>
          </p:nvPr>
        </p:nvSpPr>
        <p:spPr/>
        <p:txBody>
          <a:bodyPr/>
          <a:lstStyle>
            <a:lvl1pPr>
              <a:defRPr/>
            </a:lvl1pPr>
          </a:lstStyle>
          <a:p>
            <a:fld id="{D2BF4A6C-FF74-409E-AF94-9AA6BEC52E2D}" type="slidenum">
              <a:rPr lang="en-US" altLang="en-US"/>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545" y="273752"/>
            <a:ext cx="7887146" cy="994545"/>
          </a:xfrm>
        </p:spPr>
        <p:txBody>
          <a:bodyPr/>
          <a:lstStyle/>
          <a:p>
            <a:r>
              <a:rPr lang="en-US"/>
              <a:t>Click to edit Master title style</a:t>
            </a:r>
            <a:endParaRPr lang="en-US"/>
          </a:p>
        </p:txBody>
      </p:sp>
      <p:sp>
        <p:nvSpPr>
          <p:cNvPr id="3" name="Text Placeholder 2"/>
          <p:cNvSpPr>
            <a:spLocks noGrp="1"/>
          </p:cNvSpPr>
          <p:nvPr>
            <p:ph type="body" idx="1"/>
          </p:nvPr>
        </p:nvSpPr>
        <p:spPr>
          <a:xfrm>
            <a:off x="629544" y="1260762"/>
            <a:ext cx="3868788" cy="617822"/>
          </a:xfrm>
        </p:spPr>
        <p:txBody>
          <a:bodyPr anchor="b"/>
          <a:lstStyle>
            <a:lvl1pPr marL="0" indent="0">
              <a:buNone/>
              <a:defRPr sz="1600" b="1"/>
            </a:lvl1pPr>
            <a:lvl2pPr marL="287020" indent="0">
              <a:buNone/>
              <a:defRPr sz="1200" b="1"/>
            </a:lvl2pPr>
            <a:lvl3pPr marL="574040" indent="0">
              <a:buNone/>
              <a:defRPr sz="1200" b="1"/>
            </a:lvl3pPr>
            <a:lvl4pPr marL="861060" indent="0">
              <a:buNone/>
              <a:defRPr sz="1100" b="1"/>
            </a:lvl4pPr>
            <a:lvl5pPr marL="1148080" indent="0">
              <a:buNone/>
              <a:defRPr sz="1100" b="1"/>
            </a:lvl5pPr>
            <a:lvl6pPr marL="1435100" indent="0">
              <a:buNone/>
              <a:defRPr sz="1100" b="1"/>
            </a:lvl6pPr>
            <a:lvl7pPr marL="1722120" indent="0">
              <a:buNone/>
              <a:defRPr sz="1100" b="1"/>
            </a:lvl7pPr>
            <a:lvl8pPr marL="2009140" indent="0">
              <a:buNone/>
              <a:defRPr sz="1100" b="1"/>
            </a:lvl8pPr>
            <a:lvl9pPr marL="2295525" indent="0">
              <a:buNone/>
              <a:defRPr sz="1100" b="1"/>
            </a:lvl9pPr>
          </a:lstStyle>
          <a:p>
            <a:pPr lvl="0"/>
            <a:r>
              <a:rPr lang="en-US"/>
              <a:t>Click to edit Master text styles</a:t>
            </a:r>
            <a:endParaRPr lang="en-US"/>
          </a:p>
        </p:txBody>
      </p:sp>
      <p:sp>
        <p:nvSpPr>
          <p:cNvPr id="4" name="Content Placeholder 3"/>
          <p:cNvSpPr>
            <a:spLocks noGrp="1"/>
          </p:cNvSpPr>
          <p:nvPr>
            <p:ph sz="half" idx="2"/>
          </p:nvPr>
        </p:nvSpPr>
        <p:spPr>
          <a:xfrm>
            <a:off x="629544" y="1878582"/>
            <a:ext cx="3868788" cy="276346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28928" y="1260762"/>
            <a:ext cx="3887762" cy="617822"/>
          </a:xfrm>
        </p:spPr>
        <p:txBody>
          <a:bodyPr anchor="b"/>
          <a:lstStyle>
            <a:lvl1pPr marL="0" indent="0">
              <a:buNone/>
              <a:defRPr sz="1600" b="1"/>
            </a:lvl1pPr>
            <a:lvl2pPr marL="287020" indent="0">
              <a:buNone/>
              <a:defRPr sz="1200" b="1"/>
            </a:lvl2pPr>
            <a:lvl3pPr marL="574040" indent="0">
              <a:buNone/>
              <a:defRPr sz="1200" b="1"/>
            </a:lvl3pPr>
            <a:lvl4pPr marL="861060" indent="0">
              <a:buNone/>
              <a:defRPr sz="1100" b="1"/>
            </a:lvl4pPr>
            <a:lvl5pPr marL="1148080" indent="0">
              <a:buNone/>
              <a:defRPr sz="1100" b="1"/>
            </a:lvl5pPr>
            <a:lvl6pPr marL="1435100" indent="0">
              <a:buNone/>
              <a:defRPr sz="1100" b="1"/>
            </a:lvl6pPr>
            <a:lvl7pPr marL="1722120" indent="0">
              <a:buNone/>
              <a:defRPr sz="1100" b="1"/>
            </a:lvl7pPr>
            <a:lvl8pPr marL="2009140" indent="0">
              <a:buNone/>
              <a:defRPr sz="1100" b="1"/>
            </a:lvl8pPr>
            <a:lvl9pPr marL="2295525" indent="0">
              <a:buNone/>
              <a:defRPr sz="1100" b="1"/>
            </a:lvl9pPr>
          </a:lstStyle>
          <a:p>
            <a:pPr lvl="0"/>
            <a:r>
              <a:rPr lang="en-US"/>
              <a:t>Click to edit Master text styles</a:t>
            </a:r>
            <a:endParaRPr lang="en-US"/>
          </a:p>
        </p:txBody>
      </p:sp>
      <p:sp>
        <p:nvSpPr>
          <p:cNvPr id="6" name="Content Placeholder 5"/>
          <p:cNvSpPr>
            <a:spLocks noGrp="1"/>
          </p:cNvSpPr>
          <p:nvPr>
            <p:ph sz="quarter" idx="4"/>
          </p:nvPr>
        </p:nvSpPr>
        <p:spPr>
          <a:xfrm>
            <a:off x="4628928" y="1878582"/>
            <a:ext cx="3887762" cy="276346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5"/>
          <p:cNvSpPr>
            <a:spLocks noGrp="1"/>
          </p:cNvSpPr>
          <p:nvPr>
            <p:ph type="sldNum" sz="quarter" idx="10"/>
          </p:nvPr>
        </p:nvSpPr>
        <p:spPr/>
        <p:txBody>
          <a:bodyPr/>
          <a:lstStyle>
            <a:lvl1pPr>
              <a:defRPr/>
            </a:lvl1pPr>
          </a:lstStyle>
          <a:p>
            <a:fld id="{F02642A5-B4C1-490D-823B-6F62026E5D0D}" type="slidenum">
              <a:rPr lang="en-US" altLang="en-US"/>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5"/>
          <p:cNvSpPr>
            <a:spLocks noGrp="1"/>
          </p:cNvSpPr>
          <p:nvPr>
            <p:ph type="sldNum" sz="quarter" idx="10"/>
          </p:nvPr>
        </p:nvSpPr>
        <p:spPr/>
        <p:txBody>
          <a:bodyPr/>
          <a:lstStyle>
            <a:lvl1pPr>
              <a:defRPr/>
            </a:lvl1pPr>
          </a:lstStyle>
          <a:p>
            <a:fld id="{99B72306-FD3C-4756-B3FD-766F3400AAC9}" type="slidenum">
              <a:rPr lang="en-US" altLang="en-US"/>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p:cNvSpPr>
          <p:nvPr>
            <p:ph type="sldNum" sz="quarter" idx="10"/>
          </p:nvPr>
        </p:nvSpPr>
        <p:spPr/>
        <p:txBody>
          <a:bodyPr/>
          <a:lstStyle>
            <a:lvl1pPr>
              <a:defRPr/>
            </a:lvl1pPr>
          </a:lstStyle>
          <a:p>
            <a:fld id="{46FCE69C-6874-463F-8672-A48ADE6CA405}" type="slidenum">
              <a:rPr lang="en-US" altLang="en-US"/>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544" y="343235"/>
            <a:ext cx="2949029" cy="1199650"/>
          </a:xfrm>
        </p:spPr>
        <p:txBody>
          <a:bodyPr anchor="b"/>
          <a:lstStyle>
            <a:lvl1pPr>
              <a:defRPr sz="2100"/>
            </a:lvl1pPr>
          </a:lstStyle>
          <a:p>
            <a:r>
              <a:rPr lang="en-US"/>
              <a:t>Click to edit Master title style</a:t>
            </a:r>
            <a:endParaRPr lang="en-US"/>
          </a:p>
        </p:txBody>
      </p:sp>
      <p:sp>
        <p:nvSpPr>
          <p:cNvPr id="3" name="Content Placeholder 2"/>
          <p:cNvSpPr>
            <a:spLocks noGrp="1"/>
          </p:cNvSpPr>
          <p:nvPr>
            <p:ph idx="1"/>
          </p:nvPr>
        </p:nvSpPr>
        <p:spPr>
          <a:xfrm>
            <a:off x="3887765" y="740886"/>
            <a:ext cx="4628926" cy="3655035"/>
          </a:xfrm>
        </p:spPr>
        <p:txBody>
          <a:bodyPr/>
          <a:lstStyle>
            <a:lvl1pPr>
              <a:defRPr sz="2100"/>
            </a:lvl1pPr>
            <a:lvl2pPr>
              <a:defRPr sz="1800"/>
            </a:lvl2pPr>
            <a:lvl3pPr>
              <a:defRPr sz="16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29544" y="1542881"/>
            <a:ext cx="2949029" cy="2858895"/>
          </a:xfrm>
        </p:spPr>
        <p:txBody>
          <a:bodyPr/>
          <a:lstStyle>
            <a:lvl1pPr marL="0" indent="0">
              <a:buNone/>
              <a:defRPr sz="1100"/>
            </a:lvl1pPr>
            <a:lvl2pPr marL="287020" indent="0">
              <a:buNone/>
              <a:defRPr sz="900"/>
            </a:lvl2pPr>
            <a:lvl3pPr marL="574040" indent="0">
              <a:buNone/>
              <a:defRPr sz="700"/>
            </a:lvl3pPr>
            <a:lvl4pPr marL="861060" indent="0">
              <a:buNone/>
              <a:defRPr sz="700"/>
            </a:lvl4pPr>
            <a:lvl5pPr marL="1148080" indent="0">
              <a:buNone/>
              <a:defRPr sz="700"/>
            </a:lvl5pPr>
            <a:lvl6pPr marL="1435100" indent="0">
              <a:buNone/>
              <a:defRPr sz="700"/>
            </a:lvl6pPr>
            <a:lvl7pPr marL="1722120" indent="0">
              <a:buNone/>
              <a:defRPr sz="700"/>
            </a:lvl7pPr>
            <a:lvl8pPr marL="2009140" indent="0">
              <a:buNone/>
              <a:defRPr sz="700"/>
            </a:lvl8pPr>
            <a:lvl9pPr marL="2295525" indent="0">
              <a:buNone/>
              <a:defRPr sz="700"/>
            </a:lvl9pPr>
          </a:lstStyle>
          <a:p>
            <a:pPr lvl="0"/>
            <a:r>
              <a:rPr lang="en-US"/>
              <a:t>Click to edit Master text styles</a:t>
            </a:r>
            <a:endParaRPr lang="en-US"/>
          </a:p>
        </p:txBody>
      </p:sp>
      <p:sp>
        <p:nvSpPr>
          <p:cNvPr id="5" name="Rectangle 5"/>
          <p:cNvSpPr>
            <a:spLocks noGrp="1"/>
          </p:cNvSpPr>
          <p:nvPr>
            <p:ph type="sldNum" sz="quarter" idx="10"/>
          </p:nvPr>
        </p:nvSpPr>
        <p:spPr/>
        <p:txBody>
          <a:bodyPr/>
          <a:lstStyle>
            <a:lvl1pPr>
              <a:defRPr/>
            </a:lvl1pPr>
          </a:lstStyle>
          <a:p>
            <a:fld id="{1EA9E2C9-38C0-4E05-A9A0-7FD9158DBDA4}" type="slidenum">
              <a:rPr lang="en-US" altLang="en-US"/>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544" y="343235"/>
            <a:ext cx="2949029" cy="1199650"/>
          </a:xfrm>
        </p:spPr>
        <p:txBody>
          <a:bodyPr anchor="b"/>
          <a:lstStyle>
            <a:lvl1pPr>
              <a:defRPr sz="2100"/>
            </a:lvl1pPr>
          </a:lstStyle>
          <a:p>
            <a:r>
              <a:rPr lang="en-US"/>
              <a:t>Click to edit Master title style</a:t>
            </a:r>
            <a:endParaRPr lang="en-US"/>
          </a:p>
        </p:txBody>
      </p:sp>
      <p:sp>
        <p:nvSpPr>
          <p:cNvPr id="3" name="Picture Placeholder 2"/>
          <p:cNvSpPr>
            <a:spLocks noGrp="1"/>
          </p:cNvSpPr>
          <p:nvPr>
            <p:ph type="pic" idx="1"/>
          </p:nvPr>
        </p:nvSpPr>
        <p:spPr>
          <a:xfrm>
            <a:off x="3887765" y="740886"/>
            <a:ext cx="4628926" cy="3655035"/>
          </a:xfrm>
        </p:spPr>
        <p:txBody>
          <a:bodyPr/>
          <a:lstStyle>
            <a:lvl1pPr marL="0" indent="0">
              <a:buNone/>
              <a:defRPr sz="2100"/>
            </a:lvl1pPr>
            <a:lvl2pPr marL="287020" indent="0">
              <a:buNone/>
              <a:defRPr sz="1800"/>
            </a:lvl2pPr>
            <a:lvl3pPr marL="574040" indent="0">
              <a:buNone/>
              <a:defRPr sz="1600"/>
            </a:lvl3pPr>
            <a:lvl4pPr marL="861060" indent="0">
              <a:buNone/>
              <a:defRPr sz="1200"/>
            </a:lvl4pPr>
            <a:lvl5pPr marL="1148080" indent="0">
              <a:buNone/>
              <a:defRPr sz="1200"/>
            </a:lvl5pPr>
            <a:lvl6pPr marL="1435100" indent="0">
              <a:buNone/>
              <a:defRPr sz="1200"/>
            </a:lvl6pPr>
            <a:lvl7pPr marL="1722120" indent="0">
              <a:buNone/>
              <a:defRPr sz="1200"/>
            </a:lvl7pPr>
            <a:lvl8pPr marL="2009140" indent="0">
              <a:buNone/>
              <a:defRPr sz="1200"/>
            </a:lvl8pPr>
            <a:lvl9pPr marL="2295525" indent="0">
              <a:buNone/>
              <a:defRPr sz="1200"/>
            </a:lvl9pPr>
          </a:lstStyle>
          <a:p>
            <a:pPr lvl="0"/>
            <a:endParaRPr lang="en-US" noProof="0">
              <a:sym typeface="Helvetica" panose="020B0604020202020204" pitchFamily="34" charset="0"/>
            </a:endParaRPr>
          </a:p>
        </p:txBody>
      </p:sp>
      <p:sp>
        <p:nvSpPr>
          <p:cNvPr id="4" name="Text Placeholder 3"/>
          <p:cNvSpPr>
            <a:spLocks noGrp="1"/>
          </p:cNvSpPr>
          <p:nvPr>
            <p:ph type="body" sz="half" idx="2"/>
          </p:nvPr>
        </p:nvSpPr>
        <p:spPr>
          <a:xfrm>
            <a:off x="629544" y="1542881"/>
            <a:ext cx="2949029" cy="2858895"/>
          </a:xfrm>
        </p:spPr>
        <p:txBody>
          <a:bodyPr/>
          <a:lstStyle>
            <a:lvl1pPr marL="0" indent="0">
              <a:buNone/>
              <a:defRPr sz="1100"/>
            </a:lvl1pPr>
            <a:lvl2pPr marL="287020" indent="0">
              <a:buNone/>
              <a:defRPr sz="900"/>
            </a:lvl2pPr>
            <a:lvl3pPr marL="574040" indent="0">
              <a:buNone/>
              <a:defRPr sz="700"/>
            </a:lvl3pPr>
            <a:lvl4pPr marL="861060" indent="0">
              <a:buNone/>
              <a:defRPr sz="700"/>
            </a:lvl4pPr>
            <a:lvl5pPr marL="1148080" indent="0">
              <a:buNone/>
              <a:defRPr sz="700"/>
            </a:lvl5pPr>
            <a:lvl6pPr marL="1435100" indent="0">
              <a:buNone/>
              <a:defRPr sz="700"/>
            </a:lvl6pPr>
            <a:lvl7pPr marL="1722120" indent="0">
              <a:buNone/>
              <a:defRPr sz="700"/>
            </a:lvl7pPr>
            <a:lvl8pPr marL="2009140" indent="0">
              <a:buNone/>
              <a:defRPr sz="700"/>
            </a:lvl8pPr>
            <a:lvl9pPr marL="2295525" indent="0">
              <a:buNone/>
              <a:defRPr sz="700"/>
            </a:lvl9pPr>
          </a:lstStyle>
          <a:p>
            <a:pPr lvl="0"/>
            <a:r>
              <a:rPr lang="en-US"/>
              <a:t>Click to edit Master text styles</a:t>
            </a:r>
            <a:endParaRPr lang="en-US"/>
          </a:p>
        </p:txBody>
      </p:sp>
      <p:sp>
        <p:nvSpPr>
          <p:cNvPr id="5" name="Rectangle 5"/>
          <p:cNvSpPr>
            <a:spLocks noGrp="1"/>
          </p:cNvSpPr>
          <p:nvPr>
            <p:ph type="sldNum" sz="quarter" idx="10"/>
          </p:nvPr>
        </p:nvSpPr>
        <p:spPr/>
        <p:txBody>
          <a:bodyPr/>
          <a:lstStyle>
            <a:lvl1pPr>
              <a:defRPr/>
            </a:lvl1pPr>
          </a:lstStyle>
          <a:p>
            <a:fld id="{EB709096-912F-4774-8F9C-D173966EA403}" type="slidenum">
              <a:rPr lang="en-US" altLang="en-US"/>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5"/>
          <p:cNvSpPr>
            <a:spLocks noGrp="1"/>
          </p:cNvSpPr>
          <p:nvPr>
            <p:ph type="sldNum" sz="quarter" idx="10"/>
          </p:nvPr>
        </p:nvSpPr>
        <p:spPr/>
        <p:txBody>
          <a:bodyPr/>
          <a:lstStyle>
            <a:lvl1pPr>
              <a:defRPr/>
            </a:lvl1pPr>
          </a:lstStyle>
          <a:p>
            <a:fld id="{4D661447-7998-46BF-B95E-D71DBFFC4D68}" type="slidenum">
              <a:rPr lang="en-US" altLang="en-US"/>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3872" y="92928"/>
            <a:ext cx="2110755" cy="467552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348257" y="92928"/>
            <a:ext cx="6228458" cy="467552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5"/>
          <p:cNvSpPr>
            <a:spLocks noGrp="1"/>
          </p:cNvSpPr>
          <p:nvPr>
            <p:ph type="sldNum" sz="quarter" idx="10"/>
          </p:nvPr>
        </p:nvSpPr>
        <p:spPr/>
        <p:txBody>
          <a:bodyPr/>
          <a:lstStyle>
            <a:lvl1pPr>
              <a:defRPr/>
            </a:lvl1pPr>
          </a:lstStyle>
          <a:p>
            <a:fld id="{CC14C122-CBE5-46C5-AE21-5F2E3318462A}" type="slidenum">
              <a:rPr lang="en-US" altLang="en-US"/>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521970" y="4767263"/>
            <a:ext cx="2057400" cy="273844"/>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3028950" y="4767263"/>
            <a:ext cx="3086100" cy="273844"/>
          </a:xfrm>
        </p:spPr>
        <p:txBody>
          <a:bodyPr/>
          <a:lstStyle/>
          <a:p>
            <a:endParaRPr lang="zh-CN" altLang="en-US" dirty="0"/>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dirty="0"/>
          </a:p>
        </p:txBody>
      </p:sp>
      <p:sp>
        <p:nvSpPr>
          <p:cNvPr id="6" name="标题 5"/>
          <p:cNvSpPr>
            <a:spLocks noGrp="1"/>
          </p:cNvSpPr>
          <p:nvPr>
            <p:ph type="title"/>
            <p:custDataLst>
              <p:tags r:id="rId5"/>
            </p:custDataLst>
          </p:nvPr>
        </p:nvSpPr>
        <p:spPr/>
        <p:txBody>
          <a:bodyPr/>
          <a:lstStyle>
            <a:lvl1pPr algn="l">
              <a:defRPr/>
            </a:lvl1pPr>
          </a:lstStyle>
          <a:p>
            <a:r>
              <a:rPr lang="zh-CN" altLang="en-US"/>
              <a:t>单击此处编辑母版标题样式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1026" name="Rectangle 1"/>
          <p:cNvSpPr>
            <a:spLocks noGrp="1"/>
          </p:cNvSpPr>
          <p:nvPr>
            <p:ph type="body" idx="1"/>
          </p:nvPr>
        </p:nvSpPr>
        <p:spPr bwMode="auto">
          <a:xfrm>
            <a:off x="347663" y="719138"/>
            <a:ext cx="8447087" cy="4049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31886" tIns="31886" rIns="31886" bIns="31886" numCol="1" anchor="t" anchorCtr="0" compatLnSpc="1"/>
          <a:lstStyle/>
          <a:p>
            <a:pPr lvl="0"/>
            <a:r>
              <a:rPr lang="en-US" altLang="en-US">
                <a:sym typeface="Helvetica" panose="020B0604020202020204" pitchFamily="34" charset="0"/>
              </a:rPr>
              <a:t>Click to edit Template text styles</a:t>
            </a:r>
            <a:endParaRPr lang="en-US" altLang="en-US">
              <a:sym typeface="Helvetica" panose="020B0604020202020204" pitchFamily="34" charset="0"/>
            </a:endParaRPr>
          </a:p>
          <a:p>
            <a:pPr lvl="1"/>
            <a:r>
              <a:rPr lang="en-US" altLang="en-US">
                <a:sym typeface="Helvetica" panose="020B0604020202020204" pitchFamily="34" charset="0"/>
              </a:rPr>
              <a:t>Second level</a:t>
            </a:r>
            <a:endParaRPr lang="en-US" altLang="en-US">
              <a:sym typeface="Helvetica" panose="020B0604020202020204" pitchFamily="34" charset="0"/>
            </a:endParaRPr>
          </a:p>
          <a:p>
            <a:pPr lvl="2"/>
            <a:r>
              <a:rPr lang="en-US" altLang="en-US">
                <a:sym typeface="Helvetica" panose="020B0604020202020204" pitchFamily="34" charset="0"/>
              </a:rPr>
              <a:t>Third level</a:t>
            </a:r>
            <a:endParaRPr lang="en-US" altLang="en-US">
              <a:sym typeface="Helvetica" panose="020B0604020202020204" pitchFamily="34" charset="0"/>
            </a:endParaRPr>
          </a:p>
          <a:p>
            <a:pPr lvl="3"/>
            <a:r>
              <a:rPr lang="en-US" altLang="en-US">
                <a:sym typeface="Helvetica" panose="020B0604020202020204" pitchFamily="34" charset="0"/>
              </a:rPr>
              <a:t>Fourth level</a:t>
            </a:r>
            <a:endParaRPr lang="en-US" altLang="en-US">
              <a:sym typeface="Helvetica" panose="020B0604020202020204" pitchFamily="34" charset="0"/>
            </a:endParaRPr>
          </a:p>
          <a:p>
            <a:pPr lvl="4"/>
            <a:r>
              <a:rPr lang="en-US" altLang="en-US">
                <a:sym typeface="Helvetica" panose="020B0604020202020204" pitchFamily="34" charset="0"/>
              </a:rPr>
              <a:t>Fifth level</a:t>
            </a:r>
            <a:endParaRPr lang="en-US" altLang="en-US">
              <a:sym typeface="Helvetica" panose="020B0604020202020204" pitchFamily="34" charset="0"/>
            </a:endParaRPr>
          </a:p>
        </p:txBody>
      </p:sp>
      <p:sp>
        <p:nvSpPr>
          <p:cNvPr id="1027" name="Rectangle 2"/>
          <p:cNvSpPr>
            <a:spLocks noGrp="1"/>
          </p:cNvSpPr>
          <p:nvPr>
            <p:ph type="title"/>
          </p:nvPr>
        </p:nvSpPr>
        <p:spPr bwMode="auto">
          <a:xfrm>
            <a:off x="500063" y="93663"/>
            <a:ext cx="8143875"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31886" tIns="31886" rIns="31886" bIns="31886" numCol="1" anchor="t" anchorCtr="0" compatLnSpc="1"/>
          <a:lstStyle/>
          <a:p>
            <a:pPr lvl="0"/>
            <a:r>
              <a:rPr lang="en-US" altLang="en-US">
                <a:sym typeface="Helvetica" panose="020B0604020202020204" pitchFamily="34" charset="0"/>
              </a:rPr>
              <a:t>Click to edit Template title style</a:t>
            </a:r>
            <a:endParaRPr lang="en-US" altLang="en-US">
              <a:sym typeface="Helvetica" panose="020B0604020202020204" pitchFamily="34" charset="0"/>
            </a:endParaRPr>
          </a:p>
        </p:txBody>
      </p:sp>
      <p:pic>
        <p:nvPicPr>
          <p:cNvPr id="1028" name="Picture 3"/>
          <p:cNvPicPr>
            <a:picLocks noChangeAspect="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005638" y="69850"/>
            <a:ext cx="1851025"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9" name="Line 4"/>
          <p:cNvSpPr>
            <a:spLocks noChangeShapeType="1"/>
          </p:cNvSpPr>
          <p:nvPr/>
        </p:nvSpPr>
        <p:spPr bwMode="auto">
          <a:xfrm>
            <a:off x="341313" y="588963"/>
            <a:ext cx="8459787"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1886" tIns="31886" rIns="31886" bIns="31886" anchor="ctr"/>
          <a:lstStyle/>
          <a:p>
            <a:endParaRPr lang="en-US"/>
          </a:p>
        </p:txBody>
      </p:sp>
      <p:sp>
        <p:nvSpPr>
          <p:cNvPr id="2" name="Rectangle 5"/>
          <p:cNvSpPr>
            <a:spLocks noGrp="1"/>
          </p:cNvSpPr>
          <p:nvPr>
            <p:ph type="sldNum" sz="quarter" idx="2"/>
          </p:nvPr>
        </p:nvSpPr>
        <p:spPr bwMode="auto">
          <a:xfrm>
            <a:off x="4460875" y="4808538"/>
            <a:ext cx="215900" cy="173037"/>
          </a:xfrm>
          <a:prstGeom prst="rect">
            <a:avLst/>
          </a:prstGeom>
          <a:noFill/>
          <a:ln>
            <a:noFill/>
          </a:ln>
          <a:effectLst/>
        </p:spPr>
        <p:txBody>
          <a:bodyPr vert="horz" wrap="none" lIns="31886" tIns="31886" rIns="31886" bIns="31886" numCol="1" anchor="b" anchorCtr="0" compatLnSpc="1"/>
          <a:lstStyle>
            <a:lvl1pPr algn="ctr" defTabSz="1090930" eaLnBrk="1">
              <a:defRPr sz="900">
                <a:solidFill>
                  <a:srgbClr val="5E5E5E"/>
                </a:solidFill>
                <a:latin typeface="Graphik" charset="0"/>
                <a:ea typeface="Graphik" charset="0"/>
                <a:cs typeface="Graphik" charset="0"/>
                <a:sym typeface="Graphik" charset="0"/>
              </a:defRPr>
            </a:lvl1pPr>
          </a:lstStyle>
          <a:p>
            <a:fld id="{B78101D5-FE84-44C9-AB30-8CA2B182F501}" type="slidenum">
              <a:rPr lang="en-US" altLang="en-US"/>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1090930" rtl="0" eaLnBrk="0" fontAlgn="base" hangingPunct="0">
        <a:lnSpc>
          <a:spcPct val="70000"/>
        </a:lnSpc>
        <a:spcBef>
          <a:spcPct val="0"/>
        </a:spcBef>
        <a:spcAft>
          <a:spcPct val="0"/>
        </a:spcAft>
        <a:defRPr sz="3600" b="1" kern="1200">
          <a:solidFill>
            <a:srgbClr val="AE0428"/>
          </a:solidFill>
          <a:latin typeface="+mj-lt"/>
          <a:ea typeface="+mj-ea"/>
          <a:cs typeface="+mj-cs"/>
          <a:sym typeface="Helvetica" panose="020B0604020202020204" pitchFamily="34" charset="0"/>
        </a:defRPr>
      </a:lvl1pPr>
      <a:lvl2pPr algn="l" defTabSz="1090930" rtl="0" eaLnBrk="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2pPr>
      <a:lvl3pPr algn="l" defTabSz="1090930" rtl="0" eaLnBrk="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3pPr>
      <a:lvl4pPr algn="l" defTabSz="1090930" rtl="0" eaLnBrk="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4pPr>
      <a:lvl5pPr algn="l" defTabSz="1090930" rtl="0" eaLnBrk="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5pPr>
      <a:lvl6pPr marL="287020" algn="l" defTabSz="1092200" rtl="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6pPr>
      <a:lvl7pPr marL="574040" algn="l" defTabSz="1092200" rtl="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7pPr>
      <a:lvl8pPr marL="861060" algn="l" defTabSz="1092200" rtl="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8pPr>
      <a:lvl9pPr marL="1148080" algn="l" defTabSz="1092200" rtl="0" fontAlgn="base" hangingPunct="0">
        <a:lnSpc>
          <a:spcPct val="70000"/>
        </a:lnSpc>
        <a:spcBef>
          <a:spcPct val="0"/>
        </a:spcBef>
        <a:spcAft>
          <a:spcPct val="0"/>
        </a:spcAft>
        <a:defRPr sz="3600" b="1">
          <a:solidFill>
            <a:srgbClr val="AE0428"/>
          </a:solidFill>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defRPr>
      </a:lvl9pPr>
    </p:titleStyle>
    <p:bodyStyle>
      <a:lvl1pPr marL="263525" indent="-263525" algn="l" defTabSz="1090930" rtl="0" eaLnBrk="0" fontAlgn="base" hangingPunct="0">
        <a:spcBef>
          <a:spcPts val="1250"/>
        </a:spcBef>
        <a:spcAft>
          <a:spcPct val="0"/>
        </a:spcAft>
        <a:buSzPct val="75000"/>
        <a:buChar char="•"/>
        <a:defRPr sz="1900" kern="1200">
          <a:solidFill>
            <a:srgbClr val="000000"/>
          </a:solidFill>
          <a:latin typeface="+mn-lt"/>
          <a:ea typeface="+mn-ea"/>
          <a:cs typeface="+mn-cs"/>
          <a:sym typeface="Helvetica" panose="020B0604020202020204" pitchFamily="34" charset="0"/>
        </a:defRPr>
      </a:lvl1pPr>
      <a:lvl2pPr marL="494030" indent="-246380" algn="l" defTabSz="1090930" rtl="0" eaLnBrk="0" fontAlgn="base" hangingPunct="0">
        <a:spcBef>
          <a:spcPts val="1250"/>
        </a:spcBef>
        <a:spcAft>
          <a:spcPct val="0"/>
        </a:spcAft>
        <a:buSzPct val="175000"/>
        <a:buChar char="•"/>
        <a:defRPr sz="1900" kern="1200">
          <a:solidFill>
            <a:srgbClr val="000000"/>
          </a:solidFill>
          <a:latin typeface="+mn-lt"/>
          <a:ea typeface="+mn-ea"/>
          <a:cs typeface="+mn-cs"/>
          <a:sym typeface="Helvetica" panose="020B0604020202020204" pitchFamily="34" charset="0"/>
        </a:defRPr>
      </a:lvl2pPr>
      <a:lvl3pPr marL="739775" indent="-246380" algn="l" defTabSz="1090930" rtl="0" eaLnBrk="0" fontAlgn="base" hangingPunct="0">
        <a:spcBef>
          <a:spcPts val="1250"/>
        </a:spcBef>
        <a:spcAft>
          <a:spcPct val="0"/>
        </a:spcAft>
        <a:buSzPct val="175000"/>
        <a:buChar char="•"/>
        <a:defRPr sz="1900" kern="1200">
          <a:solidFill>
            <a:srgbClr val="000000"/>
          </a:solidFill>
          <a:latin typeface="+mn-lt"/>
          <a:ea typeface="+mn-ea"/>
          <a:cs typeface="+mn-cs"/>
          <a:sym typeface="Helvetica" panose="020B0604020202020204" pitchFamily="34" charset="0"/>
        </a:defRPr>
      </a:lvl3pPr>
      <a:lvl4pPr marL="987425" indent="-246380" algn="l" defTabSz="1090930" rtl="0" eaLnBrk="0" fontAlgn="base" hangingPunct="0">
        <a:spcBef>
          <a:spcPts val="1250"/>
        </a:spcBef>
        <a:spcAft>
          <a:spcPct val="0"/>
        </a:spcAft>
        <a:buSzPct val="175000"/>
        <a:buChar char="•"/>
        <a:defRPr sz="1900" kern="1200">
          <a:solidFill>
            <a:srgbClr val="000000"/>
          </a:solidFill>
          <a:latin typeface="+mn-lt"/>
          <a:ea typeface="+mn-ea"/>
          <a:cs typeface="+mn-cs"/>
          <a:sym typeface="Helvetica" panose="020B0604020202020204" pitchFamily="34" charset="0"/>
        </a:defRPr>
      </a:lvl4pPr>
      <a:lvl5pPr marL="1235075" indent="-246380" algn="l" defTabSz="1090930" rtl="0" eaLnBrk="0" fontAlgn="base" hangingPunct="0">
        <a:spcBef>
          <a:spcPts val="1250"/>
        </a:spcBef>
        <a:spcAft>
          <a:spcPct val="0"/>
        </a:spcAft>
        <a:buSzPct val="175000"/>
        <a:buChar char="•"/>
        <a:defRPr sz="1900" kern="1200">
          <a:solidFill>
            <a:srgbClr val="000000"/>
          </a:solidFill>
          <a:latin typeface="+mn-lt"/>
          <a:ea typeface="+mn-ea"/>
          <a:cs typeface="+mn-cs"/>
          <a:sym typeface="Helvetica" panose="020B0604020202020204" pitchFamily="34" charset="0"/>
        </a:defRPr>
      </a:lvl5pPr>
      <a:lvl6pPr marL="1578610" indent="-143510" algn="l" defTabSz="574040" rtl="0" eaLnBrk="1" latinLnBrk="0" hangingPunct="1">
        <a:lnSpc>
          <a:spcPct val="90000"/>
        </a:lnSpc>
        <a:spcBef>
          <a:spcPts val="315"/>
        </a:spcBef>
        <a:buFont typeface="Arial" panose="020B0604020202020204" pitchFamily="34" charset="0"/>
        <a:buChar char="•"/>
        <a:defRPr sz="1200" kern="1200">
          <a:solidFill>
            <a:schemeClr val="tx1"/>
          </a:solidFill>
          <a:latin typeface="+mn-lt"/>
          <a:ea typeface="+mn-ea"/>
          <a:cs typeface="+mn-cs"/>
        </a:defRPr>
      </a:lvl6pPr>
      <a:lvl7pPr marL="1865630" indent="-143510" algn="l" defTabSz="574040" rtl="0" eaLnBrk="1" latinLnBrk="0" hangingPunct="1">
        <a:lnSpc>
          <a:spcPct val="90000"/>
        </a:lnSpc>
        <a:spcBef>
          <a:spcPts val="315"/>
        </a:spcBef>
        <a:buFont typeface="Arial" panose="020B0604020202020204" pitchFamily="34" charset="0"/>
        <a:buChar char="•"/>
        <a:defRPr sz="1200" kern="1200">
          <a:solidFill>
            <a:schemeClr val="tx1"/>
          </a:solidFill>
          <a:latin typeface="+mn-lt"/>
          <a:ea typeface="+mn-ea"/>
          <a:cs typeface="+mn-cs"/>
        </a:defRPr>
      </a:lvl7pPr>
      <a:lvl8pPr marL="2152015" indent="-143510" algn="l" defTabSz="574040" rtl="0" eaLnBrk="1" latinLnBrk="0" hangingPunct="1">
        <a:lnSpc>
          <a:spcPct val="90000"/>
        </a:lnSpc>
        <a:spcBef>
          <a:spcPts val="315"/>
        </a:spcBef>
        <a:buFont typeface="Arial" panose="020B0604020202020204" pitchFamily="34" charset="0"/>
        <a:buChar char="•"/>
        <a:defRPr sz="1200" kern="1200">
          <a:solidFill>
            <a:schemeClr val="tx1"/>
          </a:solidFill>
          <a:latin typeface="+mn-lt"/>
          <a:ea typeface="+mn-ea"/>
          <a:cs typeface="+mn-cs"/>
        </a:defRPr>
      </a:lvl8pPr>
      <a:lvl9pPr marL="2439035" indent="-143510" algn="l" defTabSz="574040" rtl="0" eaLnBrk="1" latinLnBrk="0" hangingPunct="1">
        <a:lnSpc>
          <a:spcPct val="90000"/>
        </a:lnSpc>
        <a:spcBef>
          <a:spcPts val="315"/>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574040" rtl="0" eaLnBrk="1" latinLnBrk="0" hangingPunct="1">
        <a:defRPr sz="1200" kern="1200">
          <a:solidFill>
            <a:schemeClr val="tx1"/>
          </a:solidFill>
          <a:latin typeface="+mn-lt"/>
          <a:ea typeface="+mn-ea"/>
          <a:cs typeface="+mn-cs"/>
        </a:defRPr>
      </a:lvl1pPr>
      <a:lvl2pPr marL="287020" algn="l" defTabSz="574040" rtl="0" eaLnBrk="1" latinLnBrk="0" hangingPunct="1">
        <a:defRPr sz="1200" kern="1200">
          <a:solidFill>
            <a:schemeClr val="tx1"/>
          </a:solidFill>
          <a:latin typeface="+mn-lt"/>
          <a:ea typeface="+mn-ea"/>
          <a:cs typeface="+mn-cs"/>
        </a:defRPr>
      </a:lvl2pPr>
      <a:lvl3pPr marL="574040" algn="l" defTabSz="574040" rtl="0" eaLnBrk="1" latinLnBrk="0" hangingPunct="1">
        <a:defRPr sz="1200" kern="1200">
          <a:solidFill>
            <a:schemeClr val="tx1"/>
          </a:solidFill>
          <a:latin typeface="+mn-lt"/>
          <a:ea typeface="+mn-ea"/>
          <a:cs typeface="+mn-cs"/>
        </a:defRPr>
      </a:lvl3pPr>
      <a:lvl4pPr marL="861060" algn="l" defTabSz="574040" rtl="0" eaLnBrk="1" latinLnBrk="0" hangingPunct="1">
        <a:defRPr sz="1200" kern="1200">
          <a:solidFill>
            <a:schemeClr val="tx1"/>
          </a:solidFill>
          <a:latin typeface="+mn-lt"/>
          <a:ea typeface="+mn-ea"/>
          <a:cs typeface="+mn-cs"/>
        </a:defRPr>
      </a:lvl4pPr>
      <a:lvl5pPr marL="1148080" algn="l" defTabSz="574040" rtl="0" eaLnBrk="1" latinLnBrk="0" hangingPunct="1">
        <a:defRPr sz="1200" kern="1200">
          <a:solidFill>
            <a:schemeClr val="tx1"/>
          </a:solidFill>
          <a:latin typeface="+mn-lt"/>
          <a:ea typeface="+mn-ea"/>
          <a:cs typeface="+mn-cs"/>
        </a:defRPr>
      </a:lvl5pPr>
      <a:lvl6pPr marL="1435100" algn="l" defTabSz="574040" rtl="0" eaLnBrk="1" latinLnBrk="0" hangingPunct="1">
        <a:defRPr sz="1200" kern="1200">
          <a:solidFill>
            <a:schemeClr val="tx1"/>
          </a:solidFill>
          <a:latin typeface="+mn-lt"/>
          <a:ea typeface="+mn-ea"/>
          <a:cs typeface="+mn-cs"/>
        </a:defRPr>
      </a:lvl6pPr>
      <a:lvl7pPr marL="1722120" algn="l" defTabSz="574040" rtl="0" eaLnBrk="1" latinLnBrk="0" hangingPunct="1">
        <a:defRPr sz="1200" kern="1200">
          <a:solidFill>
            <a:schemeClr val="tx1"/>
          </a:solidFill>
          <a:latin typeface="+mn-lt"/>
          <a:ea typeface="+mn-ea"/>
          <a:cs typeface="+mn-cs"/>
        </a:defRPr>
      </a:lvl7pPr>
      <a:lvl8pPr marL="2009140" algn="l" defTabSz="574040" rtl="0" eaLnBrk="1" latinLnBrk="0" hangingPunct="1">
        <a:defRPr sz="1200" kern="1200">
          <a:solidFill>
            <a:schemeClr val="tx1"/>
          </a:solidFill>
          <a:latin typeface="+mn-lt"/>
          <a:ea typeface="+mn-ea"/>
          <a:cs typeface="+mn-cs"/>
        </a:defRPr>
      </a:lvl8pPr>
      <a:lvl9pPr marL="2295525" algn="l" defTabSz="57404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image" Target="../media/image4.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webp"/><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1"/>
          <p:cNvSpPr>
            <a:spLocks noGrp="1"/>
          </p:cNvSpPr>
          <p:nvPr>
            <p:ph type="ctrTitle"/>
          </p:nvPr>
        </p:nvSpPr>
        <p:spPr>
          <a:xfrm>
            <a:off x="500063" y="1158875"/>
            <a:ext cx="8143875" cy="568325"/>
          </a:xfrm>
        </p:spPr>
        <p:txBody>
          <a:bodyPr/>
          <a:lstStyle/>
          <a:p>
            <a:pPr eaLnBrk="1">
              <a:lnSpc>
                <a:spcPct val="80000"/>
              </a:lnSpc>
            </a:pPr>
            <a:r>
              <a:rPr lang="en-US" altLang="en-US" sz="2800" dirty="0"/>
              <a:t>DTS207TC Database Development and Design</a:t>
            </a:r>
            <a:endParaRPr lang="en-US" altLang="en-US" sz="2800" dirty="0"/>
          </a:p>
        </p:txBody>
      </p:sp>
      <p:sp>
        <p:nvSpPr>
          <p:cNvPr id="2051" name="Rectangle 2"/>
          <p:cNvSpPr>
            <a:spLocks noGrp="1"/>
          </p:cNvSpPr>
          <p:nvPr>
            <p:ph type="subTitle" sz="quarter" idx="1"/>
          </p:nvPr>
        </p:nvSpPr>
        <p:spPr>
          <a:xfrm>
            <a:off x="500063" y="2428240"/>
            <a:ext cx="8143875" cy="385763"/>
          </a:xfrm>
        </p:spPr>
        <p:txBody>
          <a:bodyPr/>
          <a:lstStyle/>
          <a:p>
            <a:pPr defTabSz="365125" eaLnBrk="1">
              <a:spcBef>
                <a:spcPct val="0"/>
              </a:spcBef>
              <a:buSzTx/>
            </a:pPr>
            <a:r>
              <a:rPr lang="en-US" altLang="zh-CN" sz="2100" b="1" dirty="0">
                <a:solidFill>
                  <a:srgbClr val="AE0428"/>
                </a:solidFill>
                <a:ea typeface="宋体" panose="02010600030101010101" pitchFamily="2" charset="-122"/>
              </a:rPr>
              <a:t>Lecture 3</a:t>
            </a:r>
            <a:endParaRPr lang="en-US" altLang="zh-CN" sz="2100" b="1" dirty="0">
              <a:solidFill>
                <a:srgbClr val="AE0428"/>
              </a:solidFill>
              <a:ea typeface="宋体" panose="02010600030101010101" pitchFamily="2" charset="-122"/>
            </a:endParaRPr>
          </a:p>
          <a:p>
            <a:pPr defTabSz="365125" eaLnBrk="1">
              <a:spcBef>
                <a:spcPct val="0"/>
              </a:spcBef>
              <a:buSzTx/>
            </a:pPr>
            <a:r>
              <a:rPr lang="en-US" altLang="zh-CN" sz="2100" b="1" dirty="0">
                <a:solidFill>
                  <a:srgbClr val="AE0428"/>
                </a:solidFill>
                <a:ea typeface="宋体" panose="02010600030101010101" pitchFamily="2" charset="-122"/>
              </a:rPr>
              <a:t>Chap 5 Advanced SQL</a:t>
            </a:r>
            <a:endParaRPr lang="en-US" altLang="zh-CN" sz="2100" b="1" dirty="0">
              <a:solidFill>
                <a:srgbClr val="AE0428"/>
              </a:solidFill>
              <a:ea typeface="宋体" panose="02010600030101010101" pitchFamily="2" charset="-122"/>
            </a:endParaRPr>
          </a:p>
        </p:txBody>
      </p:sp>
      <p:sp>
        <p:nvSpPr>
          <p:cNvPr id="2052" name="Text Box 3"/>
          <p:cNvSpPr txBox="1"/>
          <p:nvPr/>
        </p:nvSpPr>
        <p:spPr bwMode="auto">
          <a:xfrm>
            <a:off x="500063" y="4435475"/>
            <a:ext cx="8143875" cy="225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1886" tIns="31886" rIns="31886" bIns="31886"/>
          <a:lstStyle>
            <a:lvl1pPr defTabSz="586105">
              <a:defRPr sz="1100">
                <a:solidFill>
                  <a:srgbClr val="000000"/>
                </a:solidFill>
                <a:latin typeface="Canela Text Regular" charset="0"/>
                <a:ea typeface="Canela Text Regular" charset="0"/>
                <a:cs typeface="Canela Text Regular" charset="0"/>
                <a:sym typeface="Canela Text Regular" charset="0"/>
              </a:defRPr>
            </a:lvl1pPr>
            <a:lvl2pPr marL="742950" indent="-285750" defTabSz="586105">
              <a:defRPr sz="1100">
                <a:solidFill>
                  <a:srgbClr val="000000"/>
                </a:solidFill>
                <a:latin typeface="Canela Text Regular" charset="0"/>
                <a:ea typeface="Canela Text Regular" charset="0"/>
                <a:cs typeface="Canela Text Regular" charset="0"/>
                <a:sym typeface="Canela Text Regular" charset="0"/>
              </a:defRPr>
            </a:lvl2pPr>
            <a:lvl3pPr marL="1143000" indent="-228600" defTabSz="586105">
              <a:defRPr sz="1100">
                <a:solidFill>
                  <a:srgbClr val="000000"/>
                </a:solidFill>
                <a:latin typeface="Canela Text Regular" charset="0"/>
                <a:ea typeface="Canela Text Regular" charset="0"/>
                <a:cs typeface="Canela Text Regular" charset="0"/>
                <a:sym typeface="Canela Text Regular" charset="0"/>
              </a:defRPr>
            </a:lvl3pPr>
            <a:lvl4pPr marL="1600200" indent="-228600" defTabSz="586105">
              <a:defRPr sz="1100">
                <a:solidFill>
                  <a:srgbClr val="000000"/>
                </a:solidFill>
                <a:latin typeface="Canela Text Regular" charset="0"/>
                <a:ea typeface="Canela Text Regular" charset="0"/>
                <a:cs typeface="Canela Text Regular" charset="0"/>
                <a:sym typeface="Canela Text Regular" charset="0"/>
              </a:defRPr>
            </a:lvl4pPr>
            <a:lvl5pPr marL="2057400" indent="-228600" defTabSz="586105">
              <a:defRPr sz="1100">
                <a:solidFill>
                  <a:srgbClr val="000000"/>
                </a:solidFill>
                <a:latin typeface="Canela Text Regular" charset="0"/>
                <a:ea typeface="Canela Text Regular" charset="0"/>
                <a:cs typeface="Canela Text Regular" charset="0"/>
                <a:sym typeface="Canela Text Regular" charset="0"/>
              </a:defRPr>
            </a:lvl5pPr>
            <a:lvl6pPr marL="2514600" indent="-228600" defTabSz="586105" eaLnBrk="0" fontAlgn="base" hangingPunct="0">
              <a:spcBef>
                <a:spcPct val="0"/>
              </a:spcBef>
              <a:spcAft>
                <a:spcPct val="0"/>
              </a:spcAft>
              <a:defRPr sz="1100">
                <a:solidFill>
                  <a:srgbClr val="000000"/>
                </a:solidFill>
                <a:latin typeface="Canela Text Regular" charset="0"/>
                <a:ea typeface="Canela Text Regular" charset="0"/>
                <a:cs typeface="Canela Text Regular" charset="0"/>
                <a:sym typeface="Canela Text Regular" charset="0"/>
              </a:defRPr>
            </a:lvl6pPr>
            <a:lvl7pPr marL="2971800" indent="-228600" defTabSz="586105" eaLnBrk="0" fontAlgn="base" hangingPunct="0">
              <a:spcBef>
                <a:spcPct val="0"/>
              </a:spcBef>
              <a:spcAft>
                <a:spcPct val="0"/>
              </a:spcAft>
              <a:defRPr sz="1100">
                <a:solidFill>
                  <a:srgbClr val="000000"/>
                </a:solidFill>
                <a:latin typeface="Canela Text Regular" charset="0"/>
                <a:ea typeface="Canela Text Regular" charset="0"/>
                <a:cs typeface="Canela Text Regular" charset="0"/>
                <a:sym typeface="Canela Text Regular" charset="0"/>
              </a:defRPr>
            </a:lvl7pPr>
            <a:lvl8pPr marL="3429000" indent="-228600" defTabSz="586105" eaLnBrk="0" fontAlgn="base" hangingPunct="0">
              <a:spcBef>
                <a:spcPct val="0"/>
              </a:spcBef>
              <a:spcAft>
                <a:spcPct val="0"/>
              </a:spcAft>
              <a:defRPr sz="1100">
                <a:solidFill>
                  <a:srgbClr val="000000"/>
                </a:solidFill>
                <a:latin typeface="Canela Text Regular" charset="0"/>
                <a:ea typeface="Canela Text Regular" charset="0"/>
                <a:cs typeface="Canela Text Regular" charset="0"/>
                <a:sym typeface="Canela Text Regular" charset="0"/>
              </a:defRPr>
            </a:lvl8pPr>
            <a:lvl9pPr marL="3886200" indent="-228600" defTabSz="586105" eaLnBrk="0" fontAlgn="base" hangingPunct="0">
              <a:spcBef>
                <a:spcPct val="0"/>
              </a:spcBef>
              <a:spcAft>
                <a:spcPct val="0"/>
              </a:spcAft>
              <a:defRPr sz="1100">
                <a:solidFill>
                  <a:srgbClr val="000000"/>
                </a:solidFill>
                <a:latin typeface="Canela Text Regular" charset="0"/>
                <a:ea typeface="Canela Text Regular" charset="0"/>
                <a:cs typeface="Canela Text Regular" charset="0"/>
                <a:sym typeface="Canela Text Regular" charset="0"/>
              </a:defRPr>
            </a:lvl9pPr>
          </a:lstStyle>
          <a:p>
            <a:pPr algn="ctr" eaLnBrk="1"/>
            <a:r>
              <a:rPr lang="en-US" altLang="zh-CN" sz="1200">
                <a:latin typeface="Helvetica" panose="020B0604020202020204" pitchFamily="34" charset="0"/>
                <a:ea typeface="宋体" panose="02010600030101010101" pitchFamily="2" charset="-122"/>
                <a:sym typeface="Helvetica" panose="020B0604020202020204" pitchFamily="34" charset="0"/>
              </a:rPr>
              <a:t>Di Zhang</a:t>
            </a:r>
            <a:r>
              <a:rPr lang="en-US" altLang="en-US" sz="1200">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rPr>
              <a:t>, Autumn 2025</a:t>
            </a:r>
            <a:endParaRPr lang="en-US" altLang="en-US" sz="1200">
              <a:latin typeface="Helvetica" panose="020B0604020202020204" pitchFamily="34" charset="0"/>
              <a:ea typeface="Helvetica" panose="020B0604020202020204" pitchFamily="34" charset="0"/>
              <a:cs typeface="Helvetica" panose="020B0604020202020204" pitchFamily="34" charset="0"/>
              <a:sym typeface="Helvetica" panose="020B0604020202020204" pitchFamily="34" charset="0"/>
            </a:endParaRPr>
          </a:p>
        </p:txBody>
      </p:sp>
      <p:sp>
        <p:nvSpPr>
          <p:cNvPr id="2" name="文本框 1"/>
          <p:cNvSpPr txBox="1"/>
          <p:nvPr/>
        </p:nvSpPr>
        <p:spPr>
          <a:xfrm>
            <a:off x="3279140" y="4832350"/>
            <a:ext cx="3048000" cy="260350"/>
          </a:xfrm>
          <a:prstGeom prst="rect">
            <a:avLst/>
          </a:prstGeom>
          <a:noFill/>
        </p:spPr>
        <p:txBody>
          <a:bodyPr wrap="square" rtlCol="0">
            <a:spAutoFit/>
          </a:bodyPr>
          <a:p>
            <a:r>
              <a:rPr lang="en-US" altLang="zh-CN" b="1" dirty="0">
                <a:solidFill>
                  <a:srgbClr val="AE0428"/>
                </a:solidFill>
                <a:ea typeface="宋体" panose="02010600030101010101" pitchFamily="2" charset="-122"/>
                <a:sym typeface="+mn-ea"/>
              </a:rPr>
              <a:t>Page titles with * will not be assessed</a:t>
            </a:r>
            <a:endParaRPr lang="zh-CN" altLang="en-US"/>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Outline</a:t>
            </a:r>
            <a:endParaRPr lang="en-US" altLang="zh-CN"/>
          </a:p>
        </p:txBody>
      </p:sp>
      <p:sp>
        <p:nvSpPr>
          <p:cNvPr id="3" name="内容占位符 2"/>
          <p:cNvSpPr>
            <a:spLocks noGrp="1"/>
          </p:cNvSpPr>
          <p:nvPr>
            <p:ph idx="1"/>
          </p:nvPr>
        </p:nvSpPr>
        <p:spPr/>
        <p:txBody>
          <a:bodyPr/>
          <a:p>
            <a:r>
              <a:rPr lang="en-US" altLang="en-US" dirty="0">
                <a:sym typeface="+mn-ea"/>
              </a:rPr>
              <a:t>Accessing SQL From a Programming Language</a:t>
            </a:r>
            <a:endParaRPr lang="en-US" altLang="en-US" dirty="0"/>
          </a:p>
          <a:p>
            <a:r>
              <a:rPr lang="en-US" altLang="en-US" dirty="0">
                <a:sym typeface="+mn-ea"/>
              </a:rPr>
              <a:t>Functions and Procedures</a:t>
            </a:r>
            <a:endParaRPr lang="en-US" altLang="en-US" dirty="0"/>
          </a:p>
          <a:p>
            <a:r>
              <a:rPr lang="en-US" altLang="en-US" dirty="0">
                <a:sym typeface="+mn-ea"/>
              </a:rPr>
              <a:t>Triggers</a:t>
            </a:r>
            <a:endParaRPr lang="en-US" altLang="en-US" dirty="0"/>
          </a:p>
          <a:p>
            <a:r>
              <a:rPr lang="en-US" altLang="en-US" dirty="0">
                <a:sym typeface="+mn-ea"/>
              </a:rPr>
              <a:t>Recursive Queries</a:t>
            </a:r>
            <a:endParaRPr lang="en-US" altLang="en-US" dirty="0"/>
          </a:p>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a:xfrm>
            <a:off x="467678" y="117602"/>
            <a:ext cx="6057900" cy="461666"/>
          </a:xfrm>
        </p:spPr>
        <p:txBody>
          <a:bodyPr/>
          <a:lstStyle/>
          <a:p>
            <a:pPr>
              <a:defRPr/>
            </a:pPr>
            <a:r>
              <a:rPr lang="en-US" altLang="en-US" sz="1800" dirty="0">
                <a:effectLst>
                  <a:outerShdw blurRad="38100" dist="38100" dir="2700000" algn="tl">
                    <a:srgbClr val="C0C0C0"/>
                  </a:outerShdw>
                </a:effectLst>
              </a:rPr>
              <a:t>Accessing SQL from a Programming Language</a:t>
            </a:r>
            <a:endParaRPr lang="en-US" altLang="en-US" sz="1800" dirty="0">
              <a:effectLst>
                <a:outerShdw blurRad="38100" dist="38100" dir="2700000" algn="tl">
                  <a:srgbClr val="C0C0C0"/>
                </a:outerShdw>
              </a:effectLst>
            </a:endParaRPr>
          </a:p>
        </p:txBody>
      </p:sp>
      <p:sp>
        <p:nvSpPr>
          <p:cNvPr id="6147" name="Rectangle 3"/>
          <p:cNvSpPr>
            <a:spLocks noGrp="1" noChangeArrowheads="1"/>
          </p:cNvSpPr>
          <p:nvPr>
            <p:ph type="body" idx="1"/>
          </p:nvPr>
        </p:nvSpPr>
        <p:spPr>
          <a:xfrm>
            <a:off x="730355" y="1359794"/>
            <a:ext cx="5435369" cy="1962055"/>
          </a:xfrm>
        </p:spPr>
        <p:txBody>
          <a:bodyPr/>
          <a:lstStyle/>
          <a:p>
            <a:r>
              <a:rPr lang="en-US" altLang="en-US" sz="1275" dirty="0"/>
              <a:t>Not all queries can be expressed in SQL, since SQL does not provide the full expressive power of a general-purpose language.</a:t>
            </a:r>
            <a:endParaRPr lang="en-US" altLang="en-US" sz="1275" dirty="0"/>
          </a:p>
          <a:p>
            <a:r>
              <a:rPr lang="en-US" altLang="en-US" sz="1275" dirty="0"/>
              <a:t>Non-declarative actions -- such as printing a report, interacting with a user, or sending the results of a query to a graphical user interface -- cannot be done from within SQL.</a:t>
            </a:r>
            <a:endParaRPr lang="en-US" altLang="en-US" sz="1275" dirty="0"/>
          </a:p>
          <a:p>
            <a:endParaRPr lang="en-US" altLang="en-US" dirty="0"/>
          </a:p>
          <a:p>
            <a:endParaRPr lang="en-US" altLang="en-US" dirty="0"/>
          </a:p>
        </p:txBody>
      </p:sp>
      <p:sp>
        <p:nvSpPr>
          <p:cNvPr id="6148" name="Rectangle 4"/>
          <p:cNvSpPr>
            <a:spLocks noChangeArrowheads="1"/>
          </p:cNvSpPr>
          <p:nvPr/>
        </p:nvSpPr>
        <p:spPr bwMode="auto">
          <a:xfrm>
            <a:off x="2219325" y="-572691"/>
            <a:ext cx="30988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endParaRPr lang="en-US" altLang="en-US" sz="1200"/>
          </a:p>
        </p:txBody>
      </p:sp>
      <p:sp>
        <p:nvSpPr>
          <p:cNvPr id="6149" name="TextBox 4"/>
          <p:cNvSpPr txBox="1">
            <a:spLocks noChangeArrowheads="1"/>
          </p:cNvSpPr>
          <p:nvPr/>
        </p:nvSpPr>
        <p:spPr bwMode="auto">
          <a:xfrm>
            <a:off x="467678" y="839301"/>
            <a:ext cx="5769051" cy="485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r>
              <a:rPr lang="en-US" altLang="en-US" sz="1275" dirty="0"/>
              <a:t>A database programmer must have access to a general-purpose programming language for at least two reasons</a:t>
            </a:r>
            <a:endParaRPr lang="en-US" altLang="en-US" sz="1275" dirty="0"/>
          </a:p>
        </p:txBody>
      </p:sp>
      <p:sp>
        <p:nvSpPr>
          <p:cNvPr id="10" name="文本框 9"/>
          <p:cNvSpPr txBox="1"/>
          <p:nvPr/>
        </p:nvSpPr>
        <p:spPr>
          <a:xfrm>
            <a:off x="582295" y="4287520"/>
            <a:ext cx="6448425" cy="429895"/>
          </a:xfrm>
          <a:prstGeom prst="rect">
            <a:avLst/>
          </a:prstGeom>
          <a:noFill/>
        </p:spPr>
        <p:txBody>
          <a:bodyPr wrap="square" rtlCol="0">
            <a:spAutoFit/>
          </a:bodyPr>
          <a:p>
            <a:r>
              <a:rPr lang="en-US" altLang="zh-CN">
                <a:solidFill>
                  <a:srgbClr val="FF0000"/>
                </a:solidFill>
              </a:rPr>
              <a:t>The content of this section of the textbook is outdated. JDBC/ODBC is not commonly used in Python. Python usually uses </a:t>
            </a:r>
            <a:r>
              <a:rPr lang="en-US" altLang="zh-CN">
                <a:solidFill>
                  <a:srgbClr val="FF0000"/>
                </a:solidFill>
              </a:rPr>
              <a:t>its language-specific protocol DB-API.</a:t>
            </a:r>
            <a:endParaRPr lang="en-US" altLang="zh-CN">
              <a:solidFill>
                <a:srgbClr val="FF0000"/>
              </a:solidFill>
            </a:endParaRPr>
          </a:p>
        </p:txBody>
      </p:sp>
      <p:grpSp>
        <p:nvGrpSpPr>
          <p:cNvPr id="4" name="组合 3"/>
          <p:cNvGrpSpPr/>
          <p:nvPr/>
        </p:nvGrpSpPr>
        <p:grpSpPr>
          <a:xfrm>
            <a:off x="3275965" y="2931795"/>
            <a:ext cx="722630" cy="954405"/>
            <a:chOff x="737" y="4617"/>
            <a:chExt cx="1138" cy="1503"/>
          </a:xfrm>
        </p:grpSpPr>
        <p:pic>
          <p:nvPicPr>
            <p:cNvPr id="2" name="Picture 101"/>
            <p:cNvPicPr/>
            <p:nvPr/>
          </p:nvPicPr>
          <p:blipFill>
            <a:blip r:embed="rId1"/>
            <a:stretch>
              <a:fillRect/>
            </a:stretch>
          </p:blipFill>
          <p:spPr>
            <a:xfrm>
              <a:off x="737" y="4617"/>
              <a:ext cx="1139" cy="1139"/>
            </a:xfrm>
            <a:prstGeom prst="rect">
              <a:avLst/>
            </a:prstGeom>
            <a:noFill/>
            <a:ln w="9525">
              <a:noFill/>
            </a:ln>
          </p:spPr>
        </p:pic>
        <p:sp>
          <p:nvSpPr>
            <p:cNvPr id="3" name="文本框 2"/>
            <p:cNvSpPr txBox="1"/>
            <p:nvPr/>
          </p:nvSpPr>
          <p:spPr>
            <a:xfrm>
              <a:off x="1077" y="5638"/>
              <a:ext cx="457" cy="483"/>
            </a:xfrm>
            <a:prstGeom prst="rect">
              <a:avLst/>
            </a:prstGeom>
            <a:noFill/>
          </p:spPr>
          <p:txBody>
            <a:bodyPr wrap="square" rtlCol="0">
              <a:spAutoFit/>
            </a:bodyPr>
            <a:p>
              <a:r>
                <a:rPr lang="en-US" altLang="zh-CN" sz="1400"/>
                <a:t>1</a:t>
              </a:r>
              <a:endParaRPr lang="en-US" altLang="zh-CN" sz="140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*Other interfaces of DB</a:t>
            </a:r>
            <a:endParaRPr lang="en-US" altLang="zh-CN"/>
          </a:p>
        </p:txBody>
      </p:sp>
      <p:sp>
        <p:nvSpPr>
          <p:cNvPr id="3" name="内容占位符 2"/>
          <p:cNvSpPr>
            <a:spLocks noGrp="1"/>
          </p:cNvSpPr>
          <p:nvPr>
            <p:ph idx="1"/>
          </p:nvPr>
        </p:nvSpPr>
        <p:spPr/>
        <p:txBody>
          <a:bodyPr/>
          <a:p>
            <a:r>
              <a:rPr lang="en-US" altLang="zh-CN"/>
              <a:t>DB without SQL</a:t>
            </a:r>
            <a:endParaRPr lang="en-US" altLang="zh-CN"/>
          </a:p>
          <a:p>
            <a:pPr lvl="1"/>
            <a:r>
              <a:rPr lang="en-US" altLang="zh-CN">
                <a:sym typeface="+mn-ea"/>
              </a:rPr>
              <a:t>HTTP: postgres-meta</a:t>
            </a:r>
            <a:endParaRPr lang="en-US" altLang="zh-CN"/>
          </a:p>
          <a:p>
            <a:pPr lvl="1"/>
            <a:r>
              <a:rPr lang="en-US" altLang="zh-CN"/>
              <a:t>Structured text: GraphQL</a:t>
            </a:r>
            <a:endParaRPr lang="en-US" altLang="zh-CN"/>
          </a:p>
          <a:p>
            <a:pPr lvl="1"/>
            <a:r>
              <a:rPr lang="en-US" altLang="zh-CN"/>
              <a:t>NLP: sequel.sh</a:t>
            </a:r>
            <a:endParaRPr lang="en-US" altLang="zh-CN"/>
          </a:p>
          <a:p>
            <a:pPr lvl="1"/>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Functions and Procedures</a:t>
            </a:r>
            <a:endParaRPr lang="en-US" altLang="en-US">
              <a:effectLst>
                <a:outerShdw blurRad="38100" dist="38100" dir="2700000" algn="tl">
                  <a:srgbClr val="C0C0C0"/>
                </a:outerShdw>
              </a:effectLst>
            </a:endParaRPr>
          </a:p>
        </p:txBody>
      </p:sp>
      <p:sp>
        <p:nvSpPr>
          <p:cNvPr id="34819" name="Rectangle 3"/>
          <p:cNvSpPr>
            <a:spLocks noGrp="1" noChangeArrowheads="1"/>
          </p:cNvSpPr>
          <p:nvPr>
            <p:ph type="body" idx="1"/>
          </p:nvPr>
        </p:nvSpPr>
        <p:spPr>
          <a:xfrm>
            <a:off x="685165" y="851535"/>
            <a:ext cx="6803390" cy="3657600"/>
          </a:xfrm>
        </p:spPr>
        <p:txBody>
          <a:bodyPr/>
          <a:lstStyle/>
          <a:p>
            <a:r>
              <a:rPr lang="en-US" altLang="en-US" dirty="0"/>
              <a:t>Functions and procedures allow  “business logic”  to be stored in the database and executed from SQL statements.</a:t>
            </a:r>
            <a:endParaRPr lang="en-US" altLang="en-US" dirty="0"/>
          </a:p>
          <a:p>
            <a:r>
              <a:rPr lang="en-US" altLang="en-US" dirty="0"/>
              <a:t>These can be defined either by the procedural component of SQL or  by an external programming language such as Python.</a:t>
            </a:r>
            <a:endParaRPr lang="en-US" altLang="en-US" dirty="0"/>
          </a:p>
          <a:p>
            <a:endParaRPr lang="en-US"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Declaring SQL Functions</a:t>
            </a:r>
            <a:endParaRPr lang="en-US" altLang="en-US" dirty="0">
              <a:effectLst>
                <a:outerShdw blurRad="38100" dist="38100" dir="2700000" algn="tl">
                  <a:srgbClr val="C0C0C0"/>
                </a:outerShdw>
              </a:effectLst>
            </a:endParaRPr>
          </a:p>
        </p:txBody>
      </p:sp>
      <p:sp>
        <p:nvSpPr>
          <p:cNvPr id="35843" name="Rectangle 3"/>
          <p:cNvSpPr>
            <a:spLocks noGrp="1" noChangeArrowheads="1"/>
          </p:cNvSpPr>
          <p:nvPr>
            <p:ph type="body" idx="1"/>
          </p:nvPr>
        </p:nvSpPr>
        <p:spPr>
          <a:xfrm>
            <a:off x="554355" y="805180"/>
            <a:ext cx="7919085" cy="3677920"/>
          </a:xfrm>
        </p:spPr>
        <p:txBody>
          <a:bodyPr/>
          <a:lstStyle/>
          <a:p>
            <a:pPr>
              <a:tabLst>
                <a:tab pos="803275" algn="l"/>
                <a:tab pos="1369695" algn="l"/>
                <a:tab pos="2112645" algn="l"/>
              </a:tabLst>
            </a:pPr>
            <a:r>
              <a:rPr lang="en-US" altLang="en-US" sz="1400" dirty="0"/>
              <a:t>Define a function that, given the name of a department, returns the count of the number of instructors in that department.</a:t>
            </a:r>
            <a:endParaRPr lang="en-US" altLang="en-US" sz="1400" dirty="0"/>
          </a:p>
          <a:p>
            <a:pPr>
              <a:buFont typeface="Monotype Sorts" pitchFamily="-65" charset="2"/>
              <a:buNone/>
              <a:tabLst>
                <a:tab pos="803275" algn="l"/>
                <a:tab pos="1369695" algn="l"/>
                <a:tab pos="2112645" algn="l"/>
              </a:tabLst>
            </a:pPr>
            <a:r>
              <a:rPr lang="en-US" altLang="en-US" sz="800" b="1" dirty="0"/>
              <a:t>             </a:t>
            </a:r>
            <a:r>
              <a:rPr lang="en-US" altLang="en-US" sz="1400" b="1" dirty="0"/>
              <a:t>create function </a:t>
            </a:r>
            <a:r>
              <a:rPr lang="en-US" altLang="en-US" sz="1400" i="1" dirty="0" err="1"/>
              <a:t>dept_count</a:t>
            </a:r>
            <a:r>
              <a:rPr lang="en-US" altLang="en-US" sz="1400" i="1" dirty="0"/>
              <a:t> </a:t>
            </a:r>
            <a:r>
              <a:rPr lang="en-US" altLang="en-US" sz="1400" dirty="0"/>
              <a:t>(</a:t>
            </a:r>
            <a:r>
              <a:rPr lang="en-US" altLang="en-US" sz="1400" i="1" dirty="0" err="1"/>
              <a:t>dept_name</a:t>
            </a:r>
            <a:r>
              <a:rPr lang="en-US" altLang="en-US" sz="1400" i="1" dirty="0"/>
              <a:t> </a:t>
            </a:r>
            <a:r>
              <a:rPr lang="en-US" altLang="en-US" sz="1400" b="1" dirty="0"/>
              <a:t>varchar</a:t>
            </a:r>
            <a:r>
              <a:rPr lang="en-US" altLang="en-US" sz="1400" dirty="0"/>
              <a:t>(20))</a:t>
            </a:r>
            <a:br>
              <a:rPr lang="en-US" altLang="en-US" sz="1400" b="1" dirty="0"/>
            </a:br>
            <a:r>
              <a:rPr lang="en-US" altLang="en-US" sz="800" b="1" dirty="0"/>
              <a:t>                </a:t>
            </a:r>
            <a:r>
              <a:rPr lang="en-US" altLang="en-US" sz="1400" b="1" dirty="0"/>
              <a:t>returns integer</a:t>
            </a:r>
            <a:br>
              <a:rPr lang="en-US" altLang="en-US" sz="1400" b="1" dirty="0"/>
            </a:br>
            <a:r>
              <a:rPr lang="en-US" altLang="en-US" sz="1400" b="1" dirty="0"/>
              <a:t>               begin</a:t>
            </a:r>
            <a:br>
              <a:rPr lang="en-US" altLang="en-US" sz="1400" b="1" dirty="0"/>
            </a:br>
            <a:r>
              <a:rPr lang="en-US" altLang="en-US" sz="1400" b="1" dirty="0"/>
              <a:t>               declare </a:t>
            </a:r>
            <a:r>
              <a:rPr lang="en-US" altLang="en-US" sz="1400" i="1" dirty="0" err="1"/>
              <a:t>d_count</a:t>
            </a:r>
            <a:r>
              <a:rPr lang="en-US" altLang="en-US" sz="1400" i="1" dirty="0"/>
              <a:t>  </a:t>
            </a:r>
            <a:r>
              <a:rPr lang="en-US" altLang="en-US" sz="1400" b="1" dirty="0"/>
              <a:t>integer;</a:t>
            </a:r>
            <a:br>
              <a:rPr lang="en-US" altLang="en-US" sz="1400" b="1" dirty="0"/>
            </a:br>
            <a:r>
              <a:rPr lang="en-US" altLang="en-US" sz="1400" b="1" dirty="0"/>
              <a:t>                      select count </a:t>
            </a:r>
            <a:r>
              <a:rPr lang="en-US" altLang="en-US" sz="1400" dirty="0"/>
              <a:t>(</a:t>
            </a:r>
            <a:r>
              <a:rPr lang="en-US" altLang="en-US" sz="1400" i="1" dirty="0"/>
              <a:t>* </a:t>
            </a:r>
            <a:r>
              <a:rPr lang="en-US" altLang="en-US" sz="1400" dirty="0"/>
              <a:t>) </a:t>
            </a:r>
            <a:r>
              <a:rPr lang="en-US" altLang="en-US" sz="1400" b="1" dirty="0"/>
              <a:t>into </a:t>
            </a:r>
            <a:r>
              <a:rPr lang="en-US" altLang="en-US" sz="1400" i="1" dirty="0" err="1"/>
              <a:t>d_count</a:t>
            </a:r>
            <a:br>
              <a:rPr lang="en-US" altLang="en-US" sz="1400" i="1" dirty="0"/>
            </a:br>
            <a:r>
              <a:rPr lang="en-US" altLang="en-US" sz="1400" i="1" dirty="0"/>
              <a:t>                      </a:t>
            </a:r>
            <a:r>
              <a:rPr lang="en-US" altLang="en-US" sz="1400" b="1" dirty="0"/>
              <a:t>from </a:t>
            </a:r>
            <a:r>
              <a:rPr lang="en-US" altLang="en-US" sz="1400" i="1" dirty="0"/>
              <a:t>instructor</a:t>
            </a:r>
            <a:br>
              <a:rPr lang="en-US" altLang="en-US" sz="1400" i="1" dirty="0"/>
            </a:br>
            <a:r>
              <a:rPr lang="en-US" altLang="en-US" sz="1400" i="1" dirty="0"/>
              <a:t>                      </a:t>
            </a:r>
            <a:r>
              <a:rPr lang="en-US" altLang="en-US" sz="1400" b="1" dirty="0"/>
              <a:t>where </a:t>
            </a:r>
            <a:r>
              <a:rPr lang="en-US" altLang="en-US" sz="1400" i="1" dirty="0" err="1"/>
              <a:t>instructor.dept_name</a:t>
            </a:r>
            <a:r>
              <a:rPr lang="en-US" altLang="en-US" sz="1400" i="1" dirty="0"/>
              <a:t> = </a:t>
            </a:r>
            <a:r>
              <a:rPr lang="en-US" altLang="en-US" sz="1400" i="1" dirty="0" err="1"/>
              <a:t>dept_name</a:t>
            </a:r>
            <a:br>
              <a:rPr lang="en-US" altLang="en-US" sz="1400" i="1" dirty="0"/>
            </a:br>
            <a:r>
              <a:rPr lang="en-US" altLang="en-US" sz="1400" i="1" dirty="0"/>
              <a:t>               </a:t>
            </a:r>
            <a:r>
              <a:rPr lang="en-US" altLang="en-US" sz="1400" b="1" dirty="0"/>
              <a:t>return </a:t>
            </a:r>
            <a:r>
              <a:rPr lang="en-US" altLang="en-US" sz="1400" i="1" dirty="0" err="1"/>
              <a:t>d_count</a:t>
            </a:r>
            <a:r>
              <a:rPr lang="en-US" altLang="en-US" sz="1400" i="1" dirty="0"/>
              <a:t>;</a:t>
            </a:r>
            <a:br>
              <a:rPr lang="en-US" altLang="en-US" sz="1400" i="1" dirty="0"/>
            </a:br>
            <a:r>
              <a:rPr lang="en-US" altLang="en-US" sz="1400" i="1" dirty="0"/>
              <a:t>       </a:t>
            </a:r>
            <a:r>
              <a:rPr lang="en-US" altLang="en-US" sz="1400" b="1" dirty="0"/>
              <a:t>end</a:t>
            </a:r>
            <a:endParaRPr lang="en-US" altLang="en-US" sz="1400" b="1" dirty="0"/>
          </a:p>
          <a:p>
            <a:pPr>
              <a:tabLst>
                <a:tab pos="803275" algn="l"/>
                <a:tab pos="1369695" algn="l"/>
                <a:tab pos="2112645" algn="l"/>
              </a:tabLst>
            </a:pPr>
            <a:r>
              <a:rPr lang="en-US" altLang="en-US" sz="1400" dirty="0"/>
              <a:t>The function </a:t>
            </a:r>
            <a:r>
              <a:rPr lang="en-US" altLang="en-US" sz="1400" i="1" dirty="0" err="1"/>
              <a:t>dept_</a:t>
            </a:r>
            <a:r>
              <a:rPr lang="en-US" altLang="en-US" sz="1400" dirty="0" err="1"/>
              <a:t>count</a:t>
            </a:r>
            <a:r>
              <a:rPr lang="en-US" altLang="en-US" sz="1400" dirty="0"/>
              <a:t> can be used to find the department names and budget of all departments with more that 12 instructors.</a:t>
            </a:r>
            <a:endParaRPr lang="en-US" altLang="en-US" sz="1400" dirty="0"/>
          </a:p>
          <a:p>
            <a:pPr>
              <a:buFont typeface="Monotype Sorts" pitchFamily="-65" charset="2"/>
              <a:buNone/>
              <a:tabLst>
                <a:tab pos="803275" algn="l"/>
                <a:tab pos="1369695" algn="l"/>
                <a:tab pos="2112645" algn="l"/>
              </a:tabLst>
            </a:pPr>
            <a:r>
              <a:rPr lang="en-US" altLang="en-US" sz="1400" dirty="0"/>
              <a:t>		</a:t>
            </a:r>
            <a:r>
              <a:rPr lang="en-US" altLang="en-US" sz="1400" b="1" dirty="0"/>
              <a:t>select </a:t>
            </a:r>
            <a:r>
              <a:rPr lang="en-US" altLang="en-US" sz="1400" i="1" dirty="0" err="1"/>
              <a:t>dept_name</a:t>
            </a:r>
            <a:r>
              <a:rPr lang="en-US" altLang="en-US" sz="1400" i="1" dirty="0"/>
              <a:t>, budget</a:t>
            </a:r>
            <a:br>
              <a:rPr lang="en-US" altLang="en-US" sz="1400" i="1" dirty="0"/>
            </a:br>
            <a:r>
              <a:rPr lang="en-US" altLang="en-US" sz="1400" i="1" dirty="0"/>
              <a:t>	</a:t>
            </a:r>
            <a:r>
              <a:rPr lang="en-US" altLang="en-US" sz="1400" b="1" dirty="0"/>
              <a:t>from</a:t>
            </a:r>
            <a:r>
              <a:rPr lang="en-US" altLang="en-US" sz="1400" i="1" dirty="0"/>
              <a:t> department</a:t>
            </a:r>
            <a:br>
              <a:rPr lang="en-US" altLang="en-US" sz="1400" i="1" dirty="0"/>
            </a:br>
            <a:r>
              <a:rPr lang="en-US" altLang="en-US" sz="1400" i="1" dirty="0"/>
              <a:t>	</a:t>
            </a:r>
            <a:r>
              <a:rPr lang="en-US" altLang="en-US" sz="1400" b="1" dirty="0"/>
              <a:t>where </a:t>
            </a:r>
            <a:r>
              <a:rPr lang="en-US" altLang="en-US" sz="1400" i="1" dirty="0" err="1"/>
              <a:t>dept_</a:t>
            </a:r>
            <a:r>
              <a:rPr lang="en-US" altLang="en-US" sz="1400" dirty="0" err="1"/>
              <a:t>count</a:t>
            </a:r>
            <a:r>
              <a:rPr lang="en-US" altLang="en-US" sz="1400" dirty="0"/>
              <a:t> (</a:t>
            </a:r>
            <a:r>
              <a:rPr lang="en-US" altLang="en-US" sz="1400" i="1" dirty="0" err="1"/>
              <a:t>dept_name</a:t>
            </a:r>
            <a:r>
              <a:rPr lang="en-US" altLang="en-US" sz="1400" i="1" dirty="0"/>
              <a:t> </a:t>
            </a:r>
            <a:r>
              <a:rPr lang="en-US" altLang="en-US" sz="1400" dirty="0"/>
              <a:t>) &gt; 12</a:t>
            </a:r>
            <a:endParaRPr lang="en-US" altLang="en-US" sz="1400" i="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Table Functions</a:t>
            </a:r>
            <a:endParaRPr lang="en-US" altLang="en-US">
              <a:effectLst>
                <a:outerShdw blurRad="38100" dist="38100" dir="2700000" algn="tl">
                  <a:srgbClr val="C0C0C0"/>
                </a:outerShdw>
              </a:effectLst>
            </a:endParaRPr>
          </a:p>
        </p:txBody>
      </p:sp>
      <p:sp>
        <p:nvSpPr>
          <p:cNvPr id="38915" name="Rectangle 3"/>
          <p:cNvSpPr>
            <a:spLocks noGrp="1" noChangeArrowheads="1"/>
          </p:cNvSpPr>
          <p:nvPr>
            <p:ph type="body" idx="1"/>
          </p:nvPr>
        </p:nvSpPr>
        <p:spPr>
          <a:xfrm>
            <a:off x="512445" y="847725"/>
            <a:ext cx="8131175" cy="4131310"/>
          </a:xfrm>
        </p:spPr>
        <p:txBody>
          <a:bodyPr/>
          <a:lstStyle/>
          <a:p>
            <a:pPr>
              <a:defRPr/>
            </a:pPr>
            <a:r>
              <a:rPr lang="en-US" altLang="en-US" sz="1200" dirty="0"/>
              <a:t>The SQL standard supports functions that can return tables as results; such functions are called </a:t>
            </a:r>
            <a:r>
              <a:rPr lang="en-US" altLang="en-US" sz="1200" b="1" dirty="0">
                <a:solidFill>
                  <a:srgbClr val="002060"/>
                </a:solidFill>
              </a:rPr>
              <a:t>table functions</a:t>
            </a:r>
            <a:endParaRPr lang="en-US" altLang="en-US" sz="1200" b="1" dirty="0">
              <a:solidFill>
                <a:srgbClr val="002060"/>
              </a:solidFill>
            </a:endParaRPr>
          </a:p>
          <a:p>
            <a:pPr>
              <a:defRPr/>
            </a:pPr>
            <a:r>
              <a:rPr lang="en-US" altLang="en-US" sz="1200" dirty="0"/>
              <a:t>Example: Return all instructors in a given department</a:t>
            </a:r>
            <a:endParaRPr lang="en-US" altLang="en-US" sz="1200" dirty="0"/>
          </a:p>
          <a:p>
            <a:pPr>
              <a:buFont typeface="Monotype Sorts" pitchFamily="-65" charset="2"/>
              <a:buNone/>
              <a:defRPr/>
            </a:pPr>
            <a:r>
              <a:rPr lang="en-US" altLang="en-US" sz="1200" dirty="0"/>
              <a:t>	</a:t>
            </a:r>
            <a:r>
              <a:rPr lang="en-US" altLang="en-US" sz="1200" b="1" dirty="0"/>
              <a:t>create</a:t>
            </a:r>
            <a:r>
              <a:rPr lang="en-US" altLang="en-US" sz="1200" dirty="0"/>
              <a:t> </a:t>
            </a:r>
            <a:r>
              <a:rPr lang="en-US" altLang="en-US" sz="1200" b="1" dirty="0"/>
              <a:t>function</a:t>
            </a:r>
            <a:r>
              <a:rPr lang="en-US" altLang="en-US" sz="1200" dirty="0"/>
              <a:t> </a:t>
            </a:r>
            <a:r>
              <a:rPr lang="en-US" altLang="en-US" sz="1200" i="1" dirty="0" err="1"/>
              <a:t>instructor_of</a:t>
            </a:r>
            <a:r>
              <a:rPr lang="en-US" altLang="en-US" sz="1200" dirty="0"/>
              <a:t> (</a:t>
            </a:r>
            <a:r>
              <a:rPr lang="en-US" altLang="en-US" sz="1200" i="1" dirty="0"/>
              <a:t>dept_name</a:t>
            </a:r>
            <a:r>
              <a:rPr lang="en-US" altLang="en-US" sz="1200" dirty="0"/>
              <a:t> </a:t>
            </a:r>
            <a:r>
              <a:rPr lang="en-US" altLang="en-US" sz="1200" b="1" dirty="0"/>
              <a:t>char</a:t>
            </a:r>
            <a:r>
              <a:rPr lang="en-US" altLang="en-US" sz="1200" dirty="0"/>
              <a:t>(20))</a:t>
            </a:r>
            <a:endParaRPr lang="en-US" altLang="en-US" sz="1200" dirty="0"/>
          </a:p>
          <a:p>
            <a:pPr>
              <a:buFont typeface="Monotype Sorts" pitchFamily="-65" charset="2"/>
              <a:buNone/>
              <a:defRPr/>
            </a:pPr>
            <a:r>
              <a:rPr lang="en-US" altLang="en-US" sz="1200" dirty="0"/>
              <a:t>		</a:t>
            </a:r>
            <a:r>
              <a:rPr lang="en-US" altLang="en-US" sz="1200" b="1" dirty="0"/>
              <a:t>returns</a:t>
            </a:r>
            <a:r>
              <a:rPr lang="en-US" altLang="en-US" sz="1200" dirty="0"/>
              <a:t> </a:t>
            </a:r>
            <a:r>
              <a:rPr lang="en-US" altLang="en-US" sz="1200" b="1" dirty="0"/>
              <a:t>table  </a:t>
            </a:r>
            <a:r>
              <a:rPr lang="en-US" altLang="en-US" sz="1200" dirty="0"/>
              <a:t>(</a:t>
            </a:r>
            <a:r>
              <a:rPr lang="en-US" altLang="en-US" sz="1200" b="1" dirty="0"/>
              <a:t> </a:t>
            </a:r>
            <a:r>
              <a:rPr lang="en-US" altLang="en-US" sz="1200" dirty="0"/>
              <a:t> </a:t>
            </a:r>
            <a:endParaRPr lang="en-US" altLang="en-US" sz="1200" dirty="0"/>
          </a:p>
          <a:p>
            <a:pPr>
              <a:buFont typeface="Monotype Sorts" pitchFamily="-65" charset="2"/>
              <a:buNone/>
              <a:defRPr/>
            </a:pPr>
            <a:r>
              <a:rPr lang="en-US" altLang="en-US" sz="1200" dirty="0"/>
              <a:t>                        </a:t>
            </a:r>
            <a:r>
              <a:rPr lang="en-US" altLang="en-US" sz="1200" i="1" dirty="0"/>
              <a:t>ID </a:t>
            </a:r>
            <a:r>
              <a:rPr lang="en-US" altLang="en-US" sz="1200" b="1" dirty="0" err="1"/>
              <a:t>varchar</a:t>
            </a:r>
            <a:r>
              <a:rPr lang="en-US" altLang="en-US" sz="1200" dirty="0"/>
              <a:t>(5),</a:t>
            </a:r>
            <a:br>
              <a:rPr lang="en-US" altLang="en-US" sz="1200" dirty="0"/>
            </a:br>
            <a:r>
              <a:rPr lang="en-US" altLang="en-US" sz="1200" dirty="0"/>
              <a:t>	          </a:t>
            </a:r>
            <a:r>
              <a:rPr lang="en-US" altLang="en-US" sz="1200" i="1" dirty="0"/>
              <a:t>name</a:t>
            </a:r>
            <a:r>
              <a:rPr lang="en-US" altLang="en-US" sz="1200" dirty="0"/>
              <a:t> </a:t>
            </a:r>
            <a:r>
              <a:rPr lang="en-US" altLang="en-US" sz="1200" b="1" dirty="0" err="1"/>
              <a:t>varchar</a:t>
            </a:r>
            <a:r>
              <a:rPr lang="en-US" altLang="en-US" sz="1200" dirty="0"/>
              <a:t>(20),</a:t>
            </a:r>
            <a:br>
              <a:rPr lang="en-US" altLang="en-US" sz="1200" dirty="0"/>
            </a:br>
            <a:r>
              <a:rPr lang="en-US" altLang="en-US" sz="1200" dirty="0"/>
              <a:t>                   </a:t>
            </a:r>
            <a:r>
              <a:rPr lang="en-US" altLang="en-US" sz="1200" i="1" dirty="0"/>
              <a:t>dept_name</a:t>
            </a:r>
            <a:r>
              <a:rPr lang="en-US" altLang="en-US" sz="1200" dirty="0"/>
              <a:t> </a:t>
            </a:r>
            <a:r>
              <a:rPr lang="en-US" altLang="en-US" sz="1200" b="1" dirty="0" err="1"/>
              <a:t>varchar</a:t>
            </a:r>
            <a:r>
              <a:rPr lang="en-US" altLang="en-US" sz="1200" dirty="0"/>
              <a:t>(20),</a:t>
            </a:r>
            <a:br>
              <a:rPr lang="en-US" altLang="en-US" sz="1200" dirty="0"/>
            </a:br>
            <a:r>
              <a:rPr lang="en-US" altLang="en-US" sz="1200" dirty="0"/>
              <a:t>	          </a:t>
            </a:r>
            <a:r>
              <a:rPr lang="en-US" altLang="en-US" sz="1200" i="1" dirty="0"/>
              <a:t>salary</a:t>
            </a:r>
            <a:r>
              <a:rPr lang="en-US" altLang="en-US" sz="1200" dirty="0"/>
              <a:t> </a:t>
            </a:r>
            <a:r>
              <a:rPr lang="en-US" altLang="en-US" sz="1200" b="1" dirty="0"/>
              <a:t>numeric</a:t>
            </a:r>
            <a:r>
              <a:rPr lang="en-US" altLang="en-US" sz="1200" dirty="0"/>
              <a:t>(8,2))</a:t>
            </a:r>
            <a:endParaRPr lang="en-US" altLang="en-US" sz="1200" dirty="0"/>
          </a:p>
          <a:p>
            <a:pPr>
              <a:buFont typeface="Monotype Sorts" pitchFamily="-65" charset="2"/>
              <a:buNone/>
              <a:defRPr/>
            </a:pPr>
            <a:r>
              <a:rPr lang="en-US" altLang="en-US" sz="1200" dirty="0"/>
              <a:t>	         </a:t>
            </a:r>
            <a:r>
              <a:rPr lang="en-US" altLang="en-US" sz="1200" b="1" dirty="0"/>
              <a:t>return</a:t>
            </a:r>
            <a:r>
              <a:rPr lang="en-US" altLang="en-US" sz="1200" dirty="0"/>
              <a:t> </a:t>
            </a:r>
            <a:r>
              <a:rPr lang="en-US" altLang="en-US" sz="1200" b="1" dirty="0"/>
              <a:t>table</a:t>
            </a:r>
            <a:br>
              <a:rPr lang="en-US" altLang="en-US" sz="1200" dirty="0"/>
            </a:br>
            <a:r>
              <a:rPr lang="en-US" altLang="en-US" sz="1200" dirty="0"/>
              <a:t>	         (</a:t>
            </a:r>
            <a:r>
              <a:rPr lang="en-US" altLang="en-US" sz="1200" b="1" dirty="0"/>
              <a:t>select</a:t>
            </a:r>
            <a:r>
              <a:rPr lang="en-US" altLang="en-US" sz="1200" dirty="0"/>
              <a:t> </a:t>
            </a:r>
            <a:r>
              <a:rPr lang="en-US" altLang="en-US" sz="1200" i="1" dirty="0"/>
              <a:t>ID, name, dept_name, salary</a:t>
            </a:r>
            <a:br>
              <a:rPr lang="en-US" altLang="en-US" sz="1200" dirty="0"/>
            </a:br>
            <a:r>
              <a:rPr lang="en-US" altLang="en-US" sz="1200" dirty="0"/>
              <a:t>	          </a:t>
            </a:r>
            <a:r>
              <a:rPr lang="en-US" altLang="en-US" sz="1200" b="1" dirty="0"/>
              <a:t>from</a:t>
            </a:r>
            <a:r>
              <a:rPr lang="en-US" altLang="en-US" sz="1200" dirty="0"/>
              <a:t> </a:t>
            </a:r>
            <a:r>
              <a:rPr lang="en-US" altLang="en-US" sz="1200" i="1" dirty="0"/>
              <a:t>instructor</a:t>
            </a:r>
            <a:br>
              <a:rPr lang="en-US" altLang="en-US" sz="1200" i="1" dirty="0"/>
            </a:br>
            <a:r>
              <a:rPr lang="en-US" altLang="en-US" sz="1200" dirty="0"/>
              <a:t>	          </a:t>
            </a:r>
            <a:r>
              <a:rPr lang="en-US" altLang="en-US" sz="1200" b="1" dirty="0"/>
              <a:t>where</a:t>
            </a:r>
            <a:r>
              <a:rPr lang="en-US" altLang="en-US" sz="1200" i="1" dirty="0"/>
              <a:t> </a:t>
            </a:r>
            <a:r>
              <a:rPr lang="en-US" altLang="en-US" sz="1200" i="1" dirty="0" err="1"/>
              <a:t>instructor.dept_name</a:t>
            </a:r>
            <a:r>
              <a:rPr lang="en-US" altLang="en-US" sz="1200" i="1" dirty="0"/>
              <a:t> = </a:t>
            </a:r>
            <a:r>
              <a:rPr lang="en-US" altLang="en-US" sz="1200" i="1" dirty="0" err="1"/>
              <a:t>instructor_of.dept_name</a:t>
            </a:r>
            <a:r>
              <a:rPr lang="en-US" altLang="en-US" sz="1200" dirty="0"/>
              <a:t>)</a:t>
            </a:r>
            <a:endParaRPr lang="en-US" altLang="en-US" sz="1200" dirty="0"/>
          </a:p>
          <a:p>
            <a:pPr>
              <a:defRPr/>
            </a:pPr>
            <a:r>
              <a:rPr lang="en-US" altLang="en-US" sz="1200" dirty="0"/>
              <a:t>Usage</a:t>
            </a:r>
            <a:endParaRPr lang="en-US" altLang="en-US" sz="1200" dirty="0"/>
          </a:p>
          <a:p>
            <a:pPr>
              <a:buFont typeface="Monotype Sorts" pitchFamily="-65" charset="2"/>
              <a:buNone/>
              <a:defRPr/>
            </a:pPr>
            <a:r>
              <a:rPr lang="en-US" altLang="en-US" sz="1200" dirty="0"/>
              <a:t>		</a:t>
            </a:r>
            <a:r>
              <a:rPr lang="en-US" altLang="en-US" sz="1200" b="1" dirty="0"/>
              <a:t>select *</a:t>
            </a:r>
            <a:br>
              <a:rPr lang="en-US" altLang="en-US" sz="1200" b="1" dirty="0"/>
            </a:br>
            <a:r>
              <a:rPr lang="en-US" altLang="en-US" sz="1200" b="1" dirty="0"/>
              <a:t>	from table </a:t>
            </a:r>
            <a:r>
              <a:rPr lang="en-US" altLang="en-US" sz="1200" dirty="0"/>
              <a:t>(</a:t>
            </a:r>
            <a:r>
              <a:rPr lang="en-US" altLang="en-US" sz="1200" i="1" dirty="0" err="1"/>
              <a:t>instructor_of</a:t>
            </a:r>
            <a:r>
              <a:rPr lang="en-US" altLang="en-US" sz="1200" i="1" dirty="0"/>
              <a:t> </a:t>
            </a:r>
            <a:r>
              <a:rPr lang="en-US" altLang="en-US" sz="1200" dirty="0"/>
              <a:t>(</a:t>
            </a:r>
            <a:r>
              <a:rPr lang="en-US" altLang="ja-JP" sz="1200" dirty="0"/>
              <a:t>'Music'))</a:t>
            </a:r>
            <a:endParaRPr lang="en-US" altLang="ja-JP"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SQL Procedures</a:t>
            </a:r>
            <a:endParaRPr lang="en-US" altLang="en-US" sz="24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541020" y="820420"/>
            <a:ext cx="7999095" cy="3677920"/>
          </a:xfrm>
        </p:spPr>
        <p:txBody>
          <a:bodyPr lIns="68580"/>
          <a:lstStyle/>
          <a:p>
            <a:r>
              <a:rPr lang="en-US" altLang="en-US" sz="1400" dirty="0"/>
              <a:t>The </a:t>
            </a:r>
            <a:r>
              <a:rPr lang="en-US" altLang="en-US" sz="1400" i="1" dirty="0" err="1"/>
              <a:t>dept_count</a:t>
            </a:r>
            <a:r>
              <a:rPr lang="en-US" altLang="en-US" sz="1400" i="1" dirty="0"/>
              <a:t> </a:t>
            </a:r>
            <a:r>
              <a:rPr lang="en-US" altLang="en-US" sz="1400" dirty="0"/>
              <a:t>function could instead be written as procedure:</a:t>
            </a:r>
            <a:endParaRPr lang="en-US" altLang="en-US" sz="1400" dirty="0"/>
          </a:p>
          <a:p>
            <a:pPr>
              <a:buFont typeface="Monotype Sorts" pitchFamily="-65" charset="2"/>
              <a:buNone/>
            </a:pPr>
            <a:r>
              <a:rPr lang="en-US" altLang="en-US" sz="1400" b="1" dirty="0"/>
              <a:t>	create procedure </a:t>
            </a:r>
            <a:r>
              <a:rPr lang="en-US" altLang="en-US" sz="1400" i="1" dirty="0" err="1"/>
              <a:t>dept_count_proc</a:t>
            </a:r>
            <a:r>
              <a:rPr lang="en-US" altLang="en-US" sz="1400" i="1" dirty="0"/>
              <a:t> </a:t>
            </a:r>
            <a:r>
              <a:rPr lang="en-US" altLang="en-US" sz="1400" dirty="0"/>
              <a:t>(</a:t>
            </a:r>
            <a:r>
              <a:rPr lang="en-US" altLang="en-US" sz="1400" b="1" dirty="0"/>
              <a:t>in </a:t>
            </a:r>
            <a:r>
              <a:rPr lang="en-US" altLang="en-US" sz="1400" i="1" dirty="0"/>
              <a:t>dept_name </a:t>
            </a:r>
            <a:r>
              <a:rPr lang="en-US" altLang="en-US" sz="1400" b="1" dirty="0" err="1"/>
              <a:t>varchar</a:t>
            </a:r>
            <a:r>
              <a:rPr lang="en-US" altLang="en-US" sz="1400" dirty="0"/>
              <a:t>(20), </a:t>
            </a:r>
            <a:br>
              <a:rPr lang="en-US" altLang="en-US" sz="1400" dirty="0"/>
            </a:br>
            <a:r>
              <a:rPr lang="en-US" altLang="en-US" sz="1400" dirty="0"/>
              <a:t>                                                           </a:t>
            </a:r>
            <a:r>
              <a:rPr lang="en-US" altLang="en-US" sz="1400" b="1" dirty="0"/>
              <a:t>out </a:t>
            </a:r>
            <a:r>
              <a:rPr lang="en-US" altLang="en-US" sz="1400" i="1" dirty="0" err="1"/>
              <a:t>d_count</a:t>
            </a:r>
            <a:r>
              <a:rPr lang="en-US" altLang="en-US" sz="1400" i="1" dirty="0"/>
              <a:t> </a:t>
            </a:r>
            <a:r>
              <a:rPr lang="en-US" altLang="en-US" sz="1400" b="1" dirty="0"/>
              <a:t>integer)</a:t>
            </a:r>
            <a:br>
              <a:rPr lang="en-US" altLang="en-US" sz="1400" b="1" dirty="0"/>
            </a:br>
            <a:r>
              <a:rPr lang="en-US" altLang="en-US" sz="1400" b="1" dirty="0"/>
              <a:t>   begin</a:t>
            </a:r>
            <a:endParaRPr lang="en-US" altLang="en-US" sz="1400" b="1" dirty="0"/>
          </a:p>
          <a:p>
            <a:pPr>
              <a:buFont typeface="Monotype Sorts" pitchFamily="-65" charset="2"/>
              <a:buNone/>
            </a:pPr>
            <a:r>
              <a:rPr lang="en-US" altLang="en-US" sz="1400" b="1" dirty="0"/>
              <a:t>	       select count</a:t>
            </a:r>
            <a:r>
              <a:rPr lang="en-US" altLang="en-US" sz="1400" dirty="0"/>
              <a:t>(</a:t>
            </a:r>
            <a:r>
              <a:rPr lang="en-US" altLang="en-US" sz="1400" i="1" dirty="0"/>
              <a:t>*</a:t>
            </a:r>
            <a:r>
              <a:rPr lang="en-US" altLang="en-US" sz="1400" dirty="0"/>
              <a:t>) </a:t>
            </a:r>
            <a:r>
              <a:rPr lang="en-US" altLang="en-US" sz="1400" b="1" dirty="0"/>
              <a:t>into </a:t>
            </a:r>
            <a:r>
              <a:rPr lang="en-US" altLang="en-US" sz="1400" i="1" dirty="0" err="1"/>
              <a:t>d_count</a:t>
            </a:r>
            <a:br>
              <a:rPr lang="en-US" altLang="en-US" sz="1400" i="1" dirty="0"/>
            </a:br>
            <a:r>
              <a:rPr lang="en-US" altLang="en-US" sz="1400" i="1" dirty="0"/>
              <a:t>       </a:t>
            </a:r>
            <a:r>
              <a:rPr lang="en-US" altLang="en-US" sz="1400" b="1" dirty="0"/>
              <a:t>from </a:t>
            </a:r>
            <a:r>
              <a:rPr lang="en-US" altLang="en-US" sz="1400" i="1" dirty="0"/>
              <a:t>instructor</a:t>
            </a:r>
            <a:br>
              <a:rPr lang="en-US" altLang="en-US" sz="1400" i="1" dirty="0"/>
            </a:br>
            <a:r>
              <a:rPr lang="en-US" altLang="en-US" sz="1400" i="1" dirty="0"/>
              <a:t>       </a:t>
            </a:r>
            <a:r>
              <a:rPr lang="en-US" altLang="en-US" sz="1400" b="1" dirty="0"/>
              <a:t>where </a:t>
            </a:r>
            <a:r>
              <a:rPr lang="en-US" altLang="en-US" sz="1400" i="1" dirty="0" err="1"/>
              <a:t>instructor.dept_name</a:t>
            </a:r>
            <a:r>
              <a:rPr lang="en-US" altLang="en-US" sz="1400" i="1" dirty="0"/>
              <a:t> = </a:t>
            </a:r>
            <a:r>
              <a:rPr lang="en-US" altLang="en-US" sz="1400" i="1" dirty="0" err="1"/>
              <a:t>dept_count_proc.dept_name</a:t>
            </a:r>
            <a:endParaRPr lang="en-US" altLang="en-US" sz="1400" i="1" dirty="0"/>
          </a:p>
          <a:p>
            <a:pPr>
              <a:buFont typeface="Monotype Sorts" pitchFamily="-65" charset="2"/>
              <a:buNone/>
            </a:pPr>
            <a:r>
              <a:rPr lang="en-US" altLang="en-US" sz="1400" i="1" dirty="0"/>
              <a:t>        </a:t>
            </a:r>
            <a:r>
              <a:rPr lang="en-US" altLang="en-US" sz="1400" b="1" dirty="0"/>
              <a:t>end</a:t>
            </a:r>
            <a:endParaRPr lang="en-US" altLang="en-US" sz="1400" dirty="0"/>
          </a:p>
          <a:p>
            <a:r>
              <a:rPr lang="en-US" altLang="en-US" sz="1400" dirty="0"/>
              <a:t>The keywords </a:t>
            </a:r>
            <a:r>
              <a:rPr lang="en-US" altLang="en-US" sz="1400" b="1" dirty="0"/>
              <a:t>in</a:t>
            </a:r>
            <a:r>
              <a:rPr lang="en-US" altLang="en-US" sz="1400" dirty="0"/>
              <a:t> and  </a:t>
            </a:r>
            <a:r>
              <a:rPr lang="en-US" altLang="en-US" sz="1400" b="1" dirty="0"/>
              <a:t>out  </a:t>
            </a:r>
            <a:r>
              <a:rPr lang="en-US" altLang="en-US" sz="1400" dirty="0"/>
              <a:t>are parameters that are expected to have values assigned to them and parameters whose values are set in the procedure in order to return results.</a:t>
            </a:r>
            <a:endParaRPr lang="en-US" altLang="en-US" sz="1400" dirty="0"/>
          </a:p>
          <a:p>
            <a:r>
              <a:rPr lang="en-US" altLang="en-US" sz="1400" dirty="0"/>
              <a:t>Procedures can be invoked either from an SQL procedure or from embedded SQL, using the </a:t>
            </a:r>
            <a:r>
              <a:rPr lang="en-US" altLang="en-US" sz="1400" b="1" dirty="0"/>
              <a:t>call</a:t>
            </a:r>
            <a:r>
              <a:rPr lang="en-US" altLang="en-US" sz="1400" dirty="0"/>
              <a:t> statement.</a:t>
            </a:r>
            <a:endParaRPr lang="en-US" altLang="en-US" sz="1400" dirty="0"/>
          </a:p>
          <a:p>
            <a:pPr>
              <a:buFont typeface="Monotype Sorts" pitchFamily="-65" charset="2"/>
              <a:buNone/>
            </a:pPr>
            <a:r>
              <a:rPr lang="en-US" altLang="en-US" sz="1400" b="1" dirty="0"/>
              <a:t>		declare </a:t>
            </a:r>
            <a:r>
              <a:rPr lang="en-US" altLang="en-US" sz="1400" i="1" dirty="0" err="1"/>
              <a:t>d_count</a:t>
            </a:r>
            <a:r>
              <a:rPr lang="en-US" altLang="en-US" sz="1400" i="1" dirty="0"/>
              <a:t> </a:t>
            </a:r>
            <a:r>
              <a:rPr lang="en-US" altLang="en-US" sz="1400" b="1" dirty="0"/>
              <a:t>integer</a:t>
            </a:r>
            <a:r>
              <a:rPr lang="en-US" altLang="en-US" sz="1400" dirty="0"/>
              <a:t>;</a:t>
            </a:r>
            <a:br>
              <a:rPr lang="en-US" altLang="en-US" sz="1400" dirty="0"/>
            </a:br>
            <a:r>
              <a:rPr lang="en-US" altLang="en-US" sz="1400" dirty="0"/>
              <a:t>	</a:t>
            </a:r>
            <a:r>
              <a:rPr lang="en-US" altLang="en-US" sz="1400" b="1" dirty="0"/>
              <a:t>call </a:t>
            </a:r>
            <a:r>
              <a:rPr lang="en-US" altLang="en-US" sz="1400" i="1" dirty="0" err="1"/>
              <a:t>dept_count_proc</a:t>
            </a:r>
            <a:r>
              <a:rPr lang="en-US" altLang="en-US" sz="1400" dirty="0"/>
              <a:t>( </a:t>
            </a:r>
            <a:r>
              <a:rPr lang="en-US" altLang="ja-JP" sz="1400" dirty="0"/>
              <a:t>'Physics', </a:t>
            </a:r>
            <a:r>
              <a:rPr lang="en-US" altLang="ja-JP" sz="1400" i="1" dirty="0" err="1"/>
              <a:t>d_count</a:t>
            </a:r>
            <a:r>
              <a:rPr lang="en-US" altLang="ja-JP" sz="1400" dirty="0"/>
              <a:t>);</a:t>
            </a:r>
            <a:endParaRPr lang="en-US" altLang="ja-JP" sz="1400" dirty="0"/>
          </a:p>
          <a:p>
            <a:pPr>
              <a:buFont typeface="Monotype Sorts" pitchFamily="-65" charset="2"/>
              <a:buNone/>
            </a:pPr>
            <a:r>
              <a:rPr lang="en-US" altLang="en-US" sz="1400" dirty="0"/>
              <a:t>	</a:t>
            </a:r>
            <a:endParaRPr lang="en-US" altLang="en-US" sz="1400" dirty="0"/>
          </a:p>
          <a:p>
            <a:pPr indent="-365760"/>
            <a:endParaRPr lang="en-US" altLang="en-US" sz="1400" dirty="0"/>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SQL Procedures (Cont.)</a:t>
            </a:r>
            <a:endParaRPr lang="en-US" altLang="en-US" sz="24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500380" y="820420"/>
            <a:ext cx="7894320" cy="1383665"/>
          </a:xfrm>
        </p:spPr>
        <p:txBody>
          <a:bodyPr lIns="68580"/>
          <a:lstStyle/>
          <a:p>
            <a:r>
              <a:rPr lang="en-US" altLang="en-US" dirty="0"/>
              <a:t>Procedures and functions can be invoked also from dynamic SQL</a:t>
            </a:r>
            <a:endParaRPr lang="en-US" altLang="en-US" dirty="0"/>
          </a:p>
          <a:p>
            <a:r>
              <a:rPr lang="en-US" altLang="en-US" dirty="0"/>
              <a:t>SQL allows more than one procedure of the so long as the number of arguments of the procedures with the same name is different.</a:t>
            </a:r>
            <a:endParaRPr lang="en-US" altLang="en-US" dirty="0"/>
          </a:p>
          <a:p>
            <a:r>
              <a:rPr lang="en-US" altLang="en-US" dirty="0"/>
              <a:t>The name, along with the number of arguments, is used to identify the procedure. </a:t>
            </a:r>
            <a:endParaRPr lang="en-US" altLang="en-US" dirty="0"/>
          </a:p>
          <a:p>
            <a:pPr indent="-365760"/>
            <a:endParaRPr lang="en-US" altLang="en-US" dirty="0"/>
          </a:p>
        </p:txBody>
      </p:sp>
      <p:grpSp>
        <p:nvGrpSpPr>
          <p:cNvPr id="4" name="组合 3"/>
          <p:cNvGrpSpPr/>
          <p:nvPr/>
        </p:nvGrpSpPr>
        <p:grpSpPr>
          <a:xfrm>
            <a:off x="4086225" y="3147695"/>
            <a:ext cx="723265" cy="955040"/>
            <a:chOff x="737" y="4617"/>
            <a:chExt cx="1139" cy="1504"/>
          </a:xfrm>
        </p:grpSpPr>
        <p:pic>
          <p:nvPicPr>
            <p:cNvPr id="3" name="Picture 101"/>
            <p:cNvPicPr/>
            <p:nvPr/>
          </p:nvPicPr>
          <p:blipFill>
            <a:blip r:embed="rId1"/>
            <a:stretch>
              <a:fillRect/>
            </a:stretch>
          </p:blipFill>
          <p:spPr>
            <a:xfrm>
              <a:off x="737" y="4617"/>
              <a:ext cx="1139" cy="1139"/>
            </a:xfrm>
            <a:prstGeom prst="rect">
              <a:avLst/>
            </a:prstGeom>
            <a:noFill/>
            <a:ln w="9525">
              <a:noFill/>
            </a:ln>
          </p:spPr>
        </p:pic>
        <p:sp>
          <p:nvSpPr>
            <p:cNvPr id="5" name="文本框 4"/>
            <p:cNvSpPr txBox="1"/>
            <p:nvPr/>
          </p:nvSpPr>
          <p:spPr>
            <a:xfrm>
              <a:off x="1077" y="5638"/>
              <a:ext cx="457" cy="483"/>
            </a:xfrm>
            <a:prstGeom prst="rect">
              <a:avLst/>
            </a:prstGeom>
            <a:noFill/>
          </p:spPr>
          <p:txBody>
            <a:bodyPr wrap="square" rtlCol="0">
              <a:spAutoFit/>
            </a:bodyPr>
            <a:p>
              <a:r>
                <a:rPr lang="en-US" altLang="zh-CN" sz="1400"/>
                <a:t>2</a:t>
              </a:r>
              <a:endParaRPr lang="en-US" altLang="zh-CN" sz="1400"/>
            </a:p>
          </p:txBody>
        </p:sp>
      </p:gr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sz="1800" dirty="0">
                <a:effectLst>
                  <a:outerShdw blurRad="38100" dist="38100" dir="2700000" algn="tl">
                    <a:srgbClr val="C0C0C0"/>
                  </a:outerShdw>
                </a:effectLst>
              </a:rPr>
              <a:t>Language Constructs for Procedures &amp; Functions</a:t>
            </a:r>
            <a:endParaRPr lang="en-US" altLang="en-US" sz="18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499745" y="820420"/>
            <a:ext cx="7978775" cy="3806190"/>
          </a:xfrm>
        </p:spPr>
        <p:txBody>
          <a:bodyPr lIns="68580"/>
          <a:lstStyle/>
          <a:p>
            <a:pPr>
              <a:defRPr/>
            </a:pPr>
            <a:r>
              <a:rPr lang="en-US" altLang="en-US" sz="1200" dirty="0"/>
              <a:t>SQL supports constructs that gives it almost all the power of a general-purpose programming language.</a:t>
            </a:r>
            <a:endParaRPr lang="en-US" altLang="en-US" sz="1200" dirty="0"/>
          </a:p>
          <a:p>
            <a:pPr lvl="1">
              <a:defRPr/>
            </a:pPr>
            <a:r>
              <a:rPr lang="en-US" altLang="en-US" sz="1200" dirty="0">
                <a:ea typeface="MS PGothic" panose="020B0600070205080204" pitchFamily="34" charset="-128"/>
              </a:rPr>
              <a:t>Warning: most database systems implement their own variant of the standard syntax below.</a:t>
            </a:r>
            <a:endParaRPr lang="en-US" altLang="en-US" sz="1200" dirty="0">
              <a:ea typeface="MS PGothic" panose="020B0600070205080204" pitchFamily="34" charset="-128"/>
            </a:endParaRPr>
          </a:p>
          <a:p>
            <a:pPr>
              <a:defRPr/>
            </a:pPr>
            <a:r>
              <a:rPr lang="en-US" altLang="en-US" sz="1200" dirty="0"/>
              <a:t>Compound statement: </a:t>
            </a:r>
            <a:r>
              <a:rPr lang="en-US" altLang="en-US" sz="1200" b="1" dirty="0"/>
              <a:t>begin</a:t>
            </a:r>
            <a:r>
              <a:rPr lang="en-US" altLang="en-US" sz="1200" dirty="0"/>
              <a:t> … </a:t>
            </a:r>
            <a:r>
              <a:rPr lang="en-US" altLang="en-US" sz="1200" b="1" dirty="0"/>
              <a:t>end,</a:t>
            </a:r>
            <a:r>
              <a:rPr lang="en-US" altLang="en-US" sz="1200" dirty="0"/>
              <a:t> </a:t>
            </a:r>
            <a:endParaRPr lang="en-US" altLang="en-US" sz="1200" dirty="0"/>
          </a:p>
          <a:p>
            <a:pPr lvl="1">
              <a:defRPr/>
            </a:pPr>
            <a:r>
              <a:rPr lang="en-US" altLang="en-US" sz="1200" dirty="0">
                <a:ea typeface="MS PGothic" panose="020B0600070205080204" pitchFamily="34" charset="-128"/>
              </a:rPr>
              <a:t>May contain multiple SQL statements between </a:t>
            </a:r>
            <a:r>
              <a:rPr lang="en-US" altLang="en-US" sz="1200" b="1" dirty="0">
                <a:ea typeface="MS PGothic" panose="020B0600070205080204" pitchFamily="34" charset="-128"/>
              </a:rPr>
              <a:t>begin</a:t>
            </a:r>
            <a:r>
              <a:rPr lang="en-US" altLang="en-US" sz="1200" dirty="0">
                <a:ea typeface="MS PGothic" panose="020B0600070205080204" pitchFamily="34" charset="-128"/>
              </a:rPr>
              <a:t> and </a:t>
            </a:r>
            <a:r>
              <a:rPr lang="en-US" altLang="en-US" sz="1200" b="1" dirty="0">
                <a:ea typeface="MS PGothic" panose="020B0600070205080204" pitchFamily="34" charset="-128"/>
              </a:rPr>
              <a:t>end</a:t>
            </a:r>
            <a:r>
              <a:rPr lang="en-US" altLang="en-US" sz="1200" dirty="0">
                <a:ea typeface="MS PGothic" panose="020B0600070205080204" pitchFamily="34" charset="-128"/>
              </a:rPr>
              <a:t>.</a:t>
            </a:r>
            <a:endParaRPr lang="en-US" altLang="en-US" sz="1200" dirty="0">
              <a:ea typeface="MS PGothic" panose="020B0600070205080204" pitchFamily="34" charset="-128"/>
            </a:endParaRPr>
          </a:p>
          <a:p>
            <a:pPr lvl="1">
              <a:defRPr/>
            </a:pPr>
            <a:r>
              <a:rPr lang="en-US" altLang="en-US" sz="1200" dirty="0">
                <a:ea typeface="MS PGothic" panose="020B0600070205080204" pitchFamily="34" charset="-128"/>
              </a:rPr>
              <a:t>Local variables can be declared within a compound statements</a:t>
            </a:r>
            <a:endParaRPr lang="en-US" altLang="en-US" sz="1200" dirty="0">
              <a:ea typeface="MS PGothic" panose="020B0600070205080204" pitchFamily="34" charset="-128"/>
            </a:endParaRPr>
          </a:p>
          <a:p>
            <a:pPr>
              <a:defRPr/>
            </a:pPr>
            <a:r>
              <a:rPr lang="en-US" altLang="en-US" sz="1200" dirty="0"/>
              <a:t>While and repeat statements:</a:t>
            </a:r>
            <a:endParaRPr lang="en-US" altLang="en-US" sz="1200" dirty="0"/>
          </a:p>
          <a:p>
            <a:pPr lvl="1">
              <a:defRPr/>
            </a:pPr>
            <a:r>
              <a:rPr lang="en-US" altLang="en-US" sz="1200" dirty="0">
                <a:ea typeface="MS PGothic" panose="020B0600070205080204" pitchFamily="34" charset="-128"/>
              </a:rPr>
              <a:t>  </a:t>
            </a:r>
            <a:r>
              <a:rPr lang="en-US" altLang="en-US" sz="1200" b="1" dirty="0">
                <a:ea typeface="MS PGothic" panose="020B0600070205080204" pitchFamily="34" charset="-128"/>
              </a:rPr>
              <a:t>while</a:t>
            </a:r>
            <a:r>
              <a:rPr lang="en-US" altLang="en-US" sz="1200" dirty="0">
                <a:ea typeface="MS PGothic" panose="020B0600070205080204" pitchFamily="34" charset="-128"/>
              </a:rPr>
              <a:t> </a:t>
            </a:r>
            <a:r>
              <a:rPr lang="en-US" altLang="en-US" sz="1200" dirty="0" err="1">
                <a:ea typeface="MS PGothic" panose="020B0600070205080204" pitchFamily="34" charset="-128"/>
              </a:rPr>
              <a:t>boolean</a:t>
            </a:r>
            <a:r>
              <a:rPr lang="en-US" altLang="en-US" sz="1200" dirty="0">
                <a:ea typeface="MS PGothic" panose="020B0600070205080204" pitchFamily="34" charset="-128"/>
              </a:rPr>
              <a:t> expression  </a:t>
            </a:r>
            <a:r>
              <a:rPr lang="en-US" altLang="en-US" sz="1200" b="1" dirty="0">
                <a:ea typeface="MS PGothic" panose="020B0600070205080204" pitchFamily="34" charset="-128"/>
              </a:rPr>
              <a:t>do</a:t>
            </a:r>
            <a:endParaRPr lang="en-US" altLang="en-US" sz="1200" b="1" dirty="0">
              <a:ea typeface="MS PGothic" panose="020B0600070205080204" pitchFamily="34" charset="-128"/>
            </a:endParaRPr>
          </a:p>
          <a:p>
            <a:pPr lvl="2">
              <a:lnSpc>
                <a:spcPct val="70000"/>
              </a:lnSpc>
              <a:buFont typeface="Webdings" panose="05030102010509060703" pitchFamily="18" charset="2"/>
              <a:buNone/>
              <a:defRPr/>
            </a:pPr>
            <a:r>
              <a:rPr lang="en-US" altLang="en-US" sz="1200" dirty="0">
                <a:ea typeface="MS PGothic" panose="020B0600070205080204" pitchFamily="34" charset="-128"/>
              </a:rPr>
              <a:t>           sequence of statements ;</a:t>
            </a:r>
            <a:endParaRPr lang="en-US" altLang="en-US" sz="1200" dirty="0">
              <a:ea typeface="MS PGothic" panose="020B0600070205080204" pitchFamily="34" charset="-128"/>
            </a:endParaRPr>
          </a:p>
          <a:p>
            <a:pPr lvl="1">
              <a:lnSpc>
                <a:spcPct val="70000"/>
              </a:lnSpc>
              <a:buFont typeface="Monotype Sorts" pitchFamily="-65" charset="2"/>
              <a:buNone/>
              <a:defRPr/>
            </a:pPr>
            <a:r>
              <a:rPr lang="en-US" altLang="en-US" sz="1200" dirty="0">
                <a:ea typeface="MS PGothic" panose="020B0600070205080204" pitchFamily="34" charset="-128"/>
              </a:rPr>
              <a:t>		</a:t>
            </a:r>
            <a:r>
              <a:rPr lang="en-US" altLang="en-US" sz="1200" b="1" dirty="0">
                <a:ea typeface="MS PGothic" panose="020B0600070205080204" pitchFamily="34" charset="-128"/>
              </a:rPr>
              <a:t>end while</a:t>
            </a:r>
            <a:endParaRPr lang="en-US" altLang="en-US" sz="1200" b="1" dirty="0">
              <a:ea typeface="MS PGothic" panose="020B0600070205080204" pitchFamily="34" charset="-128"/>
            </a:endParaRPr>
          </a:p>
          <a:p>
            <a:pPr lvl="1">
              <a:lnSpc>
                <a:spcPct val="70000"/>
              </a:lnSpc>
              <a:buFont typeface="Monotype Sorts" pitchFamily="-65" charset="2"/>
              <a:buNone/>
              <a:defRPr/>
            </a:pPr>
            <a:r>
              <a:rPr lang="en-US" altLang="en-US" sz="200" dirty="0">
                <a:ea typeface="MS PGothic" panose="020B0600070205080204" pitchFamily="34" charset="-128"/>
              </a:rPr>
              <a:t> </a:t>
            </a:r>
            <a:endParaRPr lang="en-US" altLang="en-US" sz="200" dirty="0">
              <a:ea typeface="MS PGothic" panose="020B0600070205080204" pitchFamily="34" charset="-128"/>
            </a:endParaRPr>
          </a:p>
          <a:p>
            <a:pPr lvl="1">
              <a:defRPr/>
            </a:pPr>
            <a:r>
              <a:rPr lang="en-US" altLang="en-US" sz="1200" dirty="0">
                <a:ea typeface="MS PGothic" panose="020B0600070205080204" pitchFamily="34" charset="-128"/>
              </a:rPr>
              <a:t> </a:t>
            </a:r>
            <a:r>
              <a:rPr lang="en-US" altLang="en-US" sz="1200" b="1" dirty="0">
                <a:ea typeface="MS PGothic" panose="020B0600070205080204" pitchFamily="34" charset="-128"/>
              </a:rPr>
              <a:t>repeat</a:t>
            </a:r>
            <a:endParaRPr lang="en-US" altLang="en-US" sz="1200" b="1" dirty="0">
              <a:ea typeface="MS PGothic" panose="020B0600070205080204" pitchFamily="34" charset="-128"/>
            </a:endParaRPr>
          </a:p>
          <a:p>
            <a:pPr lvl="2">
              <a:lnSpc>
                <a:spcPct val="70000"/>
              </a:lnSpc>
              <a:buFont typeface="Monotype Sorts" pitchFamily="-65" charset="2"/>
              <a:buNone/>
              <a:defRPr/>
            </a:pPr>
            <a:r>
              <a:rPr lang="en-US" altLang="en-US" sz="1200" dirty="0">
                <a:ea typeface="MS PGothic" panose="020B0600070205080204" pitchFamily="34" charset="-128"/>
              </a:rPr>
              <a:t>         sequence of statements ;</a:t>
            </a:r>
            <a:endParaRPr lang="en-US" altLang="en-US" sz="1200" dirty="0">
              <a:ea typeface="MS PGothic" panose="020B0600070205080204" pitchFamily="34" charset="-128"/>
            </a:endParaRPr>
          </a:p>
          <a:p>
            <a:pPr lvl="1">
              <a:lnSpc>
                <a:spcPct val="70000"/>
              </a:lnSpc>
              <a:buFont typeface="Monotype Sorts" pitchFamily="-65" charset="2"/>
              <a:buNone/>
              <a:defRPr/>
            </a:pPr>
            <a:r>
              <a:rPr lang="en-US" altLang="en-US" sz="1200" dirty="0">
                <a:ea typeface="MS PGothic" panose="020B0600070205080204" pitchFamily="34" charset="-128"/>
              </a:rPr>
              <a:t>		until </a:t>
            </a:r>
            <a:r>
              <a:rPr lang="en-US" altLang="en-US" sz="1200" dirty="0" err="1">
                <a:ea typeface="MS PGothic" panose="020B0600070205080204" pitchFamily="34" charset="-128"/>
              </a:rPr>
              <a:t>boolean</a:t>
            </a:r>
            <a:r>
              <a:rPr lang="en-US" altLang="en-US" sz="1200" dirty="0">
                <a:ea typeface="MS PGothic" panose="020B0600070205080204" pitchFamily="34" charset="-128"/>
              </a:rPr>
              <a:t> expression </a:t>
            </a:r>
            <a:endParaRPr lang="en-US" altLang="en-US" sz="1200" dirty="0">
              <a:ea typeface="MS PGothic" panose="020B0600070205080204" pitchFamily="34" charset="-128"/>
            </a:endParaRPr>
          </a:p>
          <a:p>
            <a:pPr lvl="1">
              <a:lnSpc>
                <a:spcPct val="70000"/>
              </a:lnSpc>
              <a:buFont typeface="Monotype Sorts" pitchFamily="-65" charset="2"/>
              <a:buNone/>
              <a:defRPr/>
            </a:pPr>
            <a:r>
              <a:rPr lang="en-US" altLang="en-US" sz="1200" dirty="0">
                <a:ea typeface="MS PGothic" panose="020B0600070205080204" pitchFamily="34" charset="-128"/>
              </a:rPr>
              <a:t>		</a:t>
            </a:r>
            <a:r>
              <a:rPr lang="en-US" altLang="en-US" sz="1200" b="1" dirty="0">
                <a:ea typeface="MS PGothic" panose="020B0600070205080204" pitchFamily="34" charset="-128"/>
              </a:rPr>
              <a:t>end repeat</a:t>
            </a:r>
            <a:endParaRPr lang="en-US" altLang="en-US" sz="1200" b="1" dirty="0">
              <a:ea typeface="MS PGothic" panose="020B0600070205080204" pitchFamily="34" charset="-128"/>
            </a:endParaRPr>
          </a:p>
          <a:p>
            <a:pPr indent="-365760"/>
            <a:endParaRPr lang="en-US" altLang="en-US" sz="1200" b="1" dirty="0">
              <a:ea typeface="MS PGothic" panose="020B0600070205080204" pitchFamily="34" charset="-128"/>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Language Constructs (Cont.)</a:t>
            </a:r>
            <a:endParaRPr lang="en-US" altLang="en-US">
              <a:effectLst>
                <a:outerShdw blurRad="38100" dist="38100" dir="2700000" algn="tl">
                  <a:srgbClr val="C0C0C0"/>
                </a:outerShdw>
              </a:effectLst>
            </a:endParaRPr>
          </a:p>
        </p:txBody>
      </p:sp>
      <p:sp>
        <p:nvSpPr>
          <p:cNvPr id="40963" name="Rectangle 3"/>
          <p:cNvSpPr>
            <a:spLocks noGrp="1" noChangeArrowheads="1"/>
          </p:cNvSpPr>
          <p:nvPr>
            <p:ph type="body" idx="1"/>
          </p:nvPr>
        </p:nvSpPr>
        <p:spPr>
          <a:xfrm>
            <a:off x="491490" y="851535"/>
            <a:ext cx="7028815" cy="3677920"/>
          </a:xfrm>
        </p:spPr>
        <p:txBody>
          <a:bodyPr/>
          <a:lstStyle/>
          <a:p>
            <a:pPr>
              <a:lnSpc>
                <a:spcPct val="80000"/>
              </a:lnSpc>
            </a:pPr>
            <a:r>
              <a:rPr lang="en-US" altLang="en-US" sz="1400" b="1" dirty="0">
                <a:latin typeface="Tahoma" panose="020B0604030504040204" pitchFamily="34" charset="0"/>
              </a:rPr>
              <a:t>For</a:t>
            </a:r>
            <a:r>
              <a:rPr lang="en-US" altLang="en-US" sz="1400" dirty="0">
                <a:latin typeface="Tahoma" panose="020B0604030504040204" pitchFamily="34" charset="0"/>
              </a:rPr>
              <a:t> loop</a:t>
            </a:r>
            <a:endParaRPr lang="en-US" altLang="en-US" sz="1400" dirty="0">
              <a:latin typeface="Tahoma" panose="020B0604030504040204" pitchFamily="34" charset="0"/>
            </a:endParaRPr>
          </a:p>
          <a:p>
            <a:pPr lvl="1">
              <a:lnSpc>
                <a:spcPct val="80000"/>
              </a:lnSpc>
            </a:pPr>
            <a:r>
              <a:rPr lang="en-US" altLang="en-US" sz="1400" dirty="0">
                <a:latin typeface="Tahoma" panose="020B0604030504040204" pitchFamily="34" charset="0"/>
                <a:ea typeface="MS PGothic" panose="020B0600070205080204" pitchFamily="34" charset="-128"/>
              </a:rPr>
              <a:t>Permits iteration over all results of a query</a:t>
            </a:r>
            <a:endParaRPr lang="en-US" altLang="en-US" sz="1400" dirty="0">
              <a:latin typeface="Tahoma" panose="020B0604030504040204" pitchFamily="34" charset="0"/>
              <a:ea typeface="MS PGothic" panose="020B0600070205080204" pitchFamily="34" charset="-128"/>
            </a:endParaRPr>
          </a:p>
          <a:p>
            <a:r>
              <a:rPr lang="en-US" altLang="en-US" sz="1400" dirty="0">
                <a:latin typeface="Tahoma" panose="020B0604030504040204" pitchFamily="34" charset="0"/>
              </a:rPr>
              <a:t>Example:   Find the budget of all departments</a:t>
            </a:r>
            <a:br>
              <a:rPr lang="en-US" altLang="en-US" sz="1400" dirty="0">
                <a:latin typeface="Tahoma" panose="020B0604030504040204" pitchFamily="34" charset="0"/>
              </a:rPr>
            </a:br>
            <a:br>
              <a:rPr lang="en-US" altLang="en-US" sz="1400" dirty="0">
                <a:latin typeface="Tahoma" panose="020B0604030504040204" pitchFamily="34" charset="0"/>
              </a:rPr>
            </a:br>
            <a:r>
              <a:rPr lang="en-US" altLang="en-US" sz="1400" dirty="0">
                <a:latin typeface="Tahoma" panose="020B0604030504040204" pitchFamily="34" charset="0"/>
              </a:rPr>
              <a:t>  </a:t>
            </a:r>
            <a:r>
              <a:rPr lang="en-US" altLang="en-US" sz="1400" b="1" dirty="0"/>
              <a:t>declare </a:t>
            </a:r>
            <a:r>
              <a:rPr lang="en-US" altLang="en-US" sz="1400" i="1" dirty="0"/>
              <a:t>n  </a:t>
            </a:r>
            <a:r>
              <a:rPr lang="en-US" altLang="en-US" sz="1400" b="1" dirty="0"/>
              <a:t>integer default </a:t>
            </a:r>
            <a:r>
              <a:rPr lang="en-US" altLang="en-US" sz="1400" dirty="0"/>
              <a:t>0;</a:t>
            </a:r>
            <a:br>
              <a:rPr lang="en-US" altLang="en-US" sz="1400" dirty="0"/>
            </a:br>
            <a:r>
              <a:rPr lang="en-US" altLang="en-US" sz="1400" dirty="0"/>
              <a:t>  </a:t>
            </a:r>
            <a:r>
              <a:rPr lang="en-US" altLang="en-US" sz="1400" b="1" dirty="0"/>
              <a:t>for </a:t>
            </a:r>
            <a:r>
              <a:rPr lang="en-US" altLang="en-US" sz="1400" i="1" dirty="0"/>
              <a:t>r  </a:t>
            </a:r>
            <a:r>
              <a:rPr lang="en-US" altLang="en-US" sz="1400" b="1" dirty="0"/>
              <a:t>as</a:t>
            </a:r>
            <a:br>
              <a:rPr lang="en-US" altLang="en-US" sz="1400" b="1" dirty="0"/>
            </a:br>
            <a:r>
              <a:rPr lang="en-US" altLang="en-US" sz="1400" b="1" dirty="0"/>
              <a:t>         select </a:t>
            </a:r>
            <a:r>
              <a:rPr lang="en-US" altLang="en-US" sz="1400" i="1" dirty="0"/>
              <a:t>budget </a:t>
            </a:r>
            <a:r>
              <a:rPr lang="en-US" altLang="en-US" sz="1400" b="1" dirty="0"/>
              <a:t>from </a:t>
            </a:r>
            <a:r>
              <a:rPr lang="en-US" altLang="en-US" sz="1400" i="1" dirty="0"/>
              <a:t>department                                                     	</a:t>
            </a:r>
            <a:r>
              <a:rPr lang="en-US" altLang="en-US" sz="1400" b="1" dirty="0"/>
              <a:t>where </a:t>
            </a:r>
            <a:r>
              <a:rPr lang="en-US" altLang="en-US" sz="1400" i="1" dirty="0" err="1"/>
              <a:t>dept_name</a:t>
            </a:r>
            <a:r>
              <a:rPr lang="en-US" altLang="en-US" sz="1400" i="1" dirty="0"/>
              <a:t> = 'Music' </a:t>
            </a:r>
            <a:br>
              <a:rPr lang="en-US" altLang="en-US" sz="1400" dirty="0"/>
            </a:br>
            <a:r>
              <a:rPr lang="en-US" altLang="en-US" sz="1400" dirty="0"/>
              <a:t>   </a:t>
            </a:r>
            <a:r>
              <a:rPr lang="en-US" altLang="en-US" sz="1400" b="1" dirty="0"/>
              <a:t>do</a:t>
            </a:r>
            <a:br>
              <a:rPr lang="en-US" altLang="en-US" sz="1400" b="1" dirty="0"/>
            </a:br>
            <a:r>
              <a:rPr lang="en-US" altLang="en-US" sz="1400" b="1" dirty="0"/>
              <a:t>	       set </a:t>
            </a:r>
            <a:r>
              <a:rPr lang="en-US" altLang="en-US" sz="1400" i="1" dirty="0"/>
              <a:t>n </a:t>
            </a:r>
            <a:r>
              <a:rPr lang="en-US" altLang="en-US" sz="1400" dirty="0"/>
              <a:t>= </a:t>
            </a:r>
            <a:r>
              <a:rPr lang="en-US" altLang="en-US" sz="1400" i="1" dirty="0"/>
              <a:t>n </a:t>
            </a:r>
            <a:r>
              <a:rPr lang="en-US" altLang="en-US" sz="1400" dirty="0"/>
              <a:t>+ </a:t>
            </a:r>
            <a:r>
              <a:rPr lang="en-US" altLang="en-US" sz="1400" dirty="0" err="1"/>
              <a:t>r.</a:t>
            </a:r>
            <a:r>
              <a:rPr lang="en-US" altLang="en-US" sz="1400" i="1" dirty="0" err="1"/>
              <a:t>budget</a:t>
            </a:r>
            <a:br>
              <a:rPr lang="en-US" altLang="en-US" sz="1400" i="1" dirty="0"/>
            </a:br>
            <a:r>
              <a:rPr lang="en-US" altLang="en-US" sz="1400" i="1" dirty="0"/>
              <a:t>   </a:t>
            </a:r>
            <a:r>
              <a:rPr lang="en-US" altLang="en-US" sz="1400" b="1" dirty="0"/>
              <a:t>end for</a:t>
            </a:r>
            <a:endParaRPr lang="en-US" altLang="en-US" sz="1400" dirty="0"/>
          </a:p>
          <a:p>
            <a:endParaRPr lang="en-US" alt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Language Constructs – if-then-else</a:t>
            </a:r>
            <a:endParaRPr lang="en-US" altLang="en-US" sz="24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541655" y="820420"/>
            <a:ext cx="7267575" cy="3677920"/>
          </a:xfrm>
        </p:spPr>
        <p:txBody>
          <a:bodyPr lIns="68580"/>
          <a:lstStyle/>
          <a:p>
            <a:r>
              <a:rPr lang="en-US" altLang="en-US" sz="1600" dirty="0"/>
              <a:t>Conditional statements  (</a:t>
            </a:r>
            <a:r>
              <a:rPr lang="en-US" altLang="en-US" sz="1600" b="1" dirty="0"/>
              <a:t>if-then-else</a:t>
            </a:r>
            <a:r>
              <a:rPr lang="en-US" altLang="en-US" sz="1600" dirty="0"/>
              <a:t>)</a:t>
            </a:r>
            <a:endParaRPr lang="en-US" altLang="en-US" sz="1600" dirty="0"/>
          </a:p>
          <a:p>
            <a:pPr>
              <a:buFont typeface="Monotype Sorts" pitchFamily="-65" charset="2"/>
              <a:buNone/>
            </a:pPr>
            <a:r>
              <a:rPr lang="en-US" altLang="en-US" sz="1600" dirty="0"/>
              <a:t>              </a:t>
            </a:r>
            <a:r>
              <a:rPr lang="en-US" altLang="en-US" sz="1600" b="1" dirty="0"/>
              <a:t>if</a:t>
            </a:r>
            <a:r>
              <a:rPr lang="en-US" altLang="en-US" sz="1600" dirty="0"/>
              <a:t> </a:t>
            </a:r>
            <a:r>
              <a:rPr lang="en-US" altLang="en-US" sz="1600" i="1" dirty="0" err="1"/>
              <a:t>boolean</a:t>
            </a:r>
            <a:r>
              <a:rPr lang="en-US" altLang="en-US" sz="1600" i="1" dirty="0"/>
              <a:t>  expression </a:t>
            </a:r>
            <a:br>
              <a:rPr lang="en-US" altLang="en-US" sz="1600" b="1" dirty="0"/>
            </a:br>
            <a:r>
              <a:rPr lang="en-US" altLang="en-US" sz="1600" b="1" dirty="0"/>
              <a:t>	    then </a:t>
            </a:r>
            <a:r>
              <a:rPr lang="en-US" altLang="en-US" sz="1600" i="1" dirty="0"/>
              <a:t>statement or compound statement </a:t>
            </a:r>
            <a:br>
              <a:rPr lang="en-US" altLang="en-US" sz="1600" i="1" dirty="0"/>
            </a:br>
            <a:r>
              <a:rPr lang="en-US" altLang="en-US" sz="1600" i="1" dirty="0"/>
              <a:t>	</a:t>
            </a:r>
            <a:r>
              <a:rPr lang="en-US" altLang="en-US" sz="1600" b="1" dirty="0" err="1"/>
              <a:t>elseif</a:t>
            </a:r>
            <a:r>
              <a:rPr lang="en-US" altLang="en-US" sz="1600" b="1" dirty="0"/>
              <a:t> </a:t>
            </a:r>
            <a:r>
              <a:rPr lang="en-US" altLang="en-US" sz="1600" i="1" dirty="0" err="1"/>
              <a:t>boolean</a:t>
            </a:r>
            <a:r>
              <a:rPr lang="en-US" altLang="en-US" sz="1600" i="1" dirty="0"/>
              <a:t>  expression </a:t>
            </a:r>
            <a:br>
              <a:rPr lang="en-US" altLang="en-US" sz="1600" b="1" dirty="0"/>
            </a:br>
            <a:r>
              <a:rPr lang="en-US" altLang="en-US" sz="1600" b="1" dirty="0"/>
              <a:t>	</a:t>
            </a:r>
            <a:r>
              <a:rPr lang="en-US" altLang="en-US" sz="1600" dirty="0"/>
              <a:t>    </a:t>
            </a:r>
            <a:r>
              <a:rPr lang="en-US" altLang="en-US" sz="1600" b="1" dirty="0"/>
              <a:t>then </a:t>
            </a:r>
            <a:r>
              <a:rPr lang="en-US" altLang="en-US" sz="1600" i="1" dirty="0"/>
              <a:t>statement or compound statement </a:t>
            </a:r>
            <a:br>
              <a:rPr lang="en-US" altLang="en-US" sz="1600" dirty="0"/>
            </a:br>
            <a:r>
              <a:rPr lang="en-US" altLang="en-US" sz="1600" dirty="0"/>
              <a:t>         </a:t>
            </a:r>
            <a:r>
              <a:rPr lang="en-US" altLang="en-US" sz="1600" b="1" dirty="0"/>
              <a:t>else</a:t>
            </a:r>
            <a:r>
              <a:rPr lang="en-US" altLang="en-US" sz="1600" dirty="0"/>
              <a:t> </a:t>
            </a:r>
            <a:r>
              <a:rPr lang="en-US" altLang="en-US" sz="1600" i="1" dirty="0"/>
              <a:t>statement or compound statement </a:t>
            </a:r>
            <a:br>
              <a:rPr lang="en-US" altLang="en-US" sz="1600" dirty="0"/>
            </a:br>
            <a:r>
              <a:rPr lang="en-US" altLang="en-US" sz="1600" dirty="0"/>
              <a:t>	</a:t>
            </a:r>
            <a:r>
              <a:rPr lang="en-US" altLang="en-US" sz="1600" b="1" dirty="0"/>
              <a:t>end</a:t>
            </a:r>
            <a:r>
              <a:rPr lang="en-US" altLang="en-US" sz="1600" dirty="0"/>
              <a:t> </a:t>
            </a:r>
            <a:r>
              <a:rPr lang="en-US" altLang="en-US" sz="1600" b="1" dirty="0"/>
              <a:t>if</a:t>
            </a:r>
            <a:endParaRPr lang="en-US" altLang="en-US" sz="1600" b="1" dirty="0"/>
          </a:p>
          <a:p>
            <a:pPr indent="-365760"/>
            <a:endParaRPr lang="en-US" altLang="en-US" sz="1600" b="1" dirty="0"/>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t>Example procedure</a:t>
            </a:r>
            <a:endParaRPr lang="en-US" altLang="en-US" sz="24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500380" y="820420"/>
            <a:ext cx="8105140" cy="3677920"/>
          </a:xfrm>
        </p:spPr>
        <p:txBody>
          <a:bodyPr lIns="68580"/>
          <a:lstStyle/>
          <a:p>
            <a:r>
              <a:rPr lang="en-US" altLang="en-US" sz="1400" dirty="0"/>
              <a:t>Registers student after ensuring classroom capacity is not exceeded</a:t>
            </a:r>
            <a:endParaRPr lang="en-US" altLang="en-US" sz="1400" dirty="0"/>
          </a:p>
          <a:p>
            <a:pPr lvl="1"/>
            <a:r>
              <a:rPr lang="en-US" altLang="en-US" sz="1400" dirty="0">
                <a:ea typeface="MS PGothic" panose="020B0600070205080204" pitchFamily="34" charset="-128"/>
              </a:rPr>
              <a:t>Returns 0 on success and -1 if capacity is exceeded</a:t>
            </a:r>
            <a:endParaRPr lang="en-US" altLang="en-US" sz="1400" dirty="0">
              <a:ea typeface="MS PGothic" panose="020B0600070205080204" pitchFamily="34" charset="-128"/>
            </a:endParaRPr>
          </a:p>
          <a:p>
            <a:r>
              <a:rPr lang="en-US" altLang="en-US" sz="1400" dirty="0"/>
              <a:t>Signaling of exception conditions, and declaring handlers for exceptions</a:t>
            </a:r>
            <a:endParaRPr lang="en-US" altLang="en-US" sz="1400" dirty="0"/>
          </a:p>
          <a:p>
            <a:pPr>
              <a:buFont typeface="Monotype Sorts" pitchFamily="-65" charset="2"/>
              <a:buNone/>
            </a:pPr>
            <a:r>
              <a:rPr lang="en-US" altLang="en-US" sz="1400" b="1" dirty="0"/>
              <a:t>		declare </a:t>
            </a:r>
            <a:r>
              <a:rPr lang="en-US" altLang="en-US" sz="1400" i="1" dirty="0" err="1"/>
              <a:t>out_of_classroom_seats</a:t>
            </a:r>
            <a:r>
              <a:rPr lang="en-US" altLang="en-US" sz="1400" i="1" dirty="0"/>
              <a:t>  </a:t>
            </a:r>
            <a:r>
              <a:rPr lang="en-US" altLang="en-US" sz="1400" b="1" dirty="0"/>
              <a:t>condition</a:t>
            </a:r>
            <a:br>
              <a:rPr lang="en-US" altLang="en-US" sz="1400" b="1" dirty="0"/>
            </a:br>
            <a:r>
              <a:rPr lang="en-US" altLang="en-US" sz="1400" b="1" dirty="0"/>
              <a:t>	declare exit handler for </a:t>
            </a:r>
            <a:r>
              <a:rPr lang="en-US" altLang="en-US" sz="1400" i="1" dirty="0" err="1"/>
              <a:t>out_of_classroom_seats</a:t>
            </a:r>
            <a:br>
              <a:rPr lang="en-US" altLang="en-US" sz="1400" i="1" dirty="0"/>
            </a:br>
            <a:r>
              <a:rPr lang="en-US" altLang="en-US" sz="1400" i="1" dirty="0"/>
              <a:t>	</a:t>
            </a:r>
            <a:r>
              <a:rPr lang="en-US" altLang="en-US" sz="1400" b="1" dirty="0"/>
              <a:t>begin</a:t>
            </a:r>
            <a:br>
              <a:rPr lang="en-US" altLang="en-US" sz="1400" b="1" dirty="0"/>
            </a:br>
            <a:r>
              <a:rPr lang="en-US" altLang="en-US" sz="1400" b="1" dirty="0"/>
              <a:t>	</a:t>
            </a:r>
            <a:r>
              <a:rPr lang="en-US" altLang="en-US" sz="1400" dirty="0"/>
              <a:t>…</a:t>
            </a:r>
            <a:br>
              <a:rPr lang="en-US" altLang="en-US" sz="1400" dirty="0"/>
            </a:br>
            <a:r>
              <a:rPr lang="en-US" altLang="en-US" sz="1400" dirty="0"/>
              <a:t>	</a:t>
            </a:r>
            <a:r>
              <a:rPr lang="en-US" altLang="en-US" sz="1400" b="1" dirty="0"/>
              <a:t>end</a:t>
            </a:r>
            <a:endParaRPr lang="en-US" altLang="en-US" sz="1400" b="1" dirty="0"/>
          </a:p>
          <a:p>
            <a:r>
              <a:rPr lang="en-US" altLang="en-US" sz="1400" dirty="0"/>
              <a:t>The statements between the </a:t>
            </a:r>
            <a:r>
              <a:rPr lang="en-US" altLang="en-US" sz="1400" b="1" dirty="0"/>
              <a:t>begin</a:t>
            </a:r>
            <a:r>
              <a:rPr lang="en-US" altLang="en-US" sz="1400" dirty="0"/>
              <a:t> and the </a:t>
            </a:r>
            <a:r>
              <a:rPr lang="en-US" altLang="en-US" sz="1400" b="1" dirty="0"/>
              <a:t>end</a:t>
            </a:r>
            <a:r>
              <a:rPr lang="en-US" altLang="en-US" sz="1400" dirty="0"/>
              <a:t> can raise an exception by executing  “</a:t>
            </a:r>
            <a:r>
              <a:rPr lang="en-US" altLang="en-US" sz="1400" b="1" dirty="0"/>
              <a:t>signal</a:t>
            </a:r>
            <a:r>
              <a:rPr lang="en-US" altLang="en-US" sz="1400" dirty="0"/>
              <a:t> </a:t>
            </a:r>
            <a:r>
              <a:rPr lang="en-US" altLang="en-US" sz="1400" i="1" dirty="0" err="1"/>
              <a:t>out_of_classroom_seats</a:t>
            </a:r>
            <a:r>
              <a:rPr lang="en-US" altLang="en-US" sz="1400" i="1" dirty="0"/>
              <a:t>”</a:t>
            </a:r>
            <a:endParaRPr lang="en-US" altLang="en-US" sz="1400" dirty="0"/>
          </a:p>
          <a:p>
            <a:r>
              <a:rPr lang="en-US" altLang="en-US" sz="1400" dirty="0"/>
              <a:t>The handler says that if the condition arises he action to be taken is to exit the enclosing  the </a:t>
            </a:r>
            <a:r>
              <a:rPr lang="en-US" altLang="en-US" sz="1400" b="1" dirty="0"/>
              <a:t>begin</a:t>
            </a:r>
            <a:r>
              <a:rPr lang="en-US" altLang="en-US" sz="1400" dirty="0"/>
              <a:t>  </a:t>
            </a:r>
            <a:r>
              <a:rPr lang="en-US" altLang="en-US" sz="1400" b="1" dirty="0"/>
              <a:t>end</a:t>
            </a:r>
            <a:r>
              <a:rPr lang="en-US" altLang="en-US" sz="1400" dirty="0"/>
              <a:t> statement. </a:t>
            </a:r>
            <a:endParaRPr lang="en-US" altLang="en-US" sz="1400" dirty="0"/>
          </a:p>
          <a:p>
            <a:pPr indent="-365760"/>
            <a:endParaRPr lang="en-US" altLang="en-US" sz="1400" dirty="0"/>
          </a:p>
        </p:txBody>
      </p:sp>
      <p:grpSp>
        <p:nvGrpSpPr>
          <p:cNvPr id="4" name="组合 3"/>
          <p:cNvGrpSpPr/>
          <p:nvPr/>
        </p:nvGrpSpPr>
        <p:grpSpPr>
          <a:xfrm>
            <a:off x="7092315" y="1059815"/>
            <a:ext cx="723265" cy="955040"/>
            <a:chOff x="737" y="4617"/>
            <a:chExt cx="1139" cy="1504"/>
          </a:xfrm>
        </p:grpSpPr>
        <p:pic>
          <p:nvPicPr>
            <p:cNvPr id="3" name="Picture 101"/>
            <p:cNvPicPr/>
            <p:nvPr/>
          </p:nvPicPr>
          <p:blipFill>
            <a:blip r:embed="rId1"/>
            <a:stretch>
              <a:fillRect/>
            </a:stretch>
          </p:blipFill>
          <p:spPr>
            <a:xfrm>
              <a:off x="737" y="4617"/>
              <a:ext cx="1139" cy="1139"/>
            </a:xfrm>
            <a:prstGeom prst="rect">
              <a:avLst/>
            </a:prstGeom>
            <a:noFill/>
            <a:ln w="9525">
              <a:noFill/>
            </a:ln>
          </p:spPr>
        </p:pic>
        <p:sp>
          <p:nvSpPr>
            <p:cNvPr id="5" name="文本框 4"/>
            <p:cNvSpPr txBox="1"/>
            <p:nvPr/>
          </p:nvSpPr>
          <p:spPr>
            <a:xfrm>
              <a:off x="1077" y="5638"/>
              <a:ext cx="457" cy="483"/>
            </a:xfrm>
            <a:prstGeom prst="rect">
              <a:avLst/>
            </a:prstGeom>
            <a:noFill/>
          </p:spPr>
          <p:txBody>
            <a:bodyPr wrap="square" rtlCol="0">
              <a:spAutoFit/>
            </a:bodyPr>
            <a:p>
              <a:r>
                <a:rPr lang="en-US" altLang="zh-CN" sz="1400"/>
                <a:t>3</a:t>
              </a:r>
              <a:endParaRPr lang="en-US" altLang="zh-CN" sz="1400"/>
            </a:p>
          </p:txBody>
        </p:sp>
      </p:gr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External Language Routines</a:t>
            </a:r>
            <a:endParaRPr lang="en-US" altLang="en-US" dirty="0">
              <a:effectLst>
                <a:outerShdw blurRad="38100" dist="38100" dir="2700000" algn="tl">
                  <a:srgbClr val="C0C0C0"/>
                </a:outerShdw>
              </a:effectLst>
            </a:endParaRPr>
          </a:p>
        </p:txBody>
      </p:sp>
      <p:sp>
        <p:nvSpPr>
          <p:cNvPr id="44035" name="Rectangle 3"/>
          <p:cNvSpPr>
            <a:spLocks noGrp="1" noChangeArrowheads="1"/>
          </p:cNvSpPr>
          <p:nvPr>
            <p:ph type="body" idx="1"/>
          </p:nvPr>
        </p:nvSpPr>
        <p:spPr>
          <a:xfrm>
            <a:off x="500380" y="541655"/>
            <a:ext cx="8083550" cy="3938905"/>
          </a:xfrm>
        </p:spPr>
        <p:txBody>
          <a:bodyPr/>
          <a:lstStyle/>
          <a:p>
            <a:endParaRPr kumimoji="0" lang="en-US" altLang="en-US" sz="1400" dirty="0"/>
          </a:p>
          <a:p>
            <a:r>
              <a:rPr kumimoji="0" lang="en-US" altLang="en-US" sz="1400" dirty="0"/>
              <a:t>SQL allows us to define functions in a programming language such as Java, C#, C or C++. </a:t>
            </a:r>
            <a:endParaRPr kumimoji="0" lang="en-US" altLang="en-US" sz="1400" dirty="0"/>
          </a:p>
          <a:p>
            <a:pPr lvl="1"/>
            <a:r>
              <a:rPr lang="en-US" altLang="en-US" sz="1400" dirty="0">
                <a:ea typeface="MS PGothic" panose="020B0600070205080204" pitchFamily="34" charset="-128"/>
              </a:rPr>
              <a:t>Can be more efficient than functions defined in SQL, and computations that cannot be carried out in SQL\can be executed by these functions.</a:t>
            </a:r>
            <a:endParaRPr lang="en-US" altLang="en-US" sz="1400" dirty="0">
              <a:ea typeface="MS PGothic" panose="020B0600070205080204" pitchFamily="34" charset="-128"/>
            </a:endParaRPr>
          </a:p>
          <a:p>
            <a:r>
              <a:rPr lang="en-US" altLang="en-US" sz="1400" dirty="0"/>
              <a:t>Declaring external language procedures and functions</a:t>
            </a:r>
            <a:br>
              <a:rPr lang="en-US" altLang="en-US" sz="1400" dirty="0"/>
            </a:br>
            <a:endParaRPr lang="en-US" altLang="en-US" sz="1400" dirty="0"/>
          </a:p>
          <a:p>
            <a:pPr>
              <a:buFont typeface="Monotype Sorts" pitchFamily="-65" charset="2"/>
              <a:buNone/>
            </a:pPr>
            <a:r>
              <a:rPr lang="en-US" altLang="en-US" sz="1400" dirty="0"/>
              <a:t>	     </a:t>
            </a:r>
            <a:r>
              <a:rPr lang="en-US" altLang="en-US" sz="1400" b="1" dirty="0"/>
              <a:t>create procedure </a:t>
            </a:r>
            <a:r>
              <a:rPr lang="en-US" altLang="en-US" sz="1400" dirty="0" err="1"/>
              <a:t>dept_count_proc</a:t>
            </a:r>
            <a:r>
              <a:rPr lang="en-US" altLang="en-US" sz="1400" dirty="0"/>
              <a:t>(</a:t>
            </a:r>
            <a:r>
              <a:rPr lang="en-US" altLang="en-US" sz="1400" b="1" dirty="0"/>
              <a:t>in</a:t>
            </a:r>
            <a:r>
              <a:rPr lang="en-US" altLang="en-US" sz="1400" dirty="0"/>
              <a:t> </a:t>
            </a:r>
            <a:r>
              <a:rPr lang="en-US" altLang="en-US" sz="1400" i="1" dirty="0" err="1"/>
              <a:t>dept_name</a:t>
            </a:r>
            <a:r>
              <a:rPr lang="en-US" altLang="en-US" sz="1400" i="1" dirty="0"/>
              <a:t> </a:t>
            </a:r>
            <a:r>
              <a:rPr lang="en-US" altLang="en-US" sz="1400" b="1" dirty="0"/>
              <a:t>varchar</a:t>
            </a:r>
            <a:r>
              <a:rPr lang="en-US" altLang="en-US" sz="1400" dirty="0"/>
              <a:t>(20),</a:t>
            </a:r>
            <a:br>
              <a:rPr lang="en-US" altLang="en-US" sz="1400" dirty="0"/>
            </a:br>
            <a:r>
              <a:rPr lang="en-US" altLang="en-US" sz="1400" dirty="0"/>
              <a:t>                                                          </a:t>
            </a:r>
            <a:r>
              <a:rPr lang="en-US" altLang="en-US" sz="1400" b="1" dirty="0"/>
              <a:t>out </a:t>
            </a:r>
            <a:r>
              <a:rPr lang="en-US" altLang="en-US" sz="1400" dirty="0"/>
              <a:t>count </a:t>
            </a:r>
            <a:r>
              <a:rPr lang="en-US" altLang="en-US" sz="1400" b="1" dirty="0"/>
              <a:t>integer</a:t>
            </a:r>
            <a:r>
              <a:rPr lang="en-US" altLang="en-US" sz="1400" dirty="0"/>
              <a:t>)</a:t>
            </a:r>
            <a:br>
              <a:rPr lang="en-US" altLang="en-US" sz="1400" dirty="0"/>
            </a:br>
            <a:r>
              <a:rPr lang="en-US" altLang="en-US" sz="1400" dirty="0"/>
              <a:t>     </a:t>
            </a:r>
            <a:r>
              <a:rPr lang="en-US" altLang="en-US" sz="1400" b="1" dirty="0"/>
              <a:t>language </a:t>
            </a:r>
            <a:r>
              <a:rPr lang="en-US" altLang="en-US" sz="1400" dirty="0"/>
              <a:t>C</a:t>
            </a:r>
            <a:br>
              <a:rPr lang="en-US" altLang="en-US" sz="1400" dirty="0"/>
            </a:br>
            <a:r>
              <a:rPr lang="en-US" altLang="en-US" sz="1400" dirty="0"/>
              <a:t>     </a:t>
            </a:r>
            <a:r>
              <a:rPr lang="en-US" altLang="en-US" sz="1400" b="1" dirty="0"/>
              <a:t>external name </a:t>
            </a:r>
            <a:r>
              <a:rPr lang="ja-JP" altLang="en-US" sz="1400" dirty="0"/>
              <a:t> </a:t>
            </a:r>
            <a:r>
              <a:rPr lang="en-US" altLang="ja-JP" sz="1400" dirty="0"/>
              <a:t> '/</a:t>
            </a:r>
            <a:r>
              <a:rPr lang="en-US" altLang="ja-JP" sz="1400" dirty="0" err="1"/>
              <a:t>usr</a:t>
            </a:r>
            <a:r>
              <a:rPr lang="en-US" altLang="ja-JP" sz="1400" dirty="0"/>
              <a:t>/</a:t>
            </a:r>
            <a:r>
              <a:rPr lang="en-US" altLang="ja-JP" sz="1400" dirty="0" err="1"/>
              <a:t>avi</a:t>
            </a:r>
            <a:r>
              <a:rPr lang="en-US" altLang="ja-JP" sz="1400" dirty="0"/>
              <a:t>/bin/</a:t>
            </a:r>
            <a:r>
              <a:rPr lang="en-US" altLang="ja-JP" sz="1400" dirty="0" err="1"/>
              <a:t>dept_count_proc</a:t>
            </a:r>
            <a:r>
              <a:rPr lang="en-US" altLang="ja-JP" sz="1400" dirty="0"/>
              <a:t>'</a:t>
            </a:r>
            <a:br>
              <a:rPr lang="en-US" altLang="ja-JP" sz="1400" dirty="0"/>
            </a:br>
            <a:br>
              <a:rPr lang="en-US" altLang="ja-JP" sz="1400" dirty="0"/>
            </a:br>
            <a:r>
              <a:rPr lang="en-US" altLang="ja-JP" sz="1400" dirty="0"/>
              <a:t>     </a:t>
            </a:r>
            <a:r>
              <a:rPr lang="en-US" altLang="ja-JP" sz="1400" b="1" dirty="0"/>
              <a:t>create function </a:t>
            </a:r>
            <a:r>
              <a:rPr lang="en-US" altLang="ja-JP" sz="1400" dirty="0" err="1"/>
              <a:t>dept_count</a:t>
            </a:r>
            <a:r>
              <a:rPr lang="en-US" altLang="ja-JP" sz="1400" dirty="0"/>
              <a:t>(</a:t>
            </a:r>
            <a:r>
              <a:rPr lang="en-US" altLang="ja-JP" sz="1400" i="1" dirty="0" err="1"/>
              <a:t>dept_name</a:t>
            </a:r>
            <a:r>
              <a:rPr lang="en-US" altLang="ja-JP" sz="1400" i="1" dirty="0"/>
              <a:t> </a:t>
            </a:r>
            <a:r>
              <a:rPr lang="en-US" altLang="ja-JP" sz="1400" b="1" dirty="0"/>
              <a:t>varchar</a:t>
            </a:r>
            <a:r>
              <a:rPr lang="en-US" altLang="ja-JP" sz="1400" dirty="0"/>
              <a:t>(20))</a:t>
            </a:r>
            <a:br>
              <a:rPr lang="en-US" altLang="ja-JP" sz="1400" dirty="0"/>
            </a:br>
            <a:r>
              <a:rPr lang="en-US" altLang="ja-JP" sz="1400" dirty="0"/>
              <a:t>     </a:t>
            </a:r>
            <a:r>
              <a:rPr lang="en-US" altLang="ja-JP" sz="1400" b="1" dirty="0"/>
              <a:t>returns </a:t>
            </a:r>
            <a:r>
              <a:rPr lang="en-US" altLang="ja-JP" sz="1400" dirty="0"/>
              <a:t>integer</a:t>
            </a:r>
            <a:br>
              <a:rPr lang="en-US" altLang="ja-JP" sz="1400" dirty="0"/>
            </a:br>
            <a:r>
              <a:rPr lang="en-US" altLang="ja-JP" sz="1400" dirty="0"/>
              <a:t>     </a:t>
            </a:r>
            <a:r>
              <a:rPr lang="en-US" altLang="ja-JP" sz="1400" b="1" dirty="0"/>
              <a:t>language </a:t>
            </a:r>
            <a:r>
              <a:rPr lang="en-US" altLang="ja-JP" sz="1400" dirty="0"/>
              <a:t>C</a:t>
            </a:r>
            <a:br>
              <a:rPr lang="en-US" altLang="ja-JP" sz="1400" dirty="0"/>
            </a:br>
            <a:r>
              <a:rPr lang="en-US" altLang="ja-JP" sz="1400" dirty="0"/>
              <a:t>     </a:t>
            </a:r>
            <a:r>
              <a:rPr lang="en-US" altLang="ja-JP" sz="1400" b="1" dirty="0"/>
              <a:t>external name </a:t>
            </a:r>
            <a:r>
              <a:rPr lang="en-US" altLang="ja-JP" sz="1400" dirty="0"/>
              <a:t>'/</a:t>
            </a:r>
            <a:r>
              <a:rPr lang="en-US" altLang="ja-JP" sz="1400" dirty="0" err="1"/>
              <a:t>usr</a:t>
            </a:r>
            <a:r>
              <a:rPr lang="en-US" altLang="ja-JP" sz="1400" dirty="0"/>
              <a:t>/</a:t>
            </a:r>
            <a:r>
              <a:rPr lang="en-US" altLang="ja-JP" sz="1400" dirty="0" err="1"/>
              <a:t>avi</a:t>
            </a:r>
            <a:r>
              <a:rPr lang="en-US" altLang="ja-JP" sz="1400" dirty="0"/>
              <a:t>/bin/</a:t>
            </a:r>
            <a:r>
              <a:rPr lang="en-US" altLang="ja-JP" sz="1400" dirty="0" err="1"/>
              <a:t>dept_count</a:t>
            </a:r>
            <a:r>
              <a:rPr lang="en-US" altLang="ja-JP" sz="1400" dirty="0"/>
              <a:t>'</a:t>
            </a:r>
            <a:endParaRPr lang="en-US" altLang="ja-JP" sz="1400" dirty="0"/>
          </a:p>
          <a:p>
            <a:pPr>
              <a:buFont typeface="Monotype Sorts" pitchFamily="-65" charset="2"/>
              <a:buNone/>
            </a:pPr>
            <a:endParaRPr lang="en-US" altLang="ja-JP" sz="1400"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External Language Routines (Cont.)</a:t>
            </a:r>
            <a:endParaRPr lang="en-US" altLang="en-US" sz="24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499745" y="820420"/>
            <a:ext cx="7998460" cy="3677920"/>
          </a:xfrm>
        </p:spPr>
        <p:txBody>
          <a:bodyPr lIns="68580"/>
          <a:lstStyle/>
          <a:p>
            <a:r>
              <a:rPr lang="en-US" altLang="en-US" sz="1600" dirty="0"/>
              <a:t>Benefits of external language functions/procedures:  </a:t>
            </a:r>
            <a:endParaRPr lang="en-US" altLang="en-US" sz="1600" dirty="0"/>
          </a:p>
          <a:p>
            <a:pPr lvl="1"/>
            <a:r>
              <a:rPr lang="en-US" altLang="en-US" sz="1600" dirty="0">
                <a:ea typeface="MS PGothic" panose="020B0600070205080204" pitchFamily="34" charset="-128"/>
              </a:rPr>
              <a:t>more efficient for many operations, and more expressive power.</a:t>
            </a:r>
            <a:endParaRPr lang="en-US" altLang="en-US" sz="1600" dirty="0">
              <a:ea typeface="MS PGothic" panose="020B0600070205080204" pitchFamily="34" charset="-128"/>
            </a:endParaRPr>
          </a:p>
          <a:p>
            <a:r>
              <a:rPr lang="en-US" altLang="en-US" sz="1600" dirty="0"/>
              <a:t>Drawbacks</a:t>
            </a:r>
            <a:endParaRPr lang="en-US" altLang="en-US" sz="1600" dirty="0"/>
          </a:p>
          <a:p>
            <a:pPr lvl="1"/>
            <a:r>
              <a:rPr lang="en-US" altLang="en-US" sz="1600" dirty="0">
                <a:ea typeface="MS PGothic" panose="020B0600070205080204" pitchFamily="34" charset="-128"/>
              </a:rPr>
              <a:t>Code to implement function may need to be loaded into database system and executed in the database system’</a:t>
            </a:r>
            <a:r>
              <a:rPr lang="en-US" altLang="ja-JP" sz="1600" dirty="0">
                <a:ea typeface="MS PGothic" panose="020B0600070205080204" pitchFamily="34" charset="-128"/>
              </a:rPr>
              <a:t>s address space.</a:t>
            </a:r>
            <a:endParaRPr lang="en-US" altLang="ja-JP" sz="1600" dirty="0">
              <a:ea typeface="MS PGothic" panose="020B0600070205080204" pitchFamily="34" charset="-128"/>
            </a:endParaRPr>
          </a:p>
          <a:p>
            <a:pPr lvl="2"/>
            <a:r>
              <a:rPr lang="en-US" altLang="en-US" sz="1600" dirty="0">
                <a:ea typeface="MS PGothic" panose="020B0600070205080204" pitchFamily="34" charset="-128"/>
              </a:rPr>
              <a:t>risk of accidental corruption of database structures</a:t>
            </a:r>
            <a:endParaRPr lang="en-US" altLang="en-US" sz="1600" dirty="0">
              <a:ea typeface="MS PGothic" panose="020B0600070205080204" pitchFamily="34" charset="-128"/>
            </a:endParaRPr>
          </a:p>
          <a:p>
            <a:pPr lvl="2"/>
            <a:r>
              <a:rPr lang="en-US" altLang="en-US" sz="1600" dirty="0">
                <a:ea typeface="MS PGothic" panose="020B0600070205080204" pitchFamily="34" charset="-128"/>
              </a:rPr>
              <a:t>security risk, allowing users access to unauthorized data</a:t>
            </a:r>
            <a:endParaRPr lang="en-US" altLang="en-US" sz="1600" dirty="0">
              <a:ea typeface="MS PGothic" panose="020B0600070205080204" pitchFamily="34" charset="-128"/>
            </a:endParaRPr>
          </a:p>
          <a:p>
            <a:pPr lvl="1"/>
            <a:r>
              <a:rPr lang="en-US" altLang="en-US" sz="1600" dirty="0">
                <a:ea typeface="MS PGothic" panose="020B0600070205080204" pitchFamily="34" charset="-128"/>
              </a:rPr>
              <a:t>There are alternatives, which give good security at the cost of potentially worse performance.</a:t>
            </a:r>
            <a:endParaRPr lang="en-US" altLang="en-US" sz="1600" dirty="0">
              <a:ea typeface="MS PGothic" panose="020B0600070205080204" pitchFamily="34" charset="-128"/>
            </a:endParaRPr>
          </a:p>
          <a:p>
            <a:pPr lvl="1"/>
            <a:r>
              <a:rPr lang="en-US" altLang="en-US" sz="1600" dirty="0">
                <a:ea typeface="MS PGothic" panose="020B0600070205080204" pitchFamily="34" charset="-128"/>
              </a:rPr>
              <a:t>Direct execution in the database system</a:t>
            </a:r>
            <a:r>
              <a:rPr lang="ja-JP" altLang="en-US" sz="1600" dirty="0">
                <a:ea typeface="MS PGothic" panose="020B0600070205080204" pitchFamily="34" charset="-128"/>
              </a:rPr>
              <a:t>’</a:t>
            </a:r>
            <a:r>
              <a:rPr lang="en-US" altLang="ja-JP" sz="1600" dirty="0">
                <a:ea typeface="MS PGothic" panose="020B0600070205080204" pitchFamily="34" charset="-128"/>
              </a:rPr>
              <a:t>s space is used when efficiency is more important than security.</a:t>
            </a:r>
            <a:endParaRPr lang="en-US" altLang="en-US" sz="1600" dirty="0">
              <a:ea typeface="MS PGothic" panose="020B0600070205080204" pitchFamily="34" charset="-128"/>
            </a:endParaRPr>
          </a:p>
          <a:p>
            <a:pPr indent="-365760"/>
            <a:endParaRPr lang="en-US" altLang="en-US" sz="1600" dirty="0">
              <a:ea typeface="MS PGothic" panose="020B0600070205080204" pitchFamily="34" charset="-128"/>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*Other interfaces of DB</a:t>
            </a:r>
            <a:endParaRPr lang="en-US" altLang="zh-CN"/>
          </a:p>
        </p:txBody>
      </p:sp>
      <p:sp>
        <p:nvSpPr>
          <p:cNvPr id="3" name="内容占位符 2"/>
          <p:cNvSpPr>
            <a:spLocks noGrp="1"/>
          </p:cNvSpPr>
          <p:nvPr>
            <p:ph idx="1"/>
          </p:nvPr>
        </p:nvSpPr>
        <p:spPr/>
        <p:txBody>
          <a:bodyPr/>
          <a:p>
            <a:pPr lvl="0"/>
            <a:r>
              <a:rPr lang="en-US" altLang="zh-CN"/>
              <a:t>SQL without DB</a:t>
            </a:r>
            <a:endParaRPr lang="en-US" altLang="zh-CN"/>
          </a:p>
          <a:p>
            <a:pPr lvl="1"/>
            <a:r>
              <a:rPr lang="en-US" altLang="zh-CN">
                <a:sym typeface="+mn-ea"/>
              </a:rPr>
              <a:t>SQL on Pandas</a:t>
            </a:r>
            <a:endParaRPr lang="en-US" altLang="zh-CN">
              <a:sym typeface="+mn-ea"/>
            </a:endParaRPr>
          </a:p>
          <a:p>
            <a:pPr lvl="1"/>
            <a:r>
              <a:rPr lang="en-US" altLang="zh-CN">
                <a:sym typeface="+mn-ea"/>
              </a:rPr>
              <a:t>SQL for data flows: Flink SQL</a:t>
            </a:r>
            <a:endParaRPr lang="en-US" altLang="zh-CN">
              <a:sym typeface="+mn-ea"/>
            </a:endParaRPr>
          </a:p>
          <a:p>
            <a:pPr lvl="1"/>
            <a:r>
              <a:rPr lang="en-US" altLang="zh-CN">
                <a:sym typeface="+mn-ea"/>
              </a:rPr>
              <a:t>SQL for ML: </a:t>
            </a:r>
            <a:r>
              <a:rPr lang="en-US" altLang="zh-CN"/>
              <a:t>https://sql-machine-learning.github.io/</a:t>
            </a:r>
            <a:endParaRPr lang="en-US" altLang="zh-CN"/>
          </a:p>
          <a:p>
            <a:pPr lvl="1"/>
            <a:endParaRPr lang="en-US" altLang="zh-CN"/>
          </a:p>
        </p:txBody>
      </p:sp>
      <p:grpSp>
        <p:nvGrpSpPr>
          <p:cNvPr id="5" name="组合 4"/>
          <p:cNvGrpSpPr/>
          <p:nvPr/>
        </p:nvGrpSpPr>
        <p:grpSpPr>
          <a:xfrm>
            <a:off x="3204210" y="627380"/>
            <a:ext cx="723265" cy="955040"/>
            <a:chOff x="737" y="4617"/>
            <a:chExt cx="1139" cy="1504"/>
          </a:xfrm>
        </p:grpSpPr>
        <p:pic>
          <p:nvPicPr>
            <p:cNvPr id="6" name="Picture 101"/>
            <p:cNvPicPr/>
            <p:nvPr/>
          </p:nvPicPr>
          <p:blipFill>
            <a:blip r:embed="rId1"/>
            <a:stretch>
              <a:fillRect/>
            </a:stretch>
          </p:blipFill>
          <p:spPr>
            <a:xfrm>
              <a:off x="737" y="4617"/>
              <a:ext cx="1139" cy="1139"/>
            </a:xfrm>
            <a:prstGeom prst="rect">
              <a:avLst/>
            </a:prstGeom>
            <a:noFill/>
            <a:ln w="9525">
              <a:noFill/>
            </a:ln>
          </p:spPr>
        </p:pic>
        <p:sp>
          <p:nvSpPr>
            <p:cNvPr id="7" name="文本框 6"/>
            <p:cNvSpPr txBox="1"/>
            <p:nvPr/>
          </p:nvSpPr>
          <p:spPr>
            <a:xfrm>
              <a:off x="1077" y="5638"/>
              <a:ext cx="457" cy="483"/>
            </a:xfrm>
            <a:prstGeom prst="rect">
              <a:avLst/>
            </a:prstGeom>
            <a:noFill/>
          </p:spPr>
          <p:txBody>
            <a:bodyPr wrap="square" rtlCol="0">
              <a:spAutoFit/>
            </a:bodyPr>
            <a:p>
              <a:r>
                <a:rPr lang="en-US" altLang="zh-CN" sz="1400"/>
                <a:t>4</a:t>
              </a:r>
              <a:endParaRPr lang="en-US" altLang="zh-CN" sz="1400"/>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Triggers</a:t>
            </a:r>
            <a:endParaRPr lang="en-US" altLang="en-US" dirty="0">
              <a:effectLst>
                <a:outerShdw blurRad="38100" dist="38100" dir="2700000" algn="tl">
                  <a:srgbClr val="C0C0C0"/>
                </a:outerShdw>
              </a:effectLst>
            </a:endParaRPr>
          </a:p>
        </p:txBody>
      </p:sp>
      <p:sp>
        <p:nvSpPr>
          <p:cNvPr id="48131" name="Rectangle 3"/>
          <p:cNvSpPr>
            <a:spLocks noGrp="1" noChangeArrowheads="1"/>
          </p:cNvSpPr>
          <p:nvPr>
            <p:ph type="body" idx="1"/>
          </p:nvPr>
        </p:nvSpPr>
        <p:spPr>
          <a:xfrm>
            <a:off x="1719263" y="866775"/>
            <a:ext cx="5735761" cy="3625454"/>
          </a:xfrm>
        </p:spPr>
        <p:txBody>
          <a:bodyPr/>
          <a:lstStyle/>
          <a:p>
            <a:r>
              <a:rPr lang="en-US" altLang="en-US" sz="1400" dirty="0"/>
              <a:t>A </a:t>
            </a:r>
            <a:r>
              <a:rPr lang="en-US" altLang="en-US" sz="1400" b="1" dirty="0">
                <a:solidFill>
                  <a:srgbClr val="002060"/>
                </a:solidFill>
              </a:rPr>
              <a:t>trigger</a:t>
            </a:r>
            <a:r>
              <a:rPr lang="en-US" altLang="en-US" sz="1400" dirty="0"/>
              <a:t> is a statement that is executed automatically by the system as a side effect of a modification to the database.</a:t>
            </a:r>
            <a:endParaRPr lang="en-US" altLang="en-US" sz="1400" dirty="0"/>
          </a:p>
          <a:p>
            <a:r>
              <a:rPr lang="en-US" altLang="en-US" sz="1400" dirty="0"/>
              <a:t>To design a trigger mechanism, we must:</a:t>
            </a:r>
            <a:endParaRPr lang="en-US" altLang="en-US" sz="1400" dirty="0"/>
          </a:p>
          <a:p>
            <a:pPr lvl="1"/>
            <a:r>
              <a:rPr lang="en-US" altLang="en-US" sz="1400" dirty="0">
                <a:ea typeface="MS PGothic" panose="020B0600070205080204" pitchFamily="34" charset="-128"/>
              </a:rPr>
              <a:t>Specify the conditions under which the trigger is to be executed.</a:t>
            </a:r>
            <a:endParaRPr lang="en-US" altLang="en-US" sz="1400" dirty="0">
              <a:ea typeface="MS PGothic" panose="020B0600070205080204" pitchFamily="34" charset="-128"/>
            </a:endParaRPr>
          </a:p>
          <a:p>
            <a:pPr lvl="1"/>
            <a:r>
              <a:rPr lang="en-US" altLang="en-US" sz="1400" dirty="0">
                <a:ea typeface="MS PGothic" panose="020B0600070205080204" pitchFamily="34" charset="-128"/>
              </a:rPr>
              <a:t>Specify the actions to be taken when the trigger executes.</a:t>
            </a:r>
            <a:endParaRPr lang="en-US" altLang="en-US" sz="1400" dirty="0">
              <a:ea typeface="MS PGothic" panose="020B0600070205080204" pitchFamily="34" charset="-128"/>
            </a:endParaRPr>
          </a:p>
          <a:p>
            <a:r>
              <a:rPr lang="en-US" altLang="en-US" sz="1400" dirty="0"/>
              <a:t>Triggers introduced to SQL standard in SQL:1999, but supported even earlier using non-standard syntax by most databases.		</a:t>
            </a:r>
            <a:endParaRPr lang="en-US" altLang="en-US" sz="1400" dirty="0"/>
          </a:p>
          <a:p>
            <a:pPr lvl="1"/>
            <a:r>
              <a:rPr lang="en-US" altLang="en-US" sz="1400" dirty="0">
                <a:solidFill>
                  <a:srgbClr val="002060"/>
                </a:solidFill>
                <a:ea typeface="MS PGothic" panose="020B0600070205080204" pitchFamily="34" charset="-128"/>
              </a:rPr>
              <a:t>Syntax illustrated here may not work exactly on your database system; check the system manuals</a:t>
            </a:r>
            <a:endParaRPr lang="en-US" altLang="en-US" sz="1400" dirty="0">
              <a:solidFill>
                <a:srgbClr val="002060"/>
              </a:solidFill>
              <a:ea typeface="MS PGothic" panose="020B0600070205080204" pitchFamily="34"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sz="2800" dirty="0">
                <a:effectLst>
                  <a:outerShdw blurRad="38100" dist="38100" dir="2700000" algn="tl">
                    <a:srgbClr val="C0C0C0"/>
                  </a:outerShdw>
                </a:effectLst>
              </a:rPr>
              <a:t>Triggering Events and Actions in SQL</a:t>
            </a:r>
            <a:endParaRPr lang="en-US" altLang="en-US" sz="28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1719263" y="820343"/>
            <a:ext cx="5789026" cy="3677840"/>
          </a:xfrm>
        </p:spPr>
        <p:txBody>
          <a:bodyPr lIns="68580"/>
          <a:lstStyle/>
          <a:p>
            <a:pPr>
              <a:lnSpc>
                <a:spcPct val="90000"/>
              </a:lnSpc>
            </a:pPr>
            <a:r>
              <a:rPr lang="en-US" altLang="en-US" sz="1400" dirty="0"/>
              <a:t>Triggering event can be </a:t>
            </a:r>
            <a:r>
              <a:rPr lang="en-US" altLang="en-US" sz="1400" b="1" dirty="0"/>
              <a:t>insert</a:t>
            </a:r>
            <a:r>
              <a:rPr lang="en-US" altLang="en-US" sz="1400" dirty="0"/>
              <a:t>, </a:t>
            </a:r>
            <a:r>
              <a:rPr lang="en-US" altLang="en-US" sz="1400" b="1" dirty="0"/>
              <a:t>delete</a:t>
            </a:r>
            <a:r>
              <a:rPr lang="en-US" altLang="en-US" sz="1400" dirty="0"/>
              <a:t> or </a:t>
            </a:r>
            <a:r>
              <a:rPr lang="en-US" altLang="en-US" sz="1400" b="1" dirty="0"/>
              <a:t>update</a:t>
            </a:r>
            <a:endParaRPr lang="en-US" altLang="en-US" sz="1400" b="1" dirty="0"/>
          </a:p>
          <a:p>
            <a:pPr>
              <a:lnSpc>
                <a:spcPct val="90000"/>
              </a:lnSpc>
            </a:pPr>
            <a:r>
              <a:rPr lang="en-US" altLang="en-US" sz="1400" dirty="0"/>
              <a:t>Triggers on update can be restricted to specific attributes</a:t>
            </a:r>
            <a:endParaRPr lang="en-US" altLang="en-US" sz="1400" dirty="0"/>
          </a:p>
          <a:p>
            <a:pPr lvl="1">
              <a:lnSpc>
                <a:spcPct val="90000"/>
              </a:lnSpc>
            </a:pPr>
            <a:r>
              <a:rPr lang="en-US" altLang="en-US" sz="1400" dirty="0">
                <a:ea typeface="MS PGothic" panose="020B0600070205080204" pitchFamily="34" charset="-128"/>
              </a:rPr>
              <a:t>For example, </a:t>
            </a:r>
            <a:r>
              <a:rPr lang="en-US" altLang="en-US" sz="1400" b="1" dirty="0">
                <a:ea typeface="MS PGothic" panose="020B0600070205080204" pitchFamily="34" charset="-128"/>
              </a:rPr>
              <a:t> after update of </a:t>
            </a:r>
            <a:r>
              <a:rPr lang="en-US" altLang="en-US" sz="1400" i="1" dirty="0">
                <a:ea typeface="MS PGothic" panose="020B0600070205080204" pitchFamily="34" charset="-128"/>
              </a:rPr>
              <a:t>takes </a:t>
            </a:r>
            <a:r>
              <a:rPr lang="en-US" altLang="en-US" sz="1400" b="1" dirty="0">
                <a:ea typeface="MS PGothic" panose="020B0600070205080204" pitchFamily="34" charset="-128"/>
              </a:rPr>
              <a:t>on</a:t>
            </a:r>
            <a:r>
              <a:rPr lang="en-US" altLang="en-US" sz="1400" i="1" dirty="0">
                <a:ea typeface="MS PGothic" panose="020B0600070205080204" pitchFamily="34" charset="-128"/>
              </a:rPr>
              <a:t> grade</a:t>
            </a:r>
            <a:endParaRPr lang="en-US" altLang="en-US" sz="1400" i="1" dirty="0">
              <a:ea typeface="MS PGothic" panose="020B0600070205080204" pitchFamily="34" charset="-128"/>
            </a:endParaRPr>
          </a:p>
          <a:p>
            <a:pPr>
              <a:lnSpc>
                <a:spcPct val="90000"/>
              </a:lnSpc>
            </a:pPr>
            <a:r>
              <a:rPr lang="en-US" altLang="en-US" sz="1400" dirty="0"/>
              <a:t>Values of attributes before and after an update can be referenced</a:t>
            </a:r>
            <a:endParaRPr lang="en-US" altLang="en-US" sz="1400" dirty="0"/>
          </a:p>
          <a:p>
            <a:pPr lvl="1">
              <a:lnSpc>
                <a:spcPct val="90000"/>
              </a:lnSpc>
            </a:pPr>
            <a:r>
              <a:rPr lang="en-US" altLang="en-US" sz="1400" b="1" dirty="0">
                <a:ea typeface="MS PGothic" panose="020B0600070205080204" pitchFamily="34" charset="-128"/>
              </a:rPr>
              <a:t>referencing old row as</a:t>
            </a:r>
            <a:r>
              <a:rPr lang="en-US" altLang="en-US" sz="1400" dirty="0">
                <a:ea typeface="MS PGothic" panose="020B0600070205080204" pitchFamily="34" charset="-128"/>
              </a:rPr>
              <a:t>   </a:t>
            </a:r>
            <a:r>
              <a:rPr lang="en-US" altLang="en-US" sz="1400" b="1" dirty="0">
                <a:ea typeface="MS PGothic" panose="020B0600070205080204" pitchFamily="34" charset="-128"/>
              </a:rPr>
              <a:t>: </a:t>
            </a:r>
            <a:r>
              <a:rPr lang="en-US" altLang="en-US" sz="1400" dirty="0">
                <a:ea typeface="MS PGothic" panose="020B0600070205080204" pitchFamily="34" charset="-128"/>
              </a:rPr>
              <a:t> for deletes and updates</a:t>
            </a:r>
            <a:endParaRPr lang="en-US" altLang="en-US" sz="1400" dirty="0">
              <a:ea typeface="MS PGothic" panose="020B0600070205080204" pitchFamily="34" charset="-128"/>
            </a:endParaRPr>
          </a:p>
          <a:p>
            <a:pPr lvl="1">
              <a:lnSpc>
                <a:spcPct val="90000"/>
              </a:lnSpc>
            </a:pPr>
            <a:r>
              <a:rPr lang="en-US" altLang="en-US" sz="1400" b="1" dirty="0">
                <a:ea typeface="MS PGothic" panose="020B0600070205080204" pitchFamily="34" charset="-128"/>
              </a:rPr>
              <a:t>referencing new row as  : </a:t>
            </a:r>
            <a:r>
              <a:rPr lang="en-US" altLang="en-US" sz="1400" dirty="0">
                <a:ea typeface="MS PGothic" panose="020B0600070205080204" pitchFamily="34" charset="-128"/>
              </a:rPr>
              <a:t>for inserts and updates</a:t>
            </a:r>
            <a:endParaRPr lang="en-US" altLang="en-US" sz="1400" b="1" dirty="0">
              <a:ea typeface="MS PGothic" panose="020B0600070205080204" pitchFamily="34" charset="-128"/>
            </a:endParaRPr>
          </a:p>
          <a:p>
            <a:pPr>
              <a:lnSpc>
                <a:spcPct val="90000"/>
              </a:lnSpc>
            </a:pPr>
            <a:r>
              <a:rPr lang="en-US" altLang="en-US" sz="1400" dirty="0"/>
              <a:t>Triggers can be activated before an event, which can serve as extra constraints.  For example,  convert blank grades to null.</a:t>
            </a:r>
            <a:endParaRPr lang="en-US" altLang="en-US" sz="1400" dirty="0"/>
          </a:p>
          <a:p>
            <a:pPr>
              <a:lnSpc>
                <a:spcPct val="90000"/>
              </a:lnSpc>
              <a:buFont typeface="Monotype Sorts" pitchFamily="-65" charset="2"/>
              <a:buNone/>
            </a:pPr>
            <a:r>
              <a:rPr lang="en-US" altLang="en-US" sz="300" dirty="0"/>
              <a:t> </a:t>
            </a:r>
            <a:endParaRPr lang="en-US" altLang="en-US" sz="300" dirty="0"/>
          </a:p>
          <a:p>
            <a:pPr>
              <a:lnSpc>
                <a:spcPct val="80000"/>
              </a:lnSpc>
              <a:buFont typeface="Monotype Sorts" pitchFamily="-65" charset="2"/>
              <a:buNone/>
            </a:pPr>
            <a:r>
              <a:rPr lang="en-US" altLang="en-US" sz="1400" b="1" dirty="0"/>
              <a:t>		create trigger </a:t>
            </a:r>
            <a:r>
              <a:rPr lang="en-US" altLang="en-US" sz="1400" i="1" dirty="0" err="1"/>
              <a:t>setnull_trigger</a:t>
            </a:r>
            <a:r>
              <a:rPr lang="en-US" altLang="en-US" sz="1400" i="1" dirty="0"/>
              <a:t> </a:t>
            </a:r>
            <a:r>
              <a:rPr lang="en-US" altLang="en-US" sz="1400" b="1" dirty="0"/>
              <a:t>before update of </a:t>
            </a:r>
            <a:r>
              <a:rPr lang="en-US" altLang="en-US" sz="1400" i="1" dirty="0"/>
              <a:t>takes</a:t>
            </a:r>
            <a:br>
              <a:rPr lang="en-US" altLang="en-US" sz="1400" i="1" dirty="0"/>
            </a:br>
            <a:r>
              <a:rPr lang="en-US" altLang="en-US" sz="1400" b="1" dirty="0"/>
              <a:t>	referencing new row as </a:t>
            </a:r>
            <a:r>
              <a:rPr lang="en-US" altLang="en-US" sz="1400" i="1" dirty="0" err="1"/>
              <a:t>nrow</a:t>
            </a:r>
            <a:br>
              <a:rPr lang="en-US" altLang="en-US" sz="1400" i="1" dirty="0"/>
            </a:br>
            <a:r>
              <a:rPr lang="en-US" altLang="en-US" sz="1400" b="1" dirty="0"/>
              <a:t>	for each row</a:t>
            </a:r>
            <a:br>
              <a:rPr lang="en-US" altLang="en-US" sz="1400" b="1" dirty="0"/>
            </a:br>
            <a:r>
              <a:rPr lang="en-US" altLang="en-US" sz="1400" b="1" dirty="0"/>
              <a:t>	      when (</a:t>
            </a:r>
            <a:r>
              <a:rPr lang="en-US" altLang="en-US" sz="1400" i="1" dirty="0" err="1"/>
              <a:t>nrow.grade</a:t>
            </a:r>
            <a:r>
              <a:rPr lang="en-US" altLang="en-US" sz="1400" dirty="0"/>
              <a:t> = </a:t>
            </a:r>
            <a:r>
              <a:rPr lang="en-US" altLang="ja-JP" sz="1400" dirty="0"/>
              <a:t>' ')</a:t>
            </a:r>
            <a:br>
              <a:rPr lang="en-US" altLang="ja-JP" sz="1400" dirty="0"/>
            </a:br>
            <a:r>
              <a:rPr lang="en-US" altLang="ja-JP" sz="1400" dirty="0"/>
              <a:t>               </a:t>
            </a:r>
            <a:r>
              <a:rPr lang="en-US" altLang="ja-JP" sz="1400" b="1" dirty="0"/>
              <a:t>begin atomic</a:t>
            </a:r>
            <a:br>
              <a:rPr lang="en-US" altLang="ja-JP" sz="1400" i="1" dirty="0"/>
            </a:br>
            <a:r>
              <a:rPr lang="en-US" altLang="ja-JP" sz="1400" b="1" dirty="0"/>
              <a:t>	          set </a:t>
            </a:r>
            <a:r>
              <a:rPr lang="en-US" altLang="ja-JP" sz="1400" i="1" dirty="0" err="1"/>
              <a:t>nrow.grade</a:t>
            </a:r>
            <a:r>
              <a:rPr lang="en-US" altLang="ja-JP" sz="1400" i="1" dirty="0"/>
              <a:t> </a:t>
            </a:r>
            <a:r>
              <a:rPr lang="en-US" altLang="ja-JP" sz="1400" dirty="0"/>
              <a:t>= </a:t>
            </a:r>
            <a:r>
              <a:rPr lang="en-US" altLang="ja-JP" sz="1400" b="1" dirty="0"/>
              <a:t>null;</a:t>
            </a:r>
            <a:br>
              <a:rPr lang="en-US" altLang="ja-JP" sz="1400" b="1" dirty="0"/>
            </a:br>
            <a:r>
              <a:rPr lang="en-US" altLang="ja-JP" sz="1400" b="1" dirty="0"/>
              <a:t>         end;</a:t>
            </a:r>
            <a:endParaRPr lang="en-US" altLang="ja-JP" sz="1400" b="1" dirty="0"/>
          </a:p>
          <a:p>
            <a:pPr indent="-365760"/>
            <a:endParaRPr lang="en-US" altLang="ja-JP" sz="1400" b="1" dirty="0"/>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799035" y="88106"/>
            <a:ext cx="6057900" cy="457200"/>
          </a:xfrm>
        </p:spPr>
        <p:txBody>
          <a:bodyPr/>
          <a:lstStyle/>
          <a:p>
            <a:r>
              <a:rPr lang="en-US" altLang="en-US" sz="2000">
                <a:effectLst/>
              </a:rPr>
              <a:t>Trigger to Maintain credits_earned value</a:t>
            </a:r>
            <a:endParaRPr lang="en-US" altLang="en-US" sz="2000">
              <a:effectLst/>
            </a:endParaRPr>
          </a:p>
        </p:txBody>
      </p:sp>
      <p:sp>
        <p:nvSpPr>
          <p:cNvPr id="50179" name="Rectangle 3"/>
          <p:cNvSpPr>
            <a:spLocks noGrp="1" noChangeArrowheads="1"/>
          </p:cNvSpPr>
          <p:nvPr>
            <p:ph type="body" idx="1"/>
          </p:nvPr>
        </p:nvSpPr>
        <p:spPr>
          <a:xfrm>
            <a:off x="1728926" y="820341"/>
            <a:ext cx="5992278" cy="3677840"/>
          </a:xfrm>
        </p:spPr>
        <p:txBody>
          <a:bodyPr/>
          <a:lstStyle/>
          <a:p>
            <a:r>
              <a:rPr lang="en-US" altLang="en-US" sz="1600" b="1" dirty="0"/>
              <a:t>create trigger </a:t>
            </a:r>
            <a:r>
              <a:rPr lang="en-US" altLang="en-US" sz="1600" i="1" dirty="0" err="1"/>
              <a:t>credits_earned</a:t>
            </a:r>
            <a:r>
              <a:rPr lang="en-US" altLang="en-US" sz="1600" i="1" dirty="0"/>
              <a:t> </a:t>
            </a:r>
            <a:r>
              <a:rPr lang="en-US" altLang="en-US" sz="1600" b="1" dirty="0"/>
              <a:t>after update of </a:t>
            </a:r>
            <a:r>
              <a:rPr lang="en-US" altLang="en-US" sz="1600" i="1" dirty="0"/>
              <a:t>takes </a:t>
            </a:r>
            <a:r>
              <a:rPr lang="en-US" altLang="en-US" sz="1600" b="1" dirty="0"/>
              <a:t>on </a:t>
            </a:r>
            <a:r>
              <a:rPr lang="en-US" altLang="en-US" sz="1600" dirty="0"/>
              <a:t>(</a:t>
            </a:r>
            <a:r>
              <a:rPr lang="en-US" altLang="en-US" sz="1600" i="1" dirty="0"/>
              <a:t>grade</a:t>
            </a:r>
            <a:r>
              <a:rPr lang="en-US" altLang="en-US" sz="1600" dirty="0"/>
              <a:t>)</a:t>
            </a:r>
            <a:br>
              <a:rPr lang="en-US" altLang="en-US" sz="1600" dirty="0"/>
            </a:br>
            <a:r>
              <a:rPr lang="en-US" altLang="en-US" sz="1600" b="1" dirty="0"/>
              <a:t>referencing new row as </a:t>
            </a:r>
            <a:r>
              <a:rPr lang="en-US" altLang="en-US" sz="1600" i="1" dirty="0" err="1"/>
              <a:t>nrow</a:t>
            </a:r>
            <a:br>
              <a:rPr lang="en-US" altLang="en-US" sz="1600" i="1" dirty="0"/>
            </a:br>
            <a:r>
              <a:rPr lang="en-US" altLang="en-US" sz="1600" b="1" dirty="0"/>
              <a:t>referencing old row as </a:t>
            </a:r>
            <a:r>
              <a:rPr lang="en-US" altLang="en-US" sz="1600" i="1" dirty="0" err="1"/>
              <a:t>orow</a:t>
            </a:r>
            <a:br>
              <a:rPr lang="en-US" altLang="en-US" sz="1600" i="1" dirty="0"/>
            </a:br>
            <a:r>
              <a:rPr lang="en-US" altLang="en-US" sz="1600" b="1" dirty="0"/>
              <a:t>for each row</a:t>
            </a:r>
            <a:br>
              <a:rPr lang="en-US" altLang="en-US" sz="1600" b="1" dirty="0"/>
            </a:br>
            <a:r>
              <a:rPr lang="en-US" altLang="en-US" sz="1600" b="1" dirty="0"/>
              <a:t>when </a:t>
            </a:r>
            <a:r>
              <a:rPr lang="en-US" altLang="en-US" sz="1600" i="1" dirty="0" err="1"/>
              <a:t>nrow.grade</a:t>
            </a:r>
            <a:r>
              <a:rPr lang="en-US" altLang="en-US" sz="1600" i="1" dirty="0"/>
              <a:t> </a:t>
            </a:r>
            <a:r>
              <a:rPr lang="en-US" altLang="en-US" sz="1600" dirty="0"/>
              <a:t>&lt;&gt; 'F' </a:t>
            </a:r>
            <a:r>
              <a:rPr lang="en-US" altLang="en-US" sz="1600" b="1" dirty="0"/>
              <a:t>and </a:t>
            </a:r>
            <a:r>
              <a:rPr lang="en-US" altLang="en-US" sz="1600" i="1" dirty="0" err="1"/>
              <a:t>nrow.grade</a:t>
            </a:r>
            <a:r>
              <a:rPr lang="en-US" altLang="en-US" sz="1600" i="1" dirty="0"/>
              <a:t> </a:t>
            </a:r>
            <a:r>
              <a:rPr lang="en-US" altLang="en-US" sz="1600" b="1" dirty="0"/>
              <a:t>is not null</a:t>
            </a:r>
            <a:br>
              <a:rPr lang="en-US" altLang="en-US" sz="1600" b="1" dirty="0"/>
            </a:br>
            <a:r>
              <a:rPr lang="en-US" altLang="en-US" sz="1600" b="1" dirty="0"/>
              <a:t>    and </a:t>
            </a:r>
            <a:r>
              <a:rPr lang="en-US" altLang="en-US" sz="1600" dirty="0"/>
              <a:t>(</a:t>
            </a:r>
            <a:r>
              <a:rPr lang="en-US" altLang="en-US" sz="1600" i="1" dirty="0" err="1"/>
              <a:t>orow.grade</a:t>
            </a:r>
            <a:r>
              <a:rPr lang="en-US" altLang="en-US" sz="1600" i="1" dirty="0"/>
              <a:t> </a:t>
            </a:r>
            <a:r>
              <a:rPr lang="en-US" altLang="en-US" sz="1600" dirty="0"/>
              <a:t>= 'F' </a:t>
            </a:r>
            <a:r>
              <a:rPr lang="en-US" altLang="en-US" sz="1600" b="1" dirty="0"/>
              <a:t>or </a:t>
            </a:r>
            <a:r>
              <a:rPr lang="en-US" altLang="en-US" sz="1600" i="1" dirty="0" err="1"/>
              <a:t>orow.grade</a:t>
            </a:r>
            <a:r>
              <a:rPr lang="en-US" altLang="en-US" sz="1600" i="1" dirty="0"/>
              <a:t> </a:t>
            </a:r>
            <a:r>
              <a:rPr lang="en-US" altLang="en-US" sz="1600" b="1" dirty="0"/>
              <a:t>is null</a:t>
            </a:r>
            <a:r>
              <a:rPr lang="en-US" altLang="en-US" sz="1600" dirty="0"/>
              <a:t>)</a:t>
            </a:r>
            <a:br>
              <a:rPr lang="en-US" altLang="en-US" sz="1600" dirty="0"/>
            </a:br>
            <a:r>
              <a:rPr lang="en-US" altLang="en-US" sz="1600" b="1" dirty="0"/>
              <a:t>begin atomic</a:t>
            </a:r>
            <a:br>
              <a:rPr lang="en-US" altLang="en-US" sz="1600" b="1" dirty="0"/>
            </a:br>
            <a:r>
              <a:rPr lang="en-US" altLang="en-US" sz="1600" b="1" dirty="0"/>
              <a:t>     update </a:t>
            </a:r>
            <a:r>
              <a:rPr lang="en-US" altLang="en-US" sz="1600" i="1" dirty="0"/>
              <a:t>student</a:t>
            </a:r>
            <a:br>
              <a:rPr lang="en-US" altLang="en-US" sz="1600" i="1" dirty="0"/>
            </a:br>
            <a:r>
              <a:rPr lang="en-US" altLang="en-US" sz="1600" i="1" dirty="0"/>
              <a:t>     </a:t>
            </a:r>
            <a:r>
              <a:rPr lang="en-US" altLang="en-US" sz="1600" b="1" dirty="0"/>
              <a:t>set </a:t>
            </a:r>
            <a:r>
              <a:rPr lang="en-US" altLang="en-US" sz="1600" i="1" dirty="0" err="1"/>
              <a:t>tot_cred</a:t>
            </a:r>
            <a:r>
              <a:rPr lang="en-US" altLang="en-US" sz="1600" dirty="0"/>
              <a:t>= </a:t>
            </a:r>
            <a:r>
              <a:rPr lang="en-US" altLang="en-US" sz="1600" i="1" dirty="0" err="1"/>
              <a:t>tot_cred</a:t>
            </a:r>
            <a:r>
              <a:rPr lang="en-US" altLang="en-US" sz="1600" i="1" dirty="0"/>
              <a:t> </a:t>
            </a:r>
            <a:r>
              <a:rPr lang="en-US" altLang="en-US" sz="1600" dirty="0"/>
              <a:t>+ </a:t>
            </a:r>
            <a:br>
              <a:rPr lang="en-US" altLang="en-US" sz="1600" dirty="0"/>
            </a:br>
            <a:r>
              <a:rPr lang="en-US" altLang="en-US" sz="1600" dirty="0"/>
              <a:t>           (</a:t>
            </a:r>
            <a:r>
              <a:rPr lang="en-US" altLang="en-US" sz="1600" b="1" dirty="0"/>
              <a:t>select </a:t>
            </a:r>
            <a:r>
              <a:rPr lang="en-US" altLang="en-US" sz="1600" i="1" dirty="0"/>
              <a:t>credits</a:t>
            </a:r>
            <a:br>
              <a:rPr lang="en-US" altLang="en-US" sz="1600" i="1" dirty="0"/>
            </a:br>
            <a:r>
              <a:rPr lang="en-US" altLang="en-US" sz="1600" i="1" dirty="0"/>
              <a:t>            </a:t>
            </a:r>
            <a:r>
              <a:rPr lang="en-US" altLang="en-US" sz="1600" b="1" dirty="0"/>
              <a:t>from </a:t>
            </a:r>
            <a:r>
              <a:rPr lang="en-US" altLang="en-US" sz="1600" i="1" dirty="0"/>
              <a:t>course</a:t>
            </a:r>
            <a:br>
              <a:rPr lang="en-US" altLang="en-US" sz="1600" i="1" dirty="0"/>
            </a:br>
            <a:r>
              <a:rPr lang="en-US" altLang="en-US" sz="1600" i="1" dirty="0"/>
              <a:t>            </a:t>
            </a:r>
            <a:r>
              <a:rPr lang="en-US" altLang="en-US" sz="1600" b="1" dirty="0"/>
              <a:t>where </a:t>
            </a:r>
            <a:r>
              <a:rPr lang="en-US" altLang="en-US" sz="1600" i="1" dirty="0" err="1"/>
              <a:t>course</a:t>
            </a:r>
            <a:r>
              <a:rPr lang="en-US" altLang="en-US" sz="1600" dirty="0" err="1"/>
              <a:t>.</a:t>
            </a:r>
            <a:r>
              <a:rPr lang="en-US" altLang="en-US" sz="1600" i="1" dirty="0" err="1"/>
              <a:t>course_id</a:t>
            </a:r>
            <a:r>
              <a:rPr lang="en-US" altLang="en-US" sz="1600" dirty="0"/>
              <a:t>= </a:t>
            </a:r>
            <a:r>
              <a:rPr lang="en-US" altLang="en-US" sz="1600" i="1" dirty="0" err="1"/>
              <a:t>nrow.course_id</a:t>
            </a:r>
            <a:r>
              <a:rPr lang="en-US" altLang="en-US" sz="1600" dirty="0"/>
              <a:t>)</a:t>
            </a:r>
            <a:br>
              <a:rPr lang="en-US" altLang="en-US" sz="1600" dirty="0"/>
            </a:br>
            <a:r>
              <a:rPr lang="en-US" altLang="en-US" sz="1600" dirty="0"/>
              <a:t>     </a:t>
            </a:r>
            <a:r>
              <a:rPr lang="en-US" altLang="en-US" sz="1600" b="1" dirty="0"/>
              <a:t>where </a:t>
            </a:r>
            <a:r>
              <a:rPr lang="en-US" altLang="en-US" sz="1600" i="1" dirty="0"/>
              <a:t>student.id </a:t>
            </a:r>
            <a:r>
              <a:rPr lang="en-US" altLang="en-US" sz="1600" dirty="0"/>
              <a:t>= </a:t>
            </a:r>
            <a:r>
              <a:rPr lang="en-US" altLang="en-US" sz="1600" i="1" dirty="0"/>
              <a:t>nrow.id</a:t>
            </a:r>
            <a:r>
              <a:rPr lang="en-US" altLang="en-US" sz="1600" dirty="0"/>
              <a:t>;</a:t>
            </a:r>
            <a:br>
              <a:rPr lang="en-US" altLang="en-US" sz="1600" dirty="0"/>
            </a:br>
            <a:r>
              <a:rPr lang="en-US" altLang="en-US" sz="1600" b="1" dirty="0"/>
              <a:t>end</a:t>
            </a:r>
            <a:r>
              <a:rPr lang="en-US" altLang="en-US" sz="1600" dirty="0"/>
              <a:t>;</a:t>
            </a:r>
            <a:endParaRPr lang="en-US" alt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p:txBody>
          <a:bodyPr/>
          <a:lstStyle/>
          <a:p>
            <a:pPr>
              <a:defRPr/>
            </a:pPr>
            <a:r>
              <a:rPr lang="en-US" altLang="en-US" sz="3200">
                <a:effectLst>
                  <a:outerShdw blurRad="38100" dist="38100" dir="2700000" algn="tl">
                    <a:srgbClr val="C0C0C0"/>
                  </a:outerShdw>
                </a:effectLst>
              </a:rPr>
              <a:t>Statement Level Triggers</a:t>
            </a:r>
            <a:endParaRPr lang="en-US" altLang="en-US" sz="3200">
              <a:effectLst>
                <a:outerShdw blurRad="38100" dist="38100" dir="2700000" algn="tl">
                  <a:srgbClr val="C0C0C0"/>
                </a:outerShdw>
              </a:effectLst>
            </a:endParaRPr>
          </a:p>
        </p:txBody>
      </p:sp>
      <p:sp>
        <p:nvSpPr>
          <p:cNvPr id="51203" name="Rectangle 3"/>
          <p:cNvSpPr>
            <a:spLocks noGrp="1" noChangeArrowheads="1"/>
          </p:cNvSpPr>
          <p:nvPr>
            <p:ph type="body" idx="1"/>
          </p:nvPr>
        </p:nvSpPr>
        <p:spPr>
          <a:xfrm>
            <a:off x="1719263" y="895350"/>
            <a:ext cx="5769052" cy="3677841"/>
          </a:xfrm>
        </p:spPr>
        <p:txBody>
          <a:bodyPr/>
          <a:lstStyle/>
          <a:p>
            <a:r>
              <a:rPr lang="en-US" altLang="en-US" sz="1600" dirty="0"/>
              <a:t>Instead of executing a separate action for each affected row, a single action can be executed for all rows affected by a transaction</a:t>
            </a:r>
            <a:endParaRPr lang="en-US" altLang="en-US" sz="1600" dirty="0"/>
          </a:p>
          <a:p>
            <a:pPr lvl="1"/>
            <a:r>
              <a:rPr lang="en-US" altLang="en-US" sz="1600" dirty="0">
                <a:ea typeface="MS PGothic" panose="020B0600070205080204" pitchFamily="34" charset="-128"/>
              </a:rPr>
              <a:t>Use     </a:t>
            </a:r>
            <a:r>
              <a:rPr lang="en-US" altLang="en-US" sz="1600" b="1" dirty="0">
                <a:ea typeface="MS PGothic" panose="020B0600070205080204" pitchFamily="34" charset="-128"/>
              </a:rPr>
              <a:t>for each statement      </a:t>
            </a:r>
            <a:r>
              <a:rPr lang="en-US" altLang="en-US" sz="1600" dirty="0">
                <a:ea typeface="MS PGothic" panose="020B0600070205080204" pitchFamily="34" charset="-128"/>
              </a:rPr>
              <a:t>instead of    </a:t>
            </a:r>
            <a:r>
              <a:rPr lang="en-US" altLang="en-US" sz="1600" b="1" dirty="0">
                <a:ea typeface="MS PGothic" panose="020B0600070205080204" pitchFamily="34" charset="-128"/>
              </a:rPr>
              <a:t>for each row</a:t>
            </a:r>
            <a:endParaRPr lang="en-US" altLang="en-US" sz="1600" b="1" dirty="0">
              <a:ea typeface="MS PGothic" panose="020B0600070205080204" pitchFamily="34" charset="-128"/>
            </a:endParaRPr>
          </a:p>
          <a:p>
            <a:pPr lvl="1"/>
            <a:r>
              <a:rPr lang="en-US" altLang="en-US" sz="1600" dirty="0">
                <a:ea typeface="MS PGothic" panose="020B0600070205080204" pitchFamily="34" charset="-128"/>
              </a:rPr>
              <a:t>Use     </a:t>
            </a:r>
            <a:r>
              <a:rPr lang="en-US" altLang="en-US" sz="1600" b="1" dirty="0">
                <a:ea typeface="MS PGothic" panose="020B0600070205080204" pitchFamily="34" charset="-128"/>
              </a:rPr>
              <a:t>referencing old table</a:t>
            </a:r>
            <a:r>
              <a:rPr lang="en-US" altLang="en-US" sz="1600" dirty="0">
                <a:ea typeface="MS PGothic" panose="020B0600070205080204" pitchFamily="34" charset="-128"/>
              </a:rPr>
              <a:t>   or   </a:t>
            </a:r>
            <a:r>
              <a:rPr lang="en-US" altLang="en-US" sz="1600" b="1" dirty="0">
                <a:ea typeface="MS PGothic" panose="020B0600070205080204" pitchFamily="34" charset="-128"/>
              </a:rPr>
              <a:t>referencing new table</a:t>
            </a:r>
            <a:r>
              <a:rPr lang="en-US" altLang="en-US" sz="1600" dirty="0">
                <a:ea typeface="MS PGothic" panose="020B0600070205080204" pitchFamily="34" charset="-128"/>
              </a:rPr>
              <a:t>   to refer to temporary tables  (called </a:t>
            </a:r>
            <a:r>
              <a:rPr lang="en-US" altLang="en-US" sz="1600" b="1" i="1" dirty="0">
                <a:solidFill>
                  <a:srgbClr val="002060"/>
                </a:solidFill>
                <a:ea typeface="MS PGothic" panose="020B0600070205080204" pitchFamily="34" charset="-128"/>
              </a:rPr>
              <a:t>transition tables</a:t>
            </a:r>
            <a:r>
              <a:rPr lang="en-US" altLang="en-US" sz="1600" dirty="0">
                <a:ea typeface="MS PGothic" panose="020B0600070205080204" pitchFamily="34" charset="-128"/>
              </a:rPr>
              <a:t>) containing the affected rows</a:t>
            </a:r>
            <a:endParaRPr lang="en-US" altLang="en-US" sz="1600" dirty="0">
              <a:ea typeface="MS PGothic" panose="020B0600070205080204" pitchFamily="34" charset="-128"/>
            </a:endParaRPr>
          </a:p>
          <a:p>
            <a:pPr lvl="1"/>
            <a:r>
              <a:rPr lang="en-US" altLang="en-US" sz="1600" dirty="0">
                <a:ea typeface="MS PGothic" panose="020B0600070205080204" pitchFamily="34" charset="-128"/>
              </a:rPr>
              <a:t>Can be more efficient when dealing with SQL statements that update a large number of rows</a:t>
            </a:r>
            <a:endParaRPr lang="en-US" altLang="en-US" sz="1600" dirty="0">
              <a:ea typeface="MS PGothic" panose="020B0600070205080204" pitchFamily="34" charset="-128"/>
            </a:endParaRPr>
          </a:p>
          <a:p>
            <a:endParaRPr lang="en-US" altLang="en-US" sz="1600" dirty="0">
              <a:ea typeface="MS PGothic" panose="020B0600070205080204" pitchFamily="34" charset="-128"/>
            </a:endParaRPr>
          </a:p>
        </p:txBody>
      </p:sp>
      <p:grpSp>
        <p:nvGrpSpPr>
          <p:cNvPr id="5" name="组合 4"/>
          <p:cNvGrpSpPr/>
          <p:nvPr/>
        </p:nvGrpSpPr>
        <p:grpSpPr>
          <a:xfrm>
            <a:off x="3996055" y="3723640"/>
            <a:ext cx="723265" cy="955040"/>
            <a:chOff x="737" y="4617"/>
            <a:chExt cx="1139" cy="1504"/>
          </a:xfrm>
        </p:grpSpPr>
        <p:pic>
          <p:nvPicPr>
            <p:cNvPr id="6" name="Picture 101"/>
            <p:cNvPicPr/>
            <p:nvPr/>
          </p:nvPicPr>
          <p:blipFill>
            <a:blip r:embed="rId1"/>
            <a:stretch>
              <a:fillRect/>
            </a:stretch>
          </p:blipFill>
          <p:spPr>
            <a:xfrm>
              <a:off x="737" y="4617"/>
              <a:ext cx="1139" cy="1139"/>
            </a:xfrm>
            <a:prstGeom prst="rect">
              <a:avLst/>
            </a:prstGeom>
            <a:noFill/>
            <a:ln w="9525">
              <a:noFill/>
            </a:ln>
          </p:spPr>
        </p:pic>
        <p:sp>
          <p:nvSpPr>
            <p:cNvPr id="7" name="文本框 6"/>
            <p:cNvSpPr txBox="1"/>
            <p:nvPr/>
          </p:nvSpPr>
          <p:spPr>
            <a:xfrm>
              <a:off x="1077" y="5638"/>
              <a:ext cx="457" cy="483"/>
            </a:xfrm>
            <a:prstGeom prst="rect">
              <a:avLst/>
            </a:prstGeom>
            <a:noFill/>
          </p:spPr>
          <p:txBody>
            <a:bodyPr wrap="square" rtlCol="0">
              <a:spAutoFit/>
            </a:bodyPr>
            <a:p>
              <a:r>
                <a:rPr lang="en-US" altLang="zh-CN" sz="1400"/>
                <a:t>5</a:t>
              </a:r>
              <a:endParaRPr lang="en-US" altLang="zh-CN" sz="1400"/>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When Not To Use Triggers</a:t>
            </a:r>
            <a:endParaRPr lang="en-US" altLang="en-US">
              <a:effectLst>
                <a:outerShdw blurRad="38100" dist="38100" dir="2700000" algn="tl">
                  <a:srgbClr val="C0C0C0"/>
                </a:outerShdw>
              </a:effectLst>
            </a:endParaRPr>
          </a:p>
        </p:txBody>
      </p:sp>
      <p:sp>
        <p:nvSpPr>
          <p:cNvPr id="52227" name="Rectangle 3"/>
          <p:cNvSpPr>
            <a:spLocks noGrp="1" noChangeArrowheads="1"/>
          </p:cNvSpPr>
          <p:nvPr>
            <p:ph type="body" idx="1"/>
          </p:nvPr>
        </p:nvSpPr>
        <p:spPr>
          <a:xfrm>
            <a:off x="1719263" y="859812"/>
            <a:ext cx="5729102" cy="3428102"/>
          </a:xfrm>
        </p:spPr>
        <p:txBody>
          <a:bodyPr/>
          <a:lstStyle/>
          <a:p>
            <a:r>
              <a:rPr lang="en-US" altLang="en-US" sz="1200" dirty="0"/>
              <a:t>Triggers were used earlier for tasks such as </a:t>
            </a:r>
            <a:endParaRPr lang="en-US" altLang="en-US" sz="1200" dirty="0"/>
          </a:p>
          <a:p>
            <a:pPr lvl="1"/>
            <a:r>
              <a:rPr lang="en-US" altLang="en-US" sz="1200" dirty="0">
                <a:ea typeface="MS PGothic" panose="020B0600070205080204" pitchFamily="34" charset="-128"/>
              </a:rPr>
              <a:t>Maintaining summary data (e.g., total salary of each department)</a:t>
            </a:r>
            <a:endParaRPr lang="en-US" altLang="en-US" sz="1200" dirty="0">
              <a:ea typeface="MS PGothic" panose="020B0600070205080204" pitchFamily="34" charset="-128"/>
            </a:endParaRPr>
          </a:p>
          <a:p>
            <a:pPr lvl="1"/>
            <a:r>
              <a:rPr lang="en-US" altLang="en-US" sz="1200" dirty="0">
                <a:ea typeface="MS PGothic" panose="020B0600070205080204" pitchFamily="34" charset="-128"/>
              </a:rPr>
              <a:t>Replicating databases by recording changes to special relations (called </a:t>
            </a:r>
            <a:r>
              <a:rPr lang="en-US" altLang="en-US" sz="1200" b="1" dirty="0">
                <a:solidFill>
                  <a:srgbClr val="002060"/>
                </a:solidFill>
                <a:ea typeface="MS PGothic" panose="020B0600070205080204" pitchFamily="34" charset="-128"/>
              </a:rPr>
              <a:t>change</a:t>
            </a:r>
            <a:r>
              <a:rPr lang="en-US" altLang="en-US" sz="1200" dirty="0">
                <a:ea typeface="MS PGothic" panose="020B0600070205080204" pitchFamily="34" charset="-128"/>
              </a:rPr>
              <a:t> or </a:t>
            </a:r>
            <a:r>
              <a:rPr lang="en-US" altLang="en-US" sz="1200" b="1" dirty="0">
                <a:solidFill>
                  <a:srgbClr val="002060"/>
                </a:solidFill>
                <a:ea typeface="MS PGothic" panose="020B0600070205080204" pitchFamily="34" charset="-128"/>
              </a:rPr>
              <a:t>delta</a:t>
            </a:r>
            <a:r>
              <a:rPr lang="en-US" altLang="en-US" sz="1200" dirty="0">
                <a:ea typeface="MS PGothic" panose="020B0600070205080204" pitchFamily="34" charset="-128"/>
              </a:rPr>
              <a:t> relations) and having a separate process that applies the changes over to a replica </a:t>
            </a:r>
            <a:endParaRPr lang="en-US" altLang="en-US" sz="1200" dirty="0">
              <a:ea typeface="MS PGothic" panose="020B0600070205080204" pitchFamily="34" charset="-128"/>
            </a:endParaRPr>
          </a:p>
          <a:p>
            <a:r>
              <a:rPr lang="en-US" altLang="en-US" sz="1200" dirty="0"/>
              <a:t>There are better ways of doing these now:</a:t>
            </a:r>
            <a:endParaRPr lang="en-US" altLang="en-US" sz="1200" dirty="0"/>
          </a:p>
          <a:p>
            <a:pPr lvl="1"/>
            <a:r>
              <a:rPr lang="en-US" altLang="en-US" sz="1200" dirty="0">
                <a:ea typeface="MS PGothic" panose="020B0600070205080204" pitchFamily="34" charset="-128"/>
              </a:rPr>
              <a:t>Databases today provide built in materialized view facilities to maintain summary data</a:t>
            </a:r>
            <a:endParaRPr lang="en-US" altLang="en-US" sz="1200" dirty="0">
              <a:ea typeface="MS PGothic" panose="020B0600070205080204" pitchFamily="34" charset="-128"/>
            </a:endParaRPr>
          </a:p>
          <a:p>
            <a:pPr lvl="1"/>
            <a:r>
              <a:rPr lang="en-US" altLang="en-US" sz="1200" dirty="0">
                <a:ea typeface="MS PGothic" panose="020B0600070205080204" pitchFamily="34" charset="-128"/>
              </a:rPr>
              <a:t>Databases provide built-in support for replication</a:t>
            </a:r>
            <a:endParaRPr lang="en-US" altLang="en-US" sz="1200" dirty="0">
              <a:ea typeface="MS PGothic" panose="020B0600070205080204" pitchFamily="34" charset="-128"/>
            </a:endParaRPr>
          </a:p>
          <a:p>
            <a:r>
              <a:rPr lang="en-US" altLang="en-US" sz="1200" dirty="0"/>
              <a:t>Encapsulation facilities can be used instead of triggers in many cases</a:t>
            </a:r>
            <a:endParaRPr lang="en-US" altLang="en-US" sz="1200" dirty="0"/>
          </a:p>
          <a:p>
            <a:pPr lvl="1"/>
            <a:r>
              <a:rPr lang="en-US" altLang="en-US" sz="1200" dirty="0">
                <a:ea typeface="MS PGothic" panose="020B0600070205080204" pitchFamily="34" charset="-128"/>
              </a:rPr>
              <a:t>Define methods to update fields</a:t>
            </a:r>
            <a:endParaRPr lang="en-US" altLang="en-US" sz="1200" dirty="0">
              <a:ea typeface="MS PGothic" panose="020B0600070205080204" pitchFamily="34" charset="-128"/>
            </a:endParaRPr>
          </a:p>
          <a:p>
            <a:pPr lvl="1"/>
            <a:r>
              <a:rPr lang="en-US" altLang="en-US" sz="1200" dirty="0">
                <a:ea typeface="MS PGothic" panose="020B0600070205080204" pitchFamily="34" charset="-128"/>
              </a:rPr>
              <a:t>Carry out actions as part of the update methods instead of </a:t>
            </a:r>
            <a:br>
              <a:rPr lang="en-US" altLang="en-US" sz="1200" dirty="0">
                <a:ea typeface="MS PGothic" panose="020B0600070205080204" pitchFamily="34" charset="-128"/>
              </a:rPr>
            </a:br>
            <a:r>
              <a:rPr lang="en-US" altLang="en-US" sz="1200" dirty="0">
                <a:ea typeface="MS PGothic" panose="020B0600070205080204" pitchFamily="34" charset="-128"/>
              </a:rPr>
              <a:t>through a trigger </a:t>
            </a:r>
            <a:endParaRPr lang="en-US" altLang="en-US" sz="1200" dirty="0">
              <a:ea typeface="MS PGothic" panose="020B0600070205080204" pitchFamily="34"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a:lstStyle/>
          <a:p>
            <a:pPr>
              <a:defRPr/>
            </a:pPr>
            <a:r>
              <a:rPr lang="en-US" altLang="en-US" sz="2800">
                <a:effectLst>
                  <a:outerShdw blurRad="38100" dist="38100" dir="2700000" algn="tl">
                    <a:srgbClr val="C0C0C0"/>
                  </a:outerShdw>
                </a:effectLst>
              </a:rPr>
              <a:t>When Not To Use Triggers (Cont.)</a:t>
            </a:r>
            <a:endParaRPr lang="en-US" altLang="en-US" sz="2800">
              <a:effectLst>
                <a:outerShdw blurRad="38100" dist="38100" dir="2700000" algn="tl">
                  <a:srgbClr val="C0C0C0"/>
                </a:outerShdw>
              </a:effectLst>
            </a:endParaRPr>
          </a:p>
        </p:txBody>
      </p:sp>
      <p:sp>
        <p:nvSpPr>
          <p:cNvPr id="53251" name="Rectangle 3"/>
          <p:cNvSpPr>
            <a:spLocks noGrp="1" noChangeArrowheads="1"/>
          </p:cNvSpPr>
          <p:nvPr>
            <p:ph type="body" idx="1"/>
          </p:nvPr>
        </p:nvSpPr>
        <p:spPr>
          <a:xfrm>
            <a:off x="1719263" y="885825"/>
            <a:ext cx="5695811" cy="3967163"/>
          </a:xfrm>
        </p:spPr>
        <p:txBody>
          <a:bodyPr/>
          <a:lstStyle/>
          <a:p>
            <a:pPr>
              <a:lnSpc>
                <a:spcPct val="80000"/>
              </a:lnSpc>
            </a:pPr>
            <a:r>
              <a:rPr lang="en-US" altLang="en-US" sz="1600" dirty="0"/>
              <a:t>Risk of unintended execution of triggers, for example, when</a:t>
            </a:r>
            <a:endParaRPr lang="en-US" altLang="en-US" sz="1600" dirty="0"/>
          </a:p>
          <a:p>
            <a:pPr lvl="1">
              <a:lnSpc>
                <a:spcPct val="80000"/>
              </a:lnSpc>
            </a:pPr>
            <a:r>
              <a:rPr lang="en-US" altLang="en-US" sz="1600" dirty="0">
                <a:ea typeface="MS PGothic" panose="020B0600070205080204" pitchFamily="34" charset="-128"/>
              </a:rPr>
              <a:t>Loading data from a backup copy</a:t>
            </a:r>
            <a:endParaRPr lang="en-US" altLang="en-US" sz="1600" dirty="0">
              <a:ea typeface="MS PGothic" panose="020B0600070205080204" pitchFamily="34" charset="-128"/>
            </a:endParaRPr>
          </a:p>
          <a:p>
            <a:pPr lvl="1">
              <a:lnSpc>
                <a:spcPct val="80000"/>
              </a:lnSpc>
            </a:pPr>
            <a:r>
              <a:rPr lang="en-US" altLang="en-US" sz="1600" dirty="0">
                <a:ea typeface="MS PGothic" panose="020B0600070205080204" pitchFamily="34" charset="-128"/>
              </a:rPr>
              <a:t>Replicating updates at a remote site</a:t>
            </a:r>
            <a:endParaRPr lang="en-US" altLang="en-US" sz="1600" dirty="0">
              <a:ea typeface="MS PGothic" panose="020B0600070205080204" pitchFamily="34" charset="-128"/>
            </a:endParaRPr>
          </a:p>
          <a:p>
            <a:pPr lvl="1">
              <a:lnSpc>
                <a:spcPct val="80000"/>
              </a:lnSpc>
            </a:pPr>
            <a:r>
              <a:rPr lang="en-US" altLang="en-US" sz="1600" dirty="0">
                <a:ea typeface="MS PGothic" panose="020B0600070205080204" pitchFamily="34" charset="-128"/>
              </a:rPr>
              <a:t>Trigger execution can be disabled before such actions.</a:t>
            </a:r>
            <a:endParaRPr lang="en-US" altLang="en-US" sz="1600" dirty="0">
              <a:ea typeface="MS PGothic" panose="020B0600070205080204" pitchFamily="34" charset="-128"/>
            </a:endParaRPr>
          </a:p>
          <a:p>
            <a:pPr>
              <a:lnSpc>
                <a:spcPct val="80000"/>
              </a:lnSpc>
            </a:pPr>
            <a:r>
              <a:rPr lang="en-US" altLang="en-US" sz="1600" dirty="0"/>
              <a:t>Other risks with triggers:</a:t>
            </a:r>
            <a:endParaRPr lang="en-US" altLang="en-US" sz="1600" dirty="0"/>
          </a:p>
          <a:p>
            <a:pPr lvl="1">
              <a:lnSpc>
                <a:spcPct val="80000"/>
              </a:lnSpc>
            </a:pPr>
            <a:r>
              <a:rPr lang="en-US" altLang="en-US" sz="1600" dirty="0">
                <a:ea typeface="MS PGothic" panose="020B0600070205080204" pitchFamily="34" charset="-128"/>
              </a:rPr>
              <a:t>Error leading to failure of critical transactions that set off the trigger</a:t>
            </a:r>
            <a:endParaRPr lang="en-US" altLang="en-US" sz="1600" dirty="0">
              <a:ea typeface="MS PGothic" panose="020B0600070205080204" pitchFamily="34" charset="-128"/>
            </a:endParaRPr>
          </a:p>
          <a:p>
            <a:pPr lvl="1">
              <a:lnSpc>
                <a:spcPct val="80000"/>
              </a:lnSpc>
            </a:pPr>
            <a:r>
              <a:rPr lang="en-US" altLang="en-US" sz="1600" dirty="0">
                <a:ea typeface="MS PGothic" panose="020B0600070205080204" pitchFamily="34" charset="-128"/>
              </a:rPr>
              <a:t>Cascading execution</a:t>
            </a:r>
            <a:endParaRPr lang="en-US" altLang="en-US" sz="1600" dirty="0">
              <a:ea typeface="MS PGothic" panose="020B0600070205080204" pitchFamily="34" charset="-128"/>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*Event-driven Programming</a:t>
            </a:r>
            <a:endParaRPr lang="en-US" altLang="zh-CN">
              <a:sym typeface="+mn-ea"/>
            </a:endParaRPr>
          </a:p>
        </p:txBody>
      </p:sp>
      <p:sp>
        <p:nvSpPr>
          <p:cNvPr id="3" name="内容占位符 2"/>
          <p:cNvSpPr>
            <a:spLocks noGrp="1"/>
          </p:cNvSpPr>
          <p:nvPr>
            <p:ph idx="1"/>
          </p:nvPr>
        </p:nvSpPr>
        <p:spPr/>
        <p:txBody>
          <a:bodyPr/>
          <a:p>
            <a:r>
              <a:rPr lang="en-US" altLang="zh-CN">
                <a:sym typeface="+mn-ea"/>
              </a:rPr>
              <a:t>In computer programming, event-driven programming also known as event-based programming is a programming method in which the flow of the program is determined by sensor outputs or user actions (such as mouse clicks, key presses) or by messages from other programs or threads running on the computer.</a:t>
            </a:r>
            <a:endParaRPr lang="en-US" altLang="zh-CN">
              <a:sym typeface="+mn-ea"/>
            </a:endParaRPr>
          </a:p>
        </p:txBody>
      </p:sp>
      <p:grpSp>
        <p:nvGrpSpPr>
          <p:cNvPr id="5" name="组合 4"/>
          <p:cNvGrpSpPr/>
          <p:nvPr/>
        </p:nvGrpSpPr>
        <p:grpSpPr>
          <a:xfrm>
            <a:off x="3851910" y="3334385"/>
            <a:ext cx="723265" cy="955040"/>
            <a:chOff x="737" y="4617"/>
            <a:chExt cx="1139" cy="1504"/>
          </a:xfrm>
        </p:grpSpPr>
        <p:pic>
          <p:nvPicPr>
            <p:cNvPr id="6" name="Picture 101"/>
            <p:cNvPicPr/>
            <p:nvPr/>
          </p:nvPicPr>
          <p:blipFill>
            <a:blip r:embed="rId1"/>
            <a:stretch>
              <a:fillRect/>
            </a:stretch>
          </p:blipFill>
          <p:spPr>
            <a:xfrm>
              <a:off x="737" y="4617"/>
              <a:ext cx="1139" cy="1139"/>
            </a:xfrm>
            <a:prstGeom prst="rect">
              <a:avLst/>
            </a:prstGeom>
            <a:noFill/>
            <a:ln w="9525">
              <a:noFill/>
            </a:ln>
          </p:spPr>
        </p:pic>
        <p:sp>
          <p:nvSpPr>
            <p:cNvPr id="7" name="文本框 6"/>
            <p:cNvSpPr txBox="1"/>
            <p:nvPr/>
          </p:nvSpPr>
          <p:spPr>
            <a:xfrm>
              <a:off x="1077" y="5638"/>
              <a:ext cx="457" cy="483"/>
            </a:xfrm>
            <a:prstGeom prst="rect">
              <a:avLst/>
            </a:prstGeom>
            <a:noFill/>
          </p:spPr>
          <p:txBody>
            <a:bodyPr wrap="square" rtlCol="0">
              <a:spAutoFit/>
            </a:bodyPr>
            <a:p>
              <a:r>
                <a:rPr lang="en-US" altLang="zh-CN" sz="1400"/>
                <a:t>6</a:t>
              </a:r>
              <a:endParaRPr lang="en-US" altLang="zh-CN" sz="1400"/>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*Trigger is an instance of event-driven</a:t>
            </a:r>
            <a:endParaRPr lang="en-US" altLang="zh-CN"/>
          </a:p>
        </p:txBody>
      </p:sp>
      <p:sp>
        <p:nvSpPr>
          <p:cNvPr id="3" name="内容占位符 2"/>
          <p:cNvSpPr>
            <a:spLocks noGrp="1"/>
          </p:cNvSpPr>
          <p:nvPr>
            <p:ph idx="1"/>
          </p:nvPr>
        </p:nvSpPr>
        <p:spPr/>
        <p:txBody>
          <a:bodyPr/>
          <a:p>
            <a:r>
              <a:rPr lang="en-US" altLang="zh-CN"/>
              <a:t>Database trigger is nothing more than “an event-driven callback living inside the database kernel”.</a:t>
            </a:r>
            <a:endParaRPr lang="en-US" altLang="zh-CN"/>
          </a:p>
          <a:p>
            <a:endParaRPr lang="en-US" altLang="zh-CN"/>
          </a:p>
          <a:p>
            <a:endParaRPr lang="en-US" altLang="zh-CN"/>
          </a:p>
        </p:txBody>
      </p:sp>
      <p:graphicFrame>
        <p:nvGraphicFramePr>
          <p:cNvPr id="8" name="表格 7"/>
          <p:cNvGraphicFramePr/>
          <p:nvPr>
            <p:custDataLst>
              <p:tags r:id="rId1"/>
            </p:custDataLst>
          </p:nvPr>
        </p:nvGraphicFramePr>
        <p:xfrm>
          <a:off x="1403985" y="1419860"/>
          <a:ext cx="6597650" cy="3183890"/>
        </p:xfrm>
        <a:graphic>
          <a:graphicData uri="http://schemas.openxmlformats.org/drawingml/2006/table">
            <a:tbl>
              <a:tblPr firstRow="1" bandRow="1">
                <a:tableStyleId>{EDAFD779-E397-40EB-AA4E-C3CA5DDCC859}</a:tableStyleId>
              </a:tblPr>
              <a:tblGrid>
                <a:gridCol w="2296160"/>
                <a:gridCol w="4301490"/>
              </a:tblGrid>
              <a:tr h="321310">
                <a:tc>
                  <a:txBody>
                    <a:bodyPr/>
                    <a:p>
                      <a:pPr algn="l" fontAlgn="ctr"/>
                      <a:r>
                        <a:rPr lang="en-US" altLang="zh-CN" sz="1000"/>
                        <a:t> Event-driven architecture (EDA) </a:t>
                      </a:r>
                      <a:endParaRPr lang="en-US" altLang="zh-CN" sz="1000"/>
                    </a:p>
                  </a:txBody>
                  <a:tcPr marL="7937" marR="7937" marT="7937" marB="0" anchor="ctr" anchorCtr="0"/>
                </a:tc>
                <a:tc>
                  <a:txBody>
                    <a:bodyPr/>
                    <a:p>
                      <a:pPr algn="l" fontAlgn="ctr"/>
                      <a:r>
                        <a:rPr lang="en-US" altLang="zh-CN" sz="1000"/>
                        <a:t> Database trigger </a:t>
                      </a:r>
                      <a:endParaRPr lang="en-US" altLang="zh-CN" sz="1000"/>
                    </a:p>
                  </a:txBody>
                  <a:tcPr marL="7937" marR="7937" marT="7937" marB="0" anchor="ctr" anchorCtr="0"/>
                </a:tc>
              </a:tr>
              <a:tr h="384175">
                <a:tc>
                  <a:txBody>
                    <a:bodyPr/>
                    <a:p>
                      <a:pPr algn="l" fontAlgn="ctr"/>
                      <a:r>
                        <a:rPr lang="en-US" altLang="zh-CN" sz="1200"/>
                        <a:t> Event source </a:t>
                      </a:r>
                      <a:endParaRPr lang="en-US" altLang="zh-CN" sz="1200"/>
                    </a:p>
                  </a:txBody>
                  <a:tcPr marL="7937" marR="7937" marT="7937" marB="0" anchor="ctr" anchorCtr="0"/>
                </a:tc>
                <a:tc>
                  <a:txBody>
                    <a:bodyPr/>
                    <a:p>
                      <a:pPr algn="l" fontAlgn="ctr"/>
                      <a:r>
                        <a:rPr lang="en-US" altLang="zh-CN" sz="1200"/>
                        <a:t> DML/DDL/database-level events on a table or column (INSERT, UPDATE, DELETE, CREATE, LOGON …) </a:t>
                      </a:r>
                      <a:endParaRPr lang="en-US" altLang="zh-CN" sz="1200"/>
                    </a:p>
                  </a:txBody>
                  <a:tcPr marL="7937" marR="7937" marT="7937" marB="0" anchor="ctr" anchorCtr="0"/>
                </a:tc>
              </a:tr>
              <a:tr h="383540">
                <a:tc>
                  <a:txBody>
                    <a:bodyPr/>
                    <a:p>
                      <a:pPr algn="l" fontAlgn="ctr"/>
                      <a:r>
                        <a:rPr lang="en-US" altLang="zh-CN" sz="1200"/>
                        <a:t> Event object </a:t>
                      </a:r>
                      <a:endParaRPr lang="en-US" altLang="zh-CN" sz="1200"/>
                    </a:p>
                  </a:txBody>
                  <a:tcPr marL="7937" marR="7937" marT="7937" marB="0" anchor="ctr" anchorCtr="0"/>
                </a:tc>
                <a:tc>
                  <a:txBody>
                    <a:bodyPr/>
                    <a:p>
                      <a:pPr algn="l" fontAlgn="ctr"/>
                      <a:r>
                        <a:rPr lang="en-US" altLang="zh-CN" sz="1200"/>
                        <a:t> The “transition table” or :OLD / :NEW pseudo-records generated by the kernel for that change </a:t>
                      </a:r>
                      <a:endParaRPr lang="en-US" altLang="zh-CN" sz="1200"/>
                    </a:p>
                  </a:txBody>
                  <a:tcPr marL="7937" marR="7937" marT="7937" marB="0" anchor="ctr" anchorCtr="0"/>
                </a:tc>
              </a:tr>
              <a:tr h="383540">
                <a:tc>
                  <a:txBody>
                    <a:bodyPr/>
                    <a:p>
                      <a:pPr algn="l" fontAlgn="ctr"/>
                      <a:r>
                        <a:rPr lang="en-US" altLang="zh-CN" sz="1200"/>
                        <a:t> Event bus / dispatcher </a:t>
                      </a:r>
                      <a:endParaRPr lang="en-US" altLang="zh-CN" sz="1200"/>
                    </a:p>
                  </a:txBody>
                  <a:tcPr marL="7937" marR="7937" marT="7937" marB="0" anchor="ctr" anchorCtr="0"/>
                </a:tc>
                <a:tc>
                  <a:txBody>
                    <a:bodyPr/>
                    <a:p>
                      <a:pPr algn="l" fontAlgn="ctr"/>
                      <a:r>
                        <a:rPr lang="en-US" altLang="zh-CN" sz="1200"/>
                        <a:t> The trigger manager, which hands control to the bound trigger when a given event point fires </a:t>
                      </a:r>
                      <a:endParaRPr lang="en-US" altLang="zh-CN" sz="1200"/>
                    </a:p>
                  </a:txBody>
                  <a:tcPr marL="7937" marR="7937" marT="7937" marB="0" anchor="ctr" anchorCtr="0"/>
                </a:tc>
              </a:tr>
              <a:tr h="383540">
                <a:tc>
                  <a:txBody>
                    <a:bodyPr/>
                    <a:p>
                      <a:pPr algn="l" fontAlgn="ctr"/>
                      <a:r>
                        <a:rPr lang="en-US" altLang="zh-CN" sz="1200"/>
                        <a:t> Listener / handler </a:t>
                      </a:r>
                      <a:endParaRPr lang="en-US" altLang="zh-CN" sz="1200"/>
                    </a:p>
                  </a:txBody>
                  <a:tcPr marL="7937" marR="7937" marT="7937" marB="0" anchor="ctr" anchorCtr="0"/>
                </a:tc>
                <a:tc>
                  <a:txBody>
                    <a:bodyPr/>
                    <a:p>
                      <a:pPr algn="l" fontAlgn="ctr"/>
                      <a:r>
                        <a:rPr lang="en-US" altLang="zh-CN" sz="1200"/>
                        <a:t> The PL/SQL, T-SQL, pgSQL, etc. procedural code you write inside the trigger body </a:t>
                      </a:r>
                      <a:endParaRPr lang="en-US" altLang="zh-CN" sz="1200"/>
                    </a:p>
                  </a:txBody>
                  <a:tcPr marL="7937" marR="7937" marT="7937" marB="0" anchor="ctr" anchorCtr="0"/>
                </a:tc>
              </a:tr>
              <a:tr h="757555">
                <a:tc>
                  <a:txBody>
                    <a:bodyPr/>
                    <a:p>
                      <a:pPr algn="l" fontAlgn="ctr"/>
                      <a:r>
                        <a:rPr lang="en-US" altLang="zh-CN" sz="1200"/>
                        <a:t> Sync vs async </a:t>
                      </a:r>
                      <a:endParaRPr lang="en-US" altLang="zh-CN" sz="1200"/>
                    </a:p>
                  </a:txBody>
                  <a:tcPr marL="7937" marR="7937" marT="7937" marB="0" anchor="ctr" anchorCtr="0"/>
                </a:tc>
                <a:tc>
                  <a:txBody>
                    <a:bodyPr/>
                    <a:p>
                      <a:pPr algn="l" fontAlgn="ctr"/>
                      <a:r>
                        <a:rPr lang="en-US" altLang="zh-CN" sz="1200"/>
                        <a:t> 99 % of triggers run **synchronously** inside the same transaction, but you can also write the event into a queue and let an asynchronous job consume it (Oracle AQ, pgmq, RabbitMQ plug-in …), turning the DB into an “EDA inside the box” </a:t>
                      </a:r>
                      <a:endParaRPr lang="en-US" altLang="zh-CN" sz="1200"/>
                    </a:p>
                  </a:txBody>
                  <a:tcPr marL="7937" marR="7937" marT="7937" marB="0" anchor="ctr" anchorCtr="0"/>
                </a:tc>
              </a:tr>
              <a:tr h="570230">
                <a:tc>
                  <a:txBody>
                    <a:bodyPr/>
                    <a:p>
                      <a:pPr algn="l" fontAlgn="ctr"/>
                      <a:r>
                        <a:rPr lang="en-US" altLang="zh-CN" sz="1200"/>
                        <a:t> Callback rules </a:t>
                      </a:r>
                      <a:endParaRPr lang="en-US" altLang="zh-CN" sz="1200"/>
                    </a:p>
                  </a:txBody>
                  <a:tcPr marL="7937" marR="7937" marT="7937" marB="0" anchor="ctr" anchorCtr="0"/>
                </a:tc>
                <a:tc>
                  <a:txBody>
                    <a:bodyPr/>
                    <a:p>
                      <a:pPr algn="l" fontAlgn="ctr"/>
                      <a:r>
                        <a:rPr lang="en-US" altLang="zh-CN" sz="1200"/>
                        <a:t> Trigger timing (BEFORE / AFTER / INSTEAD OF), granularity (ROW / STATEMENT), number of invocations—exactly the filtering conditions you specify when registering an event handler </a:t>
                      </a:r>
                      <a:endParaRPr lang="en-US" altLang="zh-CN" sz="1200"/>
                    </a:p>
                  </a:txBody>
                  <a:tcPr marL="7937" marR="7937" marT="7937" marB="0" anchor="ctr" anchorCtr="0"/>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a:t>**Why the instruction-driven is always the mainstream?</a:t>
            </a:r>
            <a:endParaRPr lang="en-US" altLang="zh-CN" sz="2800"/>
          </a:p>
        </p:txBody>
      </p:sp>
      <p:pic>
        <p:nvPicPr>
          <p:cNvPr id="4" name="内容占位符 3"/>
          <p:cNvPicPr>
            <a:picLocks noChangeAspect="1"/>
          </p:cNvPicPr>
          <p:nvPr>
            <p:ph idx="1"/>
          </p:nvPr>
        </p:nvPicPr>
        <p:blipFill>
          <a:blip r:embed="rId1"/>
          <a:srcRect l="2548" t="11095" r="3676" b="5584"/>
          <a:stretch>
            <a:fillRect/>
          </a:stretch>
        </p:blipFill>
        <p:spPr>
          <a:xfrm>
            <a:off x="539115" y="843915"/>
            <a:ext cx="7920990" cy="2160270"/>
          </a:xfrm>
          <a:prstGeom prst="rect">
            <a:avLst/>
          </a:prstGeom>
        </p:spPr>
      </p:pic>
      <p:sp>
        <p:nvSpPr>
          <p:cNvPr id="5" name="文本框 4"/>
          <p:cNvSpPr txBox="1"/>
          <p:nvPr/>
        </p:nvSpPr>
        <p:spPr>
          <a:xfrm>
            <a:off x="323850" y="3004185"/>
            <a:ext cx="8499475" cy="1381125"/>
          </a:xfrm>
          <a:prstGeom prst="rect">
            <a:avLst/>
          </a:prstGeom>
          <a:noFill/>
        </p:spPr>
        <p:txBody>
          <a:bodyPr wrap="square" rtlCol="0" anchor="t">
            <a:noAutofit/>
          </a:bodyPr>
          <a:p>
            <a:pPr marL="263525" indent="-263525" algn="l" defTabSz="1090930" latinLnBrk="0">
              <a:spcBef>
                <a:spcPts val="600"/>
              </a:spcBef>
              <a:buClrTx/>
              <a:buSzPct val="75000"/>
              <a:buFontTx/>
              <a:buChar char="•"/>
            </a:pPr>
            <a:r>
              <a:rPr lang="en-US" altLang="zh-CN" sz="1200" u="sng">
                <a:latin typeface="+mn-lt"/>
                <a:ea typeface="+mn-ea"/>
                <a:cs typeface="+mn-cs"/>
              </a:rPr>
              <a:t>From the machine's perspective, they are the equivalent. </a:t>
            </a:r>
            <a:r>
              <a:rPr lang="en-US" altLang="zh-CN" sz="1200">
                <a:latin typeface="+mn-lt"/>
                <a:ea typeface="+mn-ea"/>
                <a:cs typeface="+mn-cs"/>
              </a:rPr>
              <a:t>But,...</a:t>
            </a:r>
            <a:endParaRPr lang="en-US" altLang="zh-CN" sz="1200">
              <a:latin typeface="+mn-lt"/>
              <a:ea typeface="+mn-ea"/>
              <a:cs typeface="+mn-cs"/>
            </a:endParaRPr>
          </a:p>
          <a:p>
            <a:pPr marL="263525" indent="-263525" algn="l" defTabSz="1090930" latinLnBrk="0">
              <a:spcBef>
                <a:spcPts val="600"/>
              </a:spcBef>
              <a:buClrTx/>
              <a:buSzPct val="75000"/>
              <a:buFontTx/>
              <a:buChar char="•"/>
            </a:pPr>
            <a:r>
              <a:rPr lang="en-US" altLang="zh-CN" sz="1200">
                <a:latin typeface="+mn-lt"/>
                <a:ea typeface="+mn-ea"/>
                <a:cs typeface="+mn-cs"/>
              </a:rPr>
              <a:t>The human brain has evolved through natural selection and contains specialized cognitive modules that address specific survival and reproductive challenges.</a:t>
            </a:r>
            <a:endParaRPr lang="en-US" altLang="zh-CN" sz="1200">
              <a:latin typeface="+mn-lt"/>
              <a:ea typeface="+mn-ea"/>
              <a:cs typeface="+mn-cs"/>
            </a:endParaRPr>
          </a:p>
          <a:p>
            <a:pPr marL="263525" indent="-263525" algn="l" defTabSz="1090930" latinLnBrk="0">
              <a:spcBef>
                <a:spcPts val="600"/>
              </a:spcBef>
              <a:buClrTx/>
              <a:buSzPct val="75000"/>
              <a:buFontTx/>
              <a:buChar char="•"/>
            </a:pPr>
            <a:r>
              <a:rPr lang="en-US" altLang="zh-CN" sz="1200">
                <a:latin typeface="+mn-lt"/>
                <a:ea typeface="+mn-ea"/>
                <a:cs typeface="+mn-cs"/>
              </a:rPr>
              <a:t>For instance,people typically complete tasks step by step in a certain order.This sequential thinking stems from:</a:t>
            </a:r>
            <a:endParaRPr lang="en-US" altLang="zh-CN" sz="1200">
              <a:latin typeface="+mn-lt"/>
              <a:ea typeface="+mn-ea"/>
              <a:cs typeface="+mn-cs"/>
            </a:endParaRPr>
          </a:p>
          <a:p>
            <a:pPr marL="720725" lvl="1" indent="-263525" algn="l" defTabSz="1090930" latinLnBrk="0">
              <a:spcBef>
                <a:spcPts val="600"/>
              </a:spcBef>
              <a:buClrTx/>
              <a:buSzPct val="75000"/>
              <a:buFontTx/>
              <a:buChar char="•"/>
            </a:pPr>
            <a:r>
              <a:rPr lang="en-US" altLang="zh-CN" sz="1200">
                <a:latin typeface="+mn-lt"/>
                <a:ea typeface="+mn-ea"/>
                <a:cs typeface="+mn-cs"/>
              </a:rPr>
              <a:t>In hunting activities,focusing on one task and proceeding according to a plan is more conducive to survival.</a:t>
            </a:r>
            <a:endParaRPr lang="en-US" altLang="zh-CN" sz="1200">
              <a:latin typeface="+mn-lt"/>
              <a:ea typeface="+mn-ea"/>
              <a:cs typeface="+mn-cs"/>
            </a:endParaRPr>
          </a:p>
          <a:p>
            <a:pPr marL="720725" lvl="1" indent="-263525" algn="l" defTabSz="1090930" latinLnBrk="0">
              <a:spcBef>
                <a:spcPts val="600"/>
              </a:spcBef>
              <a:buClrTx/>
              <a:buSzPct val="75000"/>
              <a:buFontTx/>
              <a:buChar char="•"/>
            </a:pPr>
            <a:r>
              <a:rPr lang="en-US" altLang="zh-CN" sz="1200">
                <a:latin typeface="+mn-lt"/>
                <a:ea typeface="+mn-ea"/>
                <a:cs typeface="+mn-cs"/>
              </a:rPr>
              <a:t>Sequential knowledge is repeatable, thus it can be better learned and passed down.</a:t>
            </a:r>
            <a:endParaRPr lang="en-US" altLang="zh-CN" sz="1200">
              <a:latin typeface="+mn-lt"/>
              <a:ea typeface="+mn-ea"/>
              <a:cs typeface="+mn-cs"/>
            </a:endParaRPr>
          </a:p>
          <a:p>
            <a:pPr marL="720725" lvl="1" indent="-263525" algn="l" defTabSz="1090930" latinLnBrk="0">
              <a:spcBef>
                <a:spcPts val="600"/>
              </a:spcBef>
              <a:buClrTx/>
              <a:buSzPct val="75000"/>
              <a:buFontTx/>
              <a:buChar char="•"/>
            </a:pPr>
            <a:r>
              <a:rPr lang="en-US" altLang="zh-CN" sz="1200">
                <a:latin typeface="+mn-lt"/>
                <a:ea typeface="+mn-ea"/>
                <a:cs typeface="+mn-cs"/>
              </a:rPr>
              <a:t>Humans tend to choose predictable environments and settle in calm areas rather than those with intense changes.</a:t>
            </a:r>
            <a:endParaRPr lang="en-US" altLang="zh-CN" sz="1200">
              <a:latin typeface="+mn-lt"/>
              <a:ea typeface="+mn-ea"/>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Recursion in SQL</a:t>
            </a:r>
            <a:endParaRPr lang="en-US" altLang="en-US">
              <a:effectLst>
                <a:outerShdw blurRad="38100" dist="38100" dir="2700000" algn="tl">
                  <a:srgbClr val="C0C0C0"/>
                </a:outerShdw>
              </a:effectLst>
            </a:endParaRPr>
          </a:p>
        </p:txBody>
      </p:sp>
      <p:sp>
        <p:nvSpPr>
          <p:cNvPr id="55299" name="Rectangle 3"/>
          <p:cNvSpPr>
            <a:spLocks noGrp="1" noChangeArrowheads="1"/>
          </p:cNvSpPr>
          <p:nvPr>
            <p:ph type="body" idx="1"/>
          </p:nvPr>
        </p:nvSpPr>
        <p:spPr>
          <a:xfrm>
            <a:off x="1719263" y="785813"/>
            <a:ext cx="5834063" cy="3677841"/>
          </a:xfrm>
        </p:spPr>
        <p:txBody>
          <a:bodyPr/>
          <a:lstStyle/>
          <a:p>
            <a:r>
              <a:rPr lang="en-US" altLang="en-US" sz="1800" dirty="0"/>
              <a:t>Example: find which courses are a prerequisite, whether directly or indirectly, for a specific course </a:t>
            </a:r>
            <a:br>
              <a:rPr lang="en-US" altLang="en-US" sz="1800" dirty="0"/>
            </a:br>
            <a:r>
              <a:rPr lang="en-US" altLang="en-US" sz="1800" b="1" dirty="0"/>
              <a:t>with recursive </a:t>
            </a:r>
            <a:r>
              <a:rPr lang="en-US" altLang="en-US" sz="1800" i="1" dirty="0" err="1"/>
              <a:t>rec_prereq</a:t>
            </a:r>
            <a:r>
              <a:rPr lang="en-US" altLang="en-US" sz="1800" dirty="0"/>
              <a:t>(</a:t>
            </a:r>
            <a:r>
              <a:rPr lang="en-US" altLang="en-US" sz="1800" i="1" dirty="0" err="1"/>
              <a:t>course_id</a:t>
            </a:r>
            <a:r>
              <a:rPr lang="en-US" altLang="en-US" sz="1800" dirty="0"/>
              <a:t>, </a:t>
            </a:r>
            <a:r>
              <a:rPr lang="en-US" altLang="en-US" sz="1800" i="1" dirty="0" err="1"/>
              <a:t>prereq_id</a:t>
            </a:r>
            <a:r>
              <a:rPr lang="en-US" altLang="en-US" sz="1800" dirty="0"/>
              <a:t>) </a:t>
            </a:r>
            <a:r>
              <a:rPr lang="en-US" altLang="en-US" sz="1800" b="1" dirty="0"/>
              <a:t>as </a:t>
            </a:r>
            <a:r>
              <a:rPr lang="en-US" altLang="en-US" sz="1800" dirty="0"/>
              <a:t>(</a:t>
            </a:r>
            <a:br>
              <a:rPr lang="en-US" altLang="en-US" sz="1800" dirty="0"/>
            </a:br>
            <a:r>
              <a:rPr lang="en-US" altLang="en-US" sz="1800" dirty="0"/>
              <a:t>        </a:t>
            </a:r>
            <a:r>
              <a:rPr lang="en-US" altLang="en-US" sz="1800" b="1" dirty="0"/>
              <a:t>select </a:t>
            </a:r>
            <a:r>
              <a:rPr lang="en-US" altLang="en-US" sz="1800" i="1" dirty="0" err="1"/>
              <a:t>course_id</a:t>
            </a:r>
            <a:r>
              <a:rPr lang="en-US" altLang="en-US" sz="1800" dirty="0"/>
              <a:t>, </a:t>
            </a:r>
            <a:r>
              <a:rPr lang="en-US" altLang="en-US" sz="1800" i="1" dirty="0" err="1"/>
              <a:t>prereq_id</a:t>
            </a:r>
            <a:br>
              <a:rPr lang="en-US" altLang="en-US" sz="1800" i="1" dirty="0"/>
            </a:br>
            <a:r>
              <a:rPr lang="en-US" altLang="en-US" sz="1800" i="1" dirty="0"/>
              <a:t>        </a:t>
            </a:r>
            <a:r>
              <a:rPr lang="en-US" altLang="en-US" sz="1800" b="1" dirty="0"/>
              <a:t>from </a:t>
            </a:r>
            <a:r>
              <a:rPr lang="en-US" altLang="en-US" sz="1800" i="1" dirty="0" err="1"/>
              <a:t>prereq</a:t>
            </a:r>
            <a:br>
              <a:rPr lang="en-US" altLang="en-US" sz="1800" i="1" dirty="0"/>
            </a:br>
            <a:r>
              <a:rPr lang="en-US" altLang="en-US" sz="1800" i="1" dirty="0"/>
              <a:t>    </a:t>
            </a:r>
            <a:r>
              <a:rPr lang="en-US" altLang="en-US" sz="1800" b="1" dirty="0"/>
              <a:t>union</a:t>
            </a:r>
            <a:br>
              <a:rPr lang="en-US" altLang="en-US" sz="1800" b="1" dirty="0"/>
            </a:br>
            <a:r>
              <a:rPr lang="en-US" altLang="en-US" sz="1800" b="1" dirty="0"/>
              <a:t>        select </a:t>
            </a:r>
            <a:r>
              <a:rPr lang="en-US" altLang="en-US" sz="1800" i="1" dirty="0" err="1"/>
              <a:t>rec_prereq</a:t>
            </a:r>
            <a:r>
              <a:rPr lang="en-US" altLang="en-US" sz="1800" dirty="0" err="1"/>
              <a:t>.</a:t>
            </a:r>
            <a:r>
              <a:rPr lang="en-US" altLang="en-US" sz="1800" i="1" dirty="0" err="1"/>
              <a:t>course_id</a:t>
            </a:r>
            <a:r>
              <a:rPr lang="en-US" altLang="en-US" sz="1800" b="1" dirty="0"/>
              <a:t>, </a:t>
            </a:r>
            <a:r>
              <a:rPr lang="en-US" altLang="en-US" sz="1800" i="1" dirty="0" err="1"/>
              <a:t>prereq</a:t>
            </a:r>
            <a:r>
              <a:rPr lang="en-US" altLang="en-US" sz="1800" dirty="0" err="1"/>
              <a:t>.</a:t>
            </a:r>
            <a:r>
              <a:rPr lang="en-US" altLang="en-US" sz="1800" i="1" dirty="0" err="1"/>
              <a:t>prereq_id</a:t>
            </a:r>
            <a:r>
              <a:rPr lang="en-US" altLang="en-US" sz="1800" dirty="0"/>
              <a:t>, </a:t>
            </a:r>
            <a:br>
              <a:rPr lang="en-US" altLang="en-US" sz="1800" i="1" dirty="0"/>
            </a:br>
            <a:r>
              <a:rPr lang="en-US" altLang="en-US" sz="1800" i="1" dirty="0"/>
              <a:t>        </a:t>
            </a:r>
            <a:r>
              <a:rPr lang="en-US" altLang="en-US" sz="1800" b="1" dirty="0"/>
              <a:t>from </a:t>
            </a:r>
            <a:r>
              <a:rPr lang="en-US" altLang="en-US" sz="1800" i="1" dirty="0" err="1"/>
              <a:t>rec_rereq</a:t>
            </a:r>
            <a:r>
              <a:rPr lang="en-US" altLang="en-US" sz="1800" dirty="0"/>
              <a:t>, </a:t>
            </a:r>
            <a:r>
              <a:rPr lang="en-US" altLang="en-US" sz="1800" i="1" dirty="0" err="1"/>
              <a:t>prereq</a:t>
            </a:r>
            <a:br>
              <a:rPr lang="en-US" altLang="en-US" sz="1800" i="1" dirty="0"/>
            </a:br>
            <a:r>
              <a:rPr lang="en-US" altLang="en-US" sz="1800" i="1" dirty="0"/>
              <a:t>        </a:t>
            </a:r>
            <a:r>
              <a:rPr lang="en-US" altLang="en-US" sz="1800" b="1" dirty="0"/>
              <a:t>where </a:t>
            </a:r>
            <a:r>
              <a:rPr lang="en-US" altLang="en-US" sz="1800" i="1" dirty="0" err="1"/>
              <a:t>rec_prereq</a:t>
            </a:r>
            <a:r>
              <a:rPr lang="en-US" altLang="en-US" sz="1800" dirty="0" err="1"/>
              <a:t>.</a:t>
            </a:r>
            <a:r>
              <a:rPr lang="en-US" altLang="en-US" sz="1800" i="1" dirty="0" err="1"/>
              <a:t>prereq_id</a:t>
            </a:r>
            <a:r>
              <a:rPr lang="en-US" altLang="en-US" sz="1800" i="1" dirty="0"/>
              <a:t> </a:t>
            </a:r>
            <a:r>
              <a:rPr lang="en-US" altLang="en-US" sz="1800" dirty="0"/>
              <a:t>= </a:t>
            </a:r>
            <a:r>
              <a:rPr lang="en-US" altLang="en-US" sz="1800" i="1" dirty="0" err="1"/>
              <a:t>prereq</a:t>
            </a:r>
            <a:r>
              <a:rPr lang="en-US" altLang="en-US" sz="1800" dirty="0" err="1"/>
              <a:t>.</a:t>
            </a:r>
            <a:r>
              <a:rPr lang="en-US" altLang="en-US" sz="1800" i="1" dirty="0" err="1"/>
              <a:t>course_id</a:t>
            </a:r>
            <a:br>
              <a:rPr lang="en-US" altLang="en-US" sz="1800" i="1" dirty="0"/>
            </a:br>
            <a:r>
              <a:rPr lang="en-US" altLang="en-US" sz="1800" i="1" dirty="0"/>
              <a:t>    </a:t>
            </a:r>
            <a:r>
              <a:rPr lang="en-US" altLang="en-US" sz="1800" dirty="0"/>
              <a:t>)</a:t>
            </a:r>
            <a:br>
              <a:rPr lang="en-US" altLang="en-US" sz="1800" dirty="0"/>
            </a:br>
            <a:r>
              <a:rPr lang="en-US" altLang="en-US" sz="1800" b="1" dirty="0"/>
              <a:t>select </a:t>
            </a:r>
            <a:r>
              <a:rPr lang="en-US" altLang="en-US" sz="1800" dirty="0"/>
              <a:t>∗</a:t>
            </a:r>
            <a:br>
              <a:rPr lang="en-US" altLang="en-US" sz="1800" dirty="0"/>
            </a:br>
            <a:r>
              <a:rPr lang="en-US" altLang="en-US" sz="1800" b="1" dirty="0"/>
              <a:t>from </a:t>
            </a:r>
            <a:r>
              <a:rPr lang="en-US" altLang="en-US" sz="1800" i="1" dirty="0" err="1"/>
              <a:t>rec_prereq</a:t>
            </a:r>
            <a:r>
              <a:rPr lang="en-US" altLang="en-US" sz="1800" dirty="0"/>
              <a:t>;</a:t>
            </a:r>
            <a:endParaRPr lang="en-US" altLang="en-US" sz="1800" dirty="0"/>
          </a:p>
          <a:p>
            <a:pPr>
              <a:buFont typeface="Monotype Sorts" pitchFamily="-65" charset="2"/>
              <a:buNone/>
            </a:pPr>
            <a:r>
              <a:rPr lang="en-US" altLang="en-US" sz="1800" i="1" dirty="0"/>
              <a:t>	</a:t>
            </a:r>
            <a:r>
              <a:rPr lang="en-US" altLang="en-US" sz="1800" dirty="0"/>
              <a:t>This example view, </a:t>
            </a:r>
            <a:r>
              <a:rPr lang="en-US" altLang="en-US" sz="1800" i="1" dirty="0" err="1"/>
              <a:t>rec_prereq</a:t>
            </a:r>
            <a:r>
              <a:rPr lang="en-US" altLang="en-US" sz="1800" i="1" dirty="0"/>
              <a:t>,</a:t>
            </a:r>
            <a:r>
              <a:rPr lang="en-US" altLang="en-US" sz="1800" dirty="0"/>
              <a:t> is called the </a:t>
            </a:r>
            <a:r>
              <a:rPr lang="en-US" altLang="en-US" sz="1800" i="1" dirty="0"/>
              <a:t>transitive closure</a:t>
            </a:r>
            <a:r>
              <a:rPr lang="en-US" altLang="en-US" sz="1800" dirty="0"/>
              <a:t> of the </a:t>
            </a:r>
            <a:r>
              <a:rPr lang="en-US" altLang="en-US" sz="1800" i="1" dirty="0" err="1"/>
              <a:t>prereq</a:t>
            </a:r>
            <a:r>
              <a:rPr lang="en-US" altLang="en-US" sz="1800" i="1" dirty="0"/>
              <a:t> </a:t>
            </a:r>
            <a:r>
              <a:rPr lang="en-US" altLang="en-US" sz="1800" dirty="0"/>
              <a:t>relation</a:t>
            </a:r>
            <a:endParaRPr lang="en-US" alt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The Power of Recursion</a:t>
            </a:r>
            <a:endParaRPr lang="en-US" altLang="en-US">
              <a:effectLst>
                <a:outerShdw blurRad="38100" dist="38100" dir="2700000" algn="tl">
                  <a:srgbClr val="C0C0C0"/>
                </a:outerShdw>
              </a:effectLst>
            </a:endParaRPr>
          </a:p>
        </p:txBody>
      </p:sp>
      <p:sp>
        <p:nvSpPr>
          <p:cNvPr id="56323" name="Rectangle 3"/>
          <p:cNvSpPr>
            <a:spLocks noGrp="1" noChangeArrowheads="1"/>
          </p:cNvSpPr>
          <p:nvPr>
            <p:ph type="body" idx="1"/>
          </p:nvPr>
        </p:nvSpPr>
        <p:spPr>
          <a:xfrm>
            <a:off x="1719263" y="802164"/>
            <a:ext cx="5715786" cy="3927872"/>
          </a:xfrm>
        </p:spPr>
        <p:txBody>
          <a:bodyPr/>
          <a:lstStyle/>
          <a:p>
            <a:r>
              <a:rPr lang="en-US" altLang="en-US" sz="1600" dirty="0"/>
              <a:t>Recursive views make it possible to write queries, such as transitive closure queries, that cannot be written without recursion or iteration.</a:t>
            </a:r>
            <a:endParaRPr lang="en-US" altLang="en-US" sz="1600" dirty="0"/>
          </a:p>
          <a:p>
            <a:pPr lvl="1"/>
            <a:r>
              <a:rPr lang="en-US" altLang="en-US" sz="1600" dirty="0">
                <a:ea typeface="MS PGothic" panose="020B0600070205080204" pitchFamily="34" charset="-128"/>
              </a:rPr>
              <a:t>Intuition:  Without recursion, a non-recursive non-iterative program can perform only a fixed number of joins of </a:t>
            </a:r>
            <a:r>
              <a:rPr lang="en-US" altLang="en-US" sz="1600" i="1" dirty="0" err="1">
                <a:ea typeface="MS PGothic" panose="020B0600070205080204" pitchFamily="34" charset="-128"/>
              </a:rPr>
              <a:t>prereq</a:t>
            </a:r>
            <a:r>
              <a:rPr lang="en-US" altLang="en-US" sz="1600" dirty="0">
                <a:ea typeface="MS PGothic" panose="020B0600070205080204" pitchFamily="34" charset="-128"/>
              </a:rPr>
              <a:t> with itself</a:t>
            </a:r>
            <a:endParaRPr lang="en-US" altLang="en-US" sz="1600" dirty="0">
              <a:ea typeface="MS PGothic" panose="020B0600070205080204" pitchFamily="34" charset="-128"/>
            </a:endParaRPr>
          </a:p>
          <a:p>
            <a:pPr lvl="2"/>
            <a:r>
              <a:rPr lang="en-US" altLang="en-US" sz="1600" dirty="0">
                <a:ea typeface="MS PGothic" panose="020B0600070205080204" pitchFamily="34" charset="-128"/>
              </a:rPr>
              <a:t>This can give only a fixed number of levels of managers</a:t>
            </a:r>
            <a:endParaRPr lang="en-US" altLang="en-US" sz="1600" dirty="0">
              <a:ea typeface="MS PGothic" panose="020B0600070205080204" pitchFamily="34" charset="-128"/>
            </a:endParaRPr>
          </a:p>
          <a:p>
            <a:pPr lvl="2"/>
            <a:r>
              <a:rPr lang="en-US" altLang="en-US" sz="1600" dirty="0">
                <a:ea typeface="MS PGothic" panose="020B0600070205080204" pitchFamily="34" charset="-128"/>
              </a:rPr>
              <a:t>Given a fixed non-recursive query, we can construct a database with a greater number of levels of prerequisites on which the query will not work</a:t>
            </a:r>
            <a:endParaRPr lang="en-US" altLang="en-US" sz="1600" dirty="0">
              <a:ea typeface="MS PGothic" panose="020B0600070205080204" pitchFamily="34" charset="-128"/>
            </a:endParaRPr>
          </a:p>
          <a:p>
            <a:pPr lvl="2"/>
            <a:r>
              <a:rPr lang="en-US" altLang="en-US" sz="1600" dirty="0">
                <a:ea typeface="MS PGothic" panose="020B0600070205080204" pitchFamily="34" charset="-128"/>
              </a:rPr>
              <a:t>Alternative: write a procedure to iterate as many times as required</a:t>
            </a:r>
            <a:endParaRPr lang="en-US" altLang="en-US" sz="1600" dirty="0">
              <a:ea typeface="MS PGothic" panose="020B0600070205080204" pitchFamily="34" charset="-128"/>
            </a:endParaRPr>
          </a:p>
          <a:p>
            <a:pPr lvl="3"/>
            <a:r>
              <a:rPr lang="en-US" altLang="en-US" sz="1600" dirty="0">
                <a:ea typeface="MS PGothic" panose="020B0600070205080204" pitchFamily="34" charset="-128"/>
              </a:rPr>
              <a:t>See procedure </a:t>
            </a:r>
            <a:r>
              <a:rPr lang="en-US" altLang="en-US" sz="1600" i="1" dirty="0" err="1">
                <a:ea typeface="MS PGothic" panose="020B0600070205080204" pitchFamily="34" charset="-128"/>
              </a:rPr>
              <a:t>findAllPrereqs</a:t>
            </a:r>
            <a:r>
              <a:rPr lang="en-US" altLang="en-US" sz="1600" dirty="0">
                <a:ea typeface="MS PGothic" panose="020B0600070205080204" pitchFamily="34" charset="-128"/>
              </a:rPr>
              <a:t> in book</a:t>
            </a:r>
            <a:endParaRPr lang="en-US" altLang="en-US" sz="1600" dirty="0">
              <a:ea typeface="MS PGothic" panose="020B0600070205080204" pitchFamily="34" charset="-128"/>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The Power of Recursion</a:t>
            </a:r>
            <a:endParaRPr lang="en-US" altLang="en-US" sz="24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1719263" y="820343"/>
            <a:ext cx="5729102" cy="3677840"/>
          </a:xfrm>
        </p:spPr>
        <p:txBody>
          <a:bodyPr lIns="68580"/>
          <a:lstStyle/>
          <a:p>
            <a:r>
              <a:rPr lang="en-US" altLang="en-US" sz="1800" dirty="0"/>
              <a:t>Computing transitive closure using iteration, adding successive tuples to </a:t>
            </a:r>
            <a:r>
              <a:rPr lang="en-US" altLang="en-US" sz="1800" i="1" dirty="0" err="1"/>
              <a:t>rec_prereq</a:t>
            </a:r>
            <a:endParaRPr lang="en-US" altLang="en-US" sz="1800" i="1" dirty="0"/>
          </a:p>
          <a:p>
            <a:pPr lvl="1"/>
            <a:r>
              <a:rPr lang="en-US" altLang="en-US" sz="1800" dirty="0">
                <a:ea typeface="MS PGothic" panose="020B0600070205080204" pitchFamily="34" charset="-128"/>
              </a:rPr>
              <a:t>The next slide shows a </a:t>
            </a:r>
            <a:r>
              <a:rPr lang="en-US" altLang="en-US" sz="1800" i="1" dirty="0" err="1">
                <a:ea typeface="MS PGothic" panose="020B0600070205080204" pitchFamily="34" charset="-128"/>
              </a:rPr>
              <a:t>prereq</a:t>
            </a:r>
            <a:r>
              <a:rPr lang="en-US" altLang="en-US" sz="1800" dirty="0">
                <a:ea typeface="MS PGothic" panose="020B0600070205080204" pitchFamily="34" charset="-128"/>
              </a:rPr>
              <a:t> relation</a:t>
            </a:r>
            <a:endParaRPr lang="en-US" altLang="en-US" sz="1800" dirty="0">
              <a:ea typeface="MS PGothic" panose="020B0600070205080204" pitchFamily="34" charset="-128"/>
            </a:endParaRPr>
          </a:p>
          <a:p>
            <a:pPr lvl="1"/>
            <a:r>
              <a:rPr lang="en-US" altLang="en-US" sz="1800" dirty="0">
                <a:ea typeface="MS PGothic" panose="020B0600070205080204" pitchFamily="34" charset="-128"/>
              </a:rPr>
              <a:t>Each step of the iterative process constructs an extended version of </a:t>
            </a:r>
            <a:r>
              <a:rPr lang="en-US" altLang="en-US" sz="1800" i="1" dirty="0" err="1">
                <a:ea typeface="MS PGothic" panose="020B0600070205080204" pitchFamily="34" charset="-128"/>
              </a:rPr>
              <a:t>rec_prereq</a:t>
            </a:r>
            <a:r>
              <a:rPr lang="en-US" altLang="en-US" sz="1800" i="1" dirty="0">
                <a:ea typeface="MS PGothic" panose="020B0600070205080204" pitchFamily="34" charset="-128"/>
              </a:rPr>
              <a:t> </a:t>
            </a:r>
            <a:r>
              <a:rPr lang="en-US" altLang="en-US" sz="1800" dirty="0">
                <a:ea typeface="MS PGothic" panose="020B0600070205080204" pitchFamily="34" charset="-128"/>
              </a:rPr>
              <a:t>from its recursive definition.  </a:t>
            </a:r>
            <a:endParaRPr lang="en-US" altLang="en-US" sz="1800" dirty="0">
              <a:ea typeface="MS PGothic" panose="020B0600070205080204" pitchFamily="34" charset="-128"/>
            </a:endParaRPr>
          </a:p>
          <a:p>
            <a:pPr lvl="1"/>
            <a:r>
              <a:rPr lang="en-US" altLang="en-US" sz="1800" dirty="0">
                <a:ea typeface="MS PGothic" panose="020B0600070205080204" pitchFamily="34" charset="-128"/>
              </a:rPr>
              <a:t>The final result is called the </a:t>
            </a:r>
            <a:r>
              <a:rPr lang="en-US" altLang="en-US" sz="1800" i="1" dirty="0">
                <a:ea typeface="MS PGothic" panose="020B0600070205080204" pitchFamily="34" charset="-128"/>
              </a:rPr>
              <a:t>fixed point </a:t>
            </a:r>
            <a:r>
              <a:rPr lang="en-US" altLang="en-US" sz="1800" dirty="0">
                <a:ea typeface="MS PGothic" panose="020B0600070205080204" pitchFamily="34" charset="-128"/>
              </a:rPr>
              <a:t> of the recursive view definition.</a:t>
            </a:r>
            <a:endParaRPr lang="en-US" altLang="en-US" sz="1800" dirty="0">
              <a:ea typeface="MS PGothic" panose="020B0600070205080204" pitchFamily="34" charset="-128"/>
            </a:endParaRPr>
          </a:p>
          <a:p>
            <a:r>
              <a:rPr lang="en-US" altLang="en-US" sz="1800" dirty="0"/>
              <a:t>Recursive views are required to be </a:t>
            </a:r>
            <a:r>
              <a:rPr lang="en-US" altLang="en-US" sz="1800" b="1" dirty="0">
                <a:solidFill>
                  <a:srgbClr val="002060"/>
                </a:solidFill>
              </a:rPr>
              <a:t>monotonic</a:t>
            </a:r>
            <a:r>
              <a:rPr lang="en-US" altLang="en-US" sz="1800" i="1" dirty="0"/>
              <a:t>.  </a:t>
            </a:r>
            <a:r>
              <a:rPr lang="en-US" altLang="en-US" sz="1800" dirty="0"/>
              <a:t>That is, if we add tuples to </a:t>
            </a:r>
            <a:r>
              <a:rPr lang="en-US" altLang="en-US" sz="1800" i="1" dirty="0" err="1"/>
              <a:t>prereq</a:t>
            </a:r>
            <a:r>
              <a:rPr lang="en-US" altLang="en-US" sz="1800" dirty="0"/>
              <a:t> the view </a:t>
            </a:r>
            <a:r>
              <a:rPr lang="en-US" altLang="en-US" sz="1800" i="1" dirty="0" err="1"/>
              <a:t>rec_prereq</a:t>
            </a:r>
            <a:r>
              <a:rPr lang="en-US" altLang="en-US" sz="1800" i="1" dirty="0"/>
              <a:t> </a:t>
            </a:r>
            <a:r>
              <a:rPr lang="en-US" altLang="en-US" sz="1800" dirty="0"/>
              <a:t>contains all of the tuples it contained before, plus possibly more</a:t>
            </a:r>
            <a:endParaRPr lang="en-US" altLang="en-US" sz="1800" dirty="0"/>
          </a:p>
          <a:p>
            <a:pPr indent="-365760"/>
            <a:endParaRPr lang="en-US" altLang="en-US" sz="1800" dirty="0"/>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a:xfrm>
            <a:off x="697230" y="54610"/>
            <a:ext cx="7225030" cy="457200"/>
          </a:xfrm>
        </p:spPr>
        <p:txBody>
          <a:bodyPr/>
          <a:lstStyle/>
          <a:p>
            <a:pPr>
              <a:defRPr/>
            </a:pPr>
            <a:r>
              <a:rPr lang="en-US" altLang="en-US" sz="3200">
                <a:effectLst>
                  <a:outerShdw blurRad="38100" dist="38100" dir="2700000" algn="tl">
                    <a:srgbClr val="C0C0C0"/>
                  </a:outerShdw>
                </a:effectLst>
              </a:rPr>
              <a:t>Example of Fixed-Point Computation</a:t>
            </a:r>
            <a:endParaRPr lang="en-US" altLang="en-US" sz="3200">
              <a:effectLst>
                <a:outerShdw blurRad="38100" dist="38100" dir="2700000" algn="tl">
                  <a:srgbClr val="C0C0C0"/>
                </a:outerShdw>
              </a:effectLst>
            </a:endParaRPr>
          </a:p>
        </p:txBody>
      </p:sp>
      <p:pic>
        <p:nvPicPr>
          <p:cNvPr id="58371" name="Picture 2" descr="C:\Users\as668\Desktop\Judi\5_15.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51522" y="2655094"/>
            <a:ext cx="4032647" cy="1412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2" name="Picture 5" descr="C:\Users\as668\Desktop\Judi\5_1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75" y="898922"/>
            <a:ext cx="1493044" cy="1527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p:cNvGrpSpPr/>
          <p:nvPr/>
        </p:nvGrpSpPr>
        <p:grpSpPr>
          <a:xfrm>
            <a:off x="7524115" y="1563370"/>
            <a:ext cx="723265" cy="955040"/>
            <a:chOff x="737" y="4617"/>
            <a:chExt cx="1139" cy="1504"/>
          </a:xfrm>
        </p:grpSpPr>
        <p:pic>
          <p:nvPicPr>
            <p:cNvPr id="6" name="Picture 101"/>
            <p:cNvPicPr/>
            <p:nvPr/>
          </p:nvPicPr>
          <p:blipFill>
            <a:blip r:embed="rId3"/>
            <a:stretch>
              <a:fillRect/>
            </a:stretch>
          </p:blipFill>
          <p:spPr>
            <a:xfrm>
              <a:off x="737" y="4617"/>
              <a:ext cx="1139" cy="1139"/>
            </a:xfrm>
            <a:prstGeom prst="rect">
              <a:avLst/>
            </a:prstGeom>
            <a:noFill/>
            <a:ln w="9525">
              <a:noFill/>
            </a:ln>
          </p:spPr>
        </p:pic>
        <p:sp>
          <p:nvSpPr>
            <p:cNvPr id="7" name="文本框 6"/>
            <p:cNvSpPr txBox="1"/>
            <p:nvPr/>
          </p:nvSpPr>
          <p:spPr>
            <a:xfrm>
              <a:off x="1077" y="5638"/>
              <a:ext cx="457" cy="483"/>
            </a:xfrm>
            <a:prstGeom prst="rect">
              <a:avLst/>
            </a:prstGeom>
            <a:noFill/>
          </p:spPr>
          <p:txBody>
            <a:bodyPr wrap="square" rtlCol="0">
              <a:spAutoFit/>
            </a:bodyPr>
            <a:p>
              <a:r>
                <a:rPr lang="en-US" altLang="zh-CN" sz="1400"/>
                <a:t>7</a:t>
              </a:r>
              <a:endParaRPr lang="en-US" altLang="zh-CN" sz="1400"/>
            </a:p>
          </p:txBody>
        </p:sp>
      </p:grpSp>
      <p:sp>
        <p:nvSpPr>
          <p:cNvPr id="2" name="内容占位符 1"/>
          <p:cNvSpPr/>
          <p:nvPr>
            <p:ph idx="1"/>
          </p:nvPr>
        </p:nvSpPr>
        <p:spPr>
          <a:xfrm>
            <a:off x="347980" y="4324350"/>
            <a:ext cx="8446770" cy="444500"/>
          </a:xfrm>
        </p:spPr>
        <p:txBody>
          <a:bodyPr/>
          <a:p>
            <a:r>
              <a:rPr lang="en-US" altLang="zh-CN"/>
              <a:t>Fixed-Point: No change with iterations</a:t>
            </a:r>
            <a:endParaRPr lang="en-US" altLang="zh-CN"/>
          </a:p>
        </p:txBody>
      </p:sp>
      <p:grpSp>
        <p:nvGrpSpPr>
          <p:cNvPr id="4" name="组合 3"/>
          <p:cNvGrpSpPr/>
          <p:nvPr/>
        </p:nvGrpSpPr>
        <p:grpSpPr>
          <a:xfrm>
            <a:off x="7524115" y="2643505"/>
            <a:ext cx="723265" cy="955040"/>
            <a:chOff x="737" y="4617"/>
            <a:chExt cx="1139" cy="1504"/>
          </a:xfrm>
        </p:grpSpPr>
        <p:pic>
          <p:nvPicPr>
            <p:cNvPr id="8" name="Picture 101"/>
            <p:cNvPicPr/>
            <p:nvPr/>
          </p:nvPicPr>
          <p:blipFill>
            <a:blip r:embed="rId3"/>
            <a:stretch>
              <a:fillRect/>
            </a:stretch>
          </p:blipFill>
          <p:spPr>
            <a:xfrm>
              <a:off x="737" y="4617"/>
              <a:ext cx="1139" cy="1139"/>
            </a:xfrm>
            <a:prstGeom prst="rect">
              <a:avLst/>
            </a:prstGeom>
            <a:noFill/>
            <a:ln w="9525">
              <a:noFill/>
            </a:ln>
          </p:spPr>
        </p:pic>
        <p:sp>
          <p:nvSpPr>
            <p:cNvPr id="9" name="文本框 8"/>
            <p:cNvSpPr txBox="1"/>
            <p:nvPr/>
          </p:nvSpPr>
          <p:spPr>
            <a:xfrm>
              <a:off x="1077" y="5638"/>
              <a:ext cx="457" cy="483"/>
            </a:xfrm>
            <a:prstGeom prst="rect">
              <a:avLst/>
            </a:prstGeom>
            <a:noFill/>
          </p:spPr>
          <p:txBody>
            <a:bodyPr wrap="square" rtlCol="0">
              <a:spAutoFit/>
            </a:bodyPr>
            <a:p>
              <a:r>
                <a:rPr lang="en-US" altLang="zh-CN" sz="1400"/>
                <a:t>8</a:t>
              </a:r>
              <a:endParaRPr lang="en-US" altLang="zh-CN" sz="1400"/>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a:t>
            </a:r>
            <a:r>
              <a:rPr lang="en-US" altLang="zh-CN">
                <a:sym typeface="+mn-ea"/>
              </a:rPr>
              <a:t>R</a:t>
            </a:r>
            <a:r>
              <a:rPr lang="en-US" altLang="zh-CN">
                <a:sym typeface="+mn-ea"/>
              </a:rPr>
              <a:t>ecursion</a:t>
            </a:r>
            <a:endParaRPr lang="en-US" altLang="zh-CN"/>
          </a:p>
        </p:txBody>
      </p:sp>
      <p:sp>
        <p:nvSpPr>
          <p:cNvPr id="3" name="内容占位符 2"/>
          <p:cNvSpPr>
            <a:spLocks noGrp="1"/>
          </p:cNvSpPr>
          <p:nvPr>
            <p:ph idx="1"/>
          </p:nvPr>
        </p:nvSpPr>
        <p:spPr/>
        <p:txBody>
          <a:bodyPr/>
          <a:p>
            <a:r>
              <a:rPr lang="en-US" altLang="zh-CN"/>
              <a:t>The process in which a function calls itself directly or indirectly is called recursion and the corresponding function is called a recursive function.</a:t>
            </a:r>
            <a:endParaRPr lang="en-US" altLang="zh-CN"/>
          </a:p>
          <a:p>
            <a:endParaRPr lang="en-US" altLang="zh-CN"/>
          </a:p>
          <a:p>
            <a:r>
              <a:rPr lang="en-US" altLang="zh-CN"/>
              <a:t>A recursive algorithm takes one step toward solution and then recursively call itself to further move. The algorithm stops once we reach the solution.</a:t>
            </a:r>
            <a:endParaRPr lang="en-US" altLang="zh-CN"/>
          </a:p>
          <a:p>
            <a:r>
              <a:rPr lang="en-US" altLang="zh-CN"/>
              <a:t>Since called function may further call itself, this process might continue forever. So it is essential to provide a base case to terminate this recursion process.</a:t>
            </a:r>
            <a:endParaRPr lang="en-US" altLang="zh-C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*Example: Factorial Numbers</a:t>
            </a:r>
            <a:endParaRPr lang="en-US" altLang="zh-CN"/>
          </a:p>
        </p:txBody>
      </p:sp>
      <p:sp>
        <p:nvSpPr>
          <p:cNvPr id="3" name="内容占位符 2"/>
          <p:cNvSpPr>
            <a:spLocks noGrp="1"/>
          </p:cNvSpPr>
          <p:nvPr>
            <p:ph idx="1"/>
          </p:nvPr>
        </p:nvSpPr>
        <p:spPr/>
        <p:txBody>
          <a:bodyPr/>
          <a:p>
            <a:endParaRPr lang="zh-CN" altLang="en-US"/>
          </a:p>
        </p:txBody>
      </p:sp>
      <p:grpSp>
        <p:nvGrpSpPr>
          <p:cNvPr id="5" name="组合 4"/>
          <p:cNvGrpSpPr/>
          <p:nvPr/>
        </p:nvGrpSpPr>
        <p:grpSpPr>
          <a:xfrm>
            <a:off x="5436235" y="2283460"/>
            <a:ext cx="723265" cy="955040"/>
            <a:chOff x="737" y="4617"/>
            <a:chExt cx="1139" cy="1504"/>
          </a:xfrm>
        </p:grpSpPr>
        <p:pic>
          <p:nvPicPr>
            <p:cNvPr id="8" name="Picture 101"/>
            <p:cNvPicPr/>
            <p:nvPr/>
          </p:nvPicPr>
          <p:blipFill>
            <a:blip r:embed="rId1"/>
            <a:stretch>
              <a:fillRect/>
            </a:stretch>
          </p:blipFill>
          <p:spPr>
            <a:xfrm>
              <a:off x="737" y="4617"/>
              <a:ext cx="1139" cy="1139"/>
            </a:xfrm>
            <a:prstGeom prst="rect">
              <a:avLst/>
            </a:prstGeom>
            <a:noFill/>
            <a:ln w="9525">
              <a:noFill/>
            </a:ln>
          </p:spPr>
        </p:pic>
        <p:sp>
          <p:nvSpPr>
            <p:cNvPr id="9" name="文本框 8"/>
            <p:cNvSpPr txBox="1"/>
            <p:nvPr/>
          </p:nvSpPr>
          <p:spPr>
            <a:xfrm>
              <a:off x="1077" y="5638"/>
              <a:ext cx="457" cy="483"/>
            </a:xfrm>
            <a:prstGeom prst="rect">
              <a:avLst/>
            </a:prstGeom>
            <a:noFill/>
          </p:spPr>
          <p:txBody>
            <a:bodyPr wrap="square" rtlCol="0">
              <a:spAutoFit/>
            </a:bodyPr>
            <a:p>
              <a:r>
                <a:rPr lang="en-US" altLang="zh-CN" sz="1400"/>
                <a:t>9</a:t>
              </a:r>
              <a:endParaRPr lang="en-US" altLang="zh-CN" sz="1400"/>
            </a:p>
          </p:txBody>
        </p:sp>
      </p:grpSp>
      <p:pic>
        <p:nvPicPr>
          <p:cNvPr id="6" name="图片 5"/>
          <p:cNvPicPr/>
          <p:nvPr/>
        </p:nvPicPr>
        <p:blipFill>
          <a:blip r:embed="rId2"/>
          <a:srcRect l="11043" t="14000" r="50275" b="9679"/>
          <a:stretch>
            <a:fillRect/>
          </a:stretch>
        </p:blipFill>
        <p:spPr>
          <a:xfrm>
            <a:off x="2915920" y="627380"/>
            <a:ext cx="1716405" cy="445452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*Example: Decision Tree</a:t>
            </a:r>
            <a:endParaRPr lang="en-US" altLang="zh-CN"/>
          </a:p>
        </p:txBody>
      </p:sp>
      <p:sp>
        <p:nvSpPr>
          <p:cNvPr id="3" name="内容占位符 2"/>
          <p:cNvSpPr>
            <a:spLocks noGrp="1"/>
          </p:cNvSpPr>
          <p:nvPr>
            <p:ph idx="1"/>
          </p:nvPr>
        </p:nvSpPr>
        <p:spPr/>
        <p:txBody>
          <a:bodyPr/>
          <a:p>
            <a:endParaRPr lang="zh-CN" altLang="en-US"/>
          </a:p>
        </p:txBody>
      </p:sp>
      <p:pic>
        <p:nvPicPr>
          <p:cNvPr id="4" name="图片 3"/>
          <p:cNvPicPr/>
          <p:nvPr/>
        </p:nvPicPr>
        <p:blipFill>
          <a:blip r:embed="rId1"/>
          <a:stretch>
            <a:fillRect/>
          </a:stretch>
        </p:blipFill>
        <p:spPr>
          <a:xfrm>
            <a:off x="899795" y="901700"/>
            <a:ext cx="5132070" cy="3684905"/>
          </a:xfrm>
          <a:prstGeom prst="rect">
            <a:avLst/>
          </a:prstGeom>
        </p:spPr>
      </p:pic>
      <p:grpSp>
        <p:nvGrpSpPr>
          <p:cNvPr id="5" name="组合 4"/>
          <p:cNvGrpSpPr/>
          <p:nvPr/>
        </p:nvGrpSpPr>
        <p:grpSpPr>
          <a:xfrm>
            <a:off x="7524115" y="2643505"/>
            <a:ext cx="723265" cy="955040"/>
            <a:chOff x="737" y="4617"/>
            <a:chExt cx="1139" cy="1504"/>
          </a:xfrm>
        </p:grpSpPr>
        <p:pic>
          <p:nvPicPr>
            <p:cNvPr id="8" name="Picture 101"/>
            <p:cNvPicPr/>
            <p:nvPr/>
          </p:nvPicPr>
          <p:blipFill>
            <a:blip r:embed="rId2"/>
            <a:stretch>
              <a:fillRect/>
            </a:stretch>
          </p:blipFill>
          <p:spPr>
            <a:xfrm>
              <a:off x="737" y="4617"/>
              <a:ext cx="1139" cy="1139"/>
            </a:xfrm>
            <a:prstGeom prst="rect">
              <a:avLst/>
            </a:prstGeom>
            <a:noFill/>
            <a:ln w="9525">
              <a:noFill/>
            </a:ln>
          </p:spPr>
        </p:pic>
        <p:sp>
          <p:nvSpPr>
            <p:cNvPr id="9" name="文本框 8"/>
            <p:cNvSpPr txBox="1"/>
            <p:nvPr/>
          </p:nvSpPr>
          <p:spPr>
            <a:xfrm>
              <a:off x="964" y="5638"/>
              <a:ext cx="756" cy="483"/>
            </a:xfrm>
            <a:prstGeom prst="rect">
              <a:avLst/>
            </a:prstGeom>
            <a:noFill/>
          </p:spPr>
          <p:txBody>
            <a:bodyPr wrap="square" rtlCol="0">
              <a:spAutoFit/>
            </a:bodyPr>
            <a:p>
              <a:r>
                <a:rPr lang="en-US" altLang="zh-CN" sz="1400"/>
                <a:t>10</a:t>
              </a:r>
              <a:endParaRPr lang="en-US" altLang="zh-CN" sz="1400"/>
            </a:p>
          </p:txBody>
        </p:sp>
      </p:gr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TABLE_ENDDRAG_ORIGIN_RECT" val="519*250"/>
  <p:tag name="TABLE_ENDDRAG_RECT" val="116*117*519*250"/>
</p:tagLst>
</file>

<file path=ppt/tags/tag6.xml><?xml version="1.0" encoding="utf-8"?>
<p:tagLst xmlns:p="http://schemas.openxmlformats.org/presentationml/2006/main">
  <p:tag name="commondata" val="eyJoZGlkIjoiNjJjNTFkOTdkODM4ZDJhZTE0NWNhZWEyMDljZmVjZjEifQ=="/>
  <p:tag name="resource_record_key" val="{&quot;29&quot;:[50000031]}"/>
</p:tagLst>
</file>

<file path=ppt/theme/theme1.xml><?xml version="1.0" encoding="utf-8"?>
<a:theme xmlns:a="http://schemas.openxmlformats.org/drawingml/2006/main" name="23_ClassicWhite">
  <a:themeElements>
    <a:clrScheme name="">
      <a:dk1>
        <a:srgbClr val="000000"/>
      </a:dk1>
      <a:lt1>
        <a:srgbClr val="FFFFFF"/>
      </a:lt1>
      <a:dk2>
        <a:srgbClr val="5E5E5E"/>
      </a:dk2>
      <a:lt2>
        <a:srgbClr val="D5D5D5"/>
      </a:lt2>
      <a:accent1>
        <a:srgbClr val="3E74D1"/>
      </a:accent1>
      <a:accent2>
        <a:srgbClr val="33C5B9"/>
      </a:accent2>
      <a:accent3>
        <a:srgbClr val="FFFFFF"/>
      </a:accent3>
      <a:accent4>
        <a:srgbClr val="000000"/>
      </a:accent4>
      <a:accent5>
        <a:srgbClr val="AFBCE5"/>
      </a:accent5>
      <a:accent6>
        <a:srgbClr val="2DB2A7"/>
      </a:accent6>
      <a:hlink>
        <a:srgbClr val="0000FF"/>
      </a:hlink>
      <a:folHlink>
        <a:srgbClr val="FF00FF"/>
      </a:folHlink>
    </a:clrScheme>
    <a:fontScheme name="23_ClassicWhite">
      <a:majorFont>
        <a:latin typeface="Helvetica"/>
        <a:ea typeface="Helvetica"/>
        <a:cs typeface="Helvetica"/>
      </a:majorFont>
      <a:minorFont>
        <a:latin typeface="Helvetica"/>
        <a:ea typeface="Helvetica"/>
        <a:cs typeface="Helvetic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0000"/>
        </a:solidFill>
        <a:ln w="25400" cap="flat" cmpd="sng" algn="ctr">
          <a:solidFill>
            <a:srgbClr val="000000"/>
          </a:solidFill>
          <a:prstDash val="solid"/>
          <a:miter lim="400000"/>
          <a:headEnd type="none" w="med" len="med"/>
          <a:tailEnd type="none" w="med" len="med"/>
        </a:ln>
      </a:spPr>
      <a:bodyPr vert="horz" wrap="square" lIns="50800" tIns="50800" rIns="50800" bIns="50800" numCol="1" anchor="ctr" anchorCtr="0" compatLnSpc="1">
        <a:spAutoFit/>
      </a:bodyPr>
      <a:lstStyle>
        <a:defPPr marL="0" marR="0" indent="0" algn="ctr" defTabSz="1733550" rtl="0" eaLnBrk="1" fontAlgn="base" latinLnBrk="0" hangingPunct="0">
          <a:lnSpc>
            <a:spcPct val="90000"/>
          </a:lnSpc>
          <a:spcBef>
            <a:spcPct val="0"/>
          </a:spcBef>
          <a:spcAft>
            <a:spcPct val="0"/>
          </a:spcAft>
          <a:buClrTx/>
          <a:buSzTx/>
          <a:buFontTx/>
          <a:buNone/>
          <a:defRPr kumimoji="0" lang="en-US" altLang="en-US" sz="1600" b="0" i="0" u="none" strike="noStrike" cap="none" normalizeH="0" baseline="0" smtClean="0">
            <a:ln>
              <a:noFill/>
            </a:ln>
            <a:solidFill>
              <a:srgbClr val="000000"/>
            </a:solidFill>
            <a:effectLst/>
            <a:latin typeface="Canela Text Regular" charset="0"/>
            <a:ea typeface="Canela Text Regular" charset="0"/>
            <a:cs typeface="Canela Text Regular" charset="0"/>
            <a:sym typeface="Canela Text Regular" charset="0"/>
          </a:defRPr>
        </a:defPPr>
      </a:lstStyle>
    </a:spDef>
    <a:lnDef>
      <a:spPr bwMode="auto">
        <a:xfrm>
          <a:off x="0" y="0"/>
          <a:ext cx="1" cy="1"/>
        </a:xfrm>
        <a:custGeom>
          <a:avLst/>
          <a:gdLst/>
          <a:ahLst/>
          <a:cxnLst/>
          <a:rect l="0" t="0" r="0" b="0"/>
          <a:pathLst/>
        </a:custGeom>
        <a:solidFill>
          <a:srgbClr val="000000"/>
        </a:solidFill>
        <a:ln w="25400" cap="flat" cmpd="sng" algn="ctr">
          <a:solidFill>
            <a:srgbClr val="000000"/>
          </a:solidFill>
          <a:prstDash val="solid"/>
          <a:miter lim="400000"/>
          <a:headEnd type="none" w="med" len="med"/>
          <a:tailEnd type="none" w="med" len="med"/>
        </a:ln>
      </a:spPr>
      <a:bodyPr vert="horz" wrap="square" lIns="50800" tIns="50800" rIns="50800" bIns="50800" numCol="1" anchor="ctr" anchorCtr="0" compatLnSpc="1">
        <a:spAutoFit/>
      </a:bodyPr>
      <a:lstStyle>
        <a:defPPr marL="0" marR="0" indent="0" algn="ctr" defTabSz="1733550" rtl="0" eaLnBrk="1" fontAlgn="base" latinLnBrk="0" hangingPunct="0">
          <a:lnSpc>
            <a:spcPct val="90000"/>
          </a:lnSpc>
          <a:spcBef>
            <a:spcPct val="0"/>
          </a:spcBef>
          <a:spcAft>
            <a:spcPct val="0"/>
          </a:spcAft>
          <a:buClrTx/>
          <a:buSzTx/>
          <a:buFontTx/>
          <a:buNone/>
          <a:defRPr kumimoji="0" lang="en-US" altLang="en-US" sz="1600" b="0" i="0" u="none" strike="noStrike" cap="none" normalizeH="0" baseline="0" smtClean="0">
            <a:ln>
              <a:noFill/>
            </a:ln>
            <a:solidFill>
              <a:srgbClr val="000000"/>
            </a:solidFill>
            <a:effectLst/>
            <a:latin typeface="Canela Text Regular" charset="0"/>
            <a:ea typeface="Canela Text Regular" charset="0"/>
            <a:cs typeface="Canela Text Regular" charset="0"/>
            <a:sym typeface="Canela Text Regular" charset="0"/>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5E5E5E"/>
      </a:dk2>
      <a:lt2>
        <a:srgbClr val="D5D5D5"/>
      </a:lt2>
      <a:accent1>
        <a:srgbClr val="3E74D1"/>
      </a:accent1>
      <a:accent2>
        <a:srgbClr val="33C5B9"/>
      </a:accent2>
      <a:accent3>
        <a:srgbClr val="FFFFFF"/>
      </a:accent3>
      <a:accent4>
        <a:srgbClr val="000000"/>
      </a:accent4>
      <a:accent5>
        <a:srgbClr val="AFBCE5"/>
      </a:accent5>
      <a:accent6>
        <a:srgbClr val="2DB2A7"/>
      </a:accent6>
      <a:hlink>
        <a:srgbClr val="0000FF"/>
      </a:hlink>
      <a:folHlink>
        <a:srgbClr val="FF00FF"/>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13967</Words>
  <Application>WPS 演示</Application>
  <PresentationFormat>On-screen Show (16:9)</PresentationFormat>
  <Paragraphs>309</Paragraphs>
  <Slides>32</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32</vt:i4>
      </vt:variant>
    </vt:vector>
  </HeadingPairs>
  <TitlesOfParts>
    <vt:vector size="49" baseType="lpstr">
      <vt:lpstr>Arial</vt:lpstr>
      <vt:lpstr>宋体</vt:lpstr>
      <vt:lpstr>Wingdings</vt:lpstr>
      <vt:lpstr>Canela Text Regular</vt:lpstr>
      <vt:lpstr>Segoe Print</vt:lpstr>
      <vt:lpstr>Helvetica</vt:lpstr>
      <vt:lpstr>Graphik</vt:lpstr>
      <vt:lpstr>Helvetica Neue</vt:lpstr>
      <vt:lpstr>MS PGothic</vt:lpstr>
      <vt:lpstr>Times New Roman</vt:lpstr>
      <vt:lpstr>Monotype Sorts</vt:lpstr>
      <vt:lpstr>Wingdings</vt:lpstr>
      <vt:lpstr>微软雅黑</vt:lpstr>
      <vt:lpstr>Arial Unicode MS</vt:lpstr>
      <vt:lpstr>Webdings</vt:lpstr>
      <vt:lpstr>Tahoma</vt:lpstr>
      <vt:lpstr>23_ClassicWhite</vt:lpstr>
      <vt:lpstr>DTS207TC Database Development and Design</vt:lpstr>
      <vt:lpstr>Outline</vt:lpstr>
      <vt:lpstr>Accessing SQL from a Programming Language</vt:lpstr>
      <vt:lpstr>*Other interfaces of DB</vt:lpstr>
      <vt:lpstr>Functions and Procedures</vt:lpstr>
      <vt:lpstr>Declaring SQL Functions</vt:lpstr>
      <vt:lpstr>Table Functions</vt:lpstr>
      <vt:lpstr>SQL Procedures</vt:lpstr>
      <vt:lpstr>SQL Procedures (Cont.)</vt:lpstr>
      <vt:lpstr>Language Constructs for Procedures &amp; Functions</vt:lpstr>
      <vt:lpstr>Language Constructs (Cont.)</vt:lpstr>
      <vt:lpstr>Language Constructs – if-then-else</vt:lpstr>
      <vt:lpstr>Example procedure</vt:lpstr>
      <vt:lpstr>External Language Routines</vt:lpstr>
      <vt:lpstr>External Language Routines (Cont.)</vt:lpstr>
      <vt:lpstr>*Other interfaces of DB</vt:lpstr>
      <vt:lpstr>Triggers</vt:lpstr>
      <vt:lpstr>Triggering Events and Actions in SQL</vt:lpstr>
      <vt:lpstr>Trigger to Maintain credits_earned value</vt:lpstr>
      <vt:lpstr>Statement Level Triggers</vt:lpstr>
      <vt:lpstr>When Not To Use Triggers</vt:lpstr>
      <vt:lpstr>When Not To Use Triggers (Cont.)</vt:lpstr>
      <vt:lpstr>*Event-driven Programming</vt:lpstr>
      <vt:lpstr>*Trigger is an instance of event-driven</vt:lpstr>
      <vt:lpstr>**Why the instruction-driven is always the mainstream?</vt:lpstr>
      <vt:lpstr>Recursion in SQL</vt:lpstr>
      <vt:lpstr>The Power of Recursion</vt:lpstr>
      <vt:lpstr>The Power of Recursion</vt:lpstr>
      <vt:lpstr>Example of Fixed-Point Computation</vt:lpstr>
      <vt:lpstr>*Recursion</vt:lpstr>
      <vt:lpstr>*Example: Factorial Numbers</vt:lpstr>
      <vt:lpstr>*Example: Decision Tree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DTS205TC High Performance Computing</dc:title>
  <dc:creator>andyz</dc:creator>
  <cp:lastModifiedBy>ZD</cp:lastModifiedBy>
  <cp:revision>2756</cp:revision>
  <dcterms:created xsi:type="dcterms:W3CDTF">2023-04-15T13:38:00Z</dcterms:created>
  <dcterms:modified xsi:type="dcterms:W3CDTF">2025-12-19T13:26:38Z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317E91C63B9E4CA194E47D6C43C7DAEB_13</vt:lpwstr>
  </property>
  <property fmtid="{D5CDD505-2E9C-101B-9397-08002B2CF9AE}" pid="3" name="KSOProductBuildVer">
    <vt:lpwstr>2052-12.1.0.24034</vt:lpwstr>
  </property>
</Properties>
</file>