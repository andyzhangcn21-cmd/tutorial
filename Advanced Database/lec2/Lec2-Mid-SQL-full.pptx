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>
  <p:sldMasterIdLst>
    <p:sldMasterId id="2147483648" r:id="rId1"/>
  </p:sldMasterIdLst>
  <p:notesMasterIdLst>
    <p:notesMasterId r:id="rId4"/>
  </p:notesMasterIdLst>
  <p:sldIdLst>
    <p:sldId id="256" r:id="rId3"/>
    <p:sldId id="758" r:id="rId5"/>
    <p:sldId id="763" r:id="rId6"/>
    <p:sldId id="338" r:id="rId7"/>
    <p:sldId id="339" r:id="rId8"/>
    <p:sldId id="340" r:id="rId9"/>
    <p:sldId id="341" r:id="rId10"/>
    <p:sldId id="342" r:id="rId11"/>
    <p:sldId id="343" r:id="rId12"/>
    <p:sldId id="440" r:id="rId13"/>
    <p:sldId id="447" r:id="rId14"/>
    <p:sldId id="352" r:id="rId15"/>
    <p:sldId id="448" r:id="rId16"/>
    <p:sldId id="449" r:id="rId17"/>
    <p:sldId id="347" r:id="rId18"/>
    <p:sldId id="450" r:id="rId19"/>
    <p:sldId id="453" r:id="rId20"/>
    <p:sldId id="454" r:id="rId21"/>
    <p:sldId id="455" r:id="rId22"/>
    <p:sldId id="762" r:id="rId23"/>
    <p:sldId id="760" r:id="rId24"/>
    <p:sldId id="356" r:id="rId25"/>
    <p:sldId id="357" r:id="rId26"/>
    <p:sldId id="358" r:id="rId27"/>
    <p:sldId id="359" r:id="rId28"/>
    <p:sldId id="360" r:id="rId29"/>
    <p:sldId id="470" r:id="rId30"/>
    <p:sldId id="362" r:id="rId31"/>
    <p:sldId id="363" r:id="rId32"/>
    <p:sldId id="364" r:id="rId33"/>
    <p:sldId id="365" r:id="rId34"/>
    <p:sldId id="366" r:id="rId35"/>
    <p:sldId id="367" r:id="rId36"/>
    <p:sldId id="380" r:id="rId37"/>
    <p:sldId id="381" r:id="rId38"/>
    <p:sldId id="382" r:id="rId39"/>
    <p:sldId id="383" r:id="rId40"/>
    <p:sldId id="766" r:id="rId41"/>
    <p:sldId id="770" r:id="rId42"/>
    <p:sldId id="767" r:id="rId43"/>
    <p:sldId id="768" r:id="rId44"/>
    <p:sldId id="716" r:id="rId45"/>
    <p:sldId id="756" r:id="rId46"/>
  </p:sldIdLst>
  <p:sldSz cx="9144000" cy="5143500" type="screen16x9"/>
  <p:notesSz cx="6858000" cy="9144000"/>
  <p:custDataLst>
    <p:tags r:id="rId51"/>
  </p:custDataLst>
  <p:defaultTextStyle>
    <a:defPPr>
      <a:defRPr lang="en-US"/>
    </a:defPPr>
    <a:lvl1pPr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1pPr>
    <a:lvl2pPr marL="285750" indent="17145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2pPr>
    <a:lvl3pPr marL="573405" indent="34163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3pPr>
    <a:lvl4pPr marL="860425" indent="51117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4pPr>
    <a:lvl5pPr marL="1148080" indent="68135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5pPr>
    <a:lvl6pPr marL="22860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6pPr>
    <a:lvl7pPr marL="27432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7pPr>
    <a:lvl8pPr marL="32004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8pPr>
    <a:lvl9pPr marL="36576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9pPr>
  </p:defaultTextStyle>
  <p:extLst>
    <p:ext uri="{521415D9-36F7-43E2-AB2F-B90AF26B5E84}">
      <p14:sectionLst xmlns:p14="http://schemas.microsoft.com/office/powerpoint/2010/main">
        <p14:section name="Notice" id="{2B21CF4D-394B-4756-8841-2FCF6D9DAC92}">
          <p14:sldIdLst>
            <p14:sldId id="256"/>
            <p14:sldId id="758"/>
            <p14:sldId id="763"/>
          </p14:sldIdLst>
        </p14:section>
        <p14:section name="Join" id="{5E28B91A-A921-41F4-B94C-75C3E2739A17}">
          <p14:sldIdLst>
            <p14:sldId id="338"/>
            <p14:sldId id="339"/>
            <p14:sldId id="340"/>
            <p14:sldId id="341"/>
            <p14:sldId id="342"/>
            <p14:sldId id="343"/>
            <p14:sldId id="440"/>
            <p14:sldId id="447"/>
            <p14:sldId id="352"/>
            <p14:sldId id="448"/>
            <p14:sldId id="449"/>
            <p14:sldId id="347"/>
            <p14:sldId id="450"/>
            <p14:sldId id="453"/>
            <p14:sldId id="454"/>
            <p14:sldId id="455"/>
            <p14:sldId id="762"/>
            <p14:sldId id="760"/>
          </p14:sldIdLst>
        </p14:section>
        <p14:section name="View" id="{D880F376-76B5-425D-A395-9E7575F9DDDD}">
          <p14:sldIdLst>
            <p14:sldId id="356"/>
            <p14:sldId id="357"/>
            <p14:sldId id="358"/>
            <p14:sldId id="359"/>
            <p14:sldId id="360"/>
            <p14:sldId id="470"/>
            <p14:sldId id="362"/>
            <p14:sldId id="363"/>
            <p14:sldId id="364"/>
            <p14:sldId id="365"/>
            <p14:sldId id="366"/>
            <p14:sldId id="367"/>
          </p14:sldIdLst>
        </p14:section>
        <p14:section name="Datatypes" id="{3AA932A4-94C7-43C3-BAAB-79702AE03E96}">
          <p14:sldIdLst>
            <p14:sldId id="380"/>
            <p14:sldId id="381"/>
            <p14:sldId id="382"/>
            <p14:sldId id="383"/>
            <p14:sldId id="766"/>
            <p14:sldId id="770"/>
          </p14:sldIdLst>
        </p14:section>
        <p14:section name="Extension" id="{90826BB3-2FAB-4ACC-8EE9-C5878C84FADA}">
          <p14:sldIdLst>
            <p14:sldId id="767"/>
            <p14:sldId id="768"/>
            <p14:sldId id="716"/>
            <p14:sldId id="7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0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59" autoAdjust="0"/>
  </p:normalViewPr>
  <p:slideViewPr>
    <p:cSldViewPr showGuides="1">
      <p:cViewPr varScale="1">
        <p:scale>
          <a:sx n="150" d="100"/>
          <a:sy n="150" d="100"/>
        </p:scale>
        <p:origin x="474" y="126"/>
      </p:cViewPr>
      <p:guideLst>
        <p:guide orient="horz" pos="160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5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noProof="0">
                <a:sym typeface="Helvetica Neue" charset="0"/>
              </a:rPr>
              <a:t>Click to edit Template text styles</a:t>
            </a:r>
            <a:endParaRPr lang="en-US" altLang="en-US" noProof="0">
              <a:sym typeface="Helvetica Neue" charset="0"/>
            </a:endParaRPr>
          </a:p>
          <a:p>
            <a:pPr lvl="1"/>
            <a:r>
              <a:rPr lang="en-US" altLang="en-US" noProof="0">
                <a:sym typeface="Helvetica Neue" charset="0"/>
              </a:rPr>
              <a:t>Second level</a:t>
            </a:r>
            <a:endParaRPr lang="en-US" altLang="en-US" noProof="0">
              <a:sym typeface="Helvetica Neue" charset="0"/>
            </a:endParaRPr>
          </a:p>
          <a:p>
            <a:pPr lvl="2"/>
            <a:r>
              <a:rPr lang="en-US" altLang="en-US" noProof="0">
                <a:sym typeface="Helvetica Neue" charset="0"/>
              </a:rPr>
              <a:t>Third level</a:t>
            </a:r>
            <a:endParaRPr lang="en-US" altLang="en-US" noProof="0">
              <a:sym typeface="Helvetica Neue" charset="0"/>
            </a:endParaRPr>
          </a:p>
          <a:p>
            <a:pPr lvl="3"/>
            <a:r>
              <a:rPr lang="en-US" altLang="en-US" noProof="0">
                <a:sym typeface="Helvetica Neue" charset="0"/>
              </a:rPr>
              <a:t>Fourth level</a:t>
            </a:r>
            <a:endParaRPr lang="en-US" altLang="en-US" noProof="0">
              <a:sym typeface="Helvetica Neue" charset="0"/>
            </a:endParaRPr>
          </a:p>
          <a:p>
            <a:pPr lvl="4"/>
            <a:r>
              <a:rPr lang="en-US" altLang="en-US" noProof="0">
                <a:sym typeface="Helvetica Neue" charset="0"/>
              </a:rPr>
              <a:t>Fifth level</a:t>
            </a:r>
            <a:endParaRPr lang="en-US" altLang="en-US" noProof="0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14287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28575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43053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57340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143510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72212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200914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295525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I am very happy to have the opportunity to meet with you all in this course.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449113-501E-40AA-8204-F51F280D2CC8}" type="slidenum">
              <a:rPr lang="en-US" altLang="en-US" smtClean="0"/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2400" y="4410466"/>
            <a:ext cx="5132902" cy="4175934"/>
          </a:xfrm>
          <a:noFill/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MS PGothic" panose="020B0600070205080204" pitchFamily="34" charset="-128"/>
              </a:rPr>
              <a:t>-- 1. build table</a:t>
            </a:r>
            <a:endParaRPr lang="en-US" altLang="zh-CN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zh-CN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CREATE TABLE student (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id       text PRIMARY KEY,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name     text NOT NULL,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dept_name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text NOT NULL,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tot_cred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integer CHECK (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tot_cred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&gt;= 0)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);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INSERT INTO student (id, name,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dept_name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tot_cred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) VALUES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('00128',  'Zhang',    'Comp. Sci.', 102),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('12345',  'Shankar',  'Comp. Sci.',  32),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('19991',  'Brandt',   'History',     80),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('23121',  'Chavez',   'Finance',    110),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('44553',  'Peltier',  'Physics',     56),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('45678',  'Levy',     'Physics',     46),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('54321',  'Williams', 'Comp. Sci.',  54),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('55739',  'Sanchez',  'Music',       38),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('70557',  'Snow',     'Physics',      0),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('76543',  'Brown',    'Comp. Sci.',  58),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('76653',  'Aoi',      'Elec. Eng.',  60),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('98765',  'Bourikas', 'Elec. Eng.',  98),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('98988',  'Tanaka',   'Biology',    120);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--select * from student;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pPr marL="0" marR="0" lvl="0" indent="0" algn="l" defTabSz="285750" rtl="0" eaLnBrk="0" fontAlgn="base" latinLnBrk="0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-- 2. </a:t>
            </a:r>
            <a:r>
              <a:rPr lang="en-US" altLang="zh-CN" dirty="0">
                <a:latin typeface="Times New Roman" panose="02020603050405020304" pitchFamily="18" charset="0"/>
                <a:ea typeface="MS PGothic" panose="020B0600070205080204" pitchFamily="34" charset="-128"/>
              </a:rPr>
              <a:t>build table</a:t>
            </a:r>
            <a:endParaRPr lang="zh-CN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CREATE TABLE takes (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id        CHAR(5),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course_id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VARCHAR(8),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sec_id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VARCHAR(4),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semester  VARCHAR(6),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year      INTEGER,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grade     VARCHAR(2),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PRIMARY KEY (id,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course_id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sec_id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, semester, year),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FOREIGN KEY (id) REFERENCES student(id)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    ON DELETE CASCADE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);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INSERT INTO takes (id,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course_id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sec_id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, semester, year, grade) VALUES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('00128', 'CS-101', '1', 'Fall',   2017, 'A'),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('00128', 'CS-347', '1', 'Fall',   2017, 'A-'),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('12345', 'CS-101', '1', 'Fall',   2017, 'C'),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('12345', 'CS-190', '2', 'Spring', 2017, 'A'),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('12345', 'CS-315', '1', 'Spring', 2018, 'A'),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('12345', 'CS-347', '1', 'Fall',   2017, 'A'),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('19991', 'HIS-351', '1', 'Spring', 2018, 'B'),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('23121', 'FIN-201', '1', 'Spring', 2018, 'C+'),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('44553', 'PHY-101', '1', 'Fall',   2017, 'B-'),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('45678', 'CS-101', '1', 'Fall',   2017, 'F'),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('45678', 'CS-101', '1', 'Spring', 2018, 'B+'),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('45678', 'CS-319', '1', 'Spring', 2018, 'B'),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('54321', 'CS-101', '1', 'Fall',   2017, 'A-'),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('54321', 'CS-190', '2', 'Spring', 2017, 'B+'),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('55739', 'MU-199', '1', 'Spring', 2018, 'A-'),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('76543', 'CS-101', '1', 'Fall',   2017, 'A'),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('76543', 'CS-319', '2', 'Spring', 2018, 'A'),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('76653', 'EE-181', '1', 'Spring', 2017, 'C'),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('98765', 'CS-101', '1', 'Fall',   2017, 'C-'),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('98765', 'CS-315', '1', 'Spring', 2018, 'B'),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('98988', 'BIO-101', '1', 'Summer', 2017, 'A'),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('98988', 'BIO-301', '1', 'Summer', 2018, NULL);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--select * from takes;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--SELECT * FROM student NATURAL JOIN takes;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pPr marL="0" marR="0" lvl="0" indent="0" algn="l" defTabSz="285750" rtl="0" eaLnBrk="0" fontAlgn="base" latinLnBrk="0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-- 3. </a:t>
            </a:r>
            <a:r>
              <a:rPr lang="en-US" altLang="zh-CN" dirty="0">
                <a:latin typeface="Times New Roman" panose="02020603050405020304" pitchFamily="18" charset="0"/>
                <a:ea typeface="MS PGothic" panose="020B0600070205080204" pitchFamily="34" charset="-128"/>
              </a:rPr>
              <a:t>build table</a:t>
            </a:r>
            <a:endParaRPr lang="zh-CN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zh-CN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CREATE TABLE course (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course_id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VARCHAR(8) PRIMARY KEY,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title      VARCHAR(100) NOT NULL,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dept_name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VARCHAR(30)  NOT NULL,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   credits    INTEGER      CHECK (credits &gt; 0)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);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INSERT INTO course (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course_id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, title,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dept_name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, credits) VALUES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('CS-101', 'Introduction to Computer Science', 'Comp. Sci.',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('CS-190', 'Game Design', 'Comp. Sci.',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('CS-315', 'Database Systems', 'Comp. Sci.',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('CS-319', 'Software Engineering', 'Comp. Sci.',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('CS-347', 'Machine Learning', 'Comp. Sci.',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('HIS-351', 'World History', 'History',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('FIN-201', 'Investment Banking', 'Finance',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('PHY-101', 'General Physics I', 'Physics', 4),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('MU-199', 'Music Theory', 'Music', 2),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('EE-181', 'Intro to Electrical Engineering', 'Elec. Eng.',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('BIO-101', 'General Biology I', 'Biology', 3),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('BIO-301', 'Genomics', 'Biology', 3);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--select name,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course_id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--from  student, takes;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--where student.ID = takes.ID;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select name, title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from student natural join takes, course;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--where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takes.course_id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 = </a:t>
            </a:r>
            <a:r>
              <a:rPr lang="en-US" altLang="en-US" dirty="0" err="1">
                <a:latin typeface="Times New Roman" panose="02020603050405020304" pitchFamily="18" charset="0"/>
                <a:ea typeface="MS PGothic" panose="020B0600070205080204" pitchFamily="34" charset="-128"/>
              </a:rPr>
              <a:t>course.course_id</a:t>
            </a:r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;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select name, title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MS PGothic" panose="020B0600070205080204" pitchFamily="34" charset="-128"/>
              </a:rPr>
              <a:t>from student natural join takes natural join course</a:t>
            </a:r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5325"/>
            <a:ext cx="6188075" cy="3481388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E474B3-6199-4C51-85D8-10EAF40AA925}" type="slidenum">
              <a:rPr lang="en-US" altLang="en-US" sz="1200"/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5325"/>
            <a:ext cx="6188075" cy="3481388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680" indent="-28511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095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60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225" indent="-227965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5325"/>
            <a:ext cx="6188075" cy="3481388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-- 1.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CREATE TABLE course (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</a:rPr>
              <a:t>course_id</a:t>
            </a:r>
            <a:r>
              <a:rPr lang="en-US" altLang="zh-CN" dirty="0">
                <a:latin typeface="Times New Roman" panose="02020603050405020304" pitchFamily="18" charset="0"/>
              </a:rPr>
              <a:t>  VARCHAR(8) PRIMARY KEY,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title      VARCHAR(100) NOT NULL,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</a:rPr>
              <a:t>dept_name</a:t>
            </a:r>
            <a:r>
              <a:rPr lang="en-US" altLang="zh-CN" dirty="0">
                <a:latin typeface="Times New Roman" panose="02020603050405020304" pitchFamily="18" charset="0"/>
              </a:rPr>
              <a:t>  VARCHAR(30)  NOT NULL,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credits    INTEGER      CHECK (credits &gt; 0)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);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INSERT INTO course (</a:t>
            </a:r>
            <a:r>
              <a:rPr lang="en-US" altLang="zh-CN" dirty="0" err="1">
                <a:latin typeface="Times New Roman" panose="02020603050405020304" pitchFamily="18" charset="0"/>
              </a:rPr>
              <a:t>course_id</a:t>
            </a:r>
            <a:r>
              <a:rPr lang="en-US" altLang="zh-CN" dirty="0">
                <a:latin typeface="Times New Roman" panose="02020603050405020304" pitchFamily="18" charset="0"/>
              </a:rPr>
              <a:t>, title, </a:t>
            </a:r>
            <a:r>
              <a:rPr lang="en-US" altLang="zh-CN" dirty="0" err="1">
                <a:latin typeface="Times New Roman" panose="02020603050405020304" pitchFamily="18" charset="0"/>
              </a:rPr>
              <a:t>dept_name</a:t>
            </a:r>
            <a:r>
              <a:rPr lang="en-US" altLang="zh-CN" dirty="0">
                <a:latin typeface="Times New Roman" panose="02020603050405020304" pitchFamily="18" charset="0"/>
              </a:rPr>
              <a:t>, credits) VALUES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('BIO-301', 'Genetics',   'Biology',    4),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('CS-190',  'Game </a:t>
            </a:r>
            <a:r>
              <a:rPr lang="en-US" altLang="zh-CN" dirty="0" err="1">
                <a:latin typeface="Times New Roman" panose="02020603050405020304" pitchFamily="18" charset="0"/>
              </a:rPr>
              <a:t>Design','Comp</a:t>
            </a:r>
            <a:r>
              <a:rPr lang="en-US" altLang="zh-CN" dirty="0">
                <a:latin typeface="Times New Roman" panose="02020603050405020304" pitchFamily="18" charset="0"/>
              </a:rPr>
              <a:t>. Sci.', 4),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('CS-315',  'Robotics',   'Comp. Sci.', 3);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-- 2.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CREATE TABLE </a:t>
            </a:r>
            <a:r>
              <a:rPr lang="en-US" altLang="zh-CN" dirty="0" err="1">
                <a:latin typeface="Times New Roman" panose="02020603050405020304" pitchFamily="18" charset="0"/>
              </a:rPr>
              <a:t>prereq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</a:rPr>
              <a:t>course_id</a:t>
            </a:r>
            <a:r>
              <a:rPr lang="en-US" altLang="zh-CN" dirty="0">
                <a:latin typeface="Times New Roman" panose="02020603050405020304" pitchFamily="18" charset="0"/>
              </a:rPr>
              <a:t>  VARCHAR(8),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</a:rPr>
              <a:t>prereq_id</a:t>
            </a:r>
            <a:r>
              <a:rPr lang="en-US" altLang="zh-CN" dirty="0">
                <a:latin typeface="Times New Roman" panose="02020603050405020304" pitchFamily="18" charset="0"/>
              </a:rPr>
              <a:t>  VARCHAR(8),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PRIMARY KEY (</a:t>
            </a:r>
            <a:r>
              <a:rPr lang="en-US" altLang="zh-CN" dirty="0" err="1">
                <a:latin typeface="Times New Roman" panose="02020603050405020304" pitchFamily="18" charset="0"/>
              </a:rPr>
              <a:t>course_id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</a:rPr>
              <a:t>prereq_id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);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INSERT INTO </a:t>
            </a:r>
            <a:r>
              <a:rPr lang="en-US" altLang="zh-CN" dirty="0" err="1">
                <a:latin typeface="Times New Roman" panose="02020603050405020304" pitchFamily="18" charset="0"/>
              </a:rPr>
              <a:t>prereq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dirty="0" err="1">
                <a:latin typeface="Times New Roman" panose="02020603050405020304" pitchFamily="18" charset="0"/>
              </a:rPr>
              <a:t>course_id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</a:rPr>
              <a:t>prereq_id</a:t>
            </a:r>
            <a:r>
              <a:rPr lang="en-US" altLang="zh-CN" dirty="0">
                <a:latin typeface="Times New Roman" panose="02020603050405020304" pitchFamily="18" charset="0"/>
              </a:rPr>
              <a:t>) VALUES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('BIO-301', 'BIO-101'),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('CS-190',  'CS-101'),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('CS-347',  'CS-101');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select * from course natural left outer join </a:t>
            </a:r>
            <a:r>
              <a:rPr lang="en-US" altLang="zh-CN" dirty="0" err="1">
                <a:latin typeface="Times New Roman" panose="02020603050405020304" pitchFamily="18" charset="0"/>
              </a:rPr>
              <a:t>prereq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select * from course natural right outer join </a:t>
            </a:r>
            <a:r>
              <a:rPr lang="en-US" altLang="zh-CN" dirty="0" err="1">
                <a:latin typeface="Times New Roman" panose="02020603050405020304" pitchFamily="18" charset="0"/>
              </a:rPr>
              <a:t>prereq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select * from course natural full outer join </a:t>
            </a:r>
            <a:r>
              <a:rPr lang="en-US" altLang="zh-CN" dirty="0" err="1">
                <a:latin typeface="Times New Roman" panose="02020603050405020304" pitchFamily="18" charset="0"/>
              </a:rPr>
              <a:t>prereq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2675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D0D930-A2D8-469D-B052-FB82FC88E015}" type="slidenum">
              <a:rPr lang="en-US" altLang="en-US" sz="1200"/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5325"/>
            <a:ext cx="6188075" cy="3481388"/>
          </a:xfrm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4C8304-CA7E-484A-A59E-D08422FFDCB2}" type="slidenum">
              <a:rPr lang="en-US" altLang="en-US" sz="1200"/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5325"/>
            <a:ext cx="6188075" cy="3481388"/>
          </a:xfrm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E7261DA-54B3-4A93-9499-25636D977100}" type="slidenum">
              <a:rPr lang="en-US" altLang="en-US" sz="1200"/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9C4894-872D-48F9-9264-417C7C9B2EAD}" type="slidenum">
              <a:rPr lang="en-US" altLang="en-US" sz="1200"/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52E9D7F-36E5-47CB-BEF4-89802073A499}" type="slidenum">
              <a:rPr lang="en-US" altLang="en-US" sz="1200"/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5C1F8B-BDD5-4D70-8389-7FD988212B04}" type="slidenum">
              <a:rPr lang="en-US" altLang="en-US" sz="1200"/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5325"/>
            <a:ext cx="6188075" cy="3481388"/>
          </a:xfrm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21C35E-7DD2-43A4-B0B3-DF6655FBBF3E}" type="slidenum">
              <a:rPr lang="en-US" altLang="en-US" sz="1200"/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5AA873-0E0F-4E9D-B9D0-F99186FE665C}" type="slidenum">
              <a:rPr lang="en-US" altLang="en-US" sz="1200"/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9F710CF-2C3A-4019-8007-D8C75860C40C}" type="slidenum">
              <a:rPr lang="en-US" altLang="en-US" sz="1200"/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https://en.wikipedia.org/wiki/Algebra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183"/>
            <a:ext cx="6858000" cy="1790680"/>
          </a:xfrm>
        </p:spPr>
        <p:txBody>
          <a:bodyPr anchor="b"/>
          <a:lstStyle>
            <a:lvl1pPr algn="ctr"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08"/>
            <a:ext cx="6858000" cy="1241505"/>
          </a:xfrm>
        </p:spPr>
        <p:txBody>
          <a:bodyPr/>
          <a:lstStyle>
            <a:lvl1pPr marL="0" indent="0" algn="ctr">
              <a:buNone/>
              <a:defRPr sz="1600"/>
            </a:lvl1pPr>
            <a:lvl2pPr marL="287020" indent="0" algn="ctr">
              <a:buNone/>
              <a:defRPr sz="1200"/>
            </a:lvl2pPr>
            <a:lvl3pPr marL="574040" indent="0" algn="ctr">
              <a:buNone/>
              <a:defRPr sz="1200"/>
            </a:lvl3pPr>
            <a:lvl4pPr marL="861060" indent="0" algn="ctr">
              <a:buNone/>
              <a:defRPr sz="1100"/>
            </a:lvl4pPr>
            <a:lvl5pPr marL="1148080" indent="0" algn="ctr">
              <a:buNone/>
              <a:defRPr sz="1100"/>
            </a:lvl5pPr>
            <a:lvl6pPr marL="1435100" indent="0" algn="ctr">
              <a:buNone/>
              <a:defRPr sz="1100"/>
            </a:lvl6pPr>
            <a:lvl7pPr marL="1722120" indent="0" algn="ctr">
              <a:buNone/>
              <a:defRPr sz="1100"/>
            </a:lvl7pPr>
            <a:lvl8pPr marL="2009140" indent="0" algn="ctr">
              <a:buNone/>
              <a:defRPr sz="1100"/>
            </a:lvl8pPr>
            <a:lvl9pPr marL="2295525" indent="0" algn="ctr">
              <a:buNone/>
              <a:defRPr sz="11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6C9A41-D864-428D-9C31-5294F3735F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BFCE12-62F8-4935-B4B3-E8FB1AC9A4A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64" y="1282528"/>
            <a:ext cx="7887146" cy="21389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964" y="3442396"/>
            <a:ext cx="7887146" cy="1125141"/>
          </a:xfrm>
        </p:spPr>
        <p:txBody>
          <a:bodyPr/>
          <a:lstStyle>
            <a:lvl1pPr marL="0" indent="0">
              <a:buNone/>
              <a:defRPr sz="1600"/>
            </a:lvl1pPr>
            <a:lvl2pPr marL="287020" indent="0">
              <a:buNone/>
              <a:defRPr sz="1200"/>
            </a:lvl2pPr>
            <a:lvl3pPr marL="574040" indent="0">
              <a:buNone/>
              <a:defRPr sz="1200"/>
            </a:lvl3pPr>
            <a:lvl4pPr marL="861060" indent="0">
              <a:buNone/>
              <a:defRPr sz="1100"/>
            </a:lvl4pPr>
            <a:lvl5pPr marL="1148080" indent="0">
              <a:buNone/>
              <a:defRPr sz="1100"/>
            </a:lvl5pPr>
            <a:lvl6pPr marL="1435100" indent="0">
              <a:buNone/>
              <a:defRPr sz="1100"/>
            </a:lvl6pPr>
            <a:lvl7pPr marL="1722120" indent="0">
              <a:buNone/>
              <a:defRPr sz="1100"/>
            </a:lvl7pPr>
            <a:lvl8pPr marL="2009140" indent="0">
              <a:buNone/>
              <a:defRPr sz="1100"/>
            </a:lvl8pPr>
            <a:lvl9pPr marL="2295525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B6FB98-0011-4161-BE35-0A73E2FACD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258" y="719117"/>
            <a:ext cx="4169049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463" y="719117"/>
            <a:ext cx="4170164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BF4A6C-FF74-409E-AF94-9AA6BEC52E2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5" y="273752"/>
            <a:ext cx="7887146" cy="9945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544" y="1260762"/>
            <a:ext cx="3868788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44" y="1878582"/>
            <a:ext cx="3868788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8928" y="1260762"/>
            <a:ext cx="3887762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8928" y="1878582"/>
            <a:ext cx="3887762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2642A5-B4C1-490D-823B-6F62026E5D0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B72306-FD3C-4756-B3FD-766F3400AA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6FCE69C-6874-463F-8672-A48ADE6CA40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A9E2C9-38C0-4E05-A9A0-7FD9158DBDA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 marL="0" indent="0">
              <a:buNone/>
              <a:defRPr sz="2100"/>
            </a:lvl1pPr>
            <a:lvl2pPr marL="287020" indent="0">
              <a:buNone/>
              <a:defRPr sz="1800"/>
            </a:lvl2pPr>
            <a:lvl3pPr marL="574040" indent="0">
              <a:buNone/>
              <a:defRPr sz="1600"/>
            </a:lvl3pPr>
            <a:lvl4pPr marL="861060" indent="0">
              <a:buNone/>
              <a:defRPr sz="1200"/>
            </a:lvl4pPr>
            <a:lvl5pPr marL="1148080" indent="0">
              <a:buNone/>
              <a:defRPr sz="1200"/>
            </a:lvl5pPr>
            <a:lvl6pPr marL="1435100" indent="0">
              <a:buNone/>
              <a:defRPr sz="1200"/>
            </a:lvl6pPr>
            <a:lvl7pPr marL="1722120" indent="0">
              <a:buNone/>
              <a:defRPr sz="1200"/>
            </a:lvl7pPr>
            <a:lvl8pPr marL="2009140" indent="0">
              <a:buNone/>
              <a:defRPr sz="1200"/>
            </a:lvl8pPr>
            <a:lvl9pPr marL="2295525" indent="0">
              <a:buNone/>
              <a:defRPr sz="1200"/>
            </a:lvl9pPr>
          </a:lstStyle>
          <a:p>
            <a:pPr lvl="0"/>
            <a:endParaRPr lang="en-US" noProof="0"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709096-912F-4774-8F9C-D173966EA40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661447-7998-46BF-B95E-D71DBFFC4D6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3872" y="92928"/>
            <a:ext cx="2110755" cy="4675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257" y="92928"/>
            <a:ext cx="6228458" cy="4675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14C122-CBE5-46C5-AE21-5F2E3318462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body" idx="1"/>
          </p:nvPr>
        </p:nvSpPr>
        <p:spPr bwMode="auto">
          <a:xfrm>
            <a:off x="347663" y="719138"/>
            <a:ext cx="8447087" cy="404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text styles</a:t>
            </a:r>
            <a:endParaRPr lang="en-US" altLang="en-US">
              <a:sym typeface="Helvetica" panose="020B0604020202020204" pitchFamily="34" charset="0"/>
            </a:endParaRPr>
          </a:p>
          <a:p>
            <a:pPr lvl="1"/>
            <a:r>
              <a:rPr lang="en-US" altLang="en-US">
                <a:sym typeface="Helvetica" panose="020B0604020202020204" pitchFamily="34" charset="0"/>
              </a:rPr>
              <a:t>Second level</a:t>
            </a:r>
            <a:endParaRPr lang="en-US" altLang="en-US">
              <a:sym typeface="Helvetica" panose="020B0604020202020204" pitchFamily="34" charset="0"/>
            </a:endParaRPr>
          </a:p>
          <a:p>
            <a:pPr lvl="2"/>
            <a:r>
              <a:rPr lang="en-US" altLang="en-US">
                <a:sym typeface="Helvetica" panose="020B0604020202020204" pitchFamily="34" charset="0"/>
              </a:rPr>
              <a:t>Third level</a:t>
            </a:r>
            <a:endParaRPr lang="en-US" altLang="en-US">
              <a:sym typeface="Helvetica" panose="020B0604020202020204" pitchFamily="34" charset="0"/>
            </a:endParaRPr>
          </a:p>
          <a:p>
            <a:pPr lvl="3"/>
            <a:r>
              <a:rPr lang="en-US" altLang="en-US">
                <a:sym typeface="Helvetica" panose="020B0604020202020204" pitchFamily="34" charset="0"/>
              </a:rPr>
              <a:t>Fourth level</a:t>
            </a:r>
            <a:endParaRPr lang="en-US" altLang="en-US">
              <a:sym typeface="Helvetica" panose="020B0604020202020204" pitchFamily="34" charset="0"/>
            </a:endParaRPr>
          </a:p>
          <a:p>
            <a:pPr lvl="4"/>
            <a:r>
              <a:rPr lang="en-US" altLang="en-US">
                <a:sym typeface="Helvetica" panose="020B0604020202020204" pitchFamily="34" charset="0"/>
              </a:rPr>
              <a:t>Fifth level</a:t>
            </a:r>
            <a:endParaRPr lang="en-US" altLang="en-US">
              <a:sym typeface="Helvetica" panose="020B0604020202020204" pitchFamily="34" charset="0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500063" y="93663"/>
            <a:ext cx="81438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title style</a:t>
            </a:r>
            <a:endParaRPr lang="en-US" altLang="en-US">
              <a:sym typeface="Helvetica" panose="020B0604020202020204" pitchFamily="34" charset="0"/>
            </a:endParaRPr>
          </a:p>
        </p:txBody>
      </p:sp>
      <p:pic>
        <p:nvPicPr>
          <p:cNvPr id="1028" name="Picture 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69850"/>
            <a:ext cx="18510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341313" y="588963"/>
            <a:ext cx="8459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 anchor="ctr"/>
          <a:lstStyle/>
          <a:p>
            <a:endParaRPr lang="en-US"/>
          </a:p>
        </p:txBody>
      </p:sp>
      <p:sp>
        <p:nvSpPr>
          <p:cNvPr id="2" name="Rectangle 5"/>
          <p:cNvSpPr>
            <a:spLocks noGrp="1"/>
          </p:cNvSpPr>
          <p:nvPr>
            <p:ph type="sldNum" sz="quarter" idx="2"/>
          </p:nvPr>
        </p:nvSpPr>
        <p:spPr bwMode="auto">
          <a:xfrm>
            <a:off x="4460875" y="4808538"/>
            <a:ext cx="215900" cy="1730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31886" tIns="31886" rIns="31886" bIns="31886" numCol="1" anchor="b" anchorCtr="0" compatLnSpc="1"/>
          <a:lstStyle>
            <a:lvl1pPr algn="ctr" defTabSz="1090930" eaLnBrk="1">
              <a:defRPr sz="900">
                <a:solidFill>
                  <a:srgbClr val="5E5E5E"/>
                </a:solidFill>
                <a:latin typeface="Graphik" charset="0"/>
                <a:ea typeface="Graphik" charset="0"/>
                <a:cs typeface="Graphik" charset="0"/>
                <a:sym typeface="Graphik" charset="0"/>
              </a:defRPr>
            </a:lvl1pPr>
          </a:lstStyle>
          <a:p>
            <a:fld id="{B78101D5-FE84-44C9-AB30-8CA2B182F50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 kern="1200">
          <a:solidFill>
            <a:srgbClr val="AE0428"/>
          </a:solidFill>
          <a:latin typeface="+mj-lt"/>
          <a:ea typeface="+mj-ea"/>
          <a:cs typeface="+mj-cs"/>
          <a:sym typeface="Helvetica" panose="020B0604020202020204" pitchFamily="34" charset="0"/>
        </a:defRPr>
      </a:lvl1pPr>
      <a:lvl2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2pPr>
      <a:lvl3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3pPr>
      <a:lvl4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4pPr>
      <a:lvl5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5pPr>
      <a:lvl6pPr marL="28702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6pPr>
      <a:lvl7pPr marL="57404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7pPr>
      <a:lvl8pPr marL="86106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8pPr>
      <a:lvl9pPr marL="114808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9pPr>
    </p:titleStyle>
    <p:bodyStyle>
      <a:lvl1pPr marL="263525" indent="-263525" algn="l" defTabSz="1090930" rtl="0" eaLnBrk="0" fontAlgn="base" hangingPunct="0">
        <a:spcBef>
          <a:spcPts val="1250"/>
        </a:spcBef>
        <a:spcAft>
          <a:spcPct val="0"/>
        </a:spcAft>
        <a:buSzPct val="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1pPr>
      <a:lvl2pPr marL="494030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2pPr>
      <a:lvl3pPr marL="7397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3pPr>
      <a:lvl4pPr marL="98742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4pPr>
      <a:lvl5pPr marL="12350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5pPr>
      <a:lvl6pPr marL="157861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6563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201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903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70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40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6106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808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3510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221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091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95525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stratascratch.com/" TargetMode="External"/><Relationship Id="rId3" Type="http://schemas.openxmlformats.org/officeDocument/2006/relationships/hyperlink" Target="https://leetcode.cn/problemset/database/" TargetMode="External"/><Relationship Id="rId2" Type="http://schemas.openxmlformats.org/officeDocument/2006/relationships/hyperlink" Target="https://www.mianshiya.com/tag/SQL" TargetMode="External"/><Relationship Id="rId1" Type="http://schemas.openxmlformats.org/officeDocument/2006/relationships/hyperlink" Target="https://www.nowcoder.com/ta/sq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hyperlink" Target="https://rise.cs.berkeley.edu/blog/sql-query-optimization-meets-deep-reinforcement-learning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hyperlink" Target="https://en.wikipedia.org/wiki/Extract,_transform,_load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/>
          </p:cNvSpPr>
          <p:nvPr>
            <p:ph type="ctrTitle"/>
          </p:nvPr>
        </p:nvSpPr>
        <p:spPr>
          <a:xfrm>
            <a:off x="500063" y="1158875"/>
            <a:ext cx="8143875" cy="568325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z="2800" dirty="0"/>
              <a:t>DTS207TC Database Development and Design</a:t>
            </a:r>
            <a:endParaRPr lang="en-US" altLang="en-US" sz="2800" dirty="0"/>
          </a:p>
        </p:txBody>
      </p:sp>
      <p:sp>
        <p:nvSpPr>
          <p:cNvPr id="2051" name="Rectangle 2"/>
          <p:cNvSpPr>
            <a:spLocks noGrp="1"/>
          </p:cNvSpPr>
          <p:nvPr>
            <p:ph type="subTitle" sz="quarter" idx="1"/>
          </p:nvPr>
        </p:nvSpPr>
        <p:spPr>
          <a:xfrm>
            <a:off x="500063" y="2428240"/>
            <a:ext cx="8143875" cy="385763"/>
          </a:xfrm>
        </p:spPr>
        <p:txBody>
          <a:bodyPr/>
          <a:lstStyle/>
          <a:p>
            <a:pPr defTabSz="365125" eaLnBrk="1">
              <a:spcBef>
                <a:spcPct val="0"/>
              </a:spcBef>
              <a:buSzTx/>
            </a:pP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</a:rPr>
              <a:t>Lecture 2</a:t>
            </a: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defTabSz="365125" eaLnBrk="1">
              <a:spcBef>
                <a:spcPct val="0"/>
              </a:spcBef>
              <a:buSzTx/>
            </a:pP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</a:rPr>
              <a:t>Mid-level SQL</a:t>
            </a: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defTabSz="365125" eaLnBrk="1">
              <a:spcBef>
                <a:spcPct val="0"/>
              </a:spcBef>
              <a:buSzTx/>
            </a:pP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defTabSz="365125" eaLnBrk="1">
              <a:spcBef>
                <a:spcPct val="0"/>
              </a:spcBef>
              <a:buSzTx/>
            </a:pP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defTabSz="365125" eaLnBrk="1">
              <a:spcBef>
                <a:spcPct val="0"/>
              </a:spcBef>
              <a:buSzTx/>
            </a:pP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defTabSz="365125" eaLnBrk="1">
              <a:spcBef>
                <a:spcPct val="0"/>
              </a:spcBef>
              <a:buSzTx/>
            </a:pP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defTabSz="365125" eaLnBrk="1">
              <a:spcBef>
                <a:spcPct val="0"/>
              </a:spcBef>
              <a:buSzTx/>
            </a:pP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defTabSz="365125" eaLnBrk="1">
              <a:spcBef>
                <a:spcPct val="0"/>
              </a:spcBef>
              <a:buSzTx/>
            </a:pPr>
            <a:r>
              <a:rPr lang="en-US" altLang="zh-CN" sz="800" b="1" dirty="0">
                <a:solidFill>
                  <a:srgbClr val="AE0428"/>
                </a:solidFill>
                <a:ea typeface="宋体" panose="02010600030101010101" pitchFamily="2" charset="-122"/>
              </a:rPr>
              <a:t>Page titles with * will not be assessed</a:t>
            </a:r>
            <a:endParaRPr lang="en-US" altLang="zh-CN" sz="800" b="1" dirty="0">
              <a:solidFill>
                <a:srgbClr val="AE0428"/>
              </a:solidFill>
              <a:ea typeface="宋体" panose="02010600030101010101" pitchFamily="2" charset="-122"/>
            </a:endParaRPr>
          </a:p>
        </p:txBody>
      </p:sp>
      <p:sp>
        <p:nvSpPr>
          <p:cNvPr id="2052" name="Text Box 3"/>
          <p:cNvSpPr txBox="1"/>
          <p:nvPr/>
        </p:nvSpPr>
        <p:spPr bwMode="auto">
          <a:xfrm>
            <a:off x="500063" y="4435475"/>
            <a:ext cx="8143875" cy="2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/>
          <a:lstStyle>
            <a:lvl1pPr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/>
            <a:r>
              <a:rPr lang="en-US" altLang="zh-CN" sz="1200">
                <a:latin typeface="Helvetica" panose="020B0604020202020204" pitchFamily="34" charset="0"/>
                <a:ea typeface="宋体" panose="02010600030101010101" pitchFamily="2" charset="-122"/>
                <a:sym typeface="Helvetica" panose="020B0604020202020204" pitchFamily="34" charset="0"/>
              </a:rPr>
              <a:t>Di Zhang</a:t>
            </a:r>
            <a:r>
              <a:rPr lang="en-US" altLang="en-US" sz="12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, Autumn 2025</a:t>
            </a:r>
            <a:endParaRPr lang="en-US" alt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*SQL Interview Questions Website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China Big Company</a:t>
            </a:r>
            <a:endParaRPr lang="en-US" altLang="zh-CN" dirty="0">
              <a:hlinkClick r:id="rId1"/>
            </a:endParaRPr>
          </a:p>
          <a:p>
            <a:pPr lvl="1"/>
            <a:r>
              <a:rPr lang="en-US" altLang="zh-CN" dirty="0">
                <a:hlinkClick r:id="rId1"/>
              </a:rPr>
              <a:t>https://www.nowcoder.com/ta/sql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https://www.mianshiya.com/tag/SQL</a:t>
            </a:r>
            <a:endParaRPr lang="en-US" altLang="zh-CN" dirty="0"/>
          </a:p>
          <a:p>
            <a:r>
              <a:rPr lang="en-US" altLang="zh-CN" dirty="0"/>
              <a:t>International Company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https://leetcode.cn/problemset/database/</a:t>
            </a:r>
            <a:endParaRPr lang="en-US" altLang="zh-CN" dirty="0"/>
          </a:p>
          <a:p>
            <a:pPr lvl="1"/>
            <a:r>
              <a:rPr lang="en-US" altLang="zh-CN" dirty="0">
                <a:hlinkClick r:id="rId4"/>
              </a:rPr>
              <a:t>https://www.stratascratch.com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-- You will be asked to be tested without AI and Internet in real interview…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*Tips on CW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Correctness</a:t>
            </a:r>
            <a:endParaRPr lang="en-US" altLang="zh-CN" dirty="0"/>
          </a:p>
          <a:p>
            <a:r>
              <a:rPr lang="en-US" altLang="zh-CN" dirty="0"/>
              <a:t>Efficiency</a:t>
            </a:r>
            <a:endParaRPr lang="en-US" altLang="zh-CN" dirty="0"/>
          </a:p>
          <a:p>
            <a:r>
              <a:rPr lang="en-US" altLang="zh-CN" dirty="0"/>
              <a:t>Completeness</a:t>
            </a:r>
            <a:endParaRPr lang="en-US" altLang="zh-CN" dirty="0"/>
          </a:p>
          <a:p>
            <a:r>
              <a:rPr lang="en-US" altLang="zh-CN" dirty="0"/>
              <a:t>Document quality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Joined Relations</a:t>
            </a:r>
            <a:endParaRPr lang="en-US" sz="21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896133"/>
            <a:ext cx="7992888" cy="3411140"/>
          </a:xfrm>
        </p:spPr>
        <p:txBody>
          <a:bodyPr/>
          <a:lstStyle/>
          <a:p>
            <a:r>
              <a:rPr lang="en-US" altLang="en-US" sz="1275" b="1" dirty="0">
                <a:solidFill>
                  <a:srgbClr val="002060"/>
                </a:solidFill>
                <a:ea typeface="MS PGothic" panose="020B0600070205080204" pitchFamily="34" charset="-128"/>
              </a:rPr>
              <a:t>Join operations</a:t>
            </a:r>
            <a:r>
              <a:rPr lang="en-US" altLang="en-US" sz="1275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1275" dirty="0">
                <a:ea typeface="MS PGothic" panose="020B0600070205080204" pitchFamily="34" charset="-128"/>
              </a:rPr>
              <a:t>take two relations and return as a result another relation.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r>
              <a:rPr lang="en-US" altLang="en-US" sz="1275" dirty="0">
                <a:ea typeface="MS PGothic" panose="020B0600070205080204" pitchFamily="34" charset="-128"/>
              </a:rPr>
              <a:t>A join operation is a Cartesian product which requires that tuples in the two relations match (under some condition).  It also specifies the attributes that are present in the result of the join 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r>
              <a:rPr lang="en-US" altLang="en-US" sz="1275" dirty="0">
                <a:ea typeface="MS PGothic" panose="020B0600070205080204" pitchFamily="34" charset="-128"/>
              </a:rPr>
              <a:t>The join operations are typically used as subquery expressions in the </a:t>
            </a:r>
            <a:r>
              <a:rPr lang="en-US" altLang="en-US" sz="1275" b="1" dirty="0">
                <a:ea typeface="MS PGothic" panose="020B0600070205080204" pitchFamily="34" charset="-128"/>
              </a:rPr>
              <a:t>from </a:t>
            </a:r>
            <a:r>
              <a:rPr lang="en-US" altLang="en-US" sz="1275" dirty="0">
                <a:ea typeface="MS PGothic" panose="020B0600070205080204" pitchFamily="34" charset="-128"/>
              </a:rPr>
              <a:t>clause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r>
              <a:rPr lang="en-US" altLang="en-US" sz="1275" dirty="0">
                <a:ea typeface="MS PGothic" panose="020B0600070205080204" pitchFamily="34" charset="-128"/>
              </a:rPr>
              <a:t>Three types of joins: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275" dirty="0">
                <a:ea typeface="MS PGothic" panose="020B0600070205080204" pitchFamily="34" charset="-128"/>
              </a:rPr>
              <a:t>Natural join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275" dirty="0">
                <a:ea typeface="MS PGothic" panose="020B0600070205080204" pitchFamily="34" charset="-128"/>
              </a:rPr>
              <a:t>Inner join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275" dirty="0">
                <a:ea typeface="MS PGothic" panose="020B0600070205080204" pitchFamily="34" charset="-128"/>
              </a:rPr>
              <a:t>Outer join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</a:pPr>
            <a:endParaRPr lang="en-US" altLang="en-US" sz="1500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Natural Join in SQL</a:t>
            </a:r>
            <a:endParaRPr lang="en-US" sz="21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809245"/>
            <a:ext cx="8032377" cy="3737372"/>
          </a:xfrm>
        </p:spPr>
        <p:txBody>
          <a:bodyPr/>
          <a:lstStyle/>
          <a:p>
            <a:r>
              <a:rPr lang="en-US" altLang="en-US" sz="1275" dirty="0">
                <a:ea typeface="MS PGothic" panose="020B0600070205080204" pitchFamily="34" charset="-128"/>
              </a:rPr>
              <a:t>Natural join matches tuples with the same values for all common attributes, and retains only one copy of each common column.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r>
              <a:rPr lang="en-US" altLang="en-US" sz="1275" dirty="0">
                <a:ea typeface="MS PGothic" panose="020B0600070205080204" pitchFamily="34" charset="-128"/>
              </a:rPr>
              <a:t>List the names of instructors along with the course ID of the courses that they taught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275" b="1" dirty="0">
                <a:ea typeface="MS PGothic" panose="020B0600070205080204" pitchFamily="34" charset="-128"/>
              </a:rPr>
              <a:t>select </a:t>
            </a:r>
            <a:r>
              <a:rPr lang="en-US" altLang="en-US" sz="1275" i="1" dirty="0">
                <a:ea typeface="MS PGothic" panose="020B0600070205080204" pitchFamily="34" charset="-128"/>
              </a:rPr>
              <a:t>name</a:t>
            </a:r>
            <a:r>
              <a:rPr lang="en-US" altLang="en-US" sz="1275" dirty="0">
                <a:ea typeface="MS PGothic" panose="020B0600070205080204" pitchFamily="34" charset="-128"/>
              </a:rPr>
              <a:t>, </a:t>
            </a:r>
            <a:r>
              <a:rPr lang="en-US" altLang="en-US" sz="1275" i="1" dirty="0" err="1">
                <a:ea typeface="MS PGothic" panose="020B0600070205080204" pitchFamily="34" charset="-128"/>
              </a:rPr>
              <a:t>course_id</a:t>
            </a:r>
            <a:br>
              <a:rPr lang="en-US" altLang="en-US" sz="1275" i="1" dirty="0">
                <a:ea typeface="MS PGothic" panose="020B0600070205080204" pitchFamily="34" charset="-128"/>
              </a:rPr>
            </a:br>
            <a:r>
              <a:rPr lang="en-US" altLang="en-US" sz="1275" b="1" dirty="0">
                <a:ea typeface="MS PGothic" panose="020B0600070205080204" pitchFamily="34" charset="-128"/>
              </a:rPr>
              <a:t>from </a:t>
            </a:r>
            <a:r>
              <a:rPr lang="en-US" altLang="en-US" sz="1275" i="1" dirty="0">
                <a:ea typeface="MS PGothic" panose="020B0600070205080204" pitchFamily="34" charset="-128"/>
              </a:rPr>
              <a:t> students, takes</a:t>
            </a:r>
            <a:br>
              <a:rPr lang="en-US" altLang="en-US" sz="1275" i="1" dirty="0">
                <a:ea typeface="MS PGothic" panose="020B0600070205080204" pitchFamily="34" charset="-128"/>
              </a:rPr>
            </a:br>
            <a:r>
              <a:rPr lang="en-US" altLang="en-US" sz="1275" b="1" dirty="0">
                <a:ea typeface="MS PGothic" panose="020B0600070205080204" pitchFamily="34" charset="-128"/>
              </a:rPr>
              <a:t>where </a:t>
            </a:r>
            <a:r>
              <a:rPr lang="en-US" altLang="en-US" sz="1275" i="1" dirty="0">
                <a:ea typeface="MS PGothic" panose="020B0600070205080204" pitchFamily="34" charset="-128"/>
              </a:rPr>
              <a:t>student.ID </a:t>
            </a:r>
            <a:r>
              <a:rPr lang="en-US" altLang="en-US" sz="1275" dirty="0">
                <a:ea typeface="MS PGothic" panose="020B0600070205080204" pitchFamily="34" charset="-128"/>
              </a:rPr>
              <a:t>= </a:t>
            </a:r>
            <a:r>
              <a:rPr lang="en-US" altLang="en-US" sz="1275" i="1" dirty="0">
                <a:ea typeface="MS PGothic" panose="020B0600070205080204" pitchFamily="34" charset="-128"/>
              </a:rPr>
              <a:t>takes.ID</a:t>
            </a:r>
            <a:r>
              <a:rPr lang="en-US" altLang="en-US" sz="1275" dirty="0">
                <a:ea typeface="MS PGothic" panose="020B0600070205080204" pitchFamily="34" charset="-128"/>
              </a:rPr>
              <a:t>;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r>
              <a:rPr lang="en-US" altLang="en-US" sz="1275" dirty="0">
                <a:ea typeface="MS PGothic" panose="020B0600070205080204" pitchFamily="34" charset="-128"/>
              </a:rPr>
              <a:t>Same query in SQL with “natural join” construct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275" b="1" dirty="0">
                <a:ea typeface="MS PGothic" panose="020B0600070205080204" pitchFamily="34" charset="-128"/>
              </a:rPr>
              <a:t>select </a:t>
            </a:r>
            <a:r>
              <a:rPr lang="en-US" altLang="en-US" sz="1275" i="1" dirty="0">
                <a:ea typeface="MS PGothic" panose="020B0600070205080204" pitchFamily="34" charset="-128"/>
              </a:rPr>
              <a:t>name</a:t>
            </a:r>
            <a:r>
              <a:rPr lang="en-US" altLang="en-US" sz="1275" dirty="0">
                <a:ea typeface="MS PGothic" panose="020B0600070205080204" pitchFamily="34" charset="-128"/>
              </a:rPr>
              <a:t>,</a:t>
            </a:r>
            <a:r>
              <a:rPr lang="en-US" altLang="en-US" sz="1275" i="1" dirty="0">
                <a:ea typeface="MS PGothic" panose="020B0600070205080204" pitchFamily="34" charset="-128"/>
              </a:rPr>
              <a:t> </a:t>
            </a:r>
            <a:r>
              <a:rPr lang="en-US" altLang="en-US" sz="1275" i="1" dirty="0" err="1">
                <a:ea typeface="MS PGothic" panose="020B0600070205080204" pitchFamily="34" charset="-128"/>
              </a:rPr>
              <a:t>course_id</a:t>
            </a:r>
            <a:br>
              <a:rPr lang="en-US" altLang="en-US" sz="1275" i="1" dirty="0">
                <a:ea typeface="MS PGothic" panose="020B0600070205080204" pitchFamily="34" charset="-128"/>
              </a:rPr>
            </a:br>
            <a:r>
              <a:rPr lang="en-US" altLang="en-US" sz="1275" b="1" dirty="0">
                <a:ea typeface="MS PGothic" panose="020B0600070205080204" pitchFamily="34" charset="-128"/>
              </a:rPr>
              <a:t>from </a:t>
            </a:r>
            <a:r>
              <a:rPr lang="en-US" altLang="en-US" sz="1275" i="1" dirty="0">
                <a:ea typeface="MS PGothic" panose="020B0600070205080204" pitchFamily="34" charset="-128"/>
              </a:rPr>
              <a:t>student </a:t>
            </a:r>
            <a:r>
              <a:rPr lang="en-US" altLang="en-US" sz="1275" b="1" dirty="0">
                <a:ea typeface="MS PGothic" panose="020B0600070205080204" pitchFamily="34" charset="-128"/>
              </a:rPr>
              <a:t>natural join </a:t>
            </a:r>
            <a:r>
              <a:rPr lang="en-US" altLang="en-US" sz="1275" i="1" dirty="0">
                <a:ea typeface="MS PGothic" panose="020B0600070205080204" pitchFamily="34" charset="-128"/>
              </a:rPr>
              <a:t>takes</a:t>
            </a:r>
            <a:r>
              <a:rPr lang="en-US" altLang="en-US" sz="1275" dirty="0">
                <a:ea typeface="MS PGothic" panose="020B0600070205080204" pitchFamily="34" charset="-128"/>
              </a:rPr>
              <a:t>;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Natural Join in SQL (Cont.)</a:t>
            </a:r>
            <a:endParaRPr lang="en-US" sz="21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18973"/>
            <a:ext cx="6980821" cy="2656332"/>
          </a:xfrm>
        </p:spPr>
        <p:txBody>
          <a:bodyPr/>
          <a:lstStyle/>
          <a:p>
            <a:r>
              <a:rPr lang="en-US" altLang="en-US" sz="1275" dirty="0">
                <a:ea typeface="MS PGothic" panose="020B0600070205080204" pitchFamily="34" charset="-128"/>
              </a:rPr>
              <a:t>The </a:t>
            </a:r>
            <a:r>
              <a:rPr lang="en-US" altLang="en-US" sz="1275" b="1" dirty="0">
                <a:ea typeface="MS PGothic" panose="020B0600070205080204" pitchFamily="34" charset="-128"/>
              </a:rPr>
              <a:t>from</a:t>
            </a:r>
            <a:r>
              <a:rPr lang="en-US" altLang="en-US" sz="1275" dirty="0">
                <a:ea typeface="MS PGothic" panose="020B0600070205080204" pitchFamily="34" charset="-128"/>
              </a:rPr>
              <a:t> clause can have multiple relations combined using natural join: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 lvl="1">
              <a:buNone/>
            </a:pPr>
            <a:r>
              <a:rPr lang="en-US" altLang="en-US" sz="1275" b="1" dirty="0">
                <a:ea typeface="MS PGothic" panose="020B0600070205080204" pitchFamily="34" charset="-128"/>
              </a:rPr>
              <a:t>     select </a:t>
            </a:r>
            <a:r>
              <a:rPr lang="en-US" altLang="en-US" sz="1275" i="1" dirty="0">
                <a:ea typeface="MS PGothic" panose="020B0600070205080204" pitchFamily="34" charset="-128"/>
              </a:rPr>
              <a:t> A</a:t>
            </a:r>
            <a:r>
              <a:rPr lang="en-US" altLang="en-US" sz="1275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1275" i="1" dirty="0">
                <a:ea typeface="MS PGothic" panose="020B0600070205080204" pitchFamily="34" charset="-128"/>
              </a:rPr>
              <a:t>, A</a:t>
            </a:r>
            <a:r>
              <a:rPr lang="en-US" altLang="en-US" sz="1275" i="1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1275" i="1" dirty="0">
                <a:ea typeface="MS PGothic" panose="020B0600070205080204" pitchFamily="34" charset="-128"/>
              </a:rPr>
              <a:t>, … A</a:t>
            </a:r>
            <a:r>
              <a:rPr lang="en-US" altLang="en-US" sz="1275" i="1" baseline="-25000" dirty="0">
                <a:ea typeface="MS PGothic" panose="020B0600070205080204" pitchFamily="34" charset="-128"/>
              </a:rPr>
              <a:t>n</a:t>
            </a:r>
            <a:br>
              <a:rPr lang="en-US" altLang="en-US" sz="1275" i="1" dirty="0">
                <a:ea typeface="MS PGothic" panose="020B0600070205080204" pitchFamily="34" charset="-128"/>
              </a:rPr>
            </a:br>
            <a:r>
              <a:rPr lang="en-US" altLang="en-US" sz="1275" b="1" dirty="0">
                <a:ea typeface="MS PGothic" panose="020B0600070205080204" pitchFamily="34" charset="-128"/>
              </a:rPr>
              <a:t>from </a:t>
            </a:r>
            <a:r>
              <a:rPr lang="en-US" altLang="en-US" sz="1275" i="1" dirty="0">
                <a:ea typeface="MS PGothic" panose="020B0600070205080204" pitchFamily="34" charset="-128"/>
              </a:rPr>
              <a:t> r</a:t>
            </a:r>
            <a:r>
              <a:rPr lang="en-US" altLang="en-US" sz="1275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1275" i="1" dirty="0">
                <a:ea typeface="MS PGothic" panose="020B0600070205080204" pitchFamily="34" charset="-128"/>
              </a:rPr>
              <a:t>  </a:t>
            </a:r>
            <a:r>
              <a:rPr lang="en-US" altLang="en-US" sz="1275" b="1" dirty="0">
                <a:ea typeface="MS PGothic" panose="020B0600070205080204" pitchFamily="34" charset="-128"/>
              </a:rPr>
              <a:t>natural join </a:t>
            </a:r>
            <a:r>
              <a:rPr lang="en-US" altLang="en-US" sz="1275" i="1" dirty="0">
                <a:ea typeface="MS PGothic" panose="020B0600070205080204" pitchFamily="34" charset="-128"/>
              </a:rPr>
              <a:t>r</a:t>
            </a:r>
            <a:r>
              <a:rPr lang="en-US" altLang="en-US" sz="1275" i="1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1275" i="1" dirty="0">
                <a:ea typeface="MS PGothic" panose="020B0600070205080204" pitchFamily="34" charset="-128"/>
              </a:rPr>
              <a:t> </a:t>
            </a:r>
            <a:r>
              <a:rPr lang="en-US" altLang="en-US" sz="1275" b="1" dirty="0">
                <a:ea typeface="MS PGothic" panose="020B0600070205080204" pitchFamily="34" charset="-128"/>
              </a:rPr>
              <a:t>natural join </a:t>
            </a:r>
            <a:r>
              <a:rPr lang="en-US" altLang="en-US" sz="1275" b="1" i="1" dirty="0">
                <a:ea typeface="MS PGothic" panose="020B0600070205080204" pitchFamily="34" charset="-128"/>
              </a:rPr>
              <a:t>.. </a:t>
            </a:r>
            <a:r>
              <a:rPr lang="en-US" altLang="en-US" sz="1275" b="1" dirty="0">
                <a:ea typeface="MS PGothic" panose="020B0600070205080204" pitchFamily="34" charset="-128"/>
              </a:rPr>
              <a:t>natural join </a:t>
            </a:r>
            <a:r>
              <a:rPr lang="en-US" altLang="en-US" sz="1275" dirty="0" err="1">
                <a:ea typeface="MS PGothic" panose="020B0600070205080204" pitchFamily="34" charset="-128"/>
              </a:rPr>
              <a:t>r</a:t>
            </a:r>
            <a:r>
              <a:rPr lang="en-US" altLang="en-US" sz="1275" baseline="-25000" dirty="0" err="1">
                <a:ea typeface="MS PGothic" panose="020B0600070205080204" pitchFamily="34" charset="-128"/>
              </a:rPr>
              <a:t>n</a:t>
            </a:r>
            <a:br>
              <a:rPr lang="en-US" altLang="en-US" sz="1275" i="1" dirty="0">
                <a:ea typeface="MS PGothic" panose="020B0600070205080204" pitchFamily="34" charset="-128"/>
              </a:rPr>
            </a:br>
            <a:r>
              <a:rPr lang="en-US" altLang="en-US" sz="1275" b="1" dirty="0">
                <a:ea typeface="MS PGothic" panose="020B0600070205080204" pitchFamily="34" charset="-128"/>
              </a:rPr>
              <a:t>where  </a:t>
            </a:r>
            <a:r>
              <a:rPr lang="en-US" altLang="en-US" sz="1275" i="1" dirty="0">
                <a:ea typeface="MS PGothic" panose="020B0600070205080204" pitchFamily="34" charset="-128"/>
              </a:rPr>
              <a:t>P </a:t>
            </a:r>
            <a:r>
              <a:rPr lang="en-US" altLang="en-US" sz="1275" dirty="0">
                <a:ea typeface="MS PGothic" panose="020B0600070205080204" pitchFamily="34" charset="-128"/>
              </a:rPr>
              <a:t>;</a:t>
            </a:r>
            <a:endParaRPr lang="en-US" altLang="en-US" sz="1275" dirty="0">
              <a:ea typeface="MS PGothic" panose="020B0600070205080204" pitchFamily="34" charset="-128"/>
            </a:endParaRPr>
          </a:p>
          <a:p>
            <a:pPr>
              <a:buNone/>
            </a:pPr>
            <a:endParaRPr lang="en-US" altLang="en-US" sz="1275" dirty="0">
              <a:ea typeface="MS PGothic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sz="1275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100" dirty="0"/>
              <a:t>Example: </a:t>
            </a:r>
            <a:r>
              <a:rPr lang="en-US" sz="2100" dirty="0"/>
              <a:t>Student Relation</a:t>
            </a:r>
            <a:endParaRPr lang="en-US" sz="2100" dirty="0"/>
          </a:p>
        </p:txBody>
      </p:sp>
      <p:pic>
        <p:nvPicPr>
          <p:cNvPr id="1029" name="Picture 5" descr="W:\db-book\db7\slide-dir\Tables-Figures\EPS-PDF-JPG-dir\tables\student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191918" y="643221"/>
            <a:ext cx="4756345" cy="4232785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 bwMode="auto">
          <a:xfrm>
            <a:off x="2195736" y="699542"/>
            <a:ext cx="4752527" cy="4032448"/>
          </a:xfrm>
          <a:prstGeom prst="rect">
            <a:avLst/>
          </a:prstGeom>
          <a:solidFill>
            <a:srgbClr val="FF0066">
              <a:alpha val="10196"/>
            </a:srgbClr>
          </a:solidFill>
          <a:ln w="25400" cap="flat" cmpd="sng" algn="ctr">
            <a:noFill/>
            <a:prstDash val="solid"/>
            <a:miter lim="400000"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Takes Relation</a:t>
            </a:r>
            <a:endParaRPr lang="en-US" sz="2100" dirty="0"/>
          </a:p>
        </p:txBody>
      </p:sp>
      <p:pic>
        <p:nvPicPr>
          <p:cNvPr id="1026" name="Picture 2" descr="C:\Users\as668\Desktop\Judi-Done\4_02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411761" y="646556"/>
            <a:ext cx="3672408" cy="4418602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 bwMode="auto">
          <a:xfrm>
            <a:off x="2339751" y="699542"/>
            <a:ext cx="3744417" cy="4032448"/>
          </a:xfrm>
          <a:prstGeom prst="rect">
            <a:avLst/>
          </a:prstGeom>
          <a:solidFill>
            <a:schemeClr val="accent2">
              <a:alpha val="10196"/>
            </a:schemeClr>
          </a:solidFill>
          <a:ln w="25400" cap="flat" cmpd="sng" algn="ctr">
            <a:noFill/>
            <a:prstDash val="solid"/>
            <a:miter lim="400000"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b="0" i="1" dirty="0"/>
              <a:t>student</a:t>
            </a:r>
            <a:r>
              <a:rPr lang="en-US" sz="2100" dirty="0"/>
              <a:t> natural join </a:t>
            </a:r>
            <a:r>
              <a:rPr lang="en-US" sz="2100" b="0" i="1" dirty="0"/>
              <a:t>takes</a:t>
            </a:r>
            <a:endParaRPr lang="en-US" sz="2100" b="0" i="1" dirty="0"/>
          </a:p>
        </p:txBody>
      </p:sp>
      <p:pic>
        <p:nvPicPr>
          <p:cNvPr id="2" name="Picture 2" descr="C:\Users\as668\Desktop\Judi-Done\4_03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762899" y="882446"/>
            <a:ext cx="4307641" cy="3578827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 bwMode="auto">
          <a:xfrm>
            <a:off x="4788025" y="699542"/>
            <a:ext cx="2304256" cy="4032448"/>
          </a:xfrm>
          <a:prstGeom prst="rect">
            <a:avLst/>
          </a:prstGeom>
          <a:solidFill>
            <a:schemeClr val="accent2">
              <a:alpha val="10196"/>
            </a:schemeClr>
          </a:solidFill>
          <a:ln w="25400" cap="flat" cmpd="sng" algn="ctr">
            <a:noFill/>
            <a:prstDash val="solid"/>
            <a:miter lim="400000"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131840" y="699542"/>
            <a:ext cx="1656185" cy="4032448"/>
          </a:xfrm>
          <a:prstGeom prst="rect">
            <a:avLst/>
          </a:prstGeom>
          <a:solidFill>
            <a:srgbClr val="FF0066">
              <a:alpha val="10196"/>
            </a:srgbClr>
          </a:solidFill>
          <a:ln w="25400" cap="flat" cmpd="sng" algn="ctr">
            <a:noFill/>
            <a:prstDash val="solid"/>
            <a:miter lim="400000"/>
            <a:headEnd type="none" w="med" len="med"/>
            <a:tailEnd type="none" w="med" len="med"/>
          </a:ln>
        </p:spPr>
        <p:txBody>
          <a:bodyPr vert="horz" wrap="square" lIns="50800" tIns="50800" rIns="50800" bIns="50800" numCol="1" rtlCol="0" anchor="ctr" anchorCtr="0" compatLnSpc="1">
            <a:sp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pic>
        <p:nvPicPr>
          <p:cNvPr id="5" name="Picture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395536" y="771550"/>
            <a:ext cx="723512" cy="723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Dangerous in Natural Join</a:t>
            </a:r>
            <a:endParaRPr lang="en-US" sz="21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827401"/>
            <a:ext cx="7560840" cy="3708024"/>
          </a:xfrm>
        </p:spPr>
        <p:txBody>
          <a:bodyPr/>
          <a:lstStyle/>
          <a:p>
            <a:r>
              <a:rPr lang="en-US" sz="1275" dirty="0"/>
              <a:t>Beware of unrelated attributes with same name which get equated incorrectly</a:t>
            </a:r>
            <a:endParaRPr lang="en-US" sz="1275" dirty="0"/>
          </a:p>
          <a:p>
            <a:r>
              <a:rPr lang="en-US" altLang="en-US" sz="1275" dirty="0">
                <a:ea typeface="MS PGothic" panose="020B0600070205080204" pitchFamily="34" charset="-128"/>
              </a:rPr>
              <a:t> </a:t>
            </a:r>
            <a:r>
              <a:rPr lang="en-US" sz="1275" dirty="0"/>
              <a:t>Example -- List the names of students instructors along with the titles of courses that they have taken</a:t>
            </a:r>
            <a:endParaRPr lang="en-US" sz="1275" dirty="0"/>
          </a:p>
          <a:p>
            <a:pPr lvl="1"/>
            <a:r>
              <a:rPr lang="en-US" sz="1275" dirty="0"/>
              <a:t>Correct version</a:t>
            </a:r>
            <a:endParaRPr lang="en-US" sz="1275" dirty="0"/>
          </a:p>
          <a:p>
            <a:pPr lvl="1">
              <a:buNone/>
            </a:pPr>
            <a:r>
              <a:rPr lang="en-US" sz="1275" b="1" dirty="0"/>
              <a:t>           select </a:t>
            </a:r>
            <a:r>
              <a:rPr lang="en-US" sz="1275" i="1" dirty="0"/>
              <a:t>name</a:t>
            </a:r>
            <a:r>
              <a:rPr lang="en-US" sz="1275" dirty="0"/>
              <a:t>, </a:t>
            </a:r>
            <a:r>
              <a:rPr lang="en-US" sz="1275" i="1" dirty="0"/>
              <a:t>title</a:t>
            </a:r>
            <a:br>
              <a:rPr lang="en-US" sz="1275" i="1" dirty="0"/>
            </a:br>
            <a:r>
              <a:rPr lang="en-US" sz="1275" i="1" dirty="0"/>
              <a:t>       </a:t>
            </a:r>
            <a:r>
              <a:rPr lang="en-US" sz="1275" b="1" dirty="0"/>
              <a:t>from </a:t>
            </a:r>
            <a:r>
              <a:rPr lang="en-US" sz="1275" i="1" dirty="0"/>
              <a:t>student </a:t>
            </a:r>
            <a:r>
              <a:rPr lang="en-US" sz="1275" b="1" dirty="0"/>
              <a:t>natural join </a:t>
            </a:r>
            <a:r>
              <a:rPr lang="en-US" sz="1275" i="1" dirty="0"/>
              <a:t>takes</a:t>
            </a:r>
            <a:r>
              <a:rPr lang="en-US" sz="1275" dirty="0"/>
              <a:t>, </a:t>
            </a:r>
            <a:r>
              <a:rPr lang="en-US" sz="1275" i="1" dirty="0"/>
              <a:t>course</a:t>
            </a:r>
            <a:br>
              <a:rPr lang="en-US" sz="1275" i="1" dirty="0"/>
            </a:br>
            <a:r>
              <a:rPr lang="en-US" sz="1275" i="1" dirty="0"/>
              <a:t>       </a:t>
            </a:r>
            <a:r>
              <a:rPr lang="en-US" sz="1275" b="1" dirty="0"/>
              <a:t>where </a:t>
            </a:r>
            <a:r>
              <a:rPr lang="en-US" sz="1275" i="1" dirty="0" err="1"/>
              <a:t>takes</a:t>
            </a:r>
            <a:r>
              <a:rPr lang="en-US" sz="1275" dirty="0" err="1"/>
              <a:t>.</a:t>
            </a:r>
            <a:r>
              <a:rPr lang="en-US" sz="1275" i="1" dirty="0" err="1"/>
              <a:t>course_id</a:t>
            </a:r>
            <a:r>
              <a:rPr lang="en-US" sz="1275" i="1" dirty="0"/>
              <a:t> </a:t>
            </a:r>
            <a:r>
              <a:rPr lang="en-US" sz="1275" dirty="0"/>
              <a:t>= </a:t>
            </a:r>
            <a:r>
              <a:rPr lang="en-US" sz="1275" i="1" dirty="0" err="1"/>
              <a:t>course</a:t>
            </a:r>
            <a:r>
              <a:rPr lang="en-US" sz="1275" dirty="0" err="1"/>
              <a:t>.</a:t>
            </a:r>
            <a:r>
              <a:rPr lang="en-US" sz="1275" i="1" dirty="0" err="1"/>
              <a:t>course_id</a:t>
            </a:r>
            <a:r>
              <a:rPr lang="en-US" sz="1275" dirty="0"/>
              <a:t>;</a:t>
            </a:r>
            <a:endParaRPr lang="en-US" sz="1275" dirty="0"/>
          </a:p>
          <a:p>
            <a:pPr lvl="1"/>
            <a:r>
              <a:rPr lang="en-US" sz="1275" dirty="0"/>
              <a:t>Incorrect version</a:t>
            </a:r>
            <a:endParaRPr lang="en-US" sz="1275" dirty="0"/>
          </a:p>
          <a:p>
            <a:pPr lvl="2">
              <a:buFont typeface="Webdings" panose="05030102010509060703" pitchFamily="18" charset="2"/>
              <a:buNone/>
              <a:defRPr/>
            </a:pPr>
            <a:r>
              <a:rPr lang="en-US" sz="1275" b="1" dirty="0"/>
              <a:t>       select </a:t>
            </a:r>
            <a:r>
              <a:rPr lang="en-US" sz="1275" i="1" dirty="0"/>
              <a:t>name</a:t>
            </a:r>
            <a:r>
              <a:rPr lang="en-US" sz="1275" dirty="0"/>
              <a:t>, </a:t>
            </a:r>
            <a:r>
              <a:rPr lang="en-US" sz="1275" i="1" dirty="0"/>
              <a:t>title</a:t>
            </a:r>
            <a:br>
              <a:rPr lang="en-US" sz="1275" i="1" dirty="0"/>
            </a:br>
            <a:r>
              <a:rPr lang="en-US" sz="1275" i="1" dirty="0"/>
              <a:t>   </a:t>
            </a:r>
            <a:r>
              <a:rPr lang="en-US" sz="1275" b="1" dirty="0"/>
              <a:t>from </a:t>
            </a:r>
            <a:r>
              <a:rPr lang="en-US" sz="1275" i="1" dirty="0"/>
              <a:t>student </a:t>
            </a:r>
            <a:r>
              <a:rPr lang="en-US" sz="1275" b="1" dirty="0"/>
              <a:t>natural join </a:t>
            </a:r>
            <a:r>
              <a:rPr lang="en-US" sz="1275" i="1" dirty="0"/>
              <a:t>takes </a:t>
            </a:r>
            <a:r>
              <a:rPr lang="en-US" sz="1275" b="1" dirty="0"/>
              <a:t>natural join </a:t>
            </a:r>
            <a:r>
              <a:rPr lang="en-US" sz="1275" i="1" dirty="0"/>
              <a:t>course</a:t>
            </a:r>
            <a:r>
              <a:rPr lang="en-US" sz="1275" dirty="0"/>
              <a:t>;</a:t>
            </a:r>
            <a:endParaRPr lang="en-US" sz="1275" dirty="0"/>
          </a:p>
          <a:p>
            <a:pPr lvl="2">
              <a:defRPr/>
            </a:pPr>
            <a:r>
              <a:rPr lang="en-US" sz="1275" dirty="0"/>
              <a:t>This query omits all (student name, course title) pairs where the student takes a course in a department other than the student's own department. </a:t>
            </a:r>
            <a:endParaRPr lang="en-US" sz="1275" dirty="0"/>
          </a:p>
          <a:p>
            <a:pPr lvl="2">
              <a:defRPr/>
            </a:pPr>
            <a:r>
              <a:rPr lang="en-US" sz="1275" dirty="0"/>
              <a:t>The  correct  version (above), correctly outputs such pairs.</a:t>
            </a:r>
            <a:endParaRPr lang="en-US" sz="1275" dirty="0"/>
          </a:p>
          <a:p>
            <a:pPr lvl="1"/>
            <a:endParaRPr lang="en-US" sz="1200" dirty="0"/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 dirty="0"/>
              <a:t>Natural Join with Using Clause</a:t>
            </a:r>
            <a:endParaRPr lang="en-US" altLang="en-US" sz="21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838632"/>
            <a:ext cx="7028202" cy="2261185"/>
          </a:xfrm>
        </p:spPr>
        <p:txBody>
          <a:bodyPr vert="horz" wrap="square" lIns="68580" tIns="31886" rIns="31886" bIns="31886" numCol="1" anchor="t" anchorCtr="0" compatLnSpc="1"/>
          <a:lstStyle/>
          <a:p>
            <a:pPr indent="-274320"/>
            <a:r>
              <a:rPr lang="en-US" sz="1275" dirty="0"/>
              <a:t>To avoid the danger of equating attributes erroneously, we can use the “</a:t>
            </a:r>
            <a:r>
              <a:rPr lang="en-US" sz="1275" b="1" dirty="0"/>
              <a:t>using</a:t>
            </a:r>
            <a:r>
              <a:rPr lang="en-US" sz="1275" dirty="0"/>
              <a:t>” construct that allows us to specify exactly which columns should be equated.</a:t>
            </a:r>
            <a:endParaRPr lang="en-US" sz="1275" dirty="0"/>
          </a:p>
          <a:p>
            <a:pPr indent="-274320"/>
            <a:r>
              <a:rPr lang="en-US" sz="1275" dirty="0"/>
              <a:t>Query example</a:t>
            </a:r>
            <a:endParaRPr lang="en-US" sz="1275" i="1" dirty="0"/>
          </a:p>
          <a:p>
            <a:pPr>
              <a:buNone/>
              <a:defRPr/>
            </a:pPr>
            <a:r>
              <a:rPr lang="en-US" sz="1275" i="1" dirty="0"/>
              <a:t>        </a:t>
            </a:r>
            <a:r>
              <a:rPr lang="en-US" sz="1275" b="1" dirty="0"/>
              <a:t>select </a:t>
            </a:r>
            <a:r>
              <a:rPr lang="en-US" sz="1275" i="1" dirty="0"/>
              <a:t>name</a:t>
            </a:r>
            <a:r>
              <a:rPr lang="en-US" sz="1275" dirty="0"/>
              <a:t>, </a:t>
            </a:r>
            <a:r>
              <a:rPr lang="en-US" sz="1275" i="1" dirty="0"/>
              <a:t>title</a:t>
            </a:r>
            <a:br>
              <a:rPr lang="en-US" sz="1275" i="1" dirty="0"/>
            </a:br>
            <a:r>
              <a:rPr lang="en-US" sz="1275" i="1" dirty="0"/>
              <a:t>   </a:t>
            </a:r>
            <a:r>
              <a:rPr lang="en-US" sz="1275" b="1" dirty="0"/>
              <a:t>from  </a:t>
            </a:r>
            <a:r>
              <a:rPr lang="en-US" sz="1275" dirty="0"/>
              <a:t>(</a:t>
            </a:r>
            <a:r>
              <a:rPr lang="en-US" sz="1275" i="1" dirty="0"/>
              <a:t>student </a:t>
            </a:r>
            <a:r>
              <a:rPr lang="en-US" sz="1275" b="1" dirty="0"/>
              <a:t>natural join </a:t>
            </a:r>
            <a:r>
              <a:rPr lang="en-US" sz="1275" i="1" dirty="0"/>
              <a:t>takes</a:t>
            </a:r>
            <a:r>
              <a:rPr lang="en-US" sz="1275" dirty="0"/>
              <a:t>) </a:t>
            </a:r>
            <a:r>
              <a:rPr lang="en-US" sz="1275" b="1" dirty="0"/>
              <a:t> join </a:t>
            </a:r>
            <a:r>
              <a:rPr lang="en-US" sz="1275" i="1" dirty="0"/>
              <a:t>course</a:t>
            </a:r>
            <a:r>
              <a:rPr lang="en-US" sz="1275" dirty="0"/>
              <a:t> </a:t>
            </a:r>
            <a:r>
              <a:rPr lang="en-US" sz="1275" b="1" dirty="0"/>
              <a:t>using </a:t>
            </a:r>
            <a:r>
              <a:rPr lang="en-US" sz="1275" dirty="0"/>
              <a:t>(</a:t>
            </a:r>
            <a:r>
              <a:rPr lang="en-US" sz="1275" i="1" dirty="0" err="1"/>
              <a:t>course_id</a:t>
            </a:r>
            <a:r>
              <a:rPr lang="en-US" sz="1275" dirty="0"/>
              <a:t>)</a:t>
            </a:r>
            <a:endParaRPr lang="en-US" sz="1275" dirty="0"/>
          </a:p>
          <a:p>
            <a:pPr indent="-27432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Joined Types and Conditions</a:t>
            </a:r>
            <a:endParaRPr lang="en-US" sz="21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4" y="829866"/>
            <a:ext cx="5577649" cy="1684734"/>
          </a:xfrm>
        </p:spPr>
        <p:txBody>
          <a:bodyPr/>
          <a:lstStyle/>
          <a:p>
            <a:r>
              <a:rPr lang="en-US" altLang="en-US" sz="1275" b="1" dirty="0">
                <a:solidFill>
                  <a:srgbClr val="002060"/>
                </a:solidFill>
              </a:rPr>
              <a:t>Join operations</a:t>
            </a:r>
            <a:r>
              <a:rPr lang="en-US" altLang="en-US" sz="1275" dirty="0">
                <a:solidFill>
                  <a:srgbClr val="002060"/>
                </a:solidFill>
              </a:rPr>
              <a:t> </a:t>
            </a:r>
            <a:r>
              <a:rPr lang="en-US" altLang="en-US" sz="1275" dirty="0"/>
              <a:t>take two relations and return as a result another relation.</a:t>
            </a:r>
            <a:endParaRPr lang="en-US" altLang="en-US" sz="1275" dirty="0"/>
          </a:p>
          <a:p>
            <a:r>
              <a:rPr lang="en-US" altLang="en-US" sz="1275" dirty="0"/>
              <a:t>These additional operations are typically used as subquery expressions in the </a:t>
            </a:r>
            <a:r>
              <a:rPr lang="en-US" altLang="en-US" sz="1275" b="1" dirty="0"/>
              <a:t>from </a:t>
            </a:r>
            <a:r>
              <a:rPr lang="en-US" altLang="en-US" sz="1275" dirty="0"/>
              <a:t>clause</a:t>
            </a:r>
            <a:endParaRPr lang="en-US" altLang="en-US" sz="1275" dirty="0"/>
          </a:p>
          <a:p>
            <a:r>
              <a:rPr lang="en-US" altLang="en-US" sz="1275" b="1" dirty="0">
                <a:solidFill>
                  <a:srgbClr val="002060"/>
                </a:solidFill>
              </a:rPr>
              <a:t>Join condition</a:t>
            </a:r>
            <a:r>
              <a:rPr lang="en-US" altLang="en-US" sz="1275" dirty="0">
                <a:solidFill>
                  <a:srgbClr val="002060"/>
                </a:solidFill>
              </a:rPr>
              <a:t> </a:t>
            </a:r>
            <a:r>
              <a:rPr lang="en-US" altLang="en-US" sz="1275" dirty="0"/>
              <a:t>– defines which tuples in the two relations match.</a:t>
            </a:r>
            <a:endParaRPr lang="en-US" altLang="en-US" sz="1275" dirty="0"/>
          </a:p>
          <a:p>
            <a:r>
              <a:rPr lang="en-US" altLang="en-US" sz="1275" b="1" dirty="0">
                <a:solidFill>
                  <a:srgbClr val="002060"/>
                </a:solidFill>
              </a:rPr>
              <a:t>Join type</a:t>
            </a:r>
            <a:r>
              <a:rPr lang="en-US" altLang="en-US" sz="1275" dirty="0">
                <a:solidFill>
                  <a:srgbClr val="002060"/>
                </a:solidFill>
              </a:rPr>
              <a:t> </a:t>
            </a:r>
            <a:r>
              <a:rPr lang="en-US" altLang="en-US" sz="1275" dirty="0"/>
              <a:t>– defines how tuples in each relation that do not match any tuple in the other relation (based on the join condition) are treated.</a:t>
            </a:r>
            <a:endParaRPr lang="en-US" altLang="en-US" sz="1275" dirty="0"/>
          </a:p>
        </p:txBody>
      </p:sp>
      <p:pic>
        <p:nvPicPr>
          <p:cNvPr id="1026" name="Picture 2" descr="C:\Users\as668\Desktop\4_07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411760" y="3003798"/>
            <a:ext cx="3630236" cy="1025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 dirty="0"/>
              <a:t>Join Condition</a:t>
            </a:r>
            <a:endParaRPr lang="en-US" altLang="en-US" sz="21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500064" y="820343"/>
            <a:ext cx="6934986" cy="3677840"/>
          </a:xfrm>
        </p:spPr>
        <p:txBody>
          <a:bodyPr vert="horz" wrap="square" lIns="68580" tIns="31886" rIns="31886" bIns="31886" numCol="1" anchor="t" anchorCtr="0" compatLnSpc="1"/>
          <a:lstStyle/>
          <a:p>
            <a:pPr indent="-274320"/>
            <a:r>
              <a:rPr lang="en-US" sz="1275" dirty="0"/>
              <a:t>The  </a:t>
            </a:r>
            <a:r>
              <a:rPr lang="en-US" sz="1275" b="1" dirty="0"/>
              <a:t>on </a:t>
            </a:r>
            <a:r>
              <a:rPr lang="en-US" sz="1275" dirty="0"/>
              <a:t> condition allows a general predicate over the relations being  joined</a:t>
            </a:r>
            <a:endParaRPr lang="en-US" sz="1275" dirty="0"/>
          </a:p>
          <a:p>
            <a:pPr indent="-274320"/>
            <a:r>
              <a:rPr lang="en-US" sz="1275" dirty="0"/>
              <a:t>This predicate is written like a </a:t>
            </a:r>
            <a:r>
              <a:rPr lang="en-US" sz="1275" b="1" dirty="0"/>
              <a:t>where</a:t>
            </a:r>
            <a:r>
              <a:rPr lang="en-US" sz="1275" dirty="0"/>
              <a:t> clause predicate except for the use of the keyword </a:t>
            </a:r>
            <a:r>
              <a:rPr lang="en-US" sz="1275" b="1" dirty="0"/>
              <a:t>on</a:t>
            </a:r>
            <a:endParaRPr lang="en-US" sz="1275" b="1" dirty="0"/>
          </a:p>
          <a:p>
            <a:pPr indent="-274320"/>
            <a:r>
              <a:rPr lang="en-US" sz="1275" dirty="0"/>
              <a:t>Query example</a:t>
            </a:r>
            <a:endParaRPr lang="en-US" sz="1275" i="1" dirty="0"/>
          </a:p>
          <a:p>
            <a:pPr>
              <a:buNone/>
              <a:defRPr/>
            </a:pPr>
            <a:r>
              <a:rPr lang="en-US" sz="1275" b="1" dirty="0"/>
              <a:t>          select *</a:t>
            </a:r>
            <a:br>
              <a:rPr lang="en-US" sz="1275" i="1" dirty="0"/>
            </a:br>
            <a:r>
              <a:rPr lang="en-US" sz="1275" i="1" dirty="0"/>
              <a:t>     </a:t>
            </a:r>
            <a:r>
              <a:rPr lang="en-US" sz="1275" b="1" dirty="0"/>
              <a:t>from  </a:t>
            </a:r>
            <a:r>
              <a:rPr lang="en-US" sz="1275" i="1" dirty="0"/>
              <a:t>student </a:t>
            </a:r>
            <a:r>
              <a:rPr lang="en-US" sz="1275" b="1" dirty="0"/>
              <a:t>join </a:t>
            </a:r>
            <a:r>
              <a:rPr lang="en-US" sz="1275" i="1" dirty="0"/>
              <a:t>takes</a:t>
            </a:r>
            <a:r>
              <a:rPr lang="en-US" sz="1275" dirty="0"/>
              <a:t> </a:t>
            </a:r>
            <a:r>
              <a:rPr lang="en-US" sz="1275" b="1" dirty="0"/>
              <a:t>on </a:t>
            </a:r>
            <a:r>
              <a:rPr lang="en-US" sz="1275" i="1" dirty="0" err="1"/>
              <a:t>student_ID</a:t>
            </a:r>
            <a:r>
              <a:rPr lang="en-US" sz="1275" b="1" dirty="0"/>
              <a:t>  </a:t>
            </a:r>
            <a:r>
              <a:rPr lang="en-US" sz="1275" dirty="0"/>
              <a:t>=</a:t>
            </a:r>
            <a:r>
              <a:rPr lang="en-US" sz="1275" b="1" dirty="0"/>
              <a:t> </a:t>
            </a:r>
            <a:r>
              <a:rPr lang="en-US" sz="1275" i="1" dirty="0" err="1"/>
              <a:t>takes_ID</a:t>
            </a:r>
            <a:endParaRPr lang="en-US" sz="1275" i="1" dirty="0"/>
          </a:p>
          <a:p>
            <a:pPr lvl="1">
              <a:defRPr/>
            </a:pPr>
            <a:r>
              <a:rPr lang="en-US" sz="1275" dirty="0"/>
              <a:t>The </a:t>
            </a:r>
            <a:r>
              <a:rPr lang="en-US" sz="1275" b="1" dirty="0"/>
              <a:t>on</a:t>
            </a:r>
            <a:r>
              <a:rPr lang="en-US" sz="1275" dirty="0"/>
              <a:t> condition above specifies that a tuple from </a:t>
            </a:r>
            <a:r>
              <a:rPr lang="en-US" sz="1275" i="1" dirty="0"/>
              <a:t>student</a:t>
            </a:r>
            <a:r>
              <a:rPr lang="en-US" sz="1275" dirty="0"/>
              <a:t> matches a tuple from </a:t>
            </a:r>
            <a:r>
              <a:rPr lang="en-US" sz="1275" i="1" dirty="0"/>
              <a:t>takes</a:t>
            </a:r>
            <a:r>
              <a:rPr lang="en-US" sz="1275" dirty="0"/>
              <a:t> if their </a:t>
            </a:r>
            <a:r>
              <a:rPr lang="en-US" sz="1275" i="1" dirty="0"/>
              <a:t>ID</a:t>
            </a:r>
            <a:r>
              <a:rPr lang="en-US" sz="1275" dirty="0"/>
              <a:t> values are equal.</a:t>
            </a:r>
            <a:endParaRPr lang="en-US" sz="1275" dirty="0"/>
          </a:p>
          <a:p>
            <a:pPr>
              <a:defRPr/>
            </a:pPr>
            <a:r>
              <a:rPr lang="en-US" sz="1275" dirty="0"/>
              <a:t>Equivalent to:</a:t>
            </a:r>
            <a:endParaRPr lang="en-US" sz="1275" dirty="0"/>
          </a:p>
          <a:p>
            <a:pPr>
              <a:buNone/>
              <a:defRPr/>
            </a:pPr>
            <a:r>
              <a:rPr lang="en-US" sz="1275" b="1" dirty="0"/>
              <a:t>             select *</a:t>
            </a:r>
            <a:br>
              <a:rPr lang="en-US" sz="1275" i="1" dirty="0"/>
            </a:br>
            <a:r>
              <a:rPr lang="en-US" sz="1275" i="1" dirty="0"/>
              <a:t>        </a:t>
            </a:r>
            <a:r>
              <a:rPr lang="en-US" sz="1275" b="1" dirty="0"/>
              <a:t>from  </a:t>
            </a:r>
            <a:r>
              <a:rPr lang="en-US" sz="1275" i="1" dirty="0"/>
              <a:t>student , takes</a:t>
            </a:r>
            <a:r>
              <a:rPr lang="en-US" sz="1275" dirty="0"/>
              <a:t> </a:t>
            </a:r>
            <a:br>
              <a:rPr lang="en-US" sz="1275" i="1" dirty="0"/>
            </a:br>
            <a:r>
              <a:rPr lang="en-US" sz="1275" i="1" dirty="0"/>
              <a:t>        </a:t>
            </a:r>
            <a:r>
              <a:rPr lang="en-US" sz="1275" b="1" dirty="0"/>
              <a:t>where  </a:t>
            </a:r>
            <a:r>
              <a:rPr lang="en-US" sz="1275" i="1" dirty="0" err="1"/>
              <a:t>student_ID</a:t>
            </a:r>
            <a:r>
              <a:rPr lang="en-US" sz="1275" b="1" dirty="0"/>
              <a:t>  </a:t>
            </a:r>
            <a:r>
              <a:rPr lang="en-US" sz="1275" dirty="0"/>
              <a:t>=</a:t>
            </a:r>
            <a:r>
              <a:rPr lang="en-US" sz="1275" b="1" dirty="0"/>
              <a:t> </a:t>
            </a:r>
            <a:r>
              <a:rPr lang="en-US" sz="1275" i="1" dirty="0" err="1"/>
              <a:t>takes_ID</a:t>
            </a:r>
            <a:endParaRPr lang="en-US" sz="1275" dirty="0"/>
          </a:p>
          <a:p>
            <a:pPr>
              <a:defRPr/>
            </a:pPr>
            <a:endParaRPr lang="en-US" i="1" dirty="0"/>
          </a:p>
          <a:p>
            <a:pPr indent="-27432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 dirty="0"/>
              <a:t>Join Condition (Cont.)</a:t>
            </a:r>
            <a:endParaRPr lang="en-US" altLang="en-US" sz="21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820343"/>
            <a:ext cx="6667389" cy="3513914"/>
          </a:xfrm>
        </p:spPr>
        <p:txBody>
          <a:bodyPr vert="horz" wrap="square" lIns="68580" tIns="31886" rIns="31886" bIns="31886" numCol="1" anchor="t" anchorCtr="0" compatLnSpc="1"/>
          <a:lstStyle/>
          <a:p>
            <a:pPr indent="-274320"/>
            <a:r>
              <a:rPr lang="en-US" sz="1275" dirty="0"/>
              <a:t>The  </a:t>
            </a:r>
            <a:r>
              <a:rPr lang="en-US" sz="1275" b="1" dirty="0"/>
              <a:t>on </a:t>
            </a:r>
            <a:r>
              <a:rPr lang="en-US" sz="1275" dirty="0"/>
              <a:t> condition allows a general predicate over the relations being joined.  </a:t>
            </a:r>
            <a:endParaRPr lang="en-US" sz="1275" dirty="0"/>
          </a:p>
          <a:p>
            <a:pPr indent="-274320"/>
            <a:r>
              <a:rPr lang="en-US" sz="1275" dirty="0"/>
              <a:t>This predicate is written like a </a:t>
            </a:r>
            <a:r>
              <a:rPr lang="en-US" sz="1275" b="1" dirty="0"/>
              <a:t>where</a:t>
            </a:r>
            <a:r>
              <a:rPr lang="en-US" sz="1275" dirty="0"/>
              <a:t> clause predicate except for the use of the keyword </a:t>
            </a:r>
            <a:r>
              <a:rPr lang="en-US" sz="1275" b="1" dirty="0"/>
              <a:t>on</a:t>
            </a:r>
            <a:r>
              <a:rPr lang="en-US" sz="1275" dirty="0"/>
              <a:t>.</a:t>
            </a:r>
            <a:endParaRPr lang="en-US" sz="1275" dirty="0"/>
          </a:p>
          <a:p>
            <a:pPr indent="-274320"/>
            <a:r>
              <a:rPr lang="en-US" sz="1275" dirty="0"/>
              <a:t>Query example</a:t>
            </a:r>
            <a:endParaRPr lang="en-US" sz="1275" i="1" dirty="0"/>
          </a:p>
          <a:p>
            <a:pPr>
              <a:buNone/>
              <a:defRPr/>
            </a:pPr>
            <a:r>
              <a:rPr lang="en-US" sz="1275" i="1" dirty="0"/>
              <a:t>        </a:t>
            </a:r>
            <a:r>
              <a:rPr lang="en-US" sz="1275" b="1" dirty="0"/>
              <a:t>select *</a:t>
            </a:r>
            <a:br>
              <a:rPr lang="en-US" sz="1275" i="1" dirty="0"/>
            </a:br>
            <a:r>
              <a:rPr lang="en-US" sz="1275" i="1" dirty="0"/>
              <a:t>   </a:t>
            </a:r>
            <a:r>
              <a:rPr lang="en-US" sz="1275" b="1" dirty="0"/>
              <a:t>from  </a:t>
            </a:r>
            <a:r>
              <a:rPr lang="en-US" sz="1275" i="1" dirty="0"/>
              <a:t>student </a:t>
            </a:r>
            <a:r>
              <a:rPr lang="en-US" sz="1275" b="1" dirty="0"/>
              <a:t>join </a:t>
            </a:r>
            <a:r>
              <a:rPr lang="en-US" sz="1275" i="1" dirty="0"/>
              <a:t>takes</a:t>
            </a:r>
            <a:r>
              <a:rPr lang="en-US" sz="1275" dirty="0"/>
              <a:t> </a:t>
            </a:r>
            <a:r>
              <a:rPr lang="en-US" sz="1275" b="1" dirty="0"/>
              <a:t>on </a:t>
            </a:r>
            <a:r>
              <a:rPr lang="en-US" sz="1275" i="1" dirty="0" err="1"/>
              <a:t>student_ID</a:t>
            </a:r>
            <a:r>
              <a:rPr lang="en-US" sz="1275" b="1" dirty="0"/>
              <a:t>  </a:t>
            </a:r>
            <a:r>
              <a:rPr lang="en-US" sz="1275" dirty="0"/>
              <a:t>=</a:t>
            </a:r>
            <a:r>
              <a:rPr lang="en-US" sz="1275" b="1" dirty="0"/>
              <a:t> </a:t>
            </a:r>
            <a:r>
              <a:rPr lang="en-US" sz="1275" i="1" dirty="0" err="1"/>
              <a:t>takes_ID</a:t>
            </a:r>
            <a:endParaRPr lang="en-US" sz="1275" i="1" dirty="0"/>
          </a:p>
          <a:p>
            <a:pPr lvl="1">
              <a:defRPr/>
            </a:pPr>
            <a:r>
              <a:rPr lang="en-US" sz="1275" dirty="0"/>
              <a:t>The </a:t>
            </a:r>
            <a:r>
              <a:rPr lang="en-US" sz="1275" b="1" dirty="0"/>
              <a:t>on</a:t>
            </a:r>
            <a:r>
              <a:rPr lang="en-US" sz="1275" dirty="0"/>
              <a:t> condition above specifies that a tuple from </a:t>
            </a:r>
            <a:r>
              <a:rPr lang="en-US" sz="1275" i="1" dirty="0"/>
              <a:t>student</a:t>
            </a:r>
            <a:r>
              <a:rPr lang="en-US" sz="1275" dirty="0"/>
              <a:t> matches a tuple from </a:t>
            </a:r>
            <a:r>
              <a:rPr lang="en-US" sz="1275" i="1" dirty="0"/>
              <a:t>takes</a:t>
            </a:r>
            <a:r>
              <a:rPr lang="en-US" sz="1275" dirty="0"/>
              <a:t> if their </a:t>
            </a:r>
            <a:r>
              <a:rPr lang="en-US" sz="1275" i="1" dirty="0"/>
              <a:t>ID</a:t>
            </a:r>
            <a:r>
              <a:rPr lang="en-US" sz="1275" dirty="0"/>
              <a:t> values are equal.</a:t>
            </a:r>
            <a:endParaRPr lang="en-US" sz="1275" dirty="0"/>
          </a:p>
          <a:p>
            <a:pPr>
              <a:defRPr/>
            </a:pPr>
            <a:r>
              <a:rPr lang="en-US" sz="1275" dirty="0"/>
              <a:t>Equivalent to:</a:t>
            </a:r>
            <a:endParaRPr lang="en-US" sz="1275" dirty="0"/>
          </a:p>
          <a:p>
            <a:pPr>
              <a:buNone/>
              <a:defRPr/>
            </a:pPr>
            <a:r>
              <a:rPr lang="en-US" sz="1275" b="1" dirty="0"/>
              <a:t>        select *</a:t>
            </a:r>
            <a:br>
              <a:rPr lang="en-US" sz="1275" i="1" dirty="0"/>
            </a:br>
            <a:r>
              <a:rPr lang="en-US" sz="1275" i="1" dirty="0"/>
              <a:t>   </a:t>
            </a:r>
            <a:r>
              <a:rPr lang="en-US" sz="1275" b="1" dirty="0"/>
              <a:t>from  </a:t>
            </a:r>
            <a:r>
              <a:rPr lang="en-US" sz="1275" i="1" dirty="0"/>
              <a:t>student , takes</a:t>
            </a:r>
            <a:r>
              <a:rPr lang="en-US" sz="1275" dirty="0"/>
              <a:t> </a:t>
            </a:r>
            <a:br>
              <a:rPr lang="en-US" sz="1275" i="1" dirty="0"/>
            </a:br>
            <a:r>
              <a:rPr lang="en-US" sz="1275" i="1" dirty="0"/>
              <a:t>   </a:t>
            </a:r>
            <a:r>
              <a:rPr lang="en-US" sz="1275" b="1" dirty="0"/>
              <a:t>where  </a:t>
            </a:r>
            <a:r>
              <a:rPr lang="en-US" sz="1275" i="1" dirty="0" err="1"/>
              <a:t>student_ID</a:t>
            </a:r>
            <a:r>
              <a:rPr lang="en-US" sz="1275" b="1" dirty="0"/>
              <a:t>  </a:t>
            </a:r>
            <a:r>
              <a:rPr lang="en-US" sz="1275" dirty="0"/>
              <a:t>=</a:t>
            </a:r>
            <a:r>
              <a:rPr lang="en-US" sz="1275" b="1" dirty="0"/>
              <a:t> </a:t>
            </a:r>
            <a:r>
              <a:rPr lang="en-US" sz="1275" i="1" dirty="0" err="1"/>
              <a:t>takes_ID</a:t>
            </a:r>
            <a:endParaRPr lang="en-US" sz="1275" dirty="0"/>
          </a:p>
          <a:p>
            <a:pPr indent="-274320"/>
            <a:endParaRPr lang="en-US" i="1" dirty="0"/>
          </a:p>
          <a:p>
            <a:pPr indent="-27432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Outer Join</a:t>
            </a:r>
            <a:endParaRPr lang="en-US" sz="21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877900"/>
            <a:ext cx="6569913" cy="2834564"/>
          </a:xfrm>
        </p:spPr>
        <p:txBody>
          <a:bodyPr/>
          <a:lstStyle/>
          <a:p>
            <a:r>
              <a:rPr lang="en-US" altLang="en-US" sz="1275" dirty="0"/>
              <a:t>An extension of the join operation that avoids loss of information.</a:t>
            </a:r>
            <a:endParaRPr lang="en-US" altLang="en-US" sz="1275" dirty="0"/>
          </a:p>
          <a:p>
            <a:r>
              <a:rPr lang="en-US" altLang="en-US" sz="1275" dirty="0"/>
              <a:t>Computes the join and then adds tuples form one relation that does not match tuples in the other relation to the result of the join. </a:t>
            </a:r>
            <a:endParaRPr lang="en-US" altLang="en-US" sz="1275" dirty="0"/>
          </a:p>
          <a:p>
            <a:r>
              <a:rPr lang="en-US" altLang="en-US" sz="1275" dirty="0"/>
              <a:t>Uses </a:t>
            </a:r>
            <a:r>
              <a:rPr lang="en-US" altLang="en-US" sz="1275" i="1" dirty="0"/>
              <a:t>null</a:t>
            </a:r>
            <a:r>
              <a:rPr lang="en-US" altLang="en-US" sz="1275" dirty="0"/>
              <a:t> values.</a:t>
            </a:r>
            <a:endParaRPr lang="en-US" altLang="en-US" sz="1275" dirty="0"/>
          </a:p>
          <a:p>
            <a:r>
              <a:rPr lang="en-US" altLang="en-US" sz="1275" dirty="0"/>
              <a:t>Three forms of outer join:</a:t>
            </a:r>
            <a:endParaRPr lang="en-US" altLang="en-US" sz="1275" dirty="0"/>
          </a:p>
          <a:p>
            <a:pPr lvl="1"/>
            <a:r>
              <a:rPr lang="en-US" altLang="en-US" sz="1275" dirty="0"/>
              <a:t>left outer join</a:t>
            </a:r>
            <a:endParaRPr lang="en-US" altLang="en-US" sz="1275" dirty="0"/>
          </a:p>
          <a:p>
            <a:pPr lvl="1"/>
            <a:r>
              <a:rPr lang="en-US" altLang="en-US" sz="1275" dirty="0"/>
              <a:t>right outer join</a:t>
            </a:r>
            <a:endParaRPr lang="en-US" altLang="en-US" sz="1275" dirty="0"/>
          </a:p>
          <a:p>
            <a:pPr lvl="1"/>
            <a:r>
              <a:rPr lang="en-US" altLang="en-US" sz="1275" dirty="0"/>
              <a:t>full outer join</a:t>
            </a:r>
            <a:endParaRPr lang="en-US" altLang="en-US" sz="1275" dirty="0"/>
          </a:p>
        </p:txBody>
      </p:sp>
      <p:pic>
        <p:nvPicPr>
          <p:cNvPr id="2" name="Picture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179512" y="771550"/>
            <a:ext cx="723512" cy="723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Outer Join </a:t>
            </a:r>
            <a:r>
              <a:rPr lang="en-US" altLang="en-US" sz="2100" dirty="0"/>
              <a:t>Examples</a:t>
            </a:r>
            <a:endParaRPr lang="en-US" sz="21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084" y="877900"/>
            <a:ext cx="5813132" cy="3657600"/>
          </a:xfrm>
        </p:spPr>
        <p:txBody>
          <a:bodyPr/>
          <a:lstStyle/>
          <a:p>
            <a:r>
              <a:rPr lang="en-US" altLang="en-US" sz="1275" dirty="0"/>
              <a:t>Relation </a:t>
            </a:r>
            <a:r>
              <a:rPr lang="en-US" altLang="en-US" sz="1275" i="1" dirty="0"/>
              <a:t>course</a:t>
            </a:r>
            <a:endParaRPr lang="en-US" altLang="en-US" sz="1275" i="1" dirty="0"/>
          </a:p>
          <a:p>
            <a:endParaRPr lang="en-US" altLang="en-US" sz="1275" i="1" dirty="0"/>
          </a:p>
          <a:p>
            <a:endParaRPr lang="en-US" altLang="en-US" sz="1275" i="1" dirty="0"/>
          </a:p>
          <a:p>
            <a:pPr>
              <a:buNone/>
            </a:pPr>
            <a:endParaRPr lang="en-US" altLang="en-US" sz="1275" i="1" dirty="0"/>
          </a:p>
          <a:p>
            <a:pPr>
              <a:buNone/>
            </a:pPr>
            <a:endParaRPr lang="en-US" altLang="en-US" sz="1275" i="1" dirty="0"/>
          </a:p>
          <a:p>
            <a:r>
              <a:rPr lang="en-US" altLang="en-US" sz="1275" dirty="0"/>
              <a:t>Relation </a:t>
            </a:r>
            <a:r>
              <a:rPr lang="en-US" altLang="en-US" sz="1275" i="1" dirty="0" err="1"/>
              <a:t>prereq</a:t>
            </a:r>
            <a:endParaRPr lang="en-US" altLang="en-US" sz="1275" dirty="0"/>
          </a:p>
          <a:p>
            <a:endParaRPr lang="en-US" altLang="en-US" sz="1275" i="1" dirty="0"/>
          </a:p>
          <a:p>
            <a:endParaRPr lang="en-US" altLang="en-US" sz="1275" i="1" dirty="0"/>
          </a:p>
          <a:p>
            <a:endParaRPr lang="en-US" altLang="en-US" sz="1275" i="1" dirty="0"/>
          </a:p>
          <a:p>
            <a:endParaRPr lang="en-US" altLang="en-US" sz="1275" i="1" dirty="0"/>
          </a:p>
          <a:p>
            <a:r>
              <a:rPr lang="en-US" altLang="en-US" sz="1275" dirty="0"/>
              <a:t>Observe that </a:t>
            </a:r>
            <a:endParaRPr lang="en-US" altLang="en-US" sz="1275" dirty="0"/>
          </a:p>
          <a:p>
            <a:pPr>
              <a:buClr>
                <a:schemeClr val="tx2"/>
              </a:buClr>
              <a:buNone/>
            </a:pPr>
            <a:r>
              <a:rPr lang="en-US" altLang="en-US" sz="1275" i="1" dirty="0"/>
              <a:t>              course </a:t>
            </a:r>
            <a:r>
              <a:rPr lang="en-US" altLang="en-US" sz="1275" dirty="0"/>
              <a:t>information is missing CS-347</a:t>
            </a:r>
            <a:endParaRPr lang="en-US" altLang="en-US" sz="1275" dirty="0"/>
          </a:p>
          <a:p>
            <a:pPr>
              <a:buClr>
                <a:schemeClr val="tx2"/>
              </a:buClr>
              <a:buNone/>
            </a:pPr>
            <a:r>
              <a:rPr lang="en-US" altLang="en-US" sz="1275" i="1" dirty="0"/>
              <a:t>              </a:t>
            </a:r>
            <a:r>
              <a:rPr lang="en-US" altLang="en-US" sz="1275" i="1" dirty="0" err="1"/>
              <a:t>prereq</a:t>
            </a:r>
            <a:r>
              <a:rPr lang="en-US" altLang="en-US" sz="1275" i="1" dirty="0"/>
              <a:t> </a:t>
            </a:r>
            <a:r>
              <a:rPr lang="en-US" altLang="en-US" sz="1275" dirty="0"/>
              <a:t>information is missing CS-315</a:t>
            </a:r>
            <a:endParaRPr lang="en-US" altLang="en-US" sz="1275" dirty="0"/>
          </a:p>
          <a:p>
            <a:pPr>
              <a:buClr>
                <a:schemeClr val="tx2"/>
              </a:buClr>
              <a:buNone/>
            </a:pPr>
            <a:r>
              <a:rPr lang="en-US" altLang="en-US" sz="600" dirty="0"/>
              <a:t> </a:t>
            </a:r>
            <a:endParaRPr lang="en-US" altLang="en-US" sz="1500" dirty="0"/>
          </a:p>
          <a:p>
            <a:endParaRPr lang="en-US" altLang="en-US" sz="15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808" y="1243585"/>
            <a:ext cx="2808971" cy="795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113" y="2551176"/>
            <a:ext cx="1446782" cy="80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Left Outer Join</a:t>
            </a:r>
            <a:endParaRPr lang="en-US" sz="21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77900"/>
            <a:ext cx="5813132" cy="3657600"/>
          </a:xfrm>
        </p:spPr>
        <p:txBody>
          <a:bodyPr/>
          <a:lstStyle/>
          <a:p>
            <a:r>
              <a:rPr lang="en-US" altLang="en-US" sz="1275" i="1" dirty="0"/>
              <a:t>course</a:t>
            </a:r>
            <a:r>
              <a:rPr lang="en-US" altLang="en-US" sz="1275" dirty="0"/>
              <a:t> </a:t>
            </a:r>
            <a:r>
              <a:rPr lang="en-US" altLang="en-US" sz="1275" b="1" dirty="0"/>
              <a:t>natural left outer join</a:t>
            </a:r>
            <a:r>
              <a:rPr lang="en-US" altLang="en-US" sz="1275" dirty="0"/>
              <a:t> </a:t>
            </a:r>
            <a:r>
              <a:rPr lang="en-US" altLang="en-US" sz="1275" i="1" dirty="0" err="1"/>
              <a:t>prereq</a:t>
            </a:r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pPr>
              <a:buNone/>
            </a:pPr>
            <a:endParaRPr lang="en-US" altLang="en-US" sz="127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1351962"/>
            <a:ext cx="3987239" cy="9053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Right Outer Join</a:t>
            </a:r>
            <a:endParaRPr lang="en-US" sz="21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77900"/>
            <a:ext cx="5813132" cy="3657600"/>
          </a:xfrm>
        </p:spPr>
        <p:txBody>
          <a:bodyPr/>
          <a:lstStyle/>
          <a:p>
            <a:r>
              <a:rPr lang="en-US" altLang="en-US" sz="1275" i="1" dirty="0"/>
              <a:t>course</a:t>
            </a:r>
            <a:r>
              <a:rPr lang="en-US" altLang="en-US" sz="1275" dirty="0"/>
              <a:t> </a:t>
            </a:r>
            <a:r>
              <a:rPr lang="en-US" altLang="en-US" sz="1275" b="1" dirty="0"/>
              <a:t>natural right outer join</a:t>
            </a:r>
            <a:r>
              <a:rPr lang="en-US" altLang="en-US" sz="1275" dirty="0"/>
              <a:t> </a:t>
            </a:r>
            <a:r>
              <a:rPr lang="en-US" altLang="en-US" sz="1275" i="1" dirty="0" err="1"/>
              <a:t>prereq</a:t>
            </a:r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pPr>
              <a:buNone/>
            </a:pPr>
            <a:endParaRPr lang="en-US" altLang="en-US" sz="127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1758" y="1339429"/>
            <a:ext cx="4083055" cy="9271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Full Outer Join</a:t>
            </a:r>
            <a:endParaRPr lang="en-US" sz="21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77900"/>
            <a:ext cx="5813132" cy="3657600"/>
          </a:xfrm>
        </p:spPr>
        <p:txBody>
          <a:bodyPr/>
          <a:lstStyle/>
          <a:p>
            <a:r>
              <a:rPr lang="en-US" altLang="en-US" sz="1275" i="1" dirty="0"/>
              <a:t>course</a:t>
            </a:r>
            <a:r>
              <a:rPr lang="en-US" altLang="en-US" sz="1275" dirty="0"/>
              <a:t> </a:t>
            </a:r>
            <a:r>
              <a:rPr lang="en-US" altLang="en-US" sz="1275" b="1" dirty="0">
                <a:solidFill>
                  <a:srgbClr val="002060"/>
                </a:solidFill>
              </a:rPr>
              <a:t>natural full outer join</a:t>
            </a:r>
            <a:r>
              <a:rPr lang="en-US" altLang="en-US" sz="1275" dirty="0">
                <a:solidFill>
                  <a:srgbClr val="002060"/>
                </a:solidFill>
              </a:rPr>
              <a:t> </a:t>
            </a:r>
            <a:r>
              <a:rPr lang="en-US" altLang="en-US" sz="1275" i="1" dirty="0" err="1"/>
              <a:t>prereq</a:t>
            </a:r>
            <a:endParaRPr lang="en-US" altLang="en-US" sz="1275" i="1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912" y="1273719"/>
            <a:ext cx="3784775" cy="10359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*The impact of different writing methods on Join efficiency (</a:t>
            </a:r>
            <a:r>
              <a:rPr lang="en-US" altLang="zh-CN" dirty="0" err="1"/>
              <a:t>chpt</a:t>
            </a:r>
            <a:r>
              <a:rPr lang="en-US" altLang="zh-CN" dirty="0"/>
              <a:t>. 16)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following minimalist but real-world example demonstrates how different approaches can lead to explosive intermediate results and vastly different computational effort, yet the final answer remains the same.</a:t>
            </a:r>
            <a:endParaRPr lang="en-US" altLang="zh-CN" dirty="0"/>
          </a:p>
          <a:p>
            <a:pPr lvl="1"/>
            <a:r>
              <a:rPr lang="en-US" altLang="zh-CN" dirty="0"/>
              <a:t>See ‘3_compare_join.txt’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 most cases, PostgreSQL will automatically optimize. However, if you write the JOIN conditions as complex expressions or use views/CTEs, the optimizer may not be able to see the filter conditions, resulting in performance degradation.</a:t>
            </a:r>
            <a:endParaRPr lang="zh-CN" altLang="en-US" dirty="0"/>
          </a:p>
        </p:txBody>
      </p:sp>
      <p:pic>
        <p:nvPicPr>
          <p:cNvPr id="4" name="Picture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35496" y="1995686"/>
            <a:ext cx="723512" cy="723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*Optimal path to execute ‘Join’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663" y="3651870"/>
            <a:ext cx="8447087" cy="1116980"/>
          </a:xfrm>
        </p:spPr>
        <p:txBody>
          <a:bodyPr/>
          <a:lstStyle/>
          <a:p>
            <a:r>
              <a:rPr lang="en-US" altLang="zh-CN" sz="1400" dirty="0"/>
              <a:t>Similar approach to playing chesses with AI</a:t>
            </a:r>
            <a:endParaRPr lang="en-US" altLang="zh-CN" sz="1400" dirty="0"/>
          </a:p>
          <a:p>
            <a:pPr lvl="1"/>
            <a:r>
              <a:rPr lang="en-US" altLang="zh-CN" sz="1400" dirty="0"/>
              <a:t>Define legal moves</a:t>
            </a:r>
            <a:endParaRPr lang="en-US" altLang="zh-CN" sz="1400" dirty="0"/>
          </a:p>
          <a:p>
            <a:pPr lvl="1"/>
            <a:r>
              <a:rPr lang="en-US" altLang="zh-CN" sz="1400" dirty="0"/>
              <a:t>Define an evaluation function</a:t>
            </a:r>
            <a:endParaRPr lang="en-US" altLang="zh-CN" sz="1400" dirty="0"/>
          </a:p>
          <a:p>
            <a:pPr lvl="1"/>
            <a:r>
              <a:rPr lang="en-US" altLang="zh-CN" sz="1400" dirty="0"/>
              <a:t>Search for the best solution</a:t>
            </a:r>
            <a:r>
              <a:rPr lang="zh-CN" altLang="en-US" sz="1400" dirty="0"/>
              <a:t>（</a:t>
            </a:r>
            <a:r>
              <a:rPr lang="en-US" altLang="zh-CN" sz="1400" dirty="0"/>
              <a:t>can</a:t>
            </a:r>
            <a:r>
              <a:rPr lang="zh-CN" altLang="en-US" sz="1400" dirty="0"/>
              <a:t> </a:t>
            </a:r>
            <a:r>
              <a:rPr lang="en-US" altLang="zh-CN" sz="1400" dirty="0"/>
              <a:t>be</a:t>
            </a:r>
            <a:r>
              <a:rPr lang="zh-CN" altLang="en-US" sz="1400" dirty="0"/>
              <a:t> </a:t>
            </a:r>
            <a:r>
              <a:rPr lang="en-US" altLang="zh-CN" sz="1400" dirty="0"/>
              <a:t>solved</a:t>
            </a:r>
            <a:r>
              <a:rPr lang="zh-CN" altLang="en-US" sz="1400" dirty="0"/>
              <a:t> </a:t>
            </a:r>
            <a:r>
              <a:rPr lang="en-US" altLang="zh-CN" sz="1400" dirty="0"/>
              <a:t>by</a:t>
            </a:r>
            <a:r>
              <a:rPr lang="zh-CN" altLang="en-US" sz="1400" dirty="0"/>
              <a:t> </a:t>
            </a:r>
            <a:r>
              <a:rPr lang="en-US" altLang="zh-CN" sz="1400" dirty="0"/>
              <a:t>various</a:t>
            </a:r>
            <a:r>
              <a:rPr lang="zh-CN" altLang="en-US" sz="1400" dirty="0"/>
              <a:t> </a:t>
            </a:r>
            <a:r>
              <a:rPr lang="en-US" altLang="zh-CN" sz="1400" dirty="0"/>
              <a:t>methods, such as </a:t>
            </a:r>
            <a:r>
              <a:rPr lang="en-US" altLang="zh-CN" sz="1400" dirty="0">
                <a:hlinkClick r:id="rId1"/>
              </a:rPr>
              <a:t>Paper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p:pic>
        <p:nvPicPr>
          <p:cNvPr id="1026" name="Picture 2" descr="Google's self-learning AI AlphaZero masters chess in 4 hour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699542"/>
            <a:ext cx="5004048" cy="281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Views</a:t>
            </a:r>
            <a:endParaRPr lang="en-US" sz="210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829866"/>
            <a:ext cx="6723073" cy="3702844"/>
          </a:xfrm>
        </p:spPr>
        <p:txBody>
          <a:bodyPr/>
          <a:lstStyle/>
          <a:p>
            <a:pPr>
              <a:tabLst>
                <a:tab pos="2403475" algn="ctr"/>
              </a:tabLst>
            </a:pPr>
            <a:r>
              <a:rPr lang="en-US" altLang="en-US" sz="1275" dirty="0"/>
              <a:t>In some cases, it is not desirable for all users to see the entire logical model (that is, all the actual relations stored in the database.)</a:t>
            </a:r>
            <a:endParaRPr lang="en-US" altLang="en-US" sz="1275" dirty="0"/>
          </a:p>
          <a:p>
            <a:pPr>
              <a:tabLst>
                <a:tab pos="2403475" algn="ctr"/>
              </a:tabLst>
            </a:pPr>
            <a:r>
              <a:rPr lang="en-US" altLang="en-US" sz="1275" dirty="0"/>
              <a:t>Consider a person who needs to know an instructors name and department, but not the salary.  This person should see a relation described, in SQL, by </a:t>
            </a:r>
            <a:br>
              <a:rPr lang="en-US" altLang="en-US" sz="1275" dirty="0"/>
            </a:br>
            <a:r>
              <a:rPr lang="en-US" altLang="en-US" sz="1275" dirty="0"/>
              <a:t>		</a:t>
            </a:r>
            <a:br>
              <a:rPr lang="en-US" altLang="en-US" sz="1275" b="1" dirty="0"/>
            </a:br>
            <a:r>
              <a:rPr lang="en-US" altLang="en-US" sz="1275" b="1" dirty="0"/>
              <a:t>             select </a:t>
            </a:r>
            <a:r>
              <a:rPr lang="en-US" altLang="en-US" sz="1275" i="1" dirty="0"/>
              <a:t>ID</a:t>
            </a:r>
            <a:r>
              <a:rPr lang="en-US" altLang="en-US" sz="1275" dirty="0"/>
              <a:t>, </a:t>
            </a:r>
            <a:r>
              <a:rPr lang="en-US" altLang="en-US" sz="1275" i="1" dirty="0"/>
              <a:t>name</a:t>
            </a:r>
            <a:r>
              <a:rPr lang="en-US" altLang="en-US" sz="1275" dirty="0"/>
              <a:t>, </a:t>
            </a:r>
            <a:r>
              <a:rPr lang="en-US" altLang="en-US" sz="1275" i="1" dirty="0" err="1"/>
              <a:t>dept_name</a:t>
            </a:r>
            <a:br>
              <a:rPr lang="en-US" altLang="en-US" sz="1275" i="1" dirty="0"/>
            </a:br>
            <a:r>
              <a:rPr lang="en-US" altLang="en-US" sz="1275" i="1" dirty="0"/>
              <a:t>             </a:t>
            </a:r>
            <a:r>
              <a:rPr lang="en-US" altLang="en-US" sz="1275" b="1" dirty="0"/>
              <a:t>from </a:t>
            </a:r>
            <a:r>
              <a:rPr lang="en-US" altLang="en-US" sz="1275" i="1" dirty="0"/>
              <a:t>instructor</a:t>
            </a:r>
            <a:endParaRPr lang="en-US" altLang="en-US" sz="1275" dirty="0"/>
          </a:p>
          <a:p>
            <a:pPr>
              <a:buNone/>
              <a:tabLst>
                <a:tab pos="2403475" algn="ctr"/>
              </a:tabLst>
            </a:pPr>
            <a:r>
              <a:rPr lang="en-US" altLang="en-US" sz="600" dirty="0">
                <a:sym typeface="Symbol" panose="05050102010706020507" pitchFamily="18" charset="2"/>
              </a:rPr>
              <a:t> </a:t>
            </a:r>
            <a:endParaRPr lang="en-US" altLang="en-US" sz="600" dirty="0">
              <a:sym typeface="Symbol" panose="05050102010706020507" pitchFamily="18" charset="2"/>
            </a:endParaRPr>
          </a:p>
          <a:p>
            <a:pPr>
              <a:tabLst>
                <a:tab pos="2403475" algn="ctr"/>
              </a:tabLst>
            </a:pPr>
            <a:r>
              <a:rPr lang="en-US" altLang="en-US" sz="1275" dirty="0"/>
              <a:t>A </a:t>
            </a:r>
            <a:r>
              <a:rPr lang="en-US" altLang="en-US" sz="1275" b="1" dirty="0">
                <a:solidFill>
                  <a:srgbClr val="002060"/>
                </a:solidFill>
              </a:rPr>
              <a:t>view</a:t>
            </a:r>
            <a:r>
              <a:rPr lang="en-US" altLang="en-US" sz="1275" dirty="0"/>
              <a:t> provides a mechanism to hide certain data from the view of certain users. </a:t>
            </a:r>
            <a:endParaRPr lang="en-US" altLang="en-US" sz="1275" dirty="0"/>
          </a:p>
          <a:p>
            <a:pPr>
              <a:tabLst>
                <a:tab pos="2403475" algn="ctr"/>
              </a:tabLst>
            </a:pPr>
            <a:r>
              <a:rPr lang="en-US" altLang="en-US" sz="1275" dirty="0"/>
              <a:t>Any relation that is not of the conceptual model but is made visible to a user as a “virtual relation” is called a </a:t>
            </a:r>
            <a:r>
              <a:rPr lang="en-US" altLang="en-US" sz="1275" b="1" dirty="0">
                <a:solidFill>
                  <a:srgbClr val="002060"/>
                </a:solidFill>
              </a:rPr>
              <a:t>view</a:t>
            </a:r>
            <a:r>
              <a:rPr lang="en-US" altLang="en-US" sz="1275" dirty="0"/>
              <a:t>.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View Definition</a:t>
            </a:r>
            <a:endParaRPr lang="en-US" sz="2100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6" y="802054"/>
            <a:ext cx="6227017" cy="3230451"/>
          </a:xfrm>
        </p:spPr>
        <p:txBody>
          <a:bodyPr/>
          <a:lstStyle/>
          <a:p>
            <a:pPr>
              <a:tabLst>
                <a:tab pos="2573655" algn="ctr"/>
              </a:tabLst>
            </a:pPr>
            <a:r>
              <a:rPr lang="en-US" altLang="en-US" sz="1275" dirty="0"/>
              <a:t>A view is defined using the </a:t>
            </a:r>
            <a:r>
              <a:rPr lang="en-US" altLang="en-US" sz="1275" b="1" dirty="0"/>
              <a:t>create view </a:t>
            </a:r>
            <a:r>
              <a:rPr lang="en-US" altLang="en-US" sz="1275" dirty="0"/>
              <a:t>statement which has the form</a:t>
            </a:r>
            <a:endParaRPr lang="en-US" altLang="en-US" sz="1275" dirty="0"/>
          </a:p>
          <a:p>
            <a:pPr>
              <a:lnSpc>
                <a:spcPct val="40000"/>
              </a:lnSpc>
              <a:tabLst>
                <a:tab pos="2573655" algn="ctr"/>
              </a:tabLst>
            </a:pPr>
            <a:endParaRPr lang="en-US" altLang="en-US" sz="1275" dirty="0"/>
          </a:p>
          <a:p>
            <a:pPr>
              <a:lnSpc>
                <a:spcPct val="40000"/>
              </a:lnSpc>
              <a:buNone/>
              <a:tabLst>
                <a:tab pos="2573655" algn="ctr"/>
              </a:tabLst>
            </a:pPr>
            <a:r>
              <a:rPr lang="en-US" altLang="en-US" sz="1275" dirty="0"/>
              <a:t>		</a:t>
            </a:r>
            <a:r>
              <a:rPr lang="en-US" altLang="en-US" sz="1275" b="1" dirty="0"/>
              <a:t>create view </a:t>
            </a:r>
            <a:r>
              <a:rPr lang="en-US" altLang="en-US" sz="1275" i="1" dirty="0">
                <a:solidFill>
                  <a:srgbClr val="002060"/>
                </a:solidFill>
              </a:rPr>
              <a:t>v</a:t>
            </a:r>
            <a:r>
              <a:rPr lang="en-US" altLang="en-US" sz="1275" i="1" dirty="0">
                <a:solidFill>
                  <a:srgbClr val="000099"/>
                </a:solidFill>
              </a:rPr>
              <a:t> </a:t>
            </a:r>
            <a:r>
              <a:rPr lang="en-US" altLang="en-US" sz="1275" b="1" dirty="0"/>
              <a:t>as </a:t>
            </a:r>
            <a:r>
              <a:rPr lang="en-US" altLang="en-US" sz="1275" i="1" dirty="0"/>
              <a:t>&lt; </a:t>
            </a:r>
            <a:r>
              <a:rPr lang="en-US" altLang="en-US" sz="1275" dirty="0"/>
              <a:t>query expression &gt;</a:t>
            </a:r>
            <a:endParaRPr lang="en-US" altLang="en-US" sz="1275" dirty="0"/>
          </a:p>
          <a:p>
            <a:pPr>
              <a:lnSpc>
                <a:spcPct val="20000"/>
              </a:lnSpc>
              <a:buNone/>
              <a:tabLst>
                <a:tab pos="2573655" algn="ctr"/>
              </a:tabLst>
            </a:pPr>
            <a:endParaRPr lang="en-US" altLang="en-US" sz="1275" dirty="0"/>
          </a:p>
          <a:p>
            <a:pPr>
              <a:buNone/>
              <a:tabLst>
                <a:tab pos="2573655" algn="ctr"/>
              </a:tabLst>
            </a:pPr>
            <a:r>
              <a:rPr lang="en-US" altLang="en-US" sz="1275" dirty="0"/>
              <a:t>	where &lt;query expression&gt; is any legal SQL expression.  The view name is represented by </a:t>
            </a:r>
            <a:r>
              <a:rPr lang="en-US" altLang="en-US" sz="1275" i="1" dirty="0"/>
              <a:t>v.</a:t>
            </a:r>
            <a:endParaRPr lang="en-US" altLang="en-US" sz="1275" dirty="0"/>
          </a:p>
          <a:p>
            <a:pPr>
              <a:tabLst>
                <a:tab pos="2573655" algn="ctr"/>
              </a:tabLst>
            </a:pPr>
            <a:r>
              <a:rPr lang="en-US" altLang="en-US" sz="1275" dirty="0"/>
              <a:t>Once a view is defined, the view name can be used to refer to the virtual relation that the view generates.</a:t>
            </a:r>
            <a:endParaRPr lang="en-US" altLang="en-US" sz="1275" dirty="0"/>
          </a:p>
          <a:p>
            <a:pPr>
              <a:tabLst>
                <a:tab pos="2573655" algn="ctr"/>
              </a:tabLst>
            </a:pPr>
            <a:r>
              <a:rPr lang="en-US" altLang="en-US" sz="1275" dirty="0"/>
              <a:t>View definition is not the same as creating a new relation by evaluating the query expression  </a:t>
            </a:r>
            <a:endParaRPr lang="en-US" altLang="en-US" sz="1275" dirty="0"/>
          </a:p>
          <a:p>
            <a:pPr lvl="1">
              <a:tabLst>
                <a:tab pos="2573655" algn="ctr"/>
              </a:tabLst>
            </a:pPr>
            <a:r>
              <a:rPr lang="en-US" altLang="en-US" sz="1275" dirty="0"/>
              <a:t>Rather, a view definition causes the saving of an expression; the expression is substituted into queries using the view.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View Definition and Use</a:t>
            </a:r>
            <a:endParaRPr lang="en-US" sz="2100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9867"/>
            <a:ext cx="5662613" cy="3604974"/>
          </a:xfrm>
        </p:spPr>
        <p:txBody>
          <a:bodyPr/>
          <a:lstStyle/>
          <a:p>
            <a:pPr>
              <a:tabLst>
                <a:tab pos="1027430" algn="l"/>
              </a:tabLst>
            </a:pPr>
            <a:r>
              <a:rPr lang="en-US" altLang="en-US" sz="1275" dirty="0"/>
              <a:t>A view of instructors without their salary</a:t>
            </a:r>
            <a:endParaRPr lang="en-US" altLang="en-US" sz="1275" dirty="0"/>
          </a:p>
          <a:p>
            <a:pPr>
              <a:buNone/>
              <a:tabLst>
                <a:tab pos="1027430" algn="l"/>
              </a:tabLst>
            </a:pPr>
            <a:r>
              <a:rPr lang="en-US" altLang="en-US" sz="600" dirty="0"/>
              <a:t> </a:t>
            </a:r>
            <a:br>
              <a:rPr lang="en-US" altLang="en-US" sz="1275" dirty="0"/>
            </a:br>
            <a:r>
              <a:rPr lang="en-US" altLang="en-US" sz="1275" dirty="0"/>
              <a:t>              </a:t>
            </a:r>
            <a:r>
              <a:rPr lang="en-US" altLang="en-US" sz="1275" b="1" dirty="0"/>
              <a:t>create view </a:t>
            </a:r>
            <a:r>
              <a:rPr lang="en-US" altLang="en-US" sz="1275" b="1" i="1" dirty="0">
                <a:solidFill>
                  <a:srgbClr val="002060"/>
                </a:solidFill>
              </a:rPr>
              <a:t>faculty</a:t>
            </a:r>
            <a:r>
              <a:rPr lang="en-US" altLang="en-US" sz="1275" i="1" dirty="0"/>
              <a:t> </a:t>
            </a:r>
            <a:r>
              <a:rPr lang="en-US" altLang="en-US" sz="1275" b="1" dirty="0"/>
              <a:t>as </a:t>
            </a:r>
            <a:br>
              <a:rPr lang="en-US" altLang="en-US" sz="1275" b="1" dirty="0"/>
            </a:br>
            <a:r>
              <a:rPr lang="en-US" altLang="en-US" sz="1275" b="1" dirty="0"/>
              <a:t>                      select </a:t>
            </a:r>
            <a:r>
              <a:rPr lang="en-US" altLang="en-US" sz="1275" i="1" dirty="0"/>
              <a:t>ID</a:t>
            </a:r>
            <a:r>
              <a:rPr lang="en-US" altLang="en-US" sz="1275" dirty="0"/>
              <a:t>, </a:t>
            </a:r>
            <a:r>
              <a:rPr lang="en-US" altLang="en-US" sz="1275" i="1" dirty="0"/>
              <a:t>name</a:t>
            </a:r>
            <a:r>
              <a:rPr lang="en-US" altLang="en-US" sz="1275" dirty="0"/>
              <a:t>, </a:t>
            </a:r>
            <a:r>
              <a:rPr lang="en-US" altLang="en-US" sz="1275" i="1" dirty="0"/>
              <a:t>dept_name</a:t>
            </a:r>
            <a:br>
              <a:rPr lang="en-US" altLang="en-US" sz="1275" i="1" dirty="0"/>
            </a:br>
            <a:r>
              <a:rPr lang="en-US" altLang="en-US" sz="1275" i="1" dirty="0"/>
              <a:t>                      </a:t>
            </a:r>
            <a:r>
              <a:rPr lang="en-US" altLang="en-US" sz="1275" b="1" dirty="0"/>
              <a:t>from </a:t>
            </a:r>
            <a:r>
              <a:rPr lang="en-US" altLang="en-US" sz="1275" i="1" dirty="0"/>
              <a:t>instructor</a:t>
            </a:r>
            <a:endParaRPr lang="en-US" altLang="en-US" sz="1275" dirty="0"/>
          </a:p>
          <a:p>
            <a:pPr>
              <a:tabLst>
                <a:tab pos="1027430" algn="l"/>
              </a:tabLst>
            </a:pPr>
            <a:r>
              <a:rPr lang="en-US" altLang="en-US" sz="1275" dirty="0"/>
              <a:t>Find all instructors in the Biology department</a:t>
            </a:r>
            <a:endParaRPr lang="en-US" altLang="en-US" sz="1275" dirty="0"/>
          </a:p>
          <a:p>
            <a:pPr>
              <a:buNone/>
              <a:tabLst>
                <a:tab pos="1027430" algn="l"/>
              </a:tabLst>
            </a:pPr>
            <a:r>
              <a:rPr lang="en-US" altLang="en-US" sz="600" dirty="0"/>
              <a:t> </a:t>
            </a:r>
            <a:br>
              <a:rPr lang="en-US" altLang="en-US" sz="1275" dirty="0"/>
            </a:br>
            <a:r>
              <a:rPr lang="en-US" altLang="en-US" sz="1275" dirty="0"/>
              <a:t>                </a:t>
            </a:r>
            <a:r>
              <a:rPr lang="en-US" altLang="en-US" sz="1275" b="1" dirty="0"/>
              <a:t>select </a:t>
            </a:r>
            <a:r>
              <a:rPr lang="en-US" altLang="en-US" sz="1275" i="1" dirty="0"/>
              <a:t>name</a:t>
            </a:r>
            <a:br>
              <a:rPr lang="en-US" altLang="en-US" sz="1275" i="1" dirty="0"/>
            </a:br>
            <a:r>
              <a:rPr lang="en-US" altLang="en-US" sz="1275" i="1" dirty="0"/>
              <a:t>                </a:t>
            </a:r>
            <a:r>
              <a:rPr lang="en-US" altLang="en-US" sz="1275" b="1" dirty="0"/>
              <a:t>from </a:t>
            </a:r>
            <a:r>
              <a:rPr lang="en-US" altLang="en-US" sz="1275" b="1" i="1" dirty="0">
                <a:solidFill>
                  <a:srgbClr val="002060"/>
                </a:solidFill>
              </a:rPr>
              <a:t>faculty</a:t>
            </a:r>
            <a:br>
              <a:rPr lang="en-US" altLang="en-US" sz="1275" i="1" dirty="0"/>
            </a:br>
            <a:r>
              <a:rPr lang="en-US" altLang="en-US" sz="1275" i="1" dirty="0"/>
              <a:t>                </a:t>
            </a:r>
            <a:r>
              <a:rPr lang="en-US" altLang="en-US" sz="1275" b="1" dirty="0"/>
              <a:t>where </a:t>
            </a:r>
            <a:r>
              <a:rPr lang="en-US" altLang="en-US" sz="1275" i="1" dirty="0"/>
              <a:t>dept_name = </a:t>
            </a:r>
            <a:r>
              <a:rPr lang="en-US" altLang="en-US" sz="1275" dirty="0"/>
              <a:t>'Biology'</a:t>
            </a:r>
            <a:endParaRPr lang="en-US" altLang="en-US" sz="1275" dirty="0"/>
          </a:p>
          <a:p>
            <a:pPr>
              <a:tabLst>
                <a:tab pos="1027430" algn="l"/>
              </a:tabLst>
            </a:pPr>
            <a:r>
              <a:rPr lang="en-US" altLang="en-US" sz="1275" dirty="0"/>
              <a:t>Create a view of department salary totals</a:t>
            </a:r>
            <a:endParaRPr lang="en-US" altLang="en-US" sz="1275" dirty="0"/>
          </a:p>
          <a:p>
            <a:pPr>
              <a:buNone/>
              <a:tabLst>
                <a:tab pos="1027430" algn="l"/>
              </a:tabLst>
            </a:pPr>
            <a:r>
              <a:rPr lang="en-US" altLang="en-US" sz="600" dirty="0"/>
              <a:t> </a:t>
            </a:r>
            <a:br>
              <a:rPr lang="en-US" altLang="en-US" sz="1275" dirty="0"/>
            </a:br>
            <a:r>
              <a:rPr lang="en-US" altLang="en-US" sz="1275" dirty="0"/>
              <a:t>  </a:t>
            </a:r>
            <a:r>
              <a:rPr lang="en-US" altLang="en-US" sz="1275" b="1" dirty="0"/>
              <a:t>create view </a:t>
            </a:r>
            <a:r>
              <a:rPr lang="en-US" altLang="en-US" sz="1275" b="1" i="1" dirty="0" err="1">
                <a:solidFill>
                  <a:srgbClr val="002060"/>
                </a:solidFill>
              </a:rPr>
              <a:t>departments_total_salary</a:t>
            </a:r>
            <a:r>
              <a:rPr lang="en-US" altLang="en-US" sz="1275" b="1" i="1" dirty="0">
                <a:solidFill>
                  <a:srgbClr val="002060"/>
                </a:solidFill>
              </a:rPr>
              <a:t>(dept_name, </a:t>
            </a:r>
            <a:r>
              <a:rPr lang="en-US" altLang="en-US" sz="1275" b="1" i="1" dirty="0" err="1">
                <a:solidFill>
                  <a:srgbClr val="002060"/>
                </a:solidFill>
              </a:rPr>
              <a:t>total_salary</a:t>
            </a:r>
            <a:r>
              <a:rPr lang="en-US" altLang="en-US" sz="1275" b="1" i="1" dirty="0">
                <a:solidFill>
                  <a:srgbClr val="000099"/>
                </a:solidFill>
              </a:rPr>
              <a:t>)</a:t>
            </a:r>
            <a:r>
              <a:rPr lang="en-US" altLang="en-US" sz="1275" i="1" dirty="0">
                <a:solidFill>
                  <a:srgbClr val="000099"/>
                </a:solidFill>
              </a:rPr>
              <a:t> </a:t>
            </a:r>
            <a:r>
              <a:rPr lang="en-US" altLang="en-US" sz="1275" b="1" dirty="0"/>
              <a:t>as</a:t>
            </a:r>
            <a:br>
              <a:rPr lang="en-US" altLang="en-US" sz="1275" b="1" dirty="0"/>
            </a:br>
            <a:r>
              <a:rPr lang="en-US" altLang="en-US" sz="1275" b="1" dirty="0"/>
              <a:t>       select </a:t>
            </a:r>
            <a:r>
              <a:rPr lang="en-US" altLang="en-US" sz="1275" i="1" dirty="0"/>
              <a:t>dept_name</a:t>
            </a:r>
            <a:r>
              <a:rPr lang="en-US" altLang="en-US" sz="1275" dirty="0"/>
              <a:t>, </a:t>
            </a:r>
            <a:r>
              <a:rPr lang="en-US" altLang="en-US" sz="1275" b="1" dirty="0"/>
              <a:t>sum </a:t>
            </a:r>
            <a:r>
              <a:rPr lang="en-US" altLang="en-US" sz="1275" dirty="0"/>
              <a:t>(</a:t>
            </a:r>
            <a:r>
              <a:rPr lang="en-US" altLang="en-US" sz="1275" i="1" dirty="0"/>
              <a:t>salary</a:t>
            </a:r>
            <a:r>
              <a:rPr lang="en-US" altLang="en-US" sz="1275" dirty="0"/>
              <a:t>)</a:t>
            </a:r>
            <a:br>
              <a:rPr lang="en-US" altLang="en-US" sz="1275" dirty="0"/>
            </a:br>
            <a:r>
              <a:rPr lang="en-US" altLang="en-US" sz="1275" dirty="0"/>
              <a:t>       </a:t>
            </a:r>
            <a:r>
              <a:rPr lang="en-US" altLang="en-US" sz="1275" b="1" dirty="0"/>
              <a:t>from </a:t>
            </a:r>
            <a:r>
              <a:rPr lang="en-US" altLang="en-US" sz="1275" i="1" dirty="0"/>
              <a:t>instructor</a:t>
            </a:r>
            <a:br>
              <a:rPr lang="en-US" altLang="en-US" sz="1275" i="1" dirty="0"/>
            </a:br>
            <a:r>
              <a:rPr lang="en-US" altLang="en-US" sz="1275" i="1" dirty="0"/>
              <a:t>      </a:t>
            </a:r>
            <a:r>
              <a:rPr lang="en-US" altLang="en-US" sz="1275" b="1" dirty="0"/>
              <a:t>group by </a:t>
            </a:r>
            <a:r>
              <a:rPr lang="en-US" altLang="en-US" sz="1275" i="1" dirty="0"/>
              <a:t>dept_name</a:t>
            </a:r>
            <a:r>
              <a:rPr lang="en-US" altLang="en-US" sz="1275" dirty="0"/>
              <a:t>;</a:t>
            </a:r>
            <a:endParaRPr lang="en-US" altLang="en-US" sz="1275" dirty="0"/>
          </a:p>
          <a:p>
            <a:pPr>
              <a:tabLst>
                <a:tab pos="1027430" algn="l"/>
              </a:tabLst>
            </a:pPr>
            <a:endParaRPr lang="en-US" altLang="en-US" sz="1500" dirty="0"/>
          </a:p>
          <a:p>
            <a:pPr>
              <a:buNone/>
              <a:tabLst>
                <a:tab pos="1027430" algn="l"/>
              </a:tabLst>
            </a:pPr>
            <a:endParaRPr lang="en-US" altLang="en-US" sz="1800" dirty="0"/>
          </a:p>
          <a:p>
            <a:pPr>
              <a:tabLst>
                <a:tab pos="1027430" algn="l"/>
              </a:tabLst>
            </a:pPr>
            <a:endParaRPr lang="en-US" altLang="en-US" sz="1500" dirty="0"/>
          </a:p>
          <a:p>
            <a:pPr>
              <a:tabLst>
                <a:tab pos="1027430" algn="l"/>
              </a:tabLst>
            </a:pPr>
            <a:endParaRPr lang="en-US" altLang="en-US" sz="1500" dirty="0"/>
          </a:p>
        </p:txBody>
      </p:sp>
      <p:sp>
        <p:nvSpPr>
          <p:cNvPr id="335877" name="Text Box 5"/>
          <p:cNvSpPr txBox="1">
            <a:spLocks noChangeArrowheads="1"/>
          </p:cNvSpPr>
          <p:nvPr/>
        </p:nvSpPr>
        <p:spPr bwMode="auto">
          <a:xfrm>
            <a:off x="1938337" y="3924300"/>
            <a:ext cx="56626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 b="1"/>
              <a:t>	</a:t>
            </a:r>
            <a:endParaRPr kumimoji="1" lang="en-US" altLang="en-US" sz="1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Views Defined Using Other Views</a:t>
            </a:r>
            <a:endParaRPr lang="en-US" sz="2100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9866"/>
            <a:ext cx="5762393" cy="2535126"/>
          </a:xfrm>
        </p:spPr>
        <p:txBody>
          <a:bodyPr/>
          <a:lstStyle/>
          <a:p>
            <a:r>
              <a:rPr lang="en-US" altLang="en-US" sz="1275" dirty="0"/>
              <a:t>One view may be used in the expression defining another view </a:t>
            </a:r>
            <a:endParaRPr lang="en-US" altLang="en-US" sz="1275" dirty="0"/>
          </a:p>
          <a:p>
            <a:r>
              <a:rPr lang="en-US" altLang="en-US" sz="1275" dirty="0"/>
              <a:t>A view relation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1</a:t>
            </a:r>
            <a:r>
              <a:rPr lang="en-US" altLang="en-US" sz="1275" dirty="0"/>
              <a:t> is said to </a:t>
            </a:r>
            <a:r>
              <a:rPr lang="en-US" altLang="en-US" sz="1275" b="1" i="1" dirty="0">
                <a:solidFill>
                  <a:srgbClr val="002060"/>
                </a:solidFill>
              </a:rPr>
              <a:t>depend directly </a:t>
            </a:r>
            <a:r>
              <a:rPr lang="en-US" altLang="en-US" sz="1275" dirty="0"/>
              <a:t>on a view relation </a:t>
            </a:r>
            <a:r>
              <a:rPr lang="en-US" altLang="en-US" sz="1275" i="1" dirty="0"/>
              <a:t>v</a:t>
            </a:r>
            <a:r>
              <a:rPr lang="en-US" altLang="en-US" sz="1275" i="1" baseline="-25000" dirty="0"/>
              <a:t>2</a:t>
            </a:r>
            <a:r>
              <a:rPr lang="en-US" altLang="en-US" sz="1275" i="1" dirty="0"/>
              <a:t> </a:t>
            </a:r>
            <a:r>
              <a:rPr lang="en-US" altLang="en-US" sz="1275" dirty="0"/>
              <a:t> if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2</a:t>
            </a:r>
            <a:r>
              <a:rPr lang="en-US" altLang="en-US" sz="1275" dirty="0"/>
              <a:t> is used in the expression defining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1</a:t>
            </a:r>
            <a:endParaRPr lang="en-US" altLang="en-US" sz="1275" dirty="0"/>
          </a:p>
          <a:p>
            <a:r>
              <a:rPr lang="en-US" altLang="en-US" sz="1275" dirty="0"/>
              <a:t>A view relation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1</a:t>
            </a:r>
            <a:r>
              <a:rPr lang="en-US" altLang="en-US" sz="1275" dirty="0"/>
              <a:t> is said to </a:t>
            </a:r>
            <a:r>
              <a:rPr lang="en-US" altLang="en-US" sz="1275" b="1" i="1" dirty="0">
                <a:solidFill>
                  <a:srgbClr val="002060"/>
                </a:solidFill>
              </a:rPr>
              <a:t>depend on</a:t>
            </a:r>
            <a:r>
              <a:rPr lang="en-US" altLang="en-US" sz="1275" b="1" dirty="0">
                <a:solidFill>
                  <a:srgbClr val="002060"/>
                </a:solidFill>
              </a:rPr>
              <a:t> </a:t>
            </a:r>
            <a:r>
              <a:rPr lang="en-US" altLang="en-US" sz="1275" dirty="0"/>
              <a:t>view relation </a:t>
            </a:r>
            <a:r>
              <a:rPr lang="en-US" altLang="en-US" sz="1275" i="1" dirty="0"/>
              <a:t>v</a:t>
            </a:r>
            <a:r>
              <a:rPr lang="en-US" altLang="en-US" sz="1275" i="1" baseline="-25000" dirty="0"/>
              <a:t>2</a:t>
            </a:r>
            <a:r>
              <a:rPr lang="en-US" altLang="en-US" sz="1275" i="1" dirty="0"/>
              <a:t> </a:t>
            </a:r>
            <a:r>
              <a:rPr lang="en-US" altLang="en-US" sz="1275" dirty="0"/>
              <a:t>if either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1 </a:t>
            </a:r>
            <a:r>
              <a:rPr lang="en-US" altLang="en-US" sz="1275" dirty="0"/>
              <a:t>depends directly to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2 </a:t>
            </a:r>
            <a:r>
              <a:rPr lang="en-US" altLang="en-US" sz="1275" dirty="0"/>
              <a:t> or there is a path of dependencies from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1</a:t>
            </a:r>
            <a:r>
              <a:rPr lang="en-US" altLang="en-US" sz="1275" dirty="0"/>
              <a:t> to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2</a:t>
            </a:r>
            <a:r>
              <a:rPr lang="en-US" altLang="en-US" sz="1275" dirty="0"/>
              <a:t> </a:t>
            </a:r>
            <a:endParaRPr lang="en-US" altLang="en-US" sz="1275" dirty="0"/>
          </a:p>
          <a:p>
            <a:r>
              <a:rPr lang="en-US" altLang="en-US" sz="1275" dirty="0"/>
              <a:t>A view relation </a:t>
            </a:r>
            <a:r>
              <a:rPr lang="en-US" altLang="en-US" sz="1275" i="1" dirty="0"/>
              <a:t>v</a:t>
            </a:r>
            <a:r>
              <a:rPr lang="en-US" altLang="en-US" sz="1275" dirty="0"/>
              <a:t> is said to be </a:t>
            </a:r>
            <a:r>
              <a:rPr lang="en-US" altLang="en-US" sz="1275" b="1" i="1" dirty="0">
                <a:solidFill>
                  <a:srgbClr val="002060"/>
                </a:solidFill>
              </a:rPr>
              <a:t>recursive</a:t>
            </a:r>
            <a:r>
              <a:rPr lang="en-US" altLang="en-US" sz="1275" i="1" dirty="0"/>
              <a:t> </a:t>
            </a:r>
            <a:r>
              <a:rPr lang="en-US" altLang="en-US" sz="1275" dirty="0"/>
              <a:t> if it depends on itself.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Views Defined Using Other Views</a:t>
            </a:r>
            <a:endParaRPr lang="en-US" sz="2100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38630"/>
            <a:ext cx="5678234" cy="3212163"/>
          </a:xfrm>
        </p:spPr>
        <p:txBody>
          <a:bodyPr/>
          <a:lstStyle/>
          <a:p>
            <a:r>
              <a:rPr lang="en-US" altLang="en-US" sz="1275" b="1" dirty="0"/>
              <a:t>create view </a:t>
            </a:r>
            <a:r>
              <a:rPr lang="en-US" altLang="en-US" sz="1275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275" b="1" i="1" dirty="0"/>
              <a:t> </a:t>
            </a:r>
            <a:r>
              <a:rPr lang="en-US" altLang="en-US" sz="1275" b="1" dirty="0"/>
              <a:t>as</a:t>
            </a:r>
            <a:br>
              <a:rPr lang="en-US" altLang="en-US" sz="1275" b="1" dirty="0"/>
            </a:br>
            <a:r>
              <a:rPr lang="en-US" altLang="en-US" sz="1275" b="1" dirty="0"/>
              <a:t>   select </a:t>
            </a:r>
            <a:r>
              <a:rPr lang="en-US" altLang="en-US" sz="1275" i="1" dirty="0" err="1"/>
              <a:t>course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course_id</a:t>
            </a:r>
            <a:r>
              <a:rPr lang="en-US" altLang="en-US" sz="1275" dirty="0"/>
              <a:t>, </a:t>
            </a:r>
            <a:r>
              <a:rPr lang="en-US" altLang="en-US" sz="1275" i="1" dirty="0" err="1"/>
              <a:t>sec_id</a:t>
            </a:r>
            <a:r>
              <a:rPr lang="en-US" altLang="en-US" sz="1275" dirty="0"/>
              <a:t>, </a:t>
            </a:r>
            <a:r>
              <a:rPr lang="en-US" altLang="en-US" sz="1275" i="1" dirty="0"/>
              <a:t>building</a:t>
            </a:r>
            <a:r>
              <a:rPr lang="en-US" altLang="en-US" sz="1275" dirty="0"/>
              <a:t>, </a:t>
            </a:r>
            <a:r>
              <a:rPr lang="en-US" altLang="en-US" sz="1275" i="1" dirty="0" err="1"/>
              <a:t>room_number</a:t>
            </a:r>
            <a:br>
              <a:rPr lang="en-US" altLang="en-US" sz="1275" i="1" dirty="0"/>
            </a:br>
            <a:r>
              <a:rPr lang="en-US" altLang="en-US" sz="1275" i="1" dirty="0"/>
              <a:t>   </a:t>
            </a:r>
            <a:r>
              <a:rPr lang="en-US" altLang="en-US" sz="1275" b="1" dirty="0"/>
              <a:t>from </a:t>
            </a:r>
            <a:r>
              <a:rPr lang="en-US" altLang="en-US" sz="1275" i="1" dirty="0"/>
              <a:t>course</a:t>
            </a:r>
            <a:r>
              <a:rPr lang="en-US" altLang="en-US" sz="1275" dirty="0"/>
              <a:t>, </a:t>
            </a:r>
            <a:r>
              <a:rPr lang="en-US" altLang="en-US" sz="1275" i="1" dirty="0"/>
              <a:t>section</a:t>
            </a:r>
            <a:br>
              <a:rPr lang="en-US" altLang="en-US" sz="1275" i="1" dirty="0"/>
            </a:br>
            <a:r>
              <a:rPr lang="en-US" altLang="en-US" sz="1275" i="1" dirty="0"/>
              <a:t>   </a:t>
            </a:r>
            <a:r>
              <a:rPr lang="en-US" altLang="en-US" sz="1275" b="1" dirty="0"/>
              <a:t>where </a:t>
            </a:r>
            <a:r>
              <a:rPr lang="en-US" altLang="en-US" sz="1275" i="1" dirty="0" err="1"/>
              <a:t>course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course_id</a:t>
            </a:r>
            <a:r>
              <a:rPr lang="en-US" altLang="en-US" sz="1275" i="1" dirty="0"/>
              <a:t> </a:t>
            </a:r>
            <a:r>
              <a:rPr lang="en-US" altLang="en-US" sz="1275" dirty="0"/>
              <a:t>= </a:t>
            </a:r>
            <a:r>
              <a:rPr lang="en-US" altLang="en-US" sz="1275" i="1" dirty="0" err="1"/>
              <a:t>section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course_id</a:t>
            </a:r>
            <a:br>
              <a:rPr lang="en-US" altLang="en-US" sz="1275" i="1" dirty="0"/>
            </a:br>
            <a:r>
              <a:rPr lang="en-US" altLang="en-US" sz="1275" i="1" dirty="0"/>
              <a:t>              </a:t>
            </a:r>
            <a:r>
              <a:rPr lang="en-US" altLang="en-US" sz="1275" b="1" dirty="0"/>
              <a:t>and </a:t>
            </a:r>
            <a:r>
              <a:rPr lang="en-US" altLang="en-US" sz="1275" i="1" dirty="0" err="1"/>
              <a:t>course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dept_name</a:t>
            </a:r>
            <a:r>
              <a:rPr lang="en-US" altLang="en-US" sz="1275" i="1" dirty="0"/>
              <a:t> </a:t>
            </a:r>
            <a:r>
              <a:rPr lang="en-US" altLang="en-US" sz="1275" dirty="0"/>
              <a:t>= 'Physics'</a:t>
            </a:r>
            <a:br>
              <a:rPr lang="en-US" altLang="en-US" sz="1275" dirty="0"/>
            </a:br>
            <a:r>
              <a:rPr lang="en-US" altLang="en-US" sz="1275" dirty="0"/>
              <a:t>              </a:t>
            </a:r>
            <a:r>
              <a:rPr lang="en-US" altLang="en-US" sz="1275" b="1" dirty="0"/>
              <a:t>and </a:t>
            </a:r>
            <a:r>
              <a:rPr lang="en-US" altLang="en-US" sz="1275" i="1" dirty="0" err="1"/>
              <a:t>section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semester</a:t>
            </a:r>
            <a:r>
              <a:rPr lang="en-US" altLang="en-US" sz="1275" i="1" dirty="0"/>
              <a:t> </a:t>
            </a:r>
            <a:r>
              <a:rPr lang="en-US" altLang="en-US" sz="1275" dirty="0"/>
              <a:t>= 'Fall'</a:t>
            </a:r>
            <a:br>
              <a:rPr lang="en-US" altLang="en-US" sz="1275" dirty="0"/>
            </a:br>
            <a:r>
              <a:rPr lang="en-US" altLang="en-US" sz="1275" dirty="0"/>
              <a:t>              </a:t>
            </a:r>
            <a:r>
              <a:rPr lang="en-US" altLang="en-US" sz="1275" b="1" dirty="0"/>
              <a:t>and </a:t>
            </a:r>
            <a:r>
              <a:rPr lang="en-US" altLang="en-US" sz="1275" i="1" dirty="0" err="1"/>
              <a:t>section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year</a:t>
            </a:r>
            <a:r>
              <a:rPr lang="en-US" altLang="en-US" sz="1275" i="1" dirty="0"/>
              <a:t> </a:t>
            </a:r>
            <a:r>
              <a:rPr lang="en-US" altLang="en-US" sz="1275" dirty="0"/>
              <a:t>= '2017’;</a:t>
            </a:r>
            <a:endParaRPr lang="en-US" altLang="en-US" sz="1275" dirty="0"/>
          </a:p>
          <a:p>
            <a:pPr>
              <a:buNone/>
            </a:pPr>
            <a:r>
              <a:rPr lang="en-US" altLang="en-US" sz="600" dirty="0"/>
              <a:t> </a:t>
            </a:r>
            <a:endParaRPr lang="en-US" altLang="en-US" sz="600" dirty="0"/>
          </a:p>
          <a:p>
            <a:r>
              <a:rPr lang="en-US" altLang="en-US" sz="1275" b="1" dirty="0"/>
              <a:t>create view </a:t>
            </a:r>
            <a:r>
              <a:rPr lang="en-US" altLang="en-US" sz="1275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275" b="1" i="1" dirty="0"/>
              <a:t>_</a:t>
            </a:r>
            <a:r>
              <a:rPr lang="en-US" altLang="en-US" sz="1275" i="1" dirty="0"/>
              <a:t>watson </a:t>
            </a:r>
            <a:r>
              <a:rPr lang="en-US" altLang="en-US" sz="1275" b="1" dirty="0"/>
              <a:t>as</a:t>
            </a:r>
            <a:br>
              <a:rPr lang="en-US" altLang="en-US" sz="1275" b="1" dirty="0"/>
            </a:br>
            <a:r>
              <a:rPr lang="en-US" altLang="en-US" sz="1275" b="1" dirty="0"/>
              <a:t>    select </a:t>
            </a:r>
            <a:r>
              <a:rPr lang="en-US" altLang="en-US" sz="1275" i="1" dirty="0" err="1"/>
              <a:t>course_id</a:t>
            </a:r>
            <a:r>
              <a:rPr lang="en-US" altLang="en-US" sz="1275" dirty="0"/>
              <a:t>, </a:t>
            </a:r>
            <a:r>
              <a:rPr lang="en-US" altLang="en-US" sz="1275" i="1" dirty="0" err="1"/>
              <a:t>room_number</a:t>
            </a:r>
            <a:br>
              <a:rPr lang="en-US" altLang="en-US" sz="1275" i="1" dirty="0"/>
            </a:br>
            <a:r>
              <a:rPr lang="en-US" altLang="en-US" sz="1275" i="1" dirty="0"/>
              <a:t>    </a:t>
            </a:r>
            <a:r>
              <a:rPr lang="en-US" altLang="en-US" sz="1275" b="1" dirty="0"/>
              <a:t>from </a:t>
            </a:r>
            <a:r>
              <a:rPr lang="en-US" altLang="en-US" sz="1275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275" i="1" dirty="0"/>
            </a:br>
            <a:r>
              <a:rPr lang="en-US" altLang="en-US" sz="1275" i="1" dirty="0"/>
              <a:t>    </a:t>
            </a:r>
            <a:r>
              <a:rPr lang="en-US" altLang="en-US" sz="1275" b="1" dirty="0"/>
              <a:t>where </a:t>
            </a:r>
            <a:r>
              <a:rPr lang="en-US" altLang="en-US" sz="1275" i="1" dirty="0"/>
              <a:t>building</a:t>
            </a:r>
            <a:r>
              <a:rPr lang="en-US" altLang="en-US" sz="1275" dirty="0"/>
              <a:t>= 'Watson';</a:t>
            </a:r>
            <a:endParaRPr lang="en-US" altLang="en-US" sz="1275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View Expansion</a:t>
            </a:r>
            <a:endParaRPr lang="en-US" sz="2100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75" dirty="0"/>
              <a:t>Expand  the view :</a:t>
            </a:r>
            <a:endParaRPr lang="en-US" altLang="en-US" sz="1275" dirty="0"/>
          </a:p>
          <a:p>
            <a:pPr>
              <a:buNone/>
            </a:pPr>
            <a:r>
              <a:rPr lang="en-US" altLang="en-US" sz="1275" b="1" dirty="0"/>
              <a:t>          create view </a:t>
            </a:r>
            <a:r>
              <a:rPr lang="en-US" altLang="en-US" sz="1275" b="1" i="1" dirty="0">
                <a:solidFill>
                  <a:srgbClr val="002060"/>
                </a:solidFill>
              </a:rPr>
              <a:t>physics_fall_2017_watson</a:t>
            </a:r>
            <a:r>
              <a:rPr lang="en-US" altLang="en-US" sz="1275" b="1" i="1" dirty="0"/>
              <a:t>  </a:t>
            </a:r>
            <a:r>
              <a:rPr lang="en-US" altLang="en-US" sz="1275" b="1" dirty="0"/>
              <a:t>as</a:t>
            </a:r>
            <a:br>
              <a:rPr lang="en-US" altLang="en-US" sz="1275" b="1" dirty="0"/>
            </a:br>
            <a:r>
              <a:rPr lang="en-US" altLang="en-US" sz="1275" b="1" dirty="0"/>
              <a:t>        select </a:t>
            </a:r>
            <a:r>
              <a:rPr lang="en-US" altLang="en-US" sz="1275" i="1" dirty="0" err="1"/>
              <a:t>course_id</a:t>
            </a:r>
            <a:r>
              <a:rPr lang="en-US" altLang="en-US" sz="1275" dirty="0"/>
              <a:t>, </a:t>
            </a:r>
            <a:r>
              <a:rPr lang="en-US" altLang="en-US" sz="1275" i="1" dirty="0" err="1"/>
              <a:t>room_number</a:t>
            </a:r>
            <a:br>
              <a:rPr lang="en-US" altLang="en-US" sz="1275" i="1" dirty="0"/>
            </a:br>
            <a:r>
              <a:rPr lang="en-US" altLang="en-US" sz="1275" i="1" dirty="0"/>
              <a:t>        </a:t>
            </a:r>
            <a:r>
              <a:rPr lang="en-US" altLang="en-US" sz="1275" b="1" dirty="0"/>
              <a:t>from </a:t>
            </a:r>
            <a:r>
              <a:rPr lang="en-US" altLang="en-US" sz="1275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275" i="1" dirty="0"/>
            </a:br>
            <a:r>
              <a:rPr lang="en-US" altLang="en-US" sz="1275" i="1" dirty="0"/>
              <a:t>        </a:t>
            </a:r>
            <a:r>
              <a:rPr lang="en-US" altLang="en-US" sz="1275" b="1" dirty="0"/>
              <a:t>where </a:t>
            </a:r>
            <a:r>
              <a:rPr lang="en-US" altLang="en-US" sz="1275" i="1" dirty="0"/>
              <a:t>building</a:t>
            </a:r>
            <a:r>
              <a:rPr lang="en-US" altLang="en-US" sz="1275" dirty="0"/>
              <a:t>= 'Watson</a:t>
            </a:r>
            <a:r>
              <a:rPr lang="en-US" altLang="ja-JP" sz="1275" dirty="0"/>
              <a:t>'</a:t>
            </a:r>
            <a:endParaRPr lang="en-US" altLang="en-US" sz="1275" dirty="0"/>
          </a:p>
          <a:p>
            <a:r>
              <a:rPr lang="en-US" altLang="en-US" sz="1275" dirty="0"/>
              <a:t>To:</a:t>
            </a:r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  <a:p>
            <a:endParaRPr lang="en-US" altLang="en-US" sz="1275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251472" y="2224692"/>
            <a:ext cx="5394722" cy="2089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75" b="1" dirty="0"/>
              <a:t>create view </a:t>
            </a:r>
            <a:r>
              <a:rPr kumimoji="1" lang="en-US" altLang="en-US" sz="1275" b="1" i="1" dirty="0">
                <a:solidFill>
                  <a:srgbClr val="002060"/>
                </a:solidFill>
                <a:latin typeface="+mn-lt"/>
              </a:rPr>
              <a:t>physics_fall_2017_watson</a:t>
            </a:r>
            <a:r>
              <a:rPr lang="en-US" altLang="en-US" sz="1275" b="1" i="1" dirty="0">
                <a:solidFill>
                  <a:srgbClr val="002060"/>
                </a:solidFill>
              </a:rPr>
              <a:t> </a:t>
            </a:r>
            <a:r>
              <a:rPr lang="en-US" altLang="en-US" sz="1275" b="1" dirty="0"/>
              <a:t>as</a:t>
            </a:r>
            <a:endParaRPr lang="en-US" altLang="en-US" sz="1275" b="1" dirty="0"/>
          </a:p>
          <a:p>
            <a:r>
              <a:rPr lang="en-US" altLang="en-US" sz="1275" dirty="0"/>
              <a:t>    </a:t>
            </a:r>
            <a:r>
              <a:rPr lang="en-US" altLang="en-US" sz="1275" b="1" dirty="0"/>
              <a:t>select </a:t>
            </a:r>
            <a:r>
              <a:rPr lang="en-US" altLang="en-US" sz="1275" i="1" dirty="0" err="1"/>
              <a:t>course_id</a:t>
            </a:r>
            <a:r>
              <a:rPr lang="en-US" altLang="en-US" sz="1275" dirty="0"/>
              <a:t>, </a:t>
            </a:r>
            <a:r>
              <a:rPr lang="en-US" altLang="en-US" sz="1275" i="1" dirty="0" err="1"/>
              <a:t>room_number</a:t>
            </a:r>
            <a:endParaRPr lang="en-US" altLang="en-US" sz="1275" i="1" dirty="0"/>
          </a:p>
          <a:p>
            <a:r>
              <a:rPr lang="en-US" altLang="en-US" sz="1275" b="1" dirty="0"/>
              <a:t>    from </a:t>
            </a:r>
            <a:r>
              <a:rPr lang="en-US" altLang="en-US" sz="1275" dirty="0"/>
              <a:t>(</a:t>
            </a:r>
            <a:r>
              <a:rPr lang="en-US" altLang="en-US" sz="1275" b="1" dirty="0"/>
              <a:t>select </a:t>
            </a:r>
            <a:r>
              <a:rPr lang="en-US" altLang="en-US" sz="1275" i="1" dirty="0" err="1"/>
              <a:t>course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course_id</a:t>
            </a:r>
            <a:r>
              <a:rPr lang="en-US" altLang="en-US" sz="1275" dirty="0"/>
              <a:t>, </a:t>
            </a:r>
            <a:r>
              <a:rPr lang="en-US" altLang="en-US" sz="1275" i="1" dirty="0"/>
              <a:t>building</a:t>
            </a:r>
            <a:r>
              <a:rPr lang="en-US" altLang="en-US" sz="1275" dirty="0"/>
              <a:t>, </a:t>
            </a:r>
            <a:r>
              <a:rPr lang="en-US" altLang="en-US" sz="1275" i="1" dirty="0" err="1"/>
              <a:t>room_number</a:t>
            </a:r>
            <a:endParaRPr lang="en-US" altLang="en-US" sz="1275" i="1" dirty="0"/>
          </a:p>
          <a:p>
            <a:r>
              <a:rPr lang="en-US" altLang="en-US" sz="1275" b="1" dirty="0"/>
              <a:t>          from </a:t>
            </a:r>
            <a:r>
              <a:rPr lang="en-US" altLang="en-US" sz="1275" i="1" dirty="0"/>
              <a:t>course</a:t>
            </a:r>
            <a:r>
              <a:rPr lang="en-US" altLang="en-US" sz="1275" dirty="0"/>
              <a:t>, </a:t>
            </a:r>
            <a:r>
              <a:rPr lang="en-US" altLang="en-US" sz="1275" i="1" dirty="0"/>
              <a:t>section</a:t>
            </a:r>
            <a:endParaRPr lang="en-US" altLang="en-US" sz="1275" i="1" dirty="0"/>
          </a:p>
          <a:p>
            <a:r>
              <a:rPr lang="en-US" altLang="en-US" sz="1275" b="1" dirty="0"/>
              <a:t>          where </a:t>
            </a:r>
            <a:r>
              <a:rPr lang="en-US" altLang="en-US" sz="1275" i="1" dirty="0" err="1"/>
              <a:t>course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course_id</a:t>
            </a:r>
            <a:r>
              <a:rPr lang="en-US" altLang="en-US" sz="1275" i="1" dirty="0"/>
              <a:t> </a:t>
            </a:r>
            <a:r>
              <a:rPr lang="en-US" altLang="en-US" sz="1275" dirty="0"/>
              <a:t>= </a:t>
            </a:r>
            <a:r>
              <a:rPr lang="en-US" altLang="en-US" sz="1275" i="1" dirty="0" err="1"/>
              <a:t>section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course_id</a:t>
            </a:r>
            <a:endParaRPr lang="en-US" altLang="en-US" sz="1275" i="1" dirty="0"/>
          </a:p>
          <a:p>
            <a:r>
              <a:rPr lang="en-US" altLang="en-US" sz="1275" b="1" dirty="0"/>
              <a:t>               and </a:t>
            </a:r>
            <a:r>
              <a:rPr lang="en-US" altLang="en-US" sz="1275" i="1" dirty="0" err="1"/>
              <a:t>course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dept_name</a:t>
            </a:r>
            <a:r>
              <a:rPr lang="en-US" altLang="en-US" sz="1275" i="1" dirty="0"/>
              <a:t> </a:t>
            </a:r>
            <a:r>
              <a:rPr lang="en-US" altLang="en-US" sz="1275" dirty="0"/>
              <a:t>= 'Physics'</a:t>
            </a:r>
            <a:endParaRPr lang="en-US" altLang="en-US" sz="1275" dirty="0"/>
          </a:p>
          <a:p>
            <a:r>
              <a:rPr lang="en-US" altLang="en-US" sz="1275" b="1" dirty="0"/>
              <a:t>               and </a:t>
            </a:r>
            <a:r>
              <a:rPr lang="en-US" altLang="en-US" sz="1275" i="1" dirty="0" err="1"/>
              <a:t>section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semester</a:t>
            </a:r>
            <a:r>
              <a:rPr lang="en-US" altLang="en-US" sz="1275" i="1" dirty="0"/>
              <a:t> </a:t>
            </a:r>
            <a:r>
              <a:rPr lang="en-US" altLang="en-US" sz="1275" dirty="0"/>
              <a:t>= 'Fall'</a:t>
            </a:r>
            <a:endParaRPr lang="en-US" altLang="en-US" sz="1275" dirty="0"/>
          </a:p>
          <a:p>
            <a:r>
              <a:rPr lang="en-US" altLang="en-US" sz="1275" b="1" dirty="0"/>
              <a:t>               and </a:t>
            </a:r>
            <a:r>
              <a:rPr lang="en-US" altLang="en-US" sz="1275" i="1" dirty="0" err="1"/>
              <a:t>section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year</a:t>
            </a:r>
            <a:r>
              <a:rPr lang="en-US" altLang="en-US" sz="1275" i="1" dirty="0"/>
              <a:t> </a:t>
            </a:r>
            <a:r>
              <a:rPr lang="en-US" altLang="en-US" sz="1275" dirty="0"/>
              <a:t>= '2017')</a:t>
            </a:r>
            <a:endParaRPr lang="en-US" altLang="en-US" sz="1275" dirty="0"/>
          </a:p>
          <a:p>
            <a:r>
              <a:rPr lang="en-US" altLang="en-US" sz="1275" b="1" dirty="0"/>
              <a:t>     where </a:t>
            </a:r>
            <a:r>
              <a:rPr lang="en-US" altLang="en-US" sz="1275" i="1" dirty="0"/>
              <a:t>building</a:t>
            </a:r>
            <a:r>
              <a:rPr lang="en-US" altLang="en-US" sz="1275" dirty="0"/>
              <a:t>= 'Watson';</a:t>
            </a:r>
            <a:endParaRPr lang="en-US" altLang="en-US" sz="1275" dirty="0"/>
          </a:p>
          <a:p>
            <a:endParaRPr lang="en-US" alt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View Expansion (Cont.)</a:t>
            </a:r>
            <a:endParaRPr lang="en-US" sz="2100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2"/>
            <a:ext cx="5729102" cy="3038427"/>
          </a:xfrm>
        </p:spPr>
        <p:txBody>
          <a:bodyPr/>
          <a:lstStyle/>
          <a:p>
            <a:pPr>
              <a:tabLst>
                <a:tab pos="510540" algn="l"/>
              </a:tabLst>
            </a:pPr>
            <a:r>
              <a:rPr lang="en-US" altLang="en-US" sz="1275" dirty="0"/>
              <a:t>A way to define the meaning of views defined in terms of other views.</a:t>
            </a:r>
            <a:endParaRPr lang="en-US" altLang="en-US" sz="1275" dirty="0"/>
          </a:p>
          <a:p>
            <a:pPr>
              <a:tabLst>
                <a:tab pos="510540" algn="l"/>
              </a:tabLst>
            </a:pPr>
            <a:r>
              <a:rPr lang="en-US" altLang="en-US" sz="1275" dirty="0"/>
              <a:t>Let view </a:t>
            </a:r>
            <a:r>
              <a:rPr lang="en-US" altLang="en-US" sz="1275" i="1" dirty="0"/>
              <a:t>v</a:t>
            </a:r>
            <a:r>
              <a:rPr lang="en-US" altLang="en-US" sz="1275" baseline="-25000" dirty="0"/>
              <a:t>1</a:t>
            </a:r>
            <a:r>
              <a:rPr lang="en-US" altLang="en-US" sz="1275" dirty="0"/>
              <a:t> be defined by an expression </a:t>
            </a:r>
            <a:r>
              <a:rPr lang="en-US" altLang="en-US" sz="1275" i="1" dirty="0"/>
              <a:t>e</a:t>
            </a:r>
            <a:r>
              <a:rPr lang="en-US" altLang="en-US" sz="1275" baseline="-25000" dirty="0"/>
              <a:t>1</a:t>
            </a:r>
            <a:r>
              <a:rPr lang="en-US" altLang="en-US" sz="1275" dirty="0"/>
              <a:t> that may itself contain uses of view relations.</a:t>
            </a:r>
            <a:endParaRPr lang="en-US" altLang="en-US" sz="1275" dirty="0"/>
          </a:p>
          <a:p>
            <a:pPr>
              <a:tabLst>
                <a:tab pos="510540" algn="l"/>
              </a:tabLst>
            </a:pPr>
            <a:r>
              <a:rPr lang="en-US" altLang="en-US" sz="1275" dirty="0"/>
              <a:t>View expansion of an expression repeats the following replacement step:</a:t>
            </a:r>
            <a:endParaRPr lang="en-US" altLang="en-US" sz="1275" dirty="0"/>
          </a:p>
          <a:p>
            <a:pPr>
              <a:buNone/>
              <a:tabLst>
                <a:tab pos="510540" algn="l"/>
              </a:tabLst>
            </a:pPr>
            <a:r>
              <a:rPr lang="en-US" altLang="en-US" sz="1275" dirty="0"/>
              <a:t>		</a:t>
            </a:r>
            <a:r>
              <a:rPr lang="en-US" altLang="en-US" sz="1275" b="1" dirty="0"/>
              <a:t>repeat</a:t>
            </a:r>
            <a:br>
              <a:rPr lang="en-US" altLang="en-US" sz="1275" b="1" dirty="0"/>
            </a:br>
            <a:r>
              <a:rPr lang="en-US" altLang="en-US" sz="1275" b="1" dirty="0"/>
              <a:t>		</a:t>
            </a:r>
            <a:r>
              <a:rPr lang="en-US" altLang="en-US" sz="1275" dirty="0"/>
              <a:t>Find any view relation </a:t>
            </a:r>
            <a:r>
              <a:rPr lang="en-US" altLang="en-US" sz="1275" i="1" dirty="0"/>
              <a:t>v</a:t>
            </a:r>
            <a:r>
              <a:rPr lang="en-US" altLang="en-US" sz="1275" i="1" baseline="-25000" dirty="0"/>
              <a:t>i</a:t>
            </a:r>
            <a:r>
              <a:rPr lang="en-US" altLang="en-US" sz="1275" dirty="0"/>
              <a:t> in </a:t>
            </a:r>
            <a:r>
              <a:rPr lang="en-US" altLang="en-US" sz="1275" i="1" dirty="0"/>
              <a:t>e</a:t>
            </a:r>
            <a:r>
              <a:rPr lang="en-US" altLang="en-US" sz="1275" baseline="-25000" dirty="0"/>
              <a:t>1</a:t>
            </a:r>
            <a:br>
              <a:rPr lang="en-US" altLang="en-US" sz="1275" dirty="0"/>
            </a:br>
            <a:r>
              <a:rPr lang="en-US" altLang="en-US" sz="1275" dirty="0"/>
              <a:t>		Replace the view relation </a:t>
            </a:r>
            <a:r>
              <a:rPr lang="en-US" altLang="en-US" sz="1275" i="1" dirty="0"/>
              <a:t>v</a:t>
            </a:r>
            <a:r>
              <a:rPr lang="en-US" altLang="en-US" sz="1275" i="1" baseline="-25000" dirty="0"/>
              <a:t>i</a:t>
            </a:r>
            <a:r>
              <a:rPr lang="en-US" altLang="en-US" sz="1275" dirty="0"/>
              <a:t> by the expression defining </a:t>
            </a:r>
            <a:r>
              <a:rPr lang="en-US" altLang="en-US" sz="1275" i="1" dirty="0"/>
              <a:t>v</a:t>
            </a:r>
            <a:r>
              <a:rPr lang="en-US" altLang="en-US" sz="1275" i="1" baseline="-25000" dirty="0"/>
              <a:t>i</a:t>
            </a:r>
            <a:r>
              <a:rPr lang="en-US" altLang="en-US" sz="1275" dirty="0"/>
              <a:t>             </a:t>
            </a:r>
            <a:br>
              <a:rPr lang="en-US" altLang="en-US" sz="1275" dirty="0"/>
            </a:br>
            <a:r>
              <a:rPr lang="en-US" altLang="en-US" sz="1275" dirty="0"/>
              <a:t>	</a:t>
            </a:r>
            <a:r>
              <a:rPr lang="en-US" altLang="en-US" sz="1275" b="1" dirty="0"/>
              <a:t>until</a:t>
            </a:r>
            <a:r>
              <a:rPr lang="en-US" altLang="en-US" sz="1275" dirty="0"/>
              <a:t> no more view relations are present in </a:t>
            </a:r>
            <a:r>
              <a:rPr lang="en-US" altLang="en-US" sz="1275" i="1" dirty="0"/>
              <a:t>e</a:t>
            </a:r>
            <a:r>
              <a:rPr lang="en-US" altLang="en-US" sz="1275" baseline="-25000" dirty="0"/>
              <a:t>1</a:t>
            </a:r>
            <a:endParaRPr lang="en-US" altLang="en-US" sz="1275" dirty="0"/>
          </a:p>
          <a:p>
            <a:pPr>
              <a:tabLst>
                <a:tab pos="510540" algn="l"/>
              </a:tabLst>
            </a:pPr>
            <a:r>
              <a:rPr lang="en-US" altLang="en-US" sz="1275" dirty="0"/>
              <a:t>As long as the view definitions are not recursive, this loop will terminate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100" dirty="0"/>
              <a:t>Materialized Views</a:t>
            </a:r>
            <a:endParaRPr lang="en-US" altLang="en-US" sz="2100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902638"/>
            <a:ext cx="5749076" cy="2626947"/>
          </a:xfrm>
        </p:spPr>
        <p:txBody>
          <a:bodyPr/>
          <a:lstStyle/>
          <a:p>
            <a:r>
              <a:rPr lang="en-US" altLang="en-US" sz="1275" dirty="0"/>
              <a:t>Certain database systems allow view relations to be physically stored.</a:t>
            </a:r>
            <a:endParaRPr lang="en-US" altLang="en-US" sz="1275" dirty="0"/>
          </a:p>
          <a:p>
            <a:pPr lvl="1"/>
            <a:r>
              <a:rPr lang="en-US" altLang="en-US" sz="1275" dirty="0"/>
              <a:t> Physical copy created when the view is defined.</a:t>
            </a:r>
            <a:endParaRPr lang="en-US" altLang="en-US" sz="1275" dirty="0"/>
          </a:p>
          <a:p>
            <a:pPr lvl="1"/>
            <a:r>
              <a:rPr lang="en-US" altLang="en-US" sz="1275" dirty="0"/>
              <a:t>Such views are called </a:t>
            </a:r>
            <a:r>
              <a:rPr lang="en-US" altLang="en-US" sz="1275" b="1" dirty="0">
                <a:solidFill>
                  <a:srgbClr val="002060"/>
                </a:solidFill>
              </a:rPr>
              <a:t>Materialized view</a:t>
            </a:r>
            <a:r>
              <a:rPr lang="en-US" altLang="en-US" sz="1275" dirty="0"/>
              <a:t>:</a:t>
            </a:r>
            <a:endParaRPr lang="en-US" altLang="en-US" sz="1275" dirty="0"/>
          </a:p>
          <a:p>
            <a:r>
              <a:rPr lang="en-US" altLang="en-US" sz="1275" dirty="0"/>
              <a:t>If relations used in the query are updated, the materialized view result becomes out of date</a:t>
            </a:r>
            <a:endParaRPr lang="en-US" altLang="en-US" sz="1275" dirty="0"/>
          </a:p>
          <a:p>
            <a:pPr lvl="1"/>
            <a:r>
              <a:rPr lang="en-US" altLang="en-US" sz="1275" dirty="0"/>
              <a:t>Need to </a:t>
            </a:r>
            <a:r>
              <a:rPr lang="en-US" altLang="en-US" sz="1275" b="1" dirty="0">
                <a:solidFill>
                  <a:srgbClr val="002060"/>
                </a:solidFill>
              </a:rPr>
              <a:t>maintain</a:t>
            </a:r>
            <a:r>
              <a:rPr lang="en-US" altLang="en-US" sz="1275" dirty="0"/>
              <a:t> the view, by updating the view whenever the underlying relations are updated.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Update of a View</a:t>
            </a:r>
            <a:endParaRPr lang="en-US" sz="2100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9866"/>
            <a:ext cx="5696522" cy="3714702"/>
          </a:xfrm>
        </p:spPr>
        <p:txBody>
          <a:bodyPr/>
          <a:lstStyle/>
          <a:p>
            <a:pPr>
              <a:tabLst>
                <a:tab pos="814070" algn="l"/>
              </a:tabLst>
            </a:pPr>
            <a:r>
              <a:rPr lang="en-US" altLang="en-US" sz="1275" dirty="0"/>
              <a:t>Add a new tuple to </a:t>
            </a:r>
            <a:r>
              <a:rPr lang="en-US" altLang="en-US" sz="1275" i="1" dirty="0"/>
              <a:t>faculty </a:t>
            </a:r>
            <a:r>
              <a:rPr lang="en-US" altLang="en-US" sz="1275" dirty="0"/>
              <a:t>view which we defined earlier</a:t>
            </a:r>
            <a:endParaRPr lang="en-US" altLang="en-US" sz="1275" b="1" dirty="0"/>
          </a:p>
          <a:p>
            <a:pPr>
              <a:buNone/>
              <a:tabLst>
                <a:tab pos="814070" algn="l"/>
              </a:tabLst>
            </a:pPr>
            <a:r>
              <a:rPr lang="en-US" altLang="en-US" sz="1275" dirty="0"/>
              <a:t>		</a:t>
            </a:r>
            <a:r>
              <a:rPr lang="en-US" altLang="en-US" sz="1275" b="1" dirty="0"/>
              <a:t>insert into </a:t>
            </a:r>
            <a:r>
              <a:rPr lang="en-US" altLang="en-US" sz="1275" i="1" dirty="0"/>
              <a:t>faculty </a:t>
            </a:r>
            <a:endParaRPr lang="en-US" altLang="en-US" sz="1275" i="1" dirty="0"/>
          </a:p>
          <a:p>
            <a:pPr>
              <a:buNone/>
              <a:tabLst>
                <a:tab pos="814070" algn="l"/>
              </a:tabLst>
            </a:pPr>
            <a:r>
              <a:rPr lang="en-US" altLang="en-US" sz="1275" b="1" i="1" dirty="0"/>
              <a:t>                       </a:t>
            </a:r>
            <a:r>
              <a:rPr lang="en-US" altLang="en-US" sz="1275" b="1" dirty="0"/>
              <a:t>values </a:t>
            </a:r>
            <a:r>
              <a:rPr lang="en-US" altLang="en-US" sz="1275" dirty="0"/>
              <a:t>('30765', 'Green', 'Music');</a:t>
            </a:r>
            <a:endParaRPr lang="en-US" altLang="en-US" sz="1275" dirty="0"/>
          </a:p>
          <a:p>
            <a:pPr>
              <a:tabLst>
                <a:tab pos="814070" algn="l"/>
              </a:tabLst>
            </a:pPr>
            <a:r>
              <a:rPr lang="en-US" altLang="en-US" sz="1275" dirty="0"/>
              <a:t>This insertion must be represented by the insertion into  the </a:t>
            </a:r>
            <a:r>
              <a:rPr lang="en-US" altLang="en-US" sz="1275" i="1" dirty="0"/>
              <a:t>instructor</a:t>
            </a:r>
            <a:r>
              <a:rPr lang="en-US" altLang="en-US" sz="1275" dirty="0"/>
              <a:t> relation</a:t>
            </a:r>
            <a:endParaRPr lang="en-US" altLang="en-US" sz="1275" dirty="0"/>
          </a:p>
          <a:p>
            <a:pPr lvl="1">
              <a:tabLst>
                <a:tab pos="814070" algn="l"/>
              </a:tabLst>
            </a:pPr>
            <a:r>
              <a:rPr lang="en-US" altLang="en-US" sz="1275" dirty="0"/>
              <a:t>Must have a  value for salary.</a:t>
            </a:r>
            <a:endParaRPr lang="en-US" altLang="en-US" sz="1275" dirty="0"/>
          </a:p>
          <a:p>
            <a:pPr>
              <a:tabLst>
                <a:tab pos="814070" algn="l"/>
              </a:tabLst>
            </a:pPr>
            <a:r>
              <a:rPr lang="en-US" altLang="en-US" sz="1275" dirty="0"/>
              <a:t>Two approaches</a:t>
            </a:r>
            <a:endParaRPr lang="en-US" altLang="en-US" sz="1275" dirty="0"/>
          </a:p>
          <a:p>
            <a:pPr lvl="1">
              <a:tabLst>
                <a:tab pos="814070" algn="l"/>
              </a:tabLst>
            </a:pPr>
            <a:r>
              <a:rPr lang="en-US" altLang="en-US" sz="1275" dirty="0"/>
              <a:t>Reject the insert</a:t>
            </a:r>
            <a:endParaRPr lang="en-US" altLang="en-US" sz="1275" dirty="0"/>
          </a:p>
          <a:p>
            <a:pPr lvl="1">
              <a:tabLst>
                <a:tab pos="814070" algn="l"/>
              </a:tabLst>
            </a:pPr>
            <a:r>
              <a:rPr lang="en-US" altLang="en-US" sz="1275" dirty="0"/>
              <a:t>Insert the tuple</a:t>
            </a:r>
            <a:endParaRPr lang="en-US" altLang="en-US" sz="1275" dirty="0"/>
          </a:p>
          <a:p>
            <a:pPr>
              <a:buNone/>
              <a:tabLst>
                <a:tab pos="814070" algn="l"/>
              </a:tabLst>
            </a:pPr>
            <a:r>
              <a:rPr lang="en-US" altLang="en-US" sz="1275" dirty="0"/>
              <a:t>			('30765', 'Green', 'Music', null)</a:t>
            </a:r>
            <a:endParaRPr lang="en-US" altLang="en-US" sz="1275" dirty="0"/>
          </a:p>
          <a:p>
            <a:pPr>
              <a:buNone/>
              <a:tabLst>
                <a:tab pos="814070" algn="l"/>
              </a:tabLst>
            </a:pPr>
            <a:r>
              <a:rPr lang="en-US" altLang="en-US" sz="1275" dirty="0"/>
              <a:t>	      into the </a:t>
            </a:r>
            <a:r>
              <a:rPr lang="en-US" altLang="en-US" sz="1275" i="1" dirty="0"/>
              <a:t>instructor</a:t>
            </a:r>
            <a:r>
              <a:rPr lang="en-US" altLang="en-US" sz="1275" dirty="0"/>
              <a:t> relation</a:t>
            </a:r>
            <a:endParaRPr lang="en-US" altLang="en-US" sz="1275" dirty="0"/>
          </a:p>
          <a:p>
            <a:pPr>
              <a:buNone/>
              <a:tabLst>
                <a:tab pos="814070" algn="l"/>
              </a:tabLst>
            </a:pPr>
            <a:endParaRPr lang="en-US" alt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10703" y="88106"/>
            <a:ext cx="6057900" cy="457200"/>
          </a:xfrm>
        </p:spPr>
        <p:txBody>
          <a:bodyPr/>
          <a:lstStyle/>
          <a:p>
            <a:pPr>
              <a:defRPr/>
            </a:pPr>
            <a:r>
              <a:rPr lang="en-US" sz="2100" dirty="0"/>
              <a:t>Some Updates Cannot be Translated Uniquely</a:t>
            </a:r>
            <a:endParaRPr lang="en-US" sz="2100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2243" y="901438"/>
            <a:ext cx="5527238" cy="3121922"/>
          </a:xfrm>
        </p:spPr>
        <p:txBody>
          <a:bodyPr/>
          <a:lstStyle/>
          <a:p>
            <a:r>
              <a:rPr lang="en-US" altLang="en-US" sz="1275" b="1" dirty="0"/>
              <a:t>create view </a:t>
            </a:r>
            <a:r>
              <a:rPr lang="en-US" altLang="en-US" sz="1275" i="1" dirty="0" err="1"/>
              <a:t>instructor_info</a:t>
            </a:r>
            <a:r>
              <a:rPr lang="en-US" altLang="en-US" sz="1275" i="1" dirty="0"/>
              <a:t> </a:t>
            </a:r>
            <a:r>
              <a:rPr lang="en-US" altLang="en-US" sz="1275" b="1" dirty="0"/>
              <a:t>as</a:t>
            </a:r>
            <a:br>
              <a:rPr lang="en-US" altLang="en-US" sz="1275" b="1" dirty="0"/>
            </a:br>
            <a:r>
              <a:rPr lang="en-US" altLang="en-US" sz="1275" b="1" dirty="0"/>
              <a:t>      select </a:t>
            </a:r>
            <a:r>
              <a:rPr lang="en-US" altLang="en-US" sz="1275" i="1" dirty="0"/>
              <a:t>ID</a:t>
            </a:r>
            <a:r>
              <a:rPr lang="en-US" altLang="en-US" sz="1275" dirty="0"/>
              <a:t>, </a:t>
            </a:r>
            <a:r>
              <a:rPr lang="en-US" altLang="en-US" sz="1275" i="1" dirty="0"/>
              <a:t>name</a:t>
            </a:r>
            <a:r>
              <a:rPr lang="en-US" altLang="en-US" sz="1275" dirty="0"/>
              <a:t>, </a:t>
            </a:r>
            <a:r>
              <a:rPr lang="en-US" altLang="en-US" sz="1275" i="1" dirty="0"/>
              <a:t>building</a:t>
            </a:r>
            <a:br>
              <a:rPr lang="en-US" altLang="en-US" sz="1275" i="1" dirty="0"/>
            </a:br>
            <a:r>
              <a:rPr lang="en-US" altLang="en-US" sz="1275" i="1" dirty="0"/>
              <a:t>       </a:t>
            </a:r>
            <a:r>
              <a:rPr lang="en-US" altLang="en-US" sz="1275" b="1" dirty="0"/>
              <a:t>from </a:t>
            </a:r>
            <a:r>
              <a:rPr lang="en-US" altLang="en-US" sz="1275" i="1" dirty="0"/>
              <a:t>instructor</a:t>
            </a:r>
            <a:r>
              <a:rPr lang="en-US" altLang="en-US" sz="1275" dirty="0"/>
              <a:t>, </a:t>
            </a:r>
            <a:r>
              <a:rPr lang="en-US" altLang="en-US" sz="1275" i="1" dirty="0"/>
              <a:t>department</a:t>
            </a:r>
            <a:br>
              <a:rPr lang="en-US" altLang="en-US" sz="1275" i="1" dirty="0"/>
            </a:br>
            <a:r>
              <a:rPr lang="en-US" altLang="en-US" sz="1275" i="1" dirty="0"/>
              <a:t>       </a:t>
            </a:r>
            <a:r>
              <a:rPr lang="en-US" altLang="en-US" sz="1275" b="1" dirty="0"/>
              <a:t>where </a:t>
            </a:r>
            <a:r>
              <a:rPr lang="en-US" altLang="en-US" sz="1275" i="1" dirty="0" err="1"/>
              <a:t>instructor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dept_name</a:t>
            </a:r>
            <a:r>
              <a:rPr lang="en-US" altLang="en-US" sz="1275" i="1" dirty="0"/>
              <a:t> </a:t>
            </a:r>
            <a:r>
              <a:rPr lang="en-US" altLang="en-US" sz="1275" dirty="0"/>
              <a:t>= </a:t>
            </a:r>
            <a:r>
              <a:rPr lang="en-US" altLang="en-US" sz="1275" i="1" dirty="0" err="1"/>
              <a:t>department</a:t>
            </a:r>
            <a:r>
              <a:rPr lang="en-US" altLang="en-US" sz="1275" dirty="0" err="1"/>
              <a:t>.</a:t>
            </a:r>
            <a:r>
              <a:rPr lang="en-US" altLang="en-US" sz="1275" i="1" dirty="0" err="1"/>
              <a:t>dept_name</a:t>
            </a:r>
            <a:r>
              <a:rPr lang="en-US" altLang="en-US" sz="1275" dirty="0"/>
              <a:t>;</a:t>
            </a:r>
            <a:endParaRPr lang="en-US" altLang="en-US" sz="1275" dirty="0"/>
          </a:p>
          <a:p>
            <a:r>
              <a:rPr lang="en-US" altLang="en-US" sz="1275" b="1" dirty="0">
                <a:sym typeface="Symbol" panose="05050102010706020507" pitchFamily="18" charset="2"/>
              </a:rPr>
              <a:t>insert into </a:t>
            </a:r>
            <a:r>
              <a:rPr lang="en-US" altLang="en-US" sz="1275" i="1" dirty="0" err="1">
                <a:sym typeface="Symbol" panose="05050102010706020507" pitchFamily="18" charset="2"/>
              </a:rPr>
              <a:t>instructor_info</a:t>
            </a:r>
            <a:r>
              <a:rPr lang="en-US" altLang="en-US" sz="1275" i="1" dirty="0">
                <a:sym typeface="Symbol" panose="05050102010706020507" pitchFamily="18" charset="2"/>
              </a:rPr>
              <a:t> </a:t>
            </a:r>
            <a:endParaRPr lang="en-US" altLang="en-US" sz="1275" i="1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en-US" sz="1275" b="1" i="1" dirty="0">
                <a:sym typeface="Symbol" panose="05050102010706020507" pitchFamily="18" charset="2"/>
              </a:rPr>
              <a:t>             </a:t>
            </a:r>
            <a:r>
              <a:rPr lang="en-US" altLang="en-US" sz="1275" b="1" dirty="0">
                <a:sym typeface="Symbol" panose="05050102010706020507" pitchFamily="18" charset="2"/>
              </a:rPr>
              <a:t>values </a:t>
            </a:r>
            <a:r>
              <a:rPr lang="en-US" altLang="en-US" sz="1275" dirty="0">
                <a:sym typeface="Symbol" panose="05050102010706020507" pitchFamily="18" charset="2"/>
              </a:rPr>
              <a:t>('69987', 'White', 'Taylor');</a:t>
            </a:r>
            <a:endParaRPr lang="en-US" altLang="en-US" sz="1275" dirty="0">
              <a:sym typeface="Symbol" panose="05050102010706020507" pitchFamily="18" charset="2"/>
            </a:endParaRPr>
          </a:p>
          <a:p>
            <a:r>
              <a:rPr lang="en-US" altLang="en-US" sz="1275" dirty="0">
                <a:sym typeface="Symbol" panose="05050102010706020507" pitchFamily="18" charset="2"/>
              </a:rPr>
              <a:t>Issues</a:t>
            </a:r>
            <a:endParaRPr lang="en-US" altLang="en-US" sz="1275" dirty="0">
              <a:sym typeface="Symbol" panose="05050102010706020507" pitchFamily="18" charset="2"/>
            </a:endParaRPr>
          </a:p>
          <a:p>
            <a:pPr lvl="1"/>
            <a:r>
              <a:rPr lang="en-US" altLang="en-US" sz="1275" dirty="0"/>
              <a:t>Which department, if multiple departments in Taylor?</a:t>
            </a:r>
            <a:endParaRPr lang="en-US" altLang="en-US" sz="1275" dirty="0"/>
          </a:p>
          <a:p>
            <a:pPr lvl="1"/>
            <a:r>
              <a:rPr lang="en-US" altLang="en-US" sz="1275" dirty="0"/>
              <a:t>What if no department is in Taylor?</a:t>
            </a:r>
            <a:endParaRPr lang="en-US" altLang="en-US" sz="1275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And Some Not at All</a:t>
            </a:r>
            <a:endParaRPr lang="en-US" sz="2100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2"/>
            <a:ext cx="4800410" cy="2562939"/>
          </a:xfrm>
        </p:spPr>
        <p:txBody>
          <a:bodyPr/>
          <a:lstStyle/>
          <a:p>
            <a:r>
              <a:rPr lang="en-US" altLang="en-US" sz="1275" b="1" dirty="0"/>
              <a:t>create view </a:t>
            </a:r>
            <a:r>
              <a:rPr lang="en-US" altLang="en-US" sz="1275" i="1" dirty="0" err="1"/>
              <a:t>history_instructors</a:t>
            </a:r>
            <a:r>
              <a:rPr lang="en-US" altLang="en-US" sz="1275" i="1" dirty="0"/>
              <a:t> </a:t>
            </a:r>
            <a:r>
              <a:rPr lang="en-US" altLang="en-US" sz="1275" b="1" dirty="0"/>
              <a:t>as</a:t>
            </a:r>
            <a:br>
              <a:rPr lang="en-US" altLang="en-US" sz="1275" b="1" dirty="0"/>
            </a:br>
            <a:r>
              <a:rPr lang="en-US" altLang="en-US" sz="1275" b="1" dirty="0"/>
              <a:t>   select </a:t>
            </a:r>
            <a:r>
              <a:rPr lang="en-US" altLang="en-US" sz="1275" dirty="0"/>
              <a:t>*</a:t>
            </a:r>
            <a:br>
              <a:rPr lang="en-US" altLang="en-US" sz="1275" dirty="0"/>
            </a:br>
            <a:r>
              <a:rPr lang="en-US" altLang="en-US" sz="1275" dirty="0"/>
              <a:t>   </a:t>
            </a:r>
            <a:r>
              <a:rPr lang="en-US" altLang="en-US" sz="1275" b="1" dirty="0"/>
              <a:t>from </a:t>
            </a:r>
            <a:r>
              <a:rPr lang="en-US" altLang="en-US" sz="1275" i="1" dirty="0"/>
              <a:t>instructor</a:t>
            </a:r>
            <a:br>
              <a:rPr lang="en-US" altLang="en-US" sz="1275" i="1" dirty="0"/>
            </a:br>
            <a:r>
              <a:rPr lang="en-US" altLang="en-US" sz="1275" i="1" dirty="0"/>
              <a:t>   </a:t>
            </a:r>
            <a:r>
              <a:rPr lang="en-US" altLang="en-US" sz="1275" b="1" dirty="0"/>
              <a:t>where </a:t>
            </a:r>
            <a:r>
              <a:rPr lang="en-US" altLang="en-US" sz="1275" i="1" dirty="0"/>
              <a:t>dept_name</a:t>
            </a:r>
            <a:r>
              <a:rPr lang="en-US" altLang="en-US" sz="1275" dirty="0"/>
              <a:t>= 'History';</a:t>
            </a:r>
            <a:endParaRPr lang="en-US" altLang="en-US" sz="1275" dirty="0"/>
          </a:p>
          <a:p>
            <a:r>
              <a:rPr lang="en-US" altLang="en-US" sz="1275" dirty="0"/>
              <a:t>What happens if we insert </a:t>
            </a:r>
            <a:endParaRPr lang="en-US" altLang="en-US" sz="1275" dirty="0"/>
          </a:p>
          <a:p>
            <a:pPr>
              <a:buNone/>
            </a:pPr>
            <a:r>
              <a:rPr lang="en-US" altLang="en-US" sz="1275" dirty="0"/>
              <a:t>           ('25566', 'Brown', 'Biology', 100000)</a:t>
            </a:r>
            <a:endParaRPr lang="en-US" altLang="en-US" sz="1275" dirty="0"/>
          </a:p>
          <a:p>
            <a:pPr>
              <a:buNone/>
            </a:pPr>
            <a:r>
              <a:rPr lang="en-US" altLang="en-US" sz="1275" dirty="0"/>
              <a:t>       into </a:t>
            </a:r>
            <a:r>
              <a:rPr lang="en-US" altLang="en-US" sz="1275" i="1" dirty="0" err="1"/>
              <a:t>history_instructors</a:t>
            </a:r>
            <a:r>
              <a:rPr lang="en-US" altLang="en-US" sz="1275" i="1" dirty="0"/>
              <a:t>?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View Updates in SQL </a:t>
            </a:r>
            <a:endParaRPr lang="en-US" sz="2100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921957"/>
            <a:ext cx="5550218" cy="2388172"/>
          </a:xfrm>
        </p:spPr>
        <p:txBody>
          <a:bodyPr/>
          <a:lstStyle/>
          <a:p>
            <a:r>
              <a:rPr lang="en-US" altLang="en-US" sz="1275" dirty="0"/>
              <a:t>Most SQL implementations allow updates only on simple views </a:t>
            </a:r>
            <a:endParaRPr lang="en-US" altLang="en-US" sz="1275" dirty="0"/>
          </a:p>
          <a:p>
            <a:pPr lvl="1"/>
            <a:r>
              <a:rPr lang="en-US" altLang="en-US" sz="1275" dirty="0"/>
              <a:t>The </a:t>
            </a:r>
            <a:r>
              <a:rPr lang="en-US" altLang="en-US" sz="1275" b="1" dirty="0"/>
              <a:t>from </a:t>
            </a:r>
            <a:r>
              <a:rPr lang="en-US" altLang="en-US" sz="1275" dirty="0"/>
              <a:t>clause has only one database relation.</a:t>
            </a:r>
            <a:endParaRPr lang="en-US" altLang="en-US" sz="1275" dirty="0"/>
          </a:p>
          <a:p>
            <a:pPr lvl="1"/>
            <a:r>
              <a:rPr lang="en-US" altLang="en-US" sz="1275" dirty="0"/>
              <a:t>The </a:t>
            </a:r>
            <a:r>
              <a:rPr lang="en-US" altLang="en-US" sz="1275" b="1" dirty="0"/>
              <a:t>select </a:t>
            </a:r>
            <a:r>
              <a:rPr lang="en-US" altLang="en-US" sz="1275" dirty="0"/>
              <a:t>clause contains only attribute names of the relation, and does not have any expressions, aggregates, or </a:t>
            </a:r>
            <a:r>
              <a:rPr lang="en-US" altLang="en-US" sz="1275" b="1" dirty="0"/>
              <a:t>distinct </a:t>
            </a:r>
            <a:r>
              <a:rPr lang="en-US" altLang="en-US" sz="1275" dirty="0"/>
              <a:t>specification.</a:t>
            </a:r>
            <a:endParaRPr lang="en-US" altLang="en-US" sz="1275" dirty="0"/>
          </a:p>
          <a:p>
            <a:pPr lvl="1"/>
            <a:r>
              <a:rPr lang="en-US" altLang="en-US" sz="1275" dirty="0"/>
              <a:t>Any attribute not listed in the </a:t>
            </a:r>
            <a:r>
              <a:rPr lang="en-US" altLang="en-US" sz="1275" b="1" dirty="0"/>
              <a:t>select </a:t>
            </a:r>
            <a:r>
              <a:rPr lang="en-US" altLang="en-US" sz="1275" dirty="0"/>
              <a:t>clause can be set to null</a:t>
            </a:r>
            <a:endParaRPr lang="en-US" altLang="en-US" sz="1275" dirty="0"/>
          </a:p>
          <a:p>
            <a:pPr lvl="1"/>
            <a:r>
              <a:rPr lang="en-US" altLang="en-US" sz="1275" dirty="0"/>
              <a:t>The query does not have a </a:t>
            </a:r>
            <a:r>
              <a:rPr lang="en-US" altLang="en-US" sz="1275" b="1" dirty="0"/>
              <a:t>group </a:t>
            </a:r>
            <a:r>
              <a:rPr lang="en-US" altLang="en-US" sz="1275" dirty="0"/>
              <a:t>by or </a:t>
            </a:r>
            <a:r>
              <a:rPr lang="en-US" altLang="en-US" sz="1275" b="1" dirty="0"/>
              <a:t>having </a:t>
            </a:r>
            <a:r>
              <a:rPr lang="en-US" altLang="en-US" sz="1275" dirty="0"/>
              <a:t>clause.</a:t>
            </a:r>
            <a:endParaRPr lang="en-US" altLang="en-US" sz="1275" dirty="0"/>
          </a:p>
          <a:p>
            <a:pPr lvl="1"/>
            <a:endParaRPr lang="en-US" altLang="en-US" dirty="0"/>
          </a:p>
        </p:txBody>
      </p:sp>
      <p:pic>
        <p:nvPicPr>
          <p:cNvPr id="2" name="Picture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395536" y="771550"/>
            <a:ext cx="723512" cy="723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6210" y="122635"/>
            <a:ext cx="5448300" cy="414338"/>
          </a:xfrm>
        </p:spPr>
        <p:txBody>
          <a:bodyPr/>
          <a:lstStyle/>
          <a:p>
            <a:pPr>
              <a:defRPr/>
            </a:pPr>
            <a:r>
              <a:rPr lang="en-US" sz="2100" dirty="0"/>
              <a:t>Built-in Data Types in SQL </a:t>
            </a:r>
            <a:endParaRPr lang="en-US" sz="2100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2268" y="826545"/>
            <a:ext cx="5583788" cy="3646884"/>
          </a:xfrm>
        </p:spPr>
        <p:txBody>
          <a:bodyPr/>
          <a:lstStyle/>
          <a:p>
            <a:pPr>
              <a:tabLst>
                <a:tab pos="937895" algn="l"/>
              </a:tabLst>
            </a:pPr>
            <a:r>
              <a:rPr lang="en-US" altLang="en-US" sz="1275" b="1" dirty="0">
                <a:solidFill>
                  <a:srgbClr val="002060"/>
                </a:solidFill>
              </a:rPr>
              <a:t>date:</a:t>
            </a:r>
            <a:r>
              <a:rPr lang="en-US" altLang="en-US" sz="1275" dirty="0"/>
              <a:t>  Dates, containing a (4 digit) year, month and date</a:t>
            </a:r>
            <a:endParaRPr lang="en-US" altLang="en-US" sz="1275" dirty="0"/>
          </a:p>
          <a:p>
            <a:pPr lvl="1">
              <a:tabLst>
                <a:tab pos="937895" algn="l"/>
              </a:tabLst>
            </a:pPr>
            <a:r>
              <a:rPr lang="en-US" altLang="en-US" sz="1275" dirty="0"/>
              <a:t>Example:  </a:t>
            </a:r>
            <a:r>
              <a:rPr lang="en-US" altLang="en-US" sz="1275" b="1" dirty="0"/>
              <a:t>date</a:t>
            </a:r>
            <a:r>
              <a:rPr lang="en-US" altLang="en-US" sz="1275" dirty="0"/>
              <a:t> '2005-7-27'</a:t>
            </a:r>
            <a:endParaRPr lang="en-US" altLang="en-US" sz="1275" dirty="0"/>
          </a:p>
          <a:p>
            <a:pPr>
              <a:tabLst>
                <a:tab pos="937895" algn="l"/>
              </a:tabLst>
            </a:pPr>
            <a:r>
              <a:rPr lang="en-US" altLang="en-US" sz="1275" b="1" dirty="0">
                <a:solidFill>
                  <a:srgbClr val="002060"/>
                </a:solidFill>
              </a:rPr>
              <a:t>time:</a:t>
            </a:r>
            <a:r>
              <a:rPr lang="en-US" altLang="en-US" sz="1275" b="1" dirty="0"/>
              <a:t> </a:t>
            </a:r>
            <a:r>
              <a:rPr lang="en-US" altLang="en-US" sz="1275" dirty="0"/>
              <a:t> Time of day, in hours, minutes and seconds.</a:t>
            </a:r>
            <a:endParaRPr lang="en-US" altLang="en-US" sz="1275" dirty="0"/>
          </a:p>
          <a:p>
            <a:pPr lvl="1">
              <a:tabLst>
                <a:tab pos="937895" algn="l"/>
              </a:tabLst>
            </a:pPr>
            <a:r>
              <a:rPr lang="en-US" altLang="en-US" sz="1275" dirty="0"/>
              <a:t>Example: </a:t>
            </a:r>
            <a:r>
              <a:rPr lang="en-US" altLang="en-US" sz="1275" b="1" dirty="0"/>
              <a:t> time</a:t>
            </a:r>
            <a:r>
              <a:rPr lang="en-US" altLang="en-US" sz="1275" dirty="0"/>
              <a:t> '09:00:30'        </a:t>
            </a:r>
            <a:r>
              <a:rPr lang="en-US" altLang="en-US" sz="1275" b="1" dirty="0"/>
              <a:t> time</a:t>
            </a:r>
            <a:r>
              <a:rPr lang="en-US" altLang="en-US" sz="1275" dirty="0"/>
              <a:t> '09:00:30.75'</a:t>
            </a:r>
            <a:endParaRPr lang="en-US" altLang="en-US" sz="1275" dirty="0"/>
          </a:p>
          <a:p>
            <a:pPr>
              <a:tabLst>
                <a:tab pos="937895" algn="l"/>
              </a:tabLst>
            </a:pPr>
            <a:r>
              <a:rPr lang="en-US" altLang="en-US" sz="1275" b="1" dirty="0">
                <a:solidFill>
                  <a:srgbClr val="002060"/>
                </a:solidFill>
              </a:rPr>
              <a:t>timestamp:</a:t>
            </a:r>
            <a:r>
              <a:rPr lang="en-US" altLang="en-US" sz="1275" dirty="0"/>
              <a:t> date plus time of day</a:t>
            </a:r>
            <a:endParaRPr lang="en-US" altLang="en-US" sz="1275" dirty="0"/>
          </a:p>
          <a:p>
            <a:pPr lvl="1">
              <a:tabLst>
                <a:tab pos="937895" algn="l"/>
              </a:tabLst>
            </a:pPr>
            <a:r>
              <a:rPr lang="en-US" altLang="en-US" sz="1275" dirty="0"/>
              <a:t>Example:  </a:t>
            </a:r>
            <a:r>
              <a:rPr lang="en-US" altLang="en-US" sz="1275" b="1" dirty="0"/>
              <a:t>timestamp</a:t>
            </a:r>
            <a:r>
              <a:rPr lang="en-US" altLang="en-US" sz="1275" dirty="0"/>
              <a:t>  '2005-7-27 09:00:30.75'</a:t>
            </a:r>
            <a:endParaRPr lang="en-US" altLang="en-US" sz="1275" dirty="0"/>
          </a:p>
          <a:p>
            <a:pPr>
              <a:tabLst>
                <a:tab pos="937895" algn="l"/>
              </a:tabLst>
            </a:pPr>
            <a:r>
              <a:rPr lang="en-US" altLang="en-US" sz="1275" b="1" dirty="0">
                <a:solidFill>
                  <a:srgbClr val="002060"/>
                </a:solidFill>
              </a:rPr>
              <a:t>interval:</a:t>
            </a:r>
            <a:r>
              <a:rPr lang="en-US" altLang="en-US" sz="1275" dirty="0"/>
              <a:t>  period of time</a:t>
            </a:r>
            <a:endParaRPr lang="en-US" altLang="en-US" sz="1275" dirty="0"/>
          </a:p>
          <a:p>
            <a:pPr lvl="1">
              <a:tabLst>
                <a:tab pos="937895" algn="l"/>
              </a:tabLst>
            </a:pPr>
            <a:r>
              <a:rPr lang="en-US" altLang="en-US" sz="1275" dirty="0"/>
              <a:t>Example:   interval  '1' day</a:t>
            </a:r>
            <a:endParaRPr lang="en-US" altLang="en-US" sz="1275" dirty="0"/>
          </a:p>
          <a:p>
            <a:pPr lvl="1">
              <a:tabLst>
                <a:tab pos="937895" algn="l"/>
              </a:tabLst>
            </a:pPr>
            <a:r>
              <a:rPr lang="en-US" altLang="en-US" sz="1275" dirty="0"/>
              <a:t>Subtracting a date/time/timestamp value from another gives an interval value</a:t>
            </a:r>
            <a:endParaRPr lang="en-US" altLang="en-US" sz="1275" dirty="0"/>
          </a:p>
          <a:p>
            <a:pPr lvl="1">
              <a:tabLst>
                <a:tab pos="937895" algn="l"/>
              </a:tabLst>
            </a:pPr>
            <a:r>
              <a:rPr lang="en-US" altLang="en-US" sz="1275" dirty="0"/>
              <a:t>Interval values can be added to date/time/timestamp values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Large-Object Types</a:t>
            </a:r>
            <a:endParaRPr lang="en-US" sz="2100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2" y="820342"/>
            <a:ext cx="5722445" cy="2901267"/>
          </a:xfrm>
        </p:spPr>
        <p:txBody>
          <a:bodyPr/>
          <a:lstStyle/>
          <a:p>
            <a:r>
              <a:rPr lang="en-US" altLang="en-US" sz="1275" dirty="0"/>
              <a:t>Large objects (photos, videos, CAD files, etc.) are stored as a </a:t>
            </a:r>
            <a:r>
              <a:rPr lang="en-US" altLang="en-US" sz="1275" i="1" dirty="0"/>
              <a:t>large object</a:t>
            </a:r>
            <a:r>
              <a:rPr lang="en-US" altLang="en-US" sz="1275" dirty="0"/>
              <a:t>:</a:t>
            </a:r>
            <a:endParaRPr lang="en-US" altLang="en-US" sz="1275" dirty="0"/>
          </a:p>
          <a:p>
            <a:pPr lvl="1"/>
            <a:r>
              <a:rPr lang="en-US" altLang="en-US" sz="1275" b="1" dirty="0">
                <a:solidFill>
                  <a:srgbClr val="002060"/>
                </a:solidFill>
              </a:rPr>
              <a:t>blob</a:t>
            </a:r>
            <a:r>
              <a:rPr lang="en-US" altLang="en-US" sz="1275" dirty="0"/>
              <a:t>: binary large object -- object is a large collection of uninterpreted binary data (whose interpretation is left to an application outside of the database system)</a:t>
            </a:r>
            <a:endParaRPr lang="en-US" altLang="en-US" sz="1275" dirty="0"/>
          </a:p>
          <a:p>
            <a:pPr lvl="1"/>
            <a:r>
              <a:rPr lang="en-US" altLang="en-US" sz="1275" b="1" dirty="0">
                <a:solidFill>
                  <a:srgbClr val="002060"/>
                </a:solidFill>
              </a:rPr>
              <a:t>clob</a:t>
            </a:r>
            <a:r>
              <a:rPr lang="en-US" altLang="en-US" sz="1275" dirty="0"/>
              <a:t>: character large object -- object is a large collection of character data</a:t>
            </a:r>
            <a:endParaRPr lang="en-US" altLang="en-US" sz="1275" dirty="0"/>
          </a:p>
          <a:p>
            <a:r>
              <a:rPr lang="en-US" altLang="en-US" sz="1275" dirty="0"/>
              <a:t>When a query returns a large object, a pointer is returned rather than the large object itself.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User-Defined Types</a:t>
            </a:r>
            <a:endParaRPr lang="en-US" sz="2100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1298"/>
            <a:ext cx="5714810" cy="2211943"/>
          </a:xfrm>
        </p:spPr>
        <p:txBody>
          <a:bodyPr/>
          <a:lstStyle/>
          <a:p>
            <a:pPr>
              <a:tabLst>
                <a:tab pos="859155" algn="l"/>
                <a:tab pos="1417955" algn="l"/>
              </a:tabLst>
            </a:pPr>
            <a:r>
              <a:rPr lang="en-US" altLang="en-US" sz="1275" b="1" dirty="0">
                <a:solidFill>
                  <a:srgbClr val="002060"/>
                </a:solidFill>
              </a:rPr>
              <a:t>create type </a:t>
            </a:r>
            <a:r>
              <a:rPr lang="en-US" altLang="en-US" sz="1275" dirty="0"/>
              <a:t>construct in SQL creates user-defined type</a:t>
            </a:r>
            <a:endParaRPr lang="en-US" altLang="en-US" sz="1275" dirty="0"/>
          </a:p>
          <a:p>
            <a:pPr>
              <a:buNone/>
              <a:tabLst>
                <a:tab pos="859155" algn="l"/>
                <a:tab pos="1417955" algn="l"/>
              </a:tabLst>
            </a:pPr>
            <a:r>
              <a:rPr lang="en-US" altLang="en-US" sz="600" dirty="0"/>
              <a:t> </a:t>
            </a:r>
            <a:endParaRPr lang="en-US" altLang="en-US" sz="600" dirty="0"/>
          </a:p>
          <a:p>
            <a:pPr lvl="1">
              <a:buNone/>
              <a:tabLst>
                <a:tab pos="859155" algn="l"/>
                <a:tab pos="1417955" algn="l"/>
              </a:tabLst>
            </a:pPr>
            <a:r>
              <a:rPr lang="en-US" altLang="en-US" sz="1275" b="1" dirty="0"/>
              <a:t>		create type </a:t>
            </a:r>
            <a:r>
              <a:rPr lang="en-US" altLang="en-US" sz="1275" i="1" dirty="0"/>
              <a:t>Dollars</a:t>
            </a:r>
            <a:r>
              <a:rPr lang="en-US" altLang="en-US" sz="1275" b="1" dirty="0"/>
              <a:t> as numeric (12,2) final </a:t>
            </a:r>
            <a:br>
              <a:rPr lang="en-US" altLang="en-US" sz="1275" b="1" dirty="0"/>
            </a:br>
            <a:r>
              <a:rPr lang="en-US" altLang="en-US" sz="600" b="1" dirty="0"/>
              <a:t> </a:t>
            </a:r>
            <a:endParaRPr lang="en-US" altLang="en-US" sz="600" dirty="0"/>
          </a:p>
          <a:p>
            <a:pPr>
              <a:tabLst>
                <a:tab pos="859155" algn="l"/>
                <a:tab pos="1417955" algn="l"/>
              </a:tabLst>
            </a:pPr>
            <a:r>
              <a:rPr lang="en-US" altLang="en-US" sz="1275" dirty="0"/>
              <a:t>Example:</a:t>
            </a:r>
            <a:endParaRPr lang="en-US" altLang="en-US" sz="1275" dirty="0"/>
          </a:p>
          <a:p>
            <a:pPr>
              <a:buNone/>
              <a:tabLst>
                <a:tab pos="859155" algn="l"/>
                <a:tab pos="1417955" algn="l"/>
              </a:tabLst>
            </a:pPr>
            <a:r>
              <a:rPr lang="en-US" altLang="en-US" sz="1275" b="1" dirty="0"/>
              <a:t>               create table </a:t>
            </a:r>
            <a:r>
              <a:rPr lang="en-US" altLang="en-US" sz="1275" i="1" dirty="0"/>
              <a:t>department</a:t>
            </a:r>
            <a:br>
              <a:rPr lang="en-US" altLang="en-US" sz="1275" i="1" dirty="0"/>
            </a:br>
            <a:r>
              <a:rPr lang="en-US" altLang="en-US" sz="1275" i="1" dirty="0"/>
              <a:t>          </a:t>
            </a:r>
            <a:r>
              <a:rPr lang="en-US" altLang="en-US" sz="1275" dirty="0"/>
              <a:t>(</a:t>
            </a:r>
            <a:r>
              <a:rPr lang="en-US" altLang="en-US" sz="1275" i="1" dirty="0"/>
              <a:t>dept_name </a:t>
            </a:r>
            <a:r>
              <a:rPr lang="en-US" altLang="en-US" sz="1275" b="1" dirty="0" err="1"/>
              <a:t>varchar</a:t>
            </a:r>
            <a:r>
              <a:rPr lang="en-US" altLang="en-US" sz="1275" b="1" dirty="0"/>
              <a:t> </a:t>
            </a:r>
            <a:r>
              <a:rPr lang="en-US" altLang="en-US" sz="1275" dirty="0"/>
              <a:t>(20),</a:t>
            </a:r>
            <a:br>
              <a:rPr lang="en-US" altLang="en-US" sz="1275" dirty="0"/>
            </a:br>
            <a:r>
              <a:rPr lang="en-US" altLang="en-US" sz="1275" dirty="0"/>
              <a:t>          </a:t>
            </a:r>
            <a:r>
              <a:rPr lang="en-US" altLang="en-US" sz="1275" i="1" dirty="0"/>
              <a:t>building </a:t>
            </a:r>
            <a:r>
              <a:rPr lang="en-US" altLang="en-US" sz="1275" b="1" dirty="0" err="1"/>
              <a:t>varchar</a:t>
            </a:r>
            <a:r>
              <a:rPr lang="en-US" altLang="en-US" sz="1275" b="1" dirty="0"/>
              <a:t> </a:t>
            </a:r>
            <a:r>
              <a:rPr lang="en-US" altLang="en-US" sz="1275" dirty="0"/>
              <a:t>(15),</a:t>
            </a:r>
            <a:br>
              <a:rPr lang="en-US" altLang="en-US" sz="1275" dirty="0"/>
            </a:br>
            <a:r>
              <a:rPr lang="en-US" altLang="en-US" sz="1275" dirty="0"/>
              <a:t>          </a:t>
            </a:r>
            <a:r>
              <a:rPr lang="en-US" altLang="en-US" sz="1275" i="1" dirty="0"/>
              <a:t>budget Dollars</a:t>
            </a:r>
            <a:r>
              <a:rPr lang="en-US" altLang="en-US" sz="1275" dirty="0"/>
              <a:t>);</a:t>
            </a:r>
            <a:endParaRPr lang="en-US" altLang="en-US" sz="12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9263" y="133226"/>
            <a:ext cx="6057900" cy="457200"/>
          </a:xfrm>
        </p:spPr>
        <p:txBody>
          <a:bodyPr/>
          <a:lstStyle/>
          <a:p>
            <a:pPr>
              <a:defRPr/>
            </a:pPr>
            <a:r>
              <a:rPr lang="en-US" sz="2100" dirty="0"/>
              <a:t>Domains</a:t>
            </a:r>
            <a:endParaRPr lang="en-US" sz="2100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5625"/>
            <a:ext cx="5275898" cy="3779669"/>
          </a:xfrm>
        </p:spPr>
        <p:txBody>
          <a:bodyPr/>
          <a:lstStyle/>
          <a:p>
            <a:r>
              <a:rPr lang="en-US" altLang="en-US" sz="1275" b="1" dirty="0">
                <a:solidFill>
                  <a:srgbClr val="002060"/>
                </a:solidFill>
              </a:rPr>
              <a:t>create domain</a:t>
            </a:r>
            <a:r>
              <a:rPr lang="en-US" altLang="en-US" sz="1275" dirty="0">
                <a:solidFill>
                  <a:srgbClr val="002060"/>
                </a:solidFill>
              </a:rPr>
              <a:t> </a:t>
            </a:r>
            <a:r>
              <a:rPr lang="en-US" altLang="en-US" sz="1275" dirty="0"/>
              <a:t>construct in SQL-92 creates user-defined domain types</a:t>
            </a:r>
            <a:endParaRPr lang="en-US" altLang="en-US" sz="1275" dirty="0"/>
          </a:p>
          <a:p>
            <a:pPr>
              <a:buFont typeface="Monotype Sorts" charset="2"/>
              <a:buNone/>
            </a:pPr>
            <a:r>
              <a:rPr lang="en-US" altLang="en-US" sz="600" dirty="0"/>
              <a:t> </a:t>
            </a:r>
            <a:endParaRPr lang="en-US" altLang="en-US" sz="600" dirty="0"/>
          </a:p>
          <a:p>
            <a:pPr lvl="1">
              <a:buFont typeface="Monotype Sorts" charset="2"/>
              <a:buNone/>
            </a:pPr>
            <a:r>
              <a:rPr lang="en-US" altLang="en-US" sz="1275" b="1" dirty="0"/>
              <a:t>		create domain </a:t>
            </a:r>
            <a:r>
              <a:rPr lang="en-US" altLang="en-US" sz="1275" i="1" dirty="0" err="1"/>
              <a:t>person_name</a:t>
            </a:r>
            <a:r>
              <a:rPr lang="en-US" altLang="en-US" sz="1275" i="1" dirty="0"/>
              <a:t> </a:t>
            </a:r>
            <a:r>
              <a:rPr lang="en-US" altLang="en-US" sz="1275" b="1" dirty="0"/>
              <a:t>char</a:t>
            </a:r>
            <a:r>
              <a:rPr lang="en-US" altLang="en-US" sz="1275" dirty="0"/>
              <a:t>(20) </a:t>
            </a:r>
            <a:r>
              <a:rPr lang="en-US" altLang="en-US" sz="1275" b="1" dirty="0"/>
              <a:t>not null</a:t>
            </a:r>
            <a:endParaRPr lang="en-US" altLang="en-US" sz="1275" b="1" dirty="0"/>
          </a:p>
          <a:p>
            <a:pPr lvl="1">
              <a:buFont typeface="Monotype Sorts" charset="2"/>
              <a:buNone/>
            </a:pPr>
            <a:r>
              <a:rPr lang="en-US" altLang="en-US" sz="600" dirty="0"/>
              <a:t> </a:t>
            </a:r>
            <a:endParaRPr lang="en-US" altLang="en-US" sz="600" dirty="0"/>
          </a:p>
          <a:p>
            <a:r>
              <a:rPr lang="en-US" altLang="en-US" sz="1275" dirty="0"/>
              <a:t>Types and domains are similar.  Domains can have constraints, such as </a:t>
            </a:r>
            <a:r>
              <a:rPr lang="en-US" altLang="en-US" sz="1275" b="1" dirty="0"/>
              <a:t>not null</a:t>
            </a:r>
            <a:r>
              <a:rPr lang="en-US" altLang="en-US" sz="1275" dirty="0"/>
              <a:t>, specified on them.</a:t>
            </a:r>
            <a:endParaRPr lang="en-US" altLang="en-US" sz="1275" dirty="0"/>
          </a:p>
          <a:p>
            <a:r>
              <a:rPr lang="en-US" altLang="en-US" sz="1275" dirty="0"/>
              <a:t>Example:</a:t>
            </a:r>
            <a:endParaRPr lang="en-US" altLang="en-US" sz="1275" b="1" dirty="0"/>
          </a:p>
          <a:p>
            <a:pPr>
              <a:buNone/>
            </a:pPr>
            <a:r>
              <a:rPr lang="en-US" altLang="en-US" sz="1275" b="1" dirty="0"/>
              <a:t>        create domain </a:t>
            </a:r>
            <a:r>
              <a:rPr lang="en-US" altLang="en-US" sz="1275" i="1" dirty="0" err="1"/>
              <a:t>degree_level</a:t>
            </a:r>
            <a:r>
              <a:rPr lang="en-US" altLang="en-US" sz="1275" i="1" dirty="0"/>
              <a:t> </a:t>
            </a:r>
            <a:r>
              <a:rPr lang="en-US" altLang="en-US" sz="1275" b="1" dirty="0"/>
              <a:t>varchar</a:t>
            </a:r>
            <a:r>
              <a:rPr lang="en-US" altLang="en-US" sz="1275" dirty="0"/>
              <a:t>(10)</a:t>
            </a:r>
            <a:br>
              <a:rPr lang="en-US" altLang="en-US" sz="1275" dirty="0"/>
            </a:br>
            <a:r>
              <a:rPr lang="en-US" altLang="en-US" sz="1275" dirty="0"/>
              <a:t>       </a:t>
            </a:r>
            <a:r>
              <a:rPr lang="en-US" altLang="en-US" sz="1275" b="1" dirty="0"/>
              <a:t>constraint </a:t>
            </a:r>
            <a:r>
              <a:rPr lang="en-US" altLang="en-US" sz="1275" i="1" dirty="0" err="1"/>
              <a:t>degree_level_test</a:t>
            </a:r>
            <a:br>
              <a:rPr lang="en-US" altLang="en-US" sz="1275" i="1" dirty="0"/>
            </a:br>
            <a:r>
              <a:rPr lang="en-US" altLang="en-US" sz="1275" i="1" dirty="0"/>
              <a:t>            </a:t>
            </a:r>
            <a:r>
              <a:rPr lang="en-US" altLang="en-US" sz="1275" b="1" dirty="0"/>
              <a:t>check </a:t>
            </a:r>
            <a:r>
              <a:rPr lang="en-US" altLang="en-US" sz="1275" dirty="0"/>
              <a:t>(</a:t>
            </a:r>
            <a:r>
              <a:rPr lang="en-US" altLang="en-US" sz="1275" b="1" dirty="0"/>
              <a:t>value in </a:t>
            </a:r>
            <a:r>
              <a:rPr lang="en-US" altLang="en-US" sz="1275" dirty="0"/>
              <a:t>('Bachelors', 'Masters', 'Doctorate'));</a:t>
            </a:r>
            <a:endParaRPr lang="en-US" altLang="en-US" sz="1275" dirty="0"/>
          </a:p>
          <a:p>
            <a:endParaRPr lang="en-US" altLang="en-US" sz="1275" dirty="0"/>
          </a:p>
        </p:txBody>
      </p:sp>
      <p:pic>
        <p:nvPicPr>
          <p:cNvPr id="2" name="Picture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395536" y="771550"/>
            <a:ext cx="723512" cy="723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*Data Cleaning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1"/>
              </a:rPr>
              <a:t>Extract, transform, load – Wikipedia</a:t>
            </a:r>
            <a:endParaRPr lang="en-US" altLang="zh-CN" dirty="0"/>
          </a:p>
          <a:p>
            <a:r>
              <a:rPr lang="en-US" altLang="zh-CN" dirty="0"/>
              <a:t>Benefits</a:t>
            </a:r>
            <a:endParaRPr lang="en-US" altLang="zh-CN" dirty="0"/>
          </a:p>
          <a:p>
            <a:pPr lvl="1"/>
            <a:r>
              <a:rPr lang="en-US" altLang="zh-CN" sz="1400" dirty="0"/>
              <a:t>1. The original table remains unchanged, allowing for rollback at any time.</a:t>
            </a:r>
            <a:endParaRPr lang="en-US" altLang="zh-CN" sz="1400" dirty="0"/>
          </a:p>
          <a:p>
            <a:pPr lvl="1"/>
            <a:r>
              <a:rPr lang="en-US" altLang="zh-CN" sz="1400" dirty="0"/>
              <a:t>2. The cleaning logic is entirely contained within the VIEW, allowing version control with a SQL file.</a:t>
            </a:r>
            <a:endParaRPr lang="en-US" altLang="zh-CN" sz="1400" dirty="0"/>
          </a:p>
          <a:p>
            <a:pPr lvl="1"/>
            <a:r>
              <a:rPr lang="en-US" altLang="zh-CN" sz="1400" dirty="0"/>
              <a:t>3. If you want to add new rules, simply wrap it in another VIEW; the old VIEW remains available for historical tasks.</a:t>
            </a:r>
            <a:endParaRPr lang="en-US" altLang="zh-CN" sz="1400" dirty="0"/>
          </a:p>
          <a:p>
            <a:pPr lvl="1"/>
            <a:r>
              <a:rPr lang="en-US" altLang="zh-CN" sz="1400" dirty="0"/>
              <a:t>4. If you want to materialize the data later, simply create a materialized view </a:t>
            </a:r>
            <a:r>
              <a:rPr lang="en-US" altLang="zh-CN" sz="1400" dirty="0" err="1"/>
              <a:t>mv_clean</a:t>
            </a:r>
            <a:r>
              <a:rPr lang="en-US" altLang="zh-CN" sz="1400" dirty="0"/>
              <a:t> AS select * from v2_orders_valid; to speed things up.</a:t>
            </a:r>
            <a:endParaRPr lang="en-US" altLang="zh-CN" sz="1400" dirty="0"/>
          </a:p>
          <a:p>
            <a:pPr lvl="1"/>
            <a:r>
              <a:rPr lang="en-US" altLang="zh-CN" sz="1400" dirty="0"/>
              <a:t>This is the typical "using VIEWs for data cleaning" in PostgreSQL: dirty data remains in place, while clean data is "projected" as needed.</a:t>
            </a:r>
            <a:endParaRPr lang="zh-CN" altLang="en-US" sz="1400" dirty="0"/>
          </a:p>
        </p:txBody>
      </p:sp>
      <p:pic>
        <p:nvPicPr>
          <p:cNvPr id="4" name="Picture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7452320" y="771550"/>
            <a:ext cx="723512" cy="723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*Comparison of Tools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/>
          <p:cNvGraphicFramePr/>
          <p:nvPr/>
        </p:nvGraphicFramePr>
        <p:xfrm>
          <a:off x="251520" y="1707654"/>
          <a:ext cx="8447085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417"/>
                <a:gridCol w="1689417"/>
                <a:gridCol w="1689417"/>
                <a:gridCol w="1689417"/>
                <a:gridCol w="16894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Easy to use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Performance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Memory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Scalability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Linux Command Line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Not good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Good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Based on disks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Python/Pandas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Not bad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Slow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Based on main mem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SQL/DB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Good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Slower than Linux, faster than Pandas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7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Based on disks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Hadoop can do it best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GUI Tools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Great for small tasks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Depends on the underlying implementation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Depends on the underlying implementation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Depends on the underlying implementation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**Mathematical thinking in DB (</a:t>
            </a:r>
            <a:r>
              <a:rPr lang="en-US" altLang="zh-CN" sz="2400" dirty="0" err="1"/>
              <a:t>chpt</a:t>
            </a:r>
            <a:r>
              <a:rPr lang="en-US" altLang="zh-CN" sz="2400" dirty="0"/>
              <a:t>. 2.6)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dirty="0"/>
              <a:t>What is ‘legal moves’?</a:t>
            </a:r>
            <a:endParaRPr lang="en-US" altLang="zh-CN" sz="1600" dirty="0"/>
          </a:p>
          <a:p>
            <a:pPr lvl="1"/>
            <a:r>
              <a:rPr lang="en-US" altLang="zh-CN" sz="1600" dirty="0"/>
              <a:t>Where a and where b </a:t>
            </a:r>
            <a:r>
              <a:rPr lang="en-US" altLang="zh-CN" sz="1600" dirty="0">
                <a:sym typeface="Wingdings" panose="05000000000000000000" pitchFamily="2" charset="2"/>
              </a:rPr>
              <a:t></a:t>
            </a:r>
            <a:r>
              <a:rPr lang="en-US" altLang="zh-CN" sz="1600" dirty="0"/>
              <a:t> Where b and where a : </a:t>
            </a:r>
            <a:r>
              <a:rPr lang="en-US" altLang="zh-CN" sz="1600" b="1" dirty="0"/>
              <a:t>commutative law</a:t>
            </a:r>
            <a:endParaRPr lang="en-US" altLang="zh-CN" sz="1600" b="1" dirty="0"/>
          </a:p>
          <a:p>
            <a:pPr lvl="1"/>
            <a:r>
              <a:rPr lang="en-US" altLang="zh-CN" sz="1600" dirty="0"/>
              <a:t>Nature Join satisfy </a:t>
            </a:r>
            <a:r>
              <a:rPr lang="en-US" altLang="zh-CN" sz="1600" b="1" dirty="0"/>
              <a:t>association law</a:t>
            </a:r>
            <a:endParaRPr lang="en-US" altLang="zh-CN" sz="1600" b="1" dirty="0"/>
          </a:p>
          <a:p>
            <a:pPr lvl="1"/>
            <a:r>
              <a:rPr lang="en-US" altLang="zh-CN" sz="1600" dirty="0"/>
              <a:t>Exchange join and where: </a:t>
            </a:r>
            <a:r>
              <a:rPr lang="en-US" altLang="zh-CN" sz="1600" b="1" dirty="0"/>
              <a:t>distributive law</a:t>
            </a:r>
            <a:endParaRPr lang="en-US" altLang="zh-CN" sz="1600" b="1" dirty="0"/>
          </a:p>
          <a:p>
            <a:pPr lvl="1"/>
            <a:r>
              <a:rPr lang="en-US" altLang="zh-CN" sz="1600" dirty="0"/>
              <a:t>…</a:t>
            </a:r>
            <a:endParaRPr lang="en-US" altLang="zh-CN" sz="1600" dirty="0"/>
          </a:p>
          <a:p>
            <a:r>
              <a:rPr lang="en-US" altLang="zh-CN" sz="1600" dirty="0"/>
              <a:t>It is similar to what we have learned in math…</a:t>
            </a:r>
            <a:endParaRPr lang="en-US" altLang="zh-CN" sz="1600" dirty="0"/>
          </a:p>
          <a:p>
            <a:pPr lvl="1"/>
            <a:endParaRPr lang="en-US" altLang="zh-CN" sz="1600" dirty="0"/>
          </a:p>
          <a:p>
            <a:endParaRPr lang="zh-CN" altLang="en-US" sz="1600" dirty="0"/>
          </a:p>
        </p:txBody>
      </p:sp>
      <p:pic>
        <p:nvPicPr>
          <p:cNvPr id="1028" name="Picture 4" descr="What Pictures | Download Free Images on Unsplash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291830"/>
            <a:ext cx="2650828" cy="166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**Modeling with a kind of… </a:t>
            </a:r>
            <a:r>
              <a:rPr lang="en-US" altLang="zh-CN" sz="2400" i="1" dirty="0"/>
              <a:t>Algebra</a:t>
            </a:r>
            <a:r>
              <a:rPr lang="en-US" altLang="zh-CN" sz="2400" dirty="0"/>
              <a:t>??</a:t>
            </a: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Informally speaking, algebra usually refers to something supporting ‘add’ and ‘multiply’, as well as their inversion (‘subtract’ and ‘divide’)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How many algebras do you know?</a:t>
            </a: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71600" y="1508527"/>
          <a:ext cx="639889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</a:tblGrid>
              <a:tr h="3962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bg2"/>
                          </a:solidFill>
                          <a:sym typeface="+mn-ea"/>
                        </a:rPr>
                        <a:t>+</a:t>
                      </a:r>
                      <a:endParaRPr lang="en-US" altLang="zh-CN" sz="2000" dirty="0">
                        <a:solidFill>
                          <a:schemeClr val="bg2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bg2"/>
                          </a:solidFill>
                          <a:sym typeface="+mn-ea"/>
                        </a:rPr>
                        <a:t>×</a:t>
                      </a:r>
                      <a:endParaRPr lang="en-US" altLang="zh-CN" sz="200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lvl="3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Elementary algebra (for children)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add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multiply</a:t>
                      </a:r>
                      <a:endParaRPr lang="en-US" altLang="zh-C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lvl="3">
                        <a:buNone/>
                      </a:pPr>
                      <a:r>
                        <a:rPr lang="en-US" altLang="zh-CN" dirty="0"/>
                        <a:t>Polynomial Algebra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add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multiply</a:t>
                      </a:r>
                      <a:endParaRPr lang="en-US" altLang="zh-C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**</a:t>
            </a:r>
            <a:r>
              <a:rPr lang="en-US" altLang="zh-CN" dirty="0"/>
              <a:t>Relational Algebra</a:t>
            </a:r>
            <a:br>
              <a:rPr lang="zh-CN" altLang="en-US" dirty="0"/>
            </a:b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altLang="zh-CN" sz="1800" dirty="0"/>
          </a:p>
          <a:p>
            <a:pPr lvl="3"/>
            <a:endParaRPr lang="en-US" altLang="zh-CN" sz="1800" dirty="0"/>
          </a:p>
          <a:p>
            <a:pPr lvl="2"/>
            <a:endParaRPr lang="en-US" altLang="zh-CN" sz="1800" dirty="0"/>
          </a:p>
        </p:txBody>
      </p:sp>
      <p:graphicFrame>
        <p:nvGraphicFramePr>
          <p:cNvPr id="5" name="表格 4"/>
          <p:cNvGraphicFramePr/>
          <p:nvPr/>
        </p:nvGraphicFramePr>
        <p:xfrm>
          <a:off x="971600" y="915566"/>
          <a:ext cx="639889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</a:tblGrid>
              <a:tr h="3962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bg2"/>
                          </a:solidFill>
                          <a:sym typeface="+mn-ea"/>
                        </a:rPr>
                        <a:t>+</a:t>
                      </a:r>
                      <a:endParaRPr lang="en-US" altLang="zh-CN" sz="2000" dirty="0">
                        <a:solidFill>
                          <a:schemeClr val="bg2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solidFill>
                            <a:schemeClr val="bg2"/>
                          </a:solidFill>
                          <a:sym typeface="+mn-ea"/>
                        </a:rPr>
                        <a:t>×</a:t>
                      </a:r>
                      <a:endParaRPr lang="en-US" altLang="zh-CN" sz="200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lvl="3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Boolean algebra (in computer science)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or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and</a:t>
                      </a:r>
                      <a:endParaRPr lang="en-US" altLang="zh-C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lvl="3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Linear algebra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add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product</a:t>
                      </a:r>
                      <a:endParaRPr lang="en-US" altLang="zh-C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lvl="3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Sigma algebra (in probilitstic theory)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union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 err="1"/>
                        <a:t>interset</a:t>
                      </a:r>
                      <a:endParaRPr lang="en-US" altLang="zh-C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lvl="3">
                        <a:buNone/>
                      </a:pPr>
                      <a:r>
                        <a:rPr lang="en-US" altLang="zh-CN" dirty="0"/>
                        <a:t>Relational Algebra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Union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Join</a:t>
                      </a:r>
                      <a:endParaRPr lang="en-US" altLang="zh-C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内容占位符 2"/>
          <p:cNvSpPr txBox="1"/>
          <p:nvPr/>
        </p:nvSpPr>
        <p:spPr bwMode="auto">
          <a:xfrm>
            <a:off x="500063" y="3147814"/>
            <a:ext cx="8447087" cy="1773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>
            <a:lvl1pPr marL="263525" indent="-263525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1pPr>
            <a:lvl2pPr marL="494030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2pPr>
            <a:lvl3pPr marL="73977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3pPr>
            <a:lvl4pPr marL="98742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4pPr>
            <a:lvl5pPr marL="123507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5pPr>
            <a:lvl6pPr marL="1578610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65630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52015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9035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Example (Not strictly speaking)</a:t>
            </a:r>
            <a:endParaRPr lang="en-US" altLang="zh-CN" dirty="0"/>
          </a:p>
          <a:p>
            <a:pPr lvl="1"/>
            <a:r>
              <a:rPr lang="en-US" altLang="zh-CN" dirty="0"/>
              <a:t>Two tables with the same schema can be united</a:t>
            </a:r>
            <a:endParaRPr lang="en-US" altLang="zh-CN" dirty="0"/>
          </a:p>
          <a:p>
            <a:pPr lvl="1"/>
            <a:r>
              <a:rPr lang="en-US" altLang="zh-CN" dirty="0"/>
              <a:t>Two tables with common keys can be Joined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***Application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Find all equivalent queries</a:t>
            </a:r>
            <a:endParaRPr lang="en-US" altLang="zh-CN" dirty="0"/>
          </a:p>
          <a:p>
            <a:pPr lvl="1"/>
            <a:r>
              <a:rPr lang="en-US" altLang="zh-CN" dirty="0"/>
              <a:t>Traverse the equivalent form of an expression according to the transformation rules. Then a selection of the best form can be conducted.</a:t>
            </a:r>
            <a:endParaRPr lang="en-US" altLang="zh-CN" dirty="0"/>
          </a:p>
          <a:p>
            <a:r>
              <a:rPr lang="en-US" altLang="zh-CN" dirty="0"/>
              <a:t>Query = Solve Boolean equations</a:t>
            </a:r>
            <a:endParaRPr lang="en-US" altLang="zh-CN" dirty="0"/>
          </a:p>
          <a:p>
            <a:pPr lvl="1"/>
            <a:r>
              <a:rPr lang="en-US" altLang="zh-CN" dirty="0"/>
              <a:t>Combined with other types of equations (such as linear equations), more complex queries can be implemented, such as: Q: Under what conditions can Alice receive a scholarship? A: improve GPA at least 0.3.</a:t>
            </a:r>
            <a:endParaRPr lang="en-US" altLang="zh-CN" dirty="0"/>
          </a:p>
          <a:p>
            <a:r>
              <a:rPr lang="en-US" altLang="zh-CN" dirty="0"/>
              <a:t>Automatic normal form conversion</a:t>
            </a:r>
            <a:endParaRPr lang="en-US" altLang="zh-CN" dirty="0"/>
          </a:p>
          <a:p>
            <a:pPr lvl="1"/>
            <a:r>
              <a:rPr lang="en-US" altLang="zh-CN" dirty="0"/>
              <a:t>Polynomial factorization minimizes redundancy under a multiplication structure; database normal form decomposition minimizes redundancy under a connection structure. The normal form can be converted automatically.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COMMONDATA" val="eyJoZGlkIjoiNjJjNTFkOTdkODM4ZDJhZTE0NWNhZWEyMDljZmVjZjEifQ=="/>
</p:tagLst>
</file>

<file path=ppt/theme/theme1.xml><?xml version="1.0" encoding="utf-8"?>
<a:theme xmlns:a="http://schemas.openxmlformats.org/drawingml/2006/main" name="23_Clas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14508</Words>
  <Application>WPS 演示</Application>
  <PresentationFormat>On-screen Show (16:9)</PresentationFormat>
  <Paragraphs>499</Paragraphs>
  <Slides>43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0" baseType="lpstr">
      <vt:lpstr>Arial</vt:lpstr>
      <vt:lpstr>宋体</vt:lpstr>
      <vt:lpstr>Wingdings</vt:lpstr>
      <vt:lpstr>Canela Text Regular</vt:lpstr>
      <vt:lpstr>Segoe Print</vt:lpstr>
      <vt:lpstr>Helvetica</vt:lpstr>
      <vt:lpstr>Graphik</vt:lpstr>
      <vt:lpstr>Helvetica Neue</vt:lpstr>
      <vt:lpstr>MS PGothic</vt:lpstr>
      <vt:lpstr>Monotype Sorts</vt:lpstr>
      <vt:lpstr>Times New Roman</vt:lpstr>
      <vt:lpstr>Webdings</vt:lpstr>
      <vt:lpstr>微软雅黑</vt:lpstr>
      <vt:lpstr>Arial Unicode MS</vt:lpstr>
      <vt:lpstr>Symbol</vt:lpstr>
      <vt:lpstr>Wingdings</vt:lpstr>
      <vt:lpstr>23_ClassicWhite</vt:lpstr>
      <vt:lpstr>DTS207TC Database Development and Design</vt:lpstr>
      <vt:lpstr>*SQL Interview Questions Website</vt:lpstr>
      <vt:lpstr>*Tips on CW</vt:lpstr>
      <vt:lpstr>Joined Relations</vt:lpstr>
      <vt:lpstr>Natural Join in SQL</vt:lpstr>
      <vt:lpstr>Natural Join in SQL (Cont.)</vt:lpstr>
      <vt:lpstr>Example: Student Relation</vt:lpstr>
      <vt:lpstr>Takes Relation</vt:lpstr>
      <vt:lpstr>student natural join takes</vt:lpstr>
      <vt:lpstr>Dangerous in Natural Join</vt:lpstr>
      <vt:lpstr>Natural Join with Using Clause</vt:lpstr>
      <vt:lpstr>Joined Types and Conditions</vt:lpstr>
      <vt:lpstr>Join Condition</vt:lpstr>
      <vt:lpstr>Join Condition (Cont.)</vt:lpstr>
      <vt:lpstr>Outer Join</vt:lpstr>
      <vt:lpstr>Outer Join Examples</vt:lpstr>
      <vt:lpstr>Left Outer Join</vt:lpstr>
      <vt:lpstr>Right Outer Join</vt:lpstr>
      <vt:lpstr>Full Outer Join</vt:lpstr>
      <vt:lpstr>*The impact of different writing methods on Join efficiency (chpt. 16)</vt:lpstr>
      <vt:lpstr>*Optimal path to execute ‘Join’</vt:lpstr>
      <vt:lpstr>Views</vt:lpstr>
      <vt:lpstr>View Definition</vt:lpstr>
      <vt:lpstr>View Definition and Use</vt:lpstr>
      <vt:lpstr>Views Defined Using Other Views</vt:lpstr>
      <vt:lpstr>Views Defined Using Other Views</vt:lpstr>
      <vt:lpstr>View Expansion</vt:lpstr>
      <vt:lpstr>View Expansion (Cont.)</vt:lpstr>
      <vt:lpstr>Materialized Views</vt:lpstr>
      <vt:lpstr>Update of a View</vt:lpstr>
      <vt:lpstr>Some Updates Cannot be Translated Uniquely</vt:lpstr>
      <vt:lpstr>And Some Not at All</vt:lpstr>
      <vt:lpstr>View Updates in SQL </vt:lpstr>
      <vt:lpstr>Built-in Data Types in SQL </vt:lpstr>
      <vt:lpstr>Large-Object Types</vt:lpstr>
      <vt:lpstr>User-Defined Types</vt:lpstr>
      <vt:lpstr>Domains</vt:lpstr>
      <vt:lpstr>*Data Cleaning</vt:lpstr>
      <vt:lpstr>*Comparison of Tools</vt:lpstr>
      <vt:lpstr>**Mathematical thinking in DB (chpt. 2.6)</vt:lpstr>
      <vt:lpstr>**Modeling with a kind of… Algebra?? </vt:lpstr>
      <vt:lpstr>**Relational Algebra </vt:lpstr>
      <vt:lpstr>***Application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DTS205TC High Performance Computing</dc:title>
  <dc:creator>andyz</dc:creator>
  <cp:lastModifiedBy>ZD</cp:lastModifiedBy>
  <cp:revision>2829</cp:revision>
  <dcterms:created xsi:type="dcterms:W3CDTF">2023-04-15T13:38:00Z</dcterms:created>
  <dcterms:modified xsi:type="dcterms:W3CDTF">2025-12-19T13:27:14Z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EA63F2DB41F74B1EBBC5422B0BDCE45D_13</vt:lpwstr>
  </property>
  <property fmtid="{D5CDD505-2E9C-101B-9397-08002B2CF9AE}" pid="3" name="KSOProductBuildVer">
    <vt:lpwstr>2052-12.1.0.24034</vt:lpwstr>
  </property>
</Properties>
</file>