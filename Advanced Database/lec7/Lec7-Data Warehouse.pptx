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1.svg" ContentType="image/svg+xml"/>
  <Override PartName="/ppt/media/image2.webp" ContentType="image/webp"/>
  <Override PartName="/ppt/media/image26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>
  <p:sldMasterIdLst>
    <p:sldMasterId id="2147483648" r:id="rId1"/>
  </p:sldMasterIdLst>
  <p:notesMasterIdLst>
    <p:notesMasterId r:id="rId4"/>
  </p:notesMasterIdLst>
  <p:sldIdLst>
    <p:sldId id="256" r:id="rId3"/>
    <p:sldId id="1077" r:id="rId5"/>
    <p:sldId id="1188" r:id="rId6"/>
    <p:sldId id="1252" r:id="rId7"/>
    <p:sldId id="1261" r:id="rId8"/>
    <p:sldId id="1253" r:id="rId9"/>
    <p:sldId id="1254" r:id="rId10"/>
    <p:sldId id="1255" r:id="rId11"/>
    <p:sldId id="1256" r:id="rId12"/>
    <p:sldId id="1257" r:id="rId13"/>
    <p:sldId id="1258" r:id="rId14"/>
    <p:sldId id="1259" r:id="rId15"/>
    <p:sldId id="1260" r:id="rId16"/>
    <p:sldId id="1262" r:id="rId17"/>
    <p:sldId id="1263" r:id="rId18"/>
    <p:sldId id="1264" r:id="rId19"/>
    <p:sldId id="1265" r:id="rId20"/>
    <p:sldId id="1266" r:id="rId21"/>
    <p:sldId id="1267" r:id="rId22"/>
    <p:sldId id="1268" r:id="rId23"/>
    <p:sldId id="1269" r:id="rId24"/>
    <p:sldId id="1270" r:id="rId25"/>
    <p:sldId id="1271" r:id="rId26"/>
    <p:sldId id="1272" r:id="rId27"/>
    <p:sldId id="1273" r:id="rId28"/>
    <p:sldId id="1274" r:id="rId29"/>
    <p:sldId id="1275" r:id="rId30"/>
    <p:sldId id="1278" r:id="rId31"/>
    <p:sldId id="1279" r:id="rId32"/>
    <p:sldId id="1283" r:id="rId33"/>
    <p:sldId id="1284" r:id="rId34"/>
    <p:sldId id="1285" r:id="rId35"/>
    <p:sldId id="1288" r:id="rId36"/>
    <p:sldId id="1286" r:id="rId37"/>
  </p:sldIdLst>
  <p:sldSz cx="9144000" cy="5143500" type="screen16x9"/>
  <p:notesSz cx="6858000" cy="9144000"/>
  <p:custDataLst>
    <p:tags r:id="rId42"/>
  </p:custDataLst>
  <p:defaultTextStyle>
    <a:defPPr>
      <a:defRPr lang="en-US"/>
    </a:defPPr>
    <a:lvl1pPr algn="l" defTabSz="1087755" rtl="0" eaLnBrk="0" fontAlgn="base" hangingPunct="0">
      <a:spcBef>
        <a:spcPct val="0"/>
      </a:spcBef>
      <a:spcAft>
        <a:spcPct val="0"/>
      </a:spcAft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1pPr>
    <a:lvl2pPr marL="285750" indent="171450" algn="l" defTabSz="1087755" rtl="0" eaLnBrk="0" fontAlgn="base" hangingPunct="0">
      <a:spcBef>
        <a:spcPct val="0"/>
      </a:spcBef>
      <a:spcAft>
        <a:spcPct val="0"/>
      </a:spcAft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2pPr>
    <a:lvl3pPr marL="573405" indent="341630" algn="l" defTabSz="1087755" rtl="0" eaLnBrk="0" fontAlgn="base" hangingPunct="0">
      <a:spcBef>
        <a:spcPct val="0"/>
      </a:spcBef>
      <a:spcAft>
        <a:spcPct val="0"/>
      </a:spcAft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3pPr>
    <a:lvl4pPr marL="860425" indent="511175" algn="l" defTabSz="1087755" rtl="0" eaLnBrk="0" fontAlgn="base" hangingPunct="0">
      <a:spcBef>
        <a:spcPct val="0"/>
      </a:spcBef>
      <a:spcAft>
        <a:spcPct val="0"/>
      </a:spcAft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4pPr>
    <a:lvl5pPr marL="1148080" indent="681355" algn="l" defTabSz="1087755" rtl="0" eaLnBrk="0" fontAlgn="base" hangingPunct="0">
      <a:spcBef>
        <a:spcPct val="0"/>
      </a:spcBef>
      <a:spcAft>
        <a:spcPct val="0"/>
      </a:spcAft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5pPr>
    <a:lvl6pPr marL="2286000" algn="l" defTabSz="914400" rtl="0" eaLnBrk="1" latinLnBrk="0" hangingPunct="1"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6pPr>
    <a:lvl7pPr marL="2743200" algn="l" defTabSz="914400" rtl="0" eaLnBrk="1" latinLnBrk="0" hangingPunct="1"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7pPr>
    <a:lvl8pPr marL="3200400" algn="l" defTabSz="914400" rtl="0" eaLnBrk="1" latinLnBrk="0" hangingPunct="1"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8pPr>
    <a:lvl9pPr marL="3657600" algn="l" defTabSz="914400" rtl="0" eaLnBrk="1" latinLnBrk="0" hangingPunct="1">
      <a:defRPr sz="1100" kern="1200">
        <a:solidFill>
          <a:srgbClr val="000000"/>
        </a:solidFill>
        <a:latin typeface="Canela Text Regular" charset="0"/>
        <a:ea typeface="Canela Text Regular" charset="0"/>
        <a:cs typeface="Canela Text Regular" charset="0"/>
        <a:sym typeface="Canela Text Regular" charset="0"/>
      </a:defRPr>
    </a:lvl9pPr>
  </p:defaultTextStyle>
  <p:extLst>
    <p:ext uri="{521415D9-36F7-43E2-AB2F-B90AF26B5E84}">
      <p14:sectionLst xmlns:p14="http://schemas.microsoft.com/office/powerpoint/2010/main">
        <p14:section name="默认节" id="{866284be-8aa8-49b6-8fdc-e10ff93e5864}">
          <p14:sldIdLst>
            <p14:sldId id="256"/>
            <p14:sldId id="1077"/>
          </p14:sldIdLst>
        </p14:section>
        <p14:section name="Motivation" id="{6adcfead-15af-44d7-8c4e-99c674f8a890}">
          <p14:sldIdLst>
            <p14:sldId id="1188"/>
            <p14:sldId id="1252"/>
            <p14:sldId id="1261"/>
            <p14:sldId id="1253"/>
            <p14:sldId id="1254"/>
            <p14:sldId id="1255"/>
          </p14:sldIdLst>
        </p14:section>
        <p14:section name="Core Concepts of Data Warehousing" id="{ff14fbfb-80d4-433d-8726-71dc6a0a0e65}">
          <p14:sldIdLst>
            <p14:sldId id="1256"/>
            <p14:sldId id="1257"/>
            <p14:sldId id="1258"/>
            <p14:sldId id="1259"/>
            <p14:sldId id="1260"/>
            <p14:sldId id="1262"/>
            <p14:sldId id="1263"/>
            <p14:sldId id="1264"/>
          </p14:sldIdLst>
        </p14:section>
        <p14:section name="Data Warehouse Modeling &amp; Schemas" id="{26088eca-535c-46d5-a98f-6a13462ba71f}">
          <p14:sldIdLst>
            <p14:sldId id="1265"/>
            <p14:sldId id="1266"/>
            <p14:sldId id="1267"/>
            <p14:sldId id="1268"/>
            <p14:sldId id="1269"/>
            <p14:sldId id="1270"/>
          </p14:sldIdLst>
        </p14:section>
        <p14:section name="OLAP" id="{925b1fa6-dcb1-4938-8b6e-acdbcee9ca73}">
          <p14:sldIdLst>
            <p14:sldId id="1271"/>
            <p14:sldId id="1272"/>
            <p14:sldId id="1273"/>
            <p14:sldId id="1274"/>
            <p14:sldId id="1275"/>
            <p14:sldId id="1278"/>
            <p14:sldId id="1279"/>
            <p14:sldId id="1283"/>
          </p14:sldIdLst>
        </p14:section>
        <p14:section name="From Data to Insight: Reporting &amp; Visualization" id="{96f5d6e6-1406-45f5-a0be-71ce7d01df40}">
          <p14:sldIdLst>
            <p14:sldId id="1284"/>
            <p14:sldId id="1285"/>
          </p14:sldIdLst>
        </p14:section>
        <p14:section name="Data Mining" id="{3623658b-6f60-4469-8ce9-9e445cbd7b14}">
          <p14:sldIdLst>
            <p14:sldId id="1288"/>
            <p14:sldId id="1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0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2E75D8-7644-45A3-BE18-AD5C86BFF957}" styleName="表样式 1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28137C7-9195-4576-8BDD-CF5DA5E64862}" styleName="表样式 1 12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rgbClr val="FFFFFF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963" autoAdjust="0"/>
  </p:normalViewPr>
  <p:slideViewPr>
    <p:cSldViewPr showGuides="1">
      <p:cViewPr varScale="1">
        <p:scale>
          <a:sx n="117" d="100"/>
          <a:sy n="117" d="100"/>
        </p:scale>
        <p:origin x="466" y="96"/>
      </p:cViewPr>
      <p:guideLst>
        <p:guide orient="horz" pos="160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gs" Target="tags/tag5.xml"/><Relationship Id="rId41" Type="http://schemas.openxmlformats.org/officeDocument/2006/relationships/commentAuthors" Target="commentAuthors.xml"/><Relationship Id="rId4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" name="Rectangle 2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noProof="0">
                <a:sym typeface="Helvetica Neue" charset="0"/>
              </a:rPr>
              <a:t>Click to edit Template text styles</a:t>
            </a:r>
            <a:endParaRPr lang="en-US" altLang="en-US" noProof="0">
              <a:sym typeface="Helvetica Neue" charset="0"/>
            </a:endParaRPr>
          </a:p>
          <a:p>
            <a:pPr lvl="1"/>
            <a:r>
              <a:rPr lang="en-US" altLang="en-US" noProof="0">
                <a:sym typeface="Helvetica Neue" charset="0"/>
              </a:rPr>
              <a:t>Second level</a:t>
            </a:r>
            <a:endParaRPr lang="en-US" altLang="en-US" noProof="0">
              <a:sym typeface="Helvetica Neue" charset="0"/>
            </a:endParaRPr>
          </a:p>
          <a:p>
            <a:pPr lvl="2"/>
            <a:r>
              <a:rPr lang="en-US" altLang="en-US" noProof="0">
                <a:sym typeface="Helvetica Neue" charset="0"/>
              </a:rPr>
              <a:t>Third level</a:t>
            </a:r>
            <a:endParaRPr lang="en-US" altLang="en-US" noProof="0">
              <a:sym typeface="Helvetica Neue" charset="0"/>
            </a:endParaRPr>
          </a:p>
          <a:p>
            <a:pPr lvl="3"/>
            <a:r>
              <a:rPr lang="en-US" altLang="en-US" noProof="0">
                <a:sym typeface="Helvetica Neue" charset="0"/>
              </a:rPr>
              <a:t>Fourth level</a:t>
            </a:r>
            <a:endParaRPr lang="en-US" altLang="en-US" noProof="0">
              <a:sym typeface="Helvetica Neue" charset="0"/>
            </a:endParaRPr>
          </a:p>
          <a:p>
            <a:pPr lvl="4"/>
            <a:r>
              <a:rPr lang="en-US" altLang="en-US" noProof="0">
                <a:sym typeface="Helvetica Neue" charset="0"/>
              </a:rPr>
              <a:t>Fifth level</a:t>
            </a:r>
            <a:endParaRPr lang="en-US" altLang="en-US" noProof="0">
              <a:sym typeface="Helvetica Neue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285750" rtl="0" eaLnBrk="0" fontAlgn="base" hangingPunct="0">
      <a:lnSpc>
        <a:spcPct val="117000"/>
      </a:lnSpc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1pPr>
    <a:lvl2pPr indent="142875" algn="l" defTabSz="285750" rtl="0" eaLnBrk="0" fontAlgn="base" hangingPunct="0">
      <a:lnSpc>
        <a:spcPct val="117000"/>
      </a:lnSpc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2pPr>
    <a:lvl3pPr indent="285750" algn="l" defTabSz="285750" rtl="0" eaLnBrk="0" fontAlgn="base" hangingPunct="0">
      <a:lnSpc>
        <a:spcPct val="117000"/>
      </a:lnSpc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3pPr>
    <a:lvl4pPr indent="430530" algn="l" defTabSz="285750" rtl="0" eaLnBrk="0" fontAlgn="base" hangingPunct="0">
      <a:lnSpc>
        <a:spcPct val="117000"/>
      </a:lnSpc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4pPr>
    <a:lvl5pPr indent="573405" algn="l" defTabSz="285750" rtl="0" eaLnBrk="0" fontAlgn="base" hangingPunct="0">
      <a:lnSpc>
        <a:spcPct val="117000"/>
      </a:lnSpc>
      <a:spcBef>
        <a:spcPct val="0"/>
      </a:spcBef>
      <a:spcAft>
        <a:spcPct val="0"/>
      </a:spcAft>
      <a:defRPr sz="14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5pPr>
    <a:lvl6pPr marL="1435100" algn="l" defTabSz="57404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6pPr>
    <a:lvl7pPr marL="1722120" algn="l" defTabSz="57404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7pPr>
    <a:lvl8pPr marL="2009140" algn="l" defTabSz="57404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8pPr>
    <a:lvl9pPr marL="2295525" algn="l" defTabSz="574040" rtl="0" eaLnBrk="1" latinLnBrk="0" hangingPunct="1">
      <a:defRPr sz="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zh-CN"/>
              <a:t>https://galaktika-soft.com/blog/olap-operations-in-data-mining.html</a:t>
            </a:r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183"/>
            <a:ext cx="6858000" cy="1790680"/>
          </a:xfrm>
        </p:spPr>
        <p:txBody>
          <a:bodyPr anchor="b"/>
          <a:lstStyle>
            <a:lvl1pPr algn="ctr">
              <a:defRPr sz="38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08"/>
            <a:ext cx="6858000" cy="1241505"/>
          </a:xfrm>
        </p:spPr>
        <p:txBody>
          <a:bodyPr/>
          <a:lstStyle>
            <a:lvl1pPr marL="0" indent="0" algn="ctr">
              <a:buNone/>
              <a:defRPr sz="1600"/>
            </a:lvl1pPr>
            <a:lvl2pPr marL="287020" indent="0" algn="ctr">
              <a:buNone/>
              <a:defRPr sz="1200"/>
            </a:lvl2pPr>
            <a:lvl3pPr marL="574040" indent="0" algn="ctr">
              <a:buNone/>
              <a:defRPr sz="1200"/>
            </a:lvl3pPr>
            <a:lvl4pPr marL="861060" indent="0" algn="ctr">
              <a:buNone/>
              <a:defRPr sz="1100"/>
            </a:lvl4pPr>
            <a:lvl5pPr marL="1148080" indent="0" algn="ctr">
              <a:buNone/>
              <a:defRPr sz="1100"/>
            </a:lvl5pPr>
            <a:lvl6pPr marL="1435100" indent="0" algn="ctr">
              <a:buNone/>
              <a:defRPr sz="1100"/>
            </a:lvl6pPr>
            <a:lvl7pPr marL="1722120" indent="0" algn="ctr">
              <a:buNone/>
              <a:defRPr sz="1100"/>
            </a:lvl7pPr>
            <a:lvl8pPr marL="2009140" indent="0" algn="ctr">
              <a:buNone/>
              <a:defRPr sz="1100"/>
            </a:lvl8pPr>
            <a:lvl9pPr marL="2295525" indent="0" algn="ctr">
              <a:buNone/>
              <a:defRPr sz="11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6C9A41-D864-428D-9C31-5294F3735FA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4BFCE12-62F8-4935-B4B3-E8FB1AC9A4A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964" y="1282528"/>
            <a:ext cx="7887146" cy="2138940"/>
          </a:xfrm>
        </p:spPr>
        <p:txBody>
          <a:bodyPr anchor="b"/>
          <a:lstStyle>
            <a:lvl1pPr>
              <a:defRPr sz="38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964" y="3442396"/>
            <a:ext cx="7887146" cy="1125141"/>
          </a:xfrm>
        </p:spPr>
        <p:txBody>
          <a:bodyPr/>
          <a:lstStyle>
            <a:lvl1pPr marL="0" indent="0">
              <a:buNone/>
              <a:defRPr sz="1600"/>
            </a:lvl1pPr>
            <a:lvl2pPr marL="287020" indent="0">
              <a:buNone/>
              <a:defRPr sz="1200"/>
            </a:lvl2pPr>
            <a:lvl3pPr marL="574040" indent="0">
              <a:buNone/>
              <a:defRPr sz="1200"/>
            </a:lvl3pPr>
            <a:lvl4pPr marL="861060" indent="0">
              <a:buNone/>
              <a:defRPr sz="1100"/>
            </a:lvl4pPr>
            <a:lvl5pPr marL="1148080" indent="0">
              <a:buNone/>
              <a:defRPr sz="1100"/>
            </a:lvl5pPr>
            <a:lvl6pPr marL="1435100" indent="0">
              <a:buNone/>
              <a:defRPr sz="1100"/>
            </a:lvl6pPr>
            <a:lvl7pPr marL="1722120" indent="0">
              <a:buNone/>
              <a:defRPr sz="1100"/>
            </a:lvl7pPr>
            <a:lvl8pPr marL="2009140" indent="0">
              <a:buNone/>
              <a:defRPr sz="1100"/>
            </a:lvl8pPr>
            <a:lvl9pPr marL="2295525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EB6FB98-0011-4161-BE35-0A73E2FACDA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8258" y="719117"/>
            <a:ext cx="4169049" cy="40493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4463" y="719117"/>
            <a:ext cx="4170164" cy="40493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2BF4A6C-FF74-409E-AF94-9AA6BEC52E2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545" y="273752"/>
            <a:ext cx="7887146" cy="9945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544" y="1260762"/>
            <a:ext cx="3868788" cy="617822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287020" indent="0">
              <a:buNone/>
              <a:defRPr sz="1200" b="1"/>
            </a:lvl2pPr>
            <a:lvl3pPr marL="574040" indent="0">
              <a:buNone/>
              <a:defRPr sz="1200" b="1"/>
            </a:lvl3pPr>
            <a:lvl4pPr marL="861060" indent="0">
              <a:buNone/>
              <a:defRPr sz="1100" b="1"/>
            </a:lvl4pPr>
            <a:lvl5pPr marL="1148080" indent="0">
              <a:buNone/>
              <a:defRPr sz="1100" b="1"/>
            </a:lvl5pPr>
            <a:lvl6pPr marL="1435100" indent="0">
              <a:buNone/>
              <a:defRPr sz="1100" b="1"/>
            </a:lvl6pPr>
            <a:lvl7pPr marL="1722120" indent="0">
              <a:buNone/>
              <a:defRPr sz="1100" b="1"/>
            </a:lvl7pPr>
            <a:lvl8pPr marL="2009140" indent="0">
              <a:buNone/>
              <a:defRPr sz="1100" b="1"/>
            </a:lvl8pPr>
            <a:lvl9pPr marL="2295525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544" y="1878582"/>
            <a:ext cx="3868788" cy="27634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8928" y="1260762"/>
            <a:ext cx="3887762" cy="617822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287020" indent="0">
              <a:buNone/>
              <a:defRPr sz="1200" b="1"/>
            </a:lvl2pPr>
            <a:lvl3pPr marL="574040" indent="0">
              <a:buNone/>
              <a:defRPr sz="1200" b="1"/>
            </a:lvl3pPr>
            <a:lvl4pPr marL="861060" indent="0">
              <a:buNone/>
              <a:defRPr sz="1100" b="1"/>
            </a:lvl4pPr>
            <a:lvl5pPr marL="1148080" indent="0">
              <a:buNone/>
              <a:defRPr sz="1100" b="1"/>
            </a:lvl5pPr>
            <a:lvl6pPr marL="1435100" indent="0">
              <a:buNone/>
              <a:defRPr sz="1100" b="1"/>
            </a:lvl6pPr>
            <a:lvl7pPr marL="1722120" indent="0">
              <a:buNone/>
              <a:defRPr sz="1100" b="1"/>
            </a:lvl7pPr>
            <a:lvl8pPr marL="2009140" indent="0">
              <a:buNone/>
              <a:defRPr sz="1100" b="1"/>
            </a:lvl8pPr>
            <a:lvl9pPr marL="2295525" indent="0">
              <a:buNone/>
              <a:defRPr sz="11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8928" y="1878582"/>
            <a:ext cx="3887762" cy="27634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02642A5-B4C1-490D-823B-6F62026E5D0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9B72306-FD3C-4756-B3FD-766F3400AAC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6FCE69C-6874-463F-8672-A48ADE6CA40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544" y="343235"/>
            <a:ext cx="2949029" cy="1199650"/>
          </a:xfrm>
        </p:spPr>
        <p:txBody>
          <a:bodyPr anchor="b"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65" y="740886"/>
            <a:ext cx="4628926" cy="3655035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544" y="1542881"/>
            <a:ext cx="2949029" cy="2858895"/>
          </a:xfrm>
        </p:spPr>
        <p:txBody>
          <a:bodyPr/>
          <a:lstStyle>
            <a:lvl1pPr marL="0" indent="0">
              <a:buNone/>
              <a:defRPr sz="1100"/>
            </a:lvl1pPr>
            <a:lvl2pPr marL="287020" indent="0">
              <a:buNone/>
              <a:defRPr sz="900"/>
            </a:lvl2pPr>
            <a:lvl3pPr marL="574040" indent="0">
              <a:buNone/>
              <a:defRPr sz="700"/>
            </a:lvl3pPr>
            <a:lvl4pPr marL="861060" indent="0">
              <a:buNone/>
              <a:defRPr sz="700"/>
            </a:lvl4pPr>
            <a:lvl5pPr marL="1148080" indent="0">
              <a:buNone/>
              <a:defRPr sz="700"/>
            </a:lvl5pPr>
            <a:lvl6pPr marL="1435100" indent="0">
              <a:buNone/>
              <a:defRPr sz="700"/>
            </a:lvl6pPr>
            <a:lvl7pPr marL="1722120" indent="0">
              <a:buNone/>
              <a:defRPr sz="700"/>
            </a:lvl7pPr>
            <a:lvl8pPr marL="2009140" indent="0">
              <a:buNone/>
              <a:defRPr sz="700"/>
            </a:lvl8pPr>
            <a:lvl9pPr marL="2295525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EA9E2C9-38C0-4E05-A9A0-7FD9158DBDA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544" y="343235"/>
            <a:ext cx="2949029" cy="1199650"/>
          </a:xfrm>
        </p:spPr>
        <p:txBody>
          <a:bodyPr anchor="b"/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65" y="740886"/>
            <a:ext cx="4628926" cy="3655035"/>
          </a:xfrm>
        </p:spPr>
        <p:txBody>
          <a:bodyPr/>
          <a:lstStyle>
            <a:lvl1pPr marL="0" indent="0">
              <a:buNone/>
              <a:defRPr sz="2100"/>
            </a:lvl1pPr>
            <a:lvl2pPr marL="287020" indent="0">
              <a:buNone/>
              <a:defRPr sz="1800"/>
            </a:lvl2pPr>
            <a:lvl3pPr marL="574040" indent="0">
              <a:buNone/>
              <a:defRPr sz="1600"/>
            </a:lvl3pPr>
            <a:lvl4pPr marL="861060" indent="0">
              <a:buNone/>
              <a:defRPr sz="1200"/>
            </a:lvl4pPr>
            <a:lvl5pPr marL="1148080" indent="0">
              <a:buNone/>
              <a:defRPr sz="1200"/>
            </a:lvl5pPr>
            <a:lvl6pPr marL="1435100" indent="0">
              <a:buNone/>
              <a:defRPr sz="1200"/>
            </a:lvl6pPr>
            <a:lvl7pPr marL="1722120" indent="0">
              <a:buNone/>
              <a:defRPr sz="1200"/>
            </a:lvl7pPr>
            <a:lvl8pPr marL="2009140" indent="0">
              <a:buNone/>
              <a:defRPr sz="1200"/>
            </a:lvl8pPr>
            <a:lvl9pPr marL="2295525" indent="0">
              <a:buNone/>
              <a:defRPr sz="1200"/>
            </a:lvl9pPr>
          </a:lstStyle>
          <a:p>
            <a:pPr lvl="0"/>
            <a:endParaRPr lang="en-US" noProof="0">
              <a:sym typeface="Helvetica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544" y="1542881"/>
            <a:ext cx="2949029" cy="2858895"/>
          </a:xfrm>
        </p:spPr>
        <p:txBody>
          <a:bodyPr/>
          <a:lstStyle>
            <a:lvl1pPr marL="0" indent="0">
              <a:buNone/>
              <a:defRPr sz="1100"/>
            </a:lvl1pPr>
            <a:lvl2pPr marL="287020" indent="0">
              <a:buNone/>
              <a:defRPr sz="900"/>
            </a:lvl2pPr>
            <a:lvl3pPr marL="574040" indent="0">
              <a:buNone/>
              <a:defRPr sz="700"/>
            </a:lvl3pPr>
            <a:lvl4pPr marL="861060" indent="0">
              <a:buNone/>
              <a:defRPr sz="700"/>
            </a:lvl4pPr>
            <a:lvl5pPr marL="1148080" indent="0">
              <a:buNone/>
              <a:defRPr sz="700"/>
            </a:lvl5pPr>
            <a:lvl6pPr marL="1435100" indent="0">
              <a:buNone/>
              <a:defRPr sz="700"/>
            </a:lvl6pPr>
            <a:lvl7pPr marL="1722120" indent="0">
              <a:buNone/>
              <a:defRPr sz="700"/>
            </a:lvl7pPr>
            <a:lvl8pPr marL="2009140" indent="0">
              <a:buNone/>
              <a:defRPr sz="700"/>
            </a:lvl8pPr>
            <a:lvl9pPr marL="2295525" indent="0">
              <a:buNone/>
              <a:defRPr sz="7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B709096-912F-4774-8F9C-D173966EA40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D661447-7998-46BF-B95E-D71DBFFC4D6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3872" y="92928"/>
            <a:ext cx="2110755" cy="4675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8257" y="92928"/>
            <a:ext cx="6228458" cy="4675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C14C122-CBE5-46C5-AE21-5F2E3318462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521970" y="4767263"/>
            <a:ext cx="2057400" cy="273844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/>
          </p:cNvSpPr>
          <p:nvPr>
            <p:ph type="body" idx="1"/>
          </p:nvPr>
        </p:nvSpPr>
        <p:spPr bwMode="auto">
          <a:xfrm>
            <a:off x="347663" y="719138"/>
            <a:ext cx="8447087" cy="4049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31886" tIns="31886" rIns="31886" bIns="31886" numCol="1" anchor="t" anchorCtr="0" compatLnSpc="1"/>
          <a:lstStyle/>
          <a:p>
            <a:pPr lvl="0"/>
            <a:r>
              <a:rPr lang="en-US" altLang="en-US">
                <a:sym typeface="Helvetica" panose="020B0604020202020204" pitchFamily="34" charset="0"/>
              </a:rPr>
              <a:t>Click to edit Template text styles</a:t>
            </a:r>
            <a:endParaRPr lang="en-US" altLang="en-US">
              <a:sym typeface="Helvetica" panose="020B0604020202020204" pitchFamily="34" charset="0"/>
            </a:endParaRPr>
          </a:p>
          <a:p>
            <a:pPr lvl="1"/>
            <a:r>
              <a:rPr lang="en-US" altLang="en-US">
                <a:sym typeface="Helvetica" panose="020B0604020202020204" pitchFamily="34" charset="0"/>
              </a:rPr>
              <a:t>Second level</a:t>
            </a:r>
            <a:endParaRPr lang="en-US" altLang="en-US">
              <a:sym typeface="Helvetica" panose="020B0604020202020204" pitchFamily="34" charset="0"/>
            </a:endParaRPr>
          </a:p>
          <a:p>
            <a:pPr lvl="2"/>
            <a:r>
              <a:rPr lang="en-US" altLang="en-US">
                <a:sym typeface="Helvetica" panose="020B0604020202020204" pitchFamily="34" charset="0"/>
              </a:rPr>
              <a:t>Third level</a:t>
            </a:r>
            <a:endParaRPr lang="en-US" altLang="en-US">
              <a:sym typeface="Helvetica" panose="020B0604020202020204" pitchFamily="34" charset="0"/>
            </a:endParaRPr>
          </a:p>
          <a:p>
            <a:pPr lvl="3"/>
            <a:r>
              <a:rPr lang="en-US" altLang="en-US">
                <a:sym typeface="Helvetica" panose="020B0604020202020204" pitchFamily="34" charset="0"/>
              </a:rPr>
              <a:t>Fourth level</a:t>
            </a:r>
            <a:endParaRPr lang="en-US" altLang="en-US">
              <a:sym typeface="Helvetica" panose="020B0604020202020204" pitchFamily="34" charset="0"/>
            </a:endParaRPr>
          </a:p>
          <a:p>
            <a:pPr lvl="4"/>
            <a:r>
              <a:rPr lang="en-US" altLang="en-US">
                <a:sym typeface="Helvetica" panose="020B0604020202020204" pitchFamily="34" charset="0"/>
              </a:rPr>
              <a:t>Fifth level</a:t>
            </a:r>
            <a:endParaRPr lang="en-US" altLang="en-US">
              <a:sym typeface="Helvetica" panose="020B0604020202020204" pitchFamily="34" charset="0"/>
            </a:endParaRPr>
          </a:p>
        </p:txBody>
      </p:sp>
      <p:sp>
        <p:nvSpPr>
          <p:cNvPr id="1027" name="Rectangle 2"/>
          <p:cNvSpPr>
            <a:spLocks noGrp="1"/>
          </p:cNvSpPr>
          <p:nvPr>
            <p:ph type="title"/>
          </p:nvPr>
        </p:nvSpPr>
        <p:spPr bwMode="auto">
          <a:xfrm>
            <a:off x="500063" y="93663"/>
            <a:ext cx="8143875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31886" tIns="31886" rIns="31886" bIns="31886" numCol="1" anchor="t" anchorCtr="0" compatLnSpc="1"/>
          <a:lstStyle/>
          <a:p>
            <a:pPr lvl="0"/>
            <a:r>
              <a:rPr lang="en-US" altLang="en-US">
                <a:sym typeface="Helvetica" panose="020B0604020202020204" pitchFamily="34" charset="0"/>
              </a:rPr>
              <a:t>Click to edit Template title style</a:t>
            </a:r>
            <a:endParaRPr lang="en-US" altLang="en-US">
              <a:sym typeface="Helvetica" panose="020B0604020202020204" pitchFamily="34" charset="0"/>
            </a:endParaRPr>
          </a:p>
        </p:txBody>
      </p:sp>
      <p:pic>
        <p:nvPicPr>
          <p:cNvPr id="1028" name="Picture 3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5638" y="69850"/>
            <a:ext cx="185102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9" name="Line 4"/>
          <p:cNvSpPr>
            <a:spLocks noChangeShapeType="1"/>
          </p:cNvSpPr>
          <p:nvPr/>
        </p:nvSpPr>
        <p:spPr bwMode="auto">
          <a:xfrm>
            <a:off x="341313" y="588963"/>
            <a:ext cx="845978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1886" tIns="31886" rIns="31886" bIns="31886" anchor="ctr"/>
          <a:lstStyle/>
          <a:p>
            <a:endParaRPr lang="en-US"/>
          </a:p>
        </p:txBody>
      </p:sp>
      <p:sp>
        <p:nvSpPr>
          <p:cNvPr id="2" name="Rectangle 5"/>
          <p:cNvSpPr>
            <a:spLocks noGrp="1"/>
          </p:cNvSpPr>
          <p:nvPr>
            <p:ph type="sldNum" sz="quarter" idx="2"/>
          </p:nvPr>
        </p:nvSpPr>
        <p:spPr bwMode="auto">
          <a:xfrm>
            <a:off x="4460875" y="4808538"/>
            <a:ext cx="215900" cy="1730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31886" tIns="31886" rIns="31886" bIns="31886" numCol="1" anchor="b" anchorCtr="0" compatLnSpc="1"/>
          <a:lstStyle>
            <a:lvl1pPr algn="ctr" defTabSz="1090930" eaLnBrk="1">
              <a:defRPr sz="900">
                <a:solidFill>
                  <a:srgbClr val="5E5E5E"/>
                </a:solidFill>
                <a:latin typeface="Graphik" charset="0"/>
                <a:ea typeface="Graphik" charset="0"/>
                <a:cs typeface="Graphik" charset="0"/>
                <a:sym typeface="Graphik" charset="0"/>
              </a:defRPr>
            </a:lvl1pPr>
          </a:lstStyle>
          <a:p>
            <a:fld id="{B78101D5-FE84-44C9-AB30-8CA2B182F501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109093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 kern="1200">
          <a:solidFill>
            <a:srgbClr val="AE0428"/>
          </a:solidFill>
          <a:latin typeface="+mj-lt"/>
          <a:ea typeface="+mj-ea"/>
          <a:cs typeface="+mj-cs"/>
          <a:sym typeface="Helvetica" panose="020B0604020202020204" pitchFamily="34" charset="0"/>
        </a:defRPr>
      </a:lvl1pPr>
      <a:lvl2pPr algn="l" defTabSz="109093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2pPr>
      <a:lvl3pPr algn="l" defTabSz="109093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3pPr>
      <a:lvl4pPr algn="l" defTabSz="109093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4pPr>
      <a:lvl5pPr algn="l" defTabSz="1090930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5pPr>
      <a:lvl6pPr marL="287020" algn="l" defTabSz="1092200" rtl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6pPr>
      <a:lvl7pPr marL="574040" algn="l" defTabSz="1092200" rtl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7pPr>
      <a:lvl8pPr marL="861060" algn="l" defTabSz="1092200" rtl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8pPr>
      <a:lvl9pPr marL="1148080" algn="l" defTabSz="1092200" rtl="0" fontAlgn="base" hangingPunct="0">
        <a:lnSpc>
          <a:spcPct val="70000"/>
        </a:lnSpc>
        <a:spcBef>
          <a:spcPct val="0"/>
        </a:spcBef>
        <a:spcAft>
          <a:spcPct val="0"/>
        </a:spcAft>
        <a:defRPr sz="3600" b="1">
          <a:solidFill>
            <a:srgbClr val="AE0428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  <a:sym typeface="Helvetica" panose="020B0604020202020204" pitchFamily="34" charset="0"/>
        </a:defRPr>
      </a:lvl9pPr>
    </p:titleStyle>
    <p:bodyStyle>
      <a:lvl1pPr marL="263525" indent="-263525" algn="l" defTabSz="1090930" rtl="0" eaLnBrk="0" fontAlgn="base" hangingPunct="0">
        <a:spcBef>
          <a:spcPts val="1250"/>
        </a:spcBef>
        <a:spcAft>
          <a:spcPct val="0"/>
        </a:spcAft>
        <a:buSzPct val="75000"/>
        <a:buChar char="•"/>
        <a:defRPr sz="1900" kern="1200">
          <a:solidFill>
            <a:srgbClr val="000000"/>
          </a:solidFill>
          <a:latin typeface="+mn-lt"/>
          <a:ea typeface="+mn-ea"/>
          <a:cs typeface="+mn-cs"/>
          <a:sym typeface="Helvetica" panose="020B0604020202020204" pitchFamily="34" charset="0"/>
        </a:defRPr>
      </a:lvl1pPr>
      <a:lvl2pPr marL="494030" indent="-246380" algn="l" defTabSz="1090930" rtl="0" eaLnBrk="0" fontAlgn="base" hangingPunct="0">
        <a:spcBef>
          <a:spcPts val="1250"/>
        </a:spcBef>
        <a:spcAft>
          <a:spcPct val="0"/>
        </a:spcAft>
        <a:buSzPct val="175000"/>
        <a:buChar char="•"/>
        <a:defRPr sz="1900" kern="1200">
          <a:solidFill>
            <a:srgbClr val="000000"/>
          </a:solidFill>
          <a:latin typeface="+mn-lt"/>
          <a:ea typeface="+mn-ea"/>
          <a:cs typeface="+mn-cs"/>
          <a:sym typeface="Helvetica" panose="020B0604020202020204" pitchFamily="34" charset="0"/>
        </a:defRPr>
      </a:lvl2pPr>
      <a:lvl3pPr marL="739775" indent="-246380" algn="l" defTabSz="1090930" rtl="0" eaLnBrk="0" fontAlgn="base" hangingPunct="0">
        <a:spcBef>
          <a:spcPts val="1250"/>
        </a:spcBef>
        <a:spcAft>
          <a:spcPct val="0"/>
        </a:spcAft>
        <a:buSzPct val="175000"/>
        <a:buChar char="•"/>
        <a:defRPr sz="1900" kern="1200">
          <a:solidFill>
            <a:srgbClr val="000000"/>
          </a:solidFill>
          <a:latin typeface="+mn-lt"/>
          <a:ea typeface="+mn-ea"/>
          <a:cs typeface="+mn-cs"/>
          <a:sym typeface="Helvetica" panose="020B0604020202020204" pitchFamily="34" charset="0"/>
        </a:defRPr>
      </a:lvl3pPr>
      <a:lvl4pPr marL="987425" indent="-246380" algn="l" defTabSz="1090930" rtl="0" eaLnBrk="0" fontAlgn="base" hangingPunct="0">
        <a:spcBef>
          <a:spcPts val="1250"/>
        </a:spcBef>
        <a:spcAft>
          <a:spcPct val="0"/>
        </a:spcAft>
        <a:buSzPct val="175000"/>
        <a:buChar char="•"/>
        <a:defRPr sz="1900" kern="1200">
          <a:solidFill>
            <a:srgbClr val="000000"/>
          </a:solidFill>
          <a:latin typeface="+mn-lt"/>
          <a:ea typeface="+mn-ea"/>
          <a:cs typeface="+mn-cs"/>
          <a:sym typeface="Helvetica" panose="020B0604020202020204" pitchFamily="34" charset="0"/>
        </a:defRPr>
      </a:lvl4pPr>
      <a:lvl5pPr marL="1235075" indent="-246380" algn="l" defTabSz="1090930" rtl="0" eaLnBrk="0" fontAlgn="base" hangingPunct="0">
        <a:spcBef>
          <a:spcPts val="1250"/>
        </a:spcBef>
        <a:spcAft>
          <a:spcPct val="0"/>
        </a:spcAft>
        <a:buSzPct val="175000"/>
        <a:buChar char="•"/>
        <a:defRPr sz="1900" kern="1200">
          <a:solidFill>
            <a:srgbClr val="000000"/>
          </a:solidFill>
          <a:latin typeface="+mn-lt"/>
          <a:ea typeface="+mn-ea"/>
          <a:cs typeface="+mn-cs"/>
          <a:sym typeface="Helvetica" panose="020B0604020202020204" pitchFamily="34" charset="0"/>
        </a:defRPr>
      </a:lvl5pPr>
      <a:lvl6pPr marL="1578610" indent="-143510" algn="l" defTabSz="574040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65630" indent="-143510" algn="l" defTabSz="574040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52015" indent="-143510" algn="l" defTabSz="574040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9035" indent="-143510" algn="l" defTabSz="574040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28702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404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6106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808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3510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2212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009140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95525" algn="l" defTabSz="57404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web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webp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hyperlink" Target="https://www.tableau.com/&#13;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hyperlink" Target="https://www.lightgalleryjs.com/demos/thumbnail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/>
          </p:cNvSpPr>
          <p:nvPr>
            <p:ph type="ctrTitle"/>
          </p:nvPr>
        </p:nvSpPr>
        <p:spPr>
          <a:xfrm>
            <a:off x="500063" y="1158875"/>
            <a:ext cx="8143875" cy="568325"/>
          </a:xfrm>
        </p:spPr>
        <p:txBody>
          <a:bodyPr/>
          <a:lstStyle/>
          <a:p>
            <a:pPr eaLnBrk="1">
              <a:lnSpc>
                <a:spcPct val="80000"/>
              </a:lnSpc>
            </a:pPr>
            <a:r>
              <a:rPr lang="en-US" altLang="en-US" sz="2800" dirty="0"/>
              <a:t>DTS207TC Database Development and Design</a:t>
            </a:r>
            <a:endParaRPr lang="en-US" altLang="en-US" sz="2800" dirty="0"/>
          </a:p>
        </p:txBody>
      </p:sp>
      <p:sp>
        <p:nvSpPr>
          <p:cNvPr id="2051" name="Rectangle 2"/>
          <p:cNvSpPr>
            <a:spLocks noGrp="1"/>
          </p:cNvSpPr>
          <p:nvPr>
            <p:ph type="subTitle" sz="quarter" idx="1"/>
          </p:nvPr>
        </p:nvSpPr>
        <p:spPr>
          <a:xfrm>
            <a:off x="500063" y="2428240"/>
            <a:ext cx="8143875" cy="385763"/>
          </a:xfrm>
        </p:spPr>
        <p:txBody>
          <a:bodyPr/>
          <a:lstStyle/>
          <a:p>
            <a:pPr defTabSz="365125" eaLnBrk="1">
              <a:spcBef>
                <a:spcPct val="0"/>
              </a:spcBef>
              <a:buSzTx/>
            </a:pPr>
            <a:r>
              <a:rPr lang="en-US" altLang="zh-CN" sz="2100" b="1" dirty="0">
                <a:solidFill>
                  <a:srgbClr val="AE0428"/>
                </a:solidFill>
                <a:ea typeface="宋体" panose="02010600030101010101" pitchFamily="2" charset="-122"/>
                <a:sym typeface="+mn-ea"/>
              </a:rPr>
              <a:t>Lecture 7</a:t>
            </a:r>
            <a:endParaRPr lang="en-US" altLang="zh-CN" sz="2100" b="1" dirty="0">
              <a:solidFill>
                <a:srgbClr val="AE0428"/>
              </a:solidFill>
              <a:ea typeface="宋体" panose="02010600030101010101" pitchFamily="2" charset="-122"/>
            </a:endParaRPr>
          </a:p>
          <a:p>
            <a:pPr algn="ctr" defTabSz="365125" eaLnBrk="1">
              <a:buClrTx/>
              <a:buSzTx/>
              <a:buFontTx/>
            </a:pPr>
            <a:r>
              <a:rPr lang="en-US" altLang="zh-CN" sz="2100" b="1" dirty="0">
                <a:solidFill>
                  <a:srgbClr val="AE0428"/>
                </a:solidFill>
                <a:ea typeface="宋体" panose="02010600030101010101" pitchFamily="2" charset="-122"/>
                <a:sym typeface="+mn-ea"/>
              </a:rPr>
              <a:t>Chap 11</a:t>
            </a:r>
            <a:r>
              <a:rPr lang="en-US" altLang="zh-CN" sz="2100" b="1" dirty="0">
                <a:solidFill>
                  <a:srgbClr val="AE0428"/>
                </a:solidFill>
                <a:ea typeface="宋体" panose="02010600030101010101" pitchFamily="2" charset="-122"/>
              </a:rPr>
              <a:t> Data </a:t>
            </a:r>
            <a:r>
              <a:rPr lang="en-US" altLang="zh-CN" sz="2100" b="1" dirty="0">
                <a:solidFill>
                  <a:srgbClr val="AE0428"/>
                </a:solidFill>
                <a:ea typeface="宋体" panose="02010600030101010101" pitchFamily="2" charset="-122"/>
              </a:rPr>
              <a:t>Analysis</a:t>
            </a:r>
            <a:endParaRPr lang="en-US" altLang="zh-CN" sz="2100" b="1" dirty="0">
              <a:solidFill>
                <a:srgbClr val="AE0428"/>
              </a:solidFill>
              <a:ea typeface="宋体" panose="02010600030101010101" pitchFamily="2" charset="-122"/>
            </a:endParaRPr>
          </a:p>
        </p:txBody>
      </p:sp>
      <p:sp>
        <p:nvSpPr>
          <p:cNvPr id="2052" name="Text Box 3"/>
          <p:cNvSpPr txBox="1"/>
          <p:nvPr/>
        </p:nvSpPr>
        <p:spPr bwMode="auto">
          <a:xfrm>
            <a:off x="500063" y="4435475"/>
            <a:ext cx="8143875" cy="22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1886" tIns="31886" rIns="31886" bIns="31886"/>
          <a:lstStyle>
            <a:lvl1pPr defTabSz="586105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1pPr>
            <a:lvl2pPr marL="742950" indent="-285750" defTabSz="586105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2pPr>
            <a:lvl3pPr marL="1143000" indent="-228600" defTabSz="586105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3pPr>
            <a:lvl4pPr marL="1600200" indent="-228600" defTabSz="586105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4pPr>
            <a:lvl5pPr marL="2057400" indent="-228600" defTabSz="586105"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5pPr>
            <a:lvl6pPr marL="25146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6pPr>
            <a:lvl7pPr marL="29718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7pPr>
            <a:lvl8pPr marL="34290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8pPr>
            <a:lvl9pPr marL="3886200" indent="-228600" defTabSz="586105" eaLnBrk="0" fontAlgn="base" hangingPunct="0">
              <a:spcBef>
                <a:spcPct val="0"/>
              </a:spcBef>
              <a:spcAft>
                <a:spcPct val="0"/>
              </a:spcAft>
              <a:defRPr sz="1100">
                <a:solidFill>
                  <a:srgbClr val="000000"/>
                </a:solidFill>
                <a:latin typeface="Canela Text Regular" charset="0"/>
                <a:ea typeface="Canela Text Regular" charset="0"/>
                <a:cs typeface="Canela Text Regular" charset="0"/>
                <a:sym typeface="Canela Text Regular" charset="0"/>
              </a:defRPr>
            </a:lvl9pPr>
          </a:lstStyle>
          <a:p>
            <a:pPr algn="ctr" eaLnBrk="1"/>
            <a:r>
              <a:rPr lang="en-US" altLang="zh-CN" sz="1200">
                <a:latin typeface="Helvetica" panose="020B0604020202020204" pitchFamily="34" charset="0"/>
                <a:ea typeface="宋体" panose="02010600030101010101" pitchFamily="2" charset="-122"/>
                <a:sym typeface="Helvetica" panose="020B0604020202020204" pitchFamily="34" charset="0"/>
              </a:rPr>
              <a:t>Di Zhang</a:t>
            </a:r>
            <a:r>
              <a:rPr lang="en-US" altLang="en-US" sz="1200"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  <a:sym typeface="Helvetica" panose="020B0604020202020204" pitchFamily="34" charset="0"/>
              </a:rPr>
              <a:t>, Autumn 2025</a:t>
            </a:r>
            <a:endParaRPr lang="en-US" altLang="en-US" sz="1200">
              <a:latin typeface="Helvetica" panose="020B0604020202020204" pitchFamily="34" charset="0"/>
              <a:ea typeface="Helvetica" panose="020B0604020202020204" pitchFamily="34" charset="0"/>
              <a:cs typeface="Helvetica" panose="020B0604020202020204" pitchFamily="34" charset="0"/>
              <a:sym typeface="Helvetica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79140" y="4832350"/>
            <a:ext cx="304800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AE0428"/>
                </a:solidFill>
                <a:ea typeface="宋体" panose="02010600030101010101" pitchFamily="2" charset="-122"/>
                <a:sym typeface="+mn-ea"/>
              </a:rPr>
              <a:t>Page titles with * will not be assessed</a:t>
            </a:r>
            <a:endParaRPr lang="zh-CN" altLang="en-US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Outline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Data  </a:t>
            </a:r>
            <a:r>
              <a:rPr lang="en-US" altLang="zh-CN" dirty="0"/>
              <a:t>Warehouse</a:t>
            </a:r>
            <a:endParaRPr lang="en-US" altLang="zh-CN" dirty="0"/>
          </a:p>
          <a:p>
            <a:r>
              <a:rPr lang="en-US" altLang="zh-CN" dirty="0"/>
              <a:t>OLAP</a:t>
            </a:r>
            <a:endParaRPr lang="en-US" altLang="zh-CN" dirty="0"/>
          </a:p>
          <a:p>
            <a:r>
              <a:rPr lang="en-US" altLang="zh-CN" dirty="0"/>
              <a:t>Data Mining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684530" y="71755"/>
            <a:ext cx="767969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27940" y="0"/>
            <a:ext cx="908621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Analogy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We are trying to force the chaotic, concrete, and "opinion-filled" real world into an orderly, abstract, and "truth-seeking" model.</a:t>
            </a:r>
            <a:endParaRPr lang="en-US" altLang="zh-CN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2195830" y="1419225"/>
            <a:ext cx="4425950" cy="3381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7663" y="4665663"/>
            <a:ext cx="8447087" cy="4049712"/>
          </a:xfrm>
        </p:spPr>
        <p:txBody>
          <a:bodyPr/>
          <a:p>
            <a:r>
              <a:rPr lang="en-US" altLang="zh-CN" sz="1200"/>
              <a:t>Core Concept: Separate data from its operational environment and build a subject-oriented, integrated, non-volatile, and time-varying data collection to support management decision-making.</a:t>
            </a:r>
            <a:endParaRPr lang="en-US" altLang="zh-CN" sz="1200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1340485" y="13335"/>
            <a:ext cx="6724650" cy="45808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827405" y="461645"/>
            <a:ext cx="7292340" cy="46348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1800"/>
              <a:t>Data Warehouse vs. Operational Database </a:t>
            </a:r>
            <a:br>
              <a:rPr lang="en-US" altLang="zh-CN" sz="1800"/>
            </a:br>
            <a:r>
              <a:rPr lang="en-US" altLang="zh-CN" sz="1800"/>
              <a:t>(OLAP vs. OLTP)</a:t>
            </a:r>
            <a:br>
              <a:rPr lang="en-US" altLang="zh-CN" sz="1800"/>
            </a:br>
            <a:br>
              <a:rPr lang="en-US" altLang="zh-CN" sz="1800"/>
            </a:br>
            <a:endParaRPr lang="en-US" altLang="zh-CN" sz="18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640080" y="1571625"/>
          <a:ext cx="7863840" cy="0"/>
        </p:xfrm>
        <a:graphic>
          <a:graphicData uri="http://schemas.openxmlformats.org/drawingml/2006/table">
            <a:tbl>
              <a:tblPr firstRow="1" bandRow="1">
                <a:tableStyleId>{082E75D8-7644-45A3-BE18-AD5C86BFF957}</a:tableStyleId>
              </a:tblPr>
              <a:tblGrid>
                <a:gridCol w="1965960"/>
                <a:gridCol w="3276600"/>
                <a:gridCol w="2621280"/>
              </a:tblGrid>
              <a:tr h="0"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en-US" altLang="zh-CN" sz="1600"/>
                        <a:t>Characteristic</a:t>
                      </a:r>
                      <a:endParaRPr lang="en-US" altLang="zh-CN" sz="16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en-US" altLang="zh-CN" sz="1600"/>
                        <a:t>OLTP (Operational DB)</a:t>
                      </a:r>
                      <a:endParaRPr lang="en-US" altLang="zh-CN" sz="16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 algn="l">
                        <a:lnSpc>
                          <a:spcPts val="1250"/>
                        </a:lnSpc>
                      </a:pPr>
                      <a:r>
                        <a:rPr lang="en-US" altLang="zh-CN" sz="1600"/>
                        <a:t>OLAP (Data Warehouse)</a:t>
                      </a:r>
                      <a:endParaRPr lang="en-US" altLang="zh-CN" sz="1600"/>
                    </a:p>
                  </a:txBody>
                  <a:tcPr marL="101917" marR="101917" marT="63817" marB="63817" anchor="ctr" anchorCtr="0"/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/>
                        <a:t>Purpose</a:t>
                      </a:r>
                      <a:endParaRPr lang="en-US" altLang="zh-CN" sz="16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/>
                        <a:t>Daily business operations</a:t>
                      </a:r>
                      <a:endParaRPr lang="en-US" altLang="zh-CN" sz="16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/>
                        <a:t>Support decision analysis</a:t>
                      </a:r>
                      <a:endParaRPr lang="en-US" altLang="zh-CN" sz="1600"/>
                    </a:p>
                  </a:txBody>
                  <a:tcPr marL="101917" marR="0" marT="63817" marB="63817" anchor="ctr" anchorCtr="0"/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/>
                        <a:t>Users</a:t>
                      </a:r>
                      <a:endParaRPr lang="en-US" altLang="zh-CN" sz="16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/>
                        <a:t>Clerks, frontline staff</a:t>
                      </a:r>
                      <a:endParaRPr lang="en-US" altLang="zh-CN" sz="16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/>
                        <a:t>Analysts, managers</a:t>
                      </a:r>
                      <a:endParaRPr lang="en-US" altLang="zh-CN" sz="1600"/>
                    </a:p>
                  </a:txBody>
                  <a:tcPr marL="101917" marR="0" marT="63817" marB="63817" anchor="ctr" anchorCtr="0"/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/>
                        <a:t>Data</a:t>
                      </a:r>
                      <a:endParaRPr lang="en-US" altLang="zh-CN" sz="16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/>
                        <a:t>Current, detailed</a:t>
                      </a:r>
                      <a:endParaRPr lang="en-US" altLang="zh-CN" sz="16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/>
                        <a:t>Historical, summarized</a:t>
                      </a:r>
                      <a:endParaRPr lang="en-US" altLang="zh-CN" sz="1600"/>
                    </a:p>
                  </a:txBody>
                  <a:tcPr marL="101917" marR="0" marT="63817" marB="63817" anchor="ctr" anchorCtr="0"/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/>
                        <a:t>Operations</a:t>
                      </a:r>
                      <a:endParaRPr lang="en-US" altLang="zh-CN" sz="16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/>
                        <a:t>Frequent inserts, updates, deletes</a:t>
                      </a:r>
                      <a:endParaRPr lang="en-US" altLang="zh-CN" sz="16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/>
                        <a:t>Read-intensive (queries)</a:t>
                      </a:r>
                      <a:endParaRPr lang="en-US" altLang="zh-CN" sz="1600"/>
                    </a:p>
                  </a:txBody>
                  <a:tcPr marL="101917" marR="0" marT="63817" marB="63817" anchor="ctr" anchorCtr="0"/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/>
                        <a:t>Model</a:t>
                      </a:r>
                      <a:endParaRPr lang="en-US" altLang="zh-CN" sz="16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/>
                        <a:t>Normalized (3NF)</a:t>
                      </a:r>
                      <a:endParaRPr lang="en-US" altLang="zh-CN" sz="16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/>
                        <a:t>Denormalized (Star/Snowflake)</a:t>
                      </a:r>
                      <a:endParaRPr lang="en-US" altLang="zh-CN" sz="1600"/>
                    </a:p>
                  </a:txBody>
                  <a:tcPr marL="101917" marR="0" marT="63817" marB="63817" anchor="ctr" anchorCtr="0"/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/>
                        <a:t>Performance</a:t>
                      </a:r>
                      <a:endParaRPr lang="en-US" altLang="zh-CN" sz="1600"/>
                    </a:p>
                  </a:txBody>
                  <a:tcPr marL="0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/>
                        <a:t>Fast transaction processing</a:t>
                      </a:r>
                      <a:endParaRPr lang="en-US" altLang="zh-CN" sz="1600"/>
                    </a:p>
                  </a:txBody>
                  <a:tcPr marL="101917" marR="101917" marT="63817" marB="63817" anchor="ctr" anchorCtr="0"/>
                </a:tc>
                <a:tc>
                  <a:txBody>
                    <a:bodyPr/>
                    <a:p>
                      <a:pPr>
                        <a:lnSpc>
                          <a:spcPts val="1250"/>
                        </a:lnSpc>
                      </a:pPr>
                      <a:r>
                        <a:rPr lang="en-US" altLang="zh-CN" sz="1600"/>
                        <a:t>Fast complex query response</a:t>
                      </a:r>
                      <a:endParaRPr lang="en-US" altLang="zh-CN" sz="1600"/>
                    </a:p>
                  </a:txBody>
                  <a:tcPr marL="101917" marR="0" marT="63817" marB="63817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The Four Key Characteristics of a Data Warehouse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 altLang="zh-CN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1331595" y="915035"/>
            <a:ext cx="6362700" cy="391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ETL: The "Mover" and "Beautician" of Data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899795" y="843280"/>
            <a:ext cx="7382510" cy="38569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462915" y="3810"/>
            <a:ext cx="8032750" cy="50209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ETL </a:t>
            </a:r>
            <a:r>
              <a:rPr lang="en-US" altLang="zh-CN"/>
              <a:t>Example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32313538393036303b32313538383835393bcec4b5b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1505" y="771525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The Layered Architecture of a Data Warehouse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827405" y="843280"/>
            <a:ext cx="7738745" cy="42424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Staging Area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360" y="628015"/>
            <a:ext cx="8446770" cy="1542415"/>
          </a:xfrm>
        </p:spPr>
        <p:txBody>
          <a:bodyPr/>
          <a:p>
            <a:r>
              <a:rPr lang="en-US" altLang="zh-CN" sz="1600"/>
              <a:t>Function: Temporarily stores raw data extracted from source systems; where the 'T' in ETL happens.</a:t>
            </a:r>
            <a:endParaRPr lang="en-US" altLang="zh-CN" sz="1600"/>
          </a:p>
          <a:p>
            <a:r>
              <a:rPr lang="en-US" altLang="zh-CN" sz="1600"/>
              <a:t>Often physically separate from the core warehouse. Functionalities:</a:t>
            </a:r>
            <a:endParaRPr lang="en-US" altLang="zh-CN" sz="1600"/>
          </a:p>
          <a:p>
            <a:pPr lvl="1"/>
            <a:r>
              <a:rPr lang="en-US" altLang="zh-CN" sz="1600"/>
              <a:t>Temporarily store data extracted from different data sources before transforming it and loading it into the destination system;</a:t>
            </a:r>
            <a:endParaRPr lang="en-US" altLang="zh-CN" sz="1600"/>
          </a:p>
          <a:p>
            <a:pPr lvl="1"/>
            <a:r>
              <a:rPr lang="en-US" altLang="zh-CN" sz="1600"/>
              <a:t>Clean and normalise the data to eliminate duplicates, inconsistencies, missing or erroneous values, etc;</a:t>
            </a:r>
            <a:endParaRPr lang="en-US" altLang="zh-CN" sz="1600"/>
          </a:p>
          <a:p>
            <a:pPr lvl="1"/>
            <a:r>
              <a:rPr lang="en-US" altLang="zh-CN" sz="1600"/>
              <a:t>Apply validation and quality rules to ensure that the data is complete, accurate and consistent;</a:t>
            </a:r>
            <a:endParaRPr lang="en-US" altLang="zh-CN" sz="1600"/>
          </a:p>
          <a:p>
            <a:pPr lvl="1"/>
            <a:r>
              <a:rPr lang="en-US" altLang="zh-CN" sz="1600"/>
              <a:t>Apply transformations to change the format, structure and values of data to adapt them to the requirements of the destination system;</a:t>
            </a:r>
            <a:endParaRPr lang="en-US" altLang="zh-CN" sz="1600"/>
          </a:p>
          <a:p>
            <a:pPr lvl="1"/>
            <a:r>
              <a:rPr lang="en-US" altLang="zh-CN" sz="1600"/>
              <a:t>Enable consistency and conformity checks on data before it is finally loaded into the destination system.</a:t>
            </a:r>
            <a:endParaRPr lang="en-US" altLang="zh-CN"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Core Data Warehouse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Function: Stores integrated, cleaned, transformed enterprise-wide historical data.</a:t>
            </a:r>
            <a:endParaRPr lang="en-US" altLang="zh-CN"/>
          </a:p>
          <a:p>
            <a:r>
              <a:rPr lang="en-US" altLang="zh-CN"/>
              <a:t>The model is relatively stable; it is the single source of truth.</a:t>
            </a:r>
            <a:endParaRPr lang="en-US" altLang="zh-C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Data Marts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Definition: A subset of the data warehouse, tailored for a specific department or business line (e.g., Sales Mart, Finance Mart).</a:t>
            </a:r>
            <a:endParaRPr lang="en-US" altLang="zh-CN"/>
          </a:p>
          <a:p>
            <a:r>
              <a:rPr lang="en-US" altLang="zh-CN"/>
              <a:t>Two Construction Approaches:</a:t>
            </a:r>
            <a:endParaRPr lang="en-US" altLang="zh-CN"/>
          </a:p>
          <a:p>
            <a:pPr lvl="1"/>
            <a:r>
              <a:rPr lang="en-US" altLang="zh-CN"/>
              <a:t>Top-Down: Derived from the enterprise DW, ensuring consistency.</a:t>
            </a:r>
            <a:endParaRPr lang="en-US" altLang="zh-CN"/>
          </a:p>
          <a:p>
            <a:pPr lvl="1"/>
            <a:r>
              <a:rPr lang="en-US" altLang="zh-CN"/>
              <a:t>Bottom-Up: Departmental data marts are built first, then integrated into an DW.</a:t>
            </a:r>
            <a:endParaRPr lang="en-US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Motivation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Why Do We Need a Data Model?</a:t>
            </a:r>
            <a:endParaRPr lang="en-US" altLang="zh-CN"/>
          </a:p>
          <a:p>
            <a:pPr lvl="1"/>
            <a:r>
              <a:rPr lang="en-US" altLang="zh-CN"/>
              <a:t>Improve query performance.</a:t>
            </a:r>
            <a:endParaRPr lang="en-US" altLang="zh-CN"/>
          </a:p>
          <a:p>
            <a:pPr lvl="1"/>
            <a:r>
              <a:rPr lang="en-US" altLang="zh-CN"/>
              <a:t>Enhance data understandability.</a:t>
            </a:r>
            <a:endParaRPr lang="en-US" altLang="zh-CN"/>
          </a:p>
          <a:p>
            <a:pPr lvl="1"/>
            <a:r>
              <a:rPr lang="en-US" altLang="zh-CN"/>
              <a:t>Provide a foundation for OLAP.</a:t>
            </a:r>
            <a:endParaRPr lang="en-US" altLang="zh-C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The Multi-Dimensional Data Model: Core Idea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1800"/>
              <a:t>Facts: The measures to be analyzed (e.g., Sales Amount, Quantity Sold).</a:t>
            </a:r>
            <a:endParaRPr lang="en-US" altLang="zh-CN" sz="1800"/>
          </a:p>
          <a:p>
            <a:r>
              <a:rPr lang="en-US" altLang="zh-CN" sz="1800"/>
              <a:t>Dimensions: The perspectives for analyzing facts (e.g., Time, Location, Product).</a:t>
            </a:r>
            <a:endParaRPr lang="en-US" altLang="zh-CN" sz="1800"/>
          </a:p>
          <a:p>
            <a:r>
              <a:rPr lang="en-US" altLang="zh-CN" sz="1800"/>
              <a:t>Analogy: Facts are "verbs," dimensions are "nouns."</a:t>
            </a:r>
            <a:endParaRPr lang="en-US" altLang="zh-CN" sz="1800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1763078" y="2211705"/>
            <a:ext cx="4752975" cy="28384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Star Schema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7980" y="719455"/>
            <a:ext cx="3760470" cy="4049395"/>
          </a:xfrm>
        </p:spPr>
        <p:txBody>
          <a:bodyPr/>
          <a:p>
            <a:r>
              <a:rPr lang="en-US" altLang="zh-CN"/>
              <a:t>Diagram: One central fact table connected to multiple dimension tables.</a:t>
            </a:r>
            <a:endParaRPr lang="en-US" altLang="zh-CN"/>
          </a:p>
          <a:p>
            <a:r>
              <a:rPr lang="en-US" altLang="zh-CN"/>
              <a:t>Characteristics:</a:t>
            </a:r>
            <a:endParaRPr lang="en-US" altLang="zh-CN"/>
          </a:p>
          <a:p>
            <a:pPr lvl="1"/>
            <a:r>
              <a:rPr lang="en-US" altLang="zh-CN"/>
              <a:t>Simple structure, easy to understand.</a:t>
            </a:r>
            <a:endParaRPr lang="en-US" altLang="zh-CN"/>
          </a:p>
          <a:p>
            <a:pPr lvl="1"/>
            <a:r>
              <a:rPr lang="en-US" altLang="zh-CN"/>
              <a:t>High query performance (denormalized).</a:t>
            </a:r>
            <a:endParaRPr lang="en-US" altLang="zh-CN"/>
          </a:p>
          <a:p>
            <a:pPr lvl="1"/>
            <a:r>
              <a:rPr lang="en-US" altLang="zh-CN"/>
              <a:t>The most common modeling approach.</a:t>
            </a:r>
            <a:endParaRPr lang="en-US" altLang="zh-CN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4211955" y="843280"/>
            <a:ext cx="4566920" cy="37007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Snowflake Schema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7980" y="719455"/>
            <a:ext cx="3846830" cy="4049395"/>
          </a:xfrm>
        </p:spPr>
        <p:txBody>
          <a:bodyPr/>
          <a:p>
            <a:r>
              <a:rPr lang="en-US" altLang="zh-CN"/>
              <a:t>Diagram: The dimension tables in a star schema are normalized, forming a hierarchy.</a:t>
            </a:r>
            <a:endParaRPr lang="en-US" altLang="zh-CN"/>
          </a:p>
          <a:p>
            <a:r>
              <a:rPr lang="en-US" altLang="zh-CN"/>
              <a:t>Characteristics:</a:t>
            </a:r>
            <a:endParaRPr lang="en-US" altLang="zh-CN"/>
          </a:p>
          <a:p>
            <a:pPr lvl="1"/>
            <a:r>
              <a:rPr lang="en-US" altLang="zh-CN"/>
              <a:t>Saves storage space.</a:t>
            </a:r>
            <a:endParaRPr lang="en-US" altLang="zh-CN"/>
          </a:p>
          <a:p>
            <a:pPr lvl="1"/>
            <a:r>
              <a:rPr lang="en-US" altLang="zh-CN"/>
              <a:t>Structure is more normalized.</a:t>
            </a:r>
            <a:endParaRPr lang="en-US" altLang="zh-CN"/>
          </a:p>
          <a:p>
            <a:pPr lvl="1"/>
            <a:r>
              <a:rPr lang="en-US" altLang="zh-CN"/>
              <a:t>Queries can be slower due to more joins.</a:t>
            </a:r>
            <a:endParaRPr lang="en-US" altLang="zh-CN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4065270" y="987425"/>
            <a:ext cx="4812030" cy="30022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Fact Tables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7980" y="719455"/>
            <a:ext cx="3575685" cy="4049395"/>
          </a:xfrm>
        </p:spPr>
        <p:txBody>
          <a:bodyPr/>
          <a:p>
            <a:r>
              <a:rPr lang="en-US" altLang="zh-CN" sz="1600"/>
              <a:t>Composition: Dimension Keys (Foreign Keys) + Measures (Facts).</a:t>
            </a:r>
            <a:endParaRPr lang="en-US" altLang="zh-CN" sz="1600"/>
          </a:p>
          <a:p>
            <a:r>
              <a:rPr lang="en-US" altLang="zh-CN" sz="1600"/>
              <a:t>Types:</a:t>
            </a:r>
            <a:endParaRPr lang="en-US" altLang="zh-CN" sz="1600"/>
          </a:p>
          <a:p>
            <a:pPr lvl="1"/>
            <a:r>
              <a:rPr lang="en-US" altLang="zh-CN" sz="1600"/>
              <a:t>Transaction Fact Table: Records a specific event (e.g., a single sale).</a:t>
            </a:r>
            <a:endParaRPr lang="en-US" altLang="zh-CN" sz="1600"/>
          </a:p>
          <a:p>
            <a:pPr lvl="1"/>
            <a:r>
              <a:rPr lang="en-US" altLang="zh-CN" sz="1600"/>
              <a:t>Periodic Snapshot Fact Table: Records a regular status (e.g., end-of-month account balance).</a:t>
            </a:r>
            <a:endParaRPr lang="en-US" altLang="zh-CN" sz="1600"/>
          </a:p>
          <a:p>
            <a:pPr lvl="1"/>
            <a:r>
              <a:rPr lang="en-US" altLang="zh-CN" sz="1600"/>
              <a:t>Accumulating Snapshot Fact Table: Tracks a workflow process (e.g., order status flow).</a:t>
            </a:r>
            <a:endParaRPr lang="en-US" altLang="zh-CN" sz="1600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3923665" y="719455"/>
            <a:ext cx="5128895" cy="27971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Dimension Tables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7980" y="719455"/>
            <a:ext cx="8308340" cy="4049395"/>
          </a:xfrm>
        </p:spPr>
        <p:txBody>
          <a:bodyPr/>
          <a:p>
            <a:r>
              <a:rPr lang="en-US" altLang="zh-CN" sz="1600"/>
              <a:t>Composition: Surrogate Key (Primary Key) + Dimension Attributes (textual descriptive fields).</a:t>
            </a:r>
            <a:endParaRPr lang="en-US" altLang="zh-CN" sz="1600"/>
          </a:p>
          <a:p>
            <a:r>
              <a:rPr lang="en-US" altLang="zh-CN" sz="1600"/>
              <a:t>Characteristics: Contain rich descriptive information for filtering and grouping.</a:t>
            </a:r>
            <a:endParaRPr lang="en-US" altLang="zh-CN" sz="1600"/>
          </a:p>
          <a:p>
            <a:endParaRPr lang="en-US" altLang="zh-CN" sz="16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l="785" t="2447" r="778" b="1776"/>
          <a:stretch>
            <a:fillRect/>
          </a:stretch>
        </p:blipFill>
        <p:spPr>
          <a:xfrm>
            <a:off x="71120" y="2211705"/>
            <a:ext cx="9001125" cy="280860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What is OLAP?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Definition: Online Analytical Processing. A technology that enables users to quickly, consistently, and interactively access data from multiple perspectives.</a:t>
            </a:r>
            <a:endParaRPr lang="en-US" altLang="zh-CN"/>
          </a:p>
          <a:p>
            <a:r>
              <a:rPr lang="en-US" altLang="zh-CN"/>
              <a:t>Goal: Support complex analysis and decision-making.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2123440" y="2211705"/>
            <a:ext cx="5102860" cy="287083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Core Concept: The Cube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Diagram: A 3D data cube (Product, Time, Region -&gt; Sales Amount).</a:t>
            </a:r>
            <a:endParaRPr lang="en-US" altLang="zh-CN"/>
          </a:p>
          <a:p>
            <a:r>
              <a:rPr lang="en-US" altLang="zh-CN"/>
              <a:t>Explanation: The physical or logical implementation of the multi-dimensional model; the foundation for OLAP operations.</a:t>
            </a:r>
            <a:endParaRPr lang="en-US" altLang="zh-CN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2700020" y="1779905"/>
            <a:ext cx="3469005" cy="325247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Core OLAP Operation: Slice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7980" y="719455"/>
            <a:ext cx="5575300" cy="4049395"/>
          </a:xfrm>
        </p:spPr>
        <p:txBody>
          <a:bodyPr/>
          <a:p>
            <a:r>
              <a:rPr lang="en-US" altLang="zh-CN"/>
              <a:t>Definition: Selecting a value on one dimension of the cube.</a:t>
            </a:r>
            <a:endParaRPr lang="en-US" altLang="zh-CN"/>
          </a:p>
          <a:p>
            <a:r>
              <a:rPr lang="en-US" altLang="zh-CN"/>
              <a:t>Example: Selecting data for "Time = January 2023".</a:t>
            </a:r>
            <a:endParaRPr lang="en-US" altLang="zh-CN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5723890" y="415925"/>
            <a:ext cx="2920365" cy="4787265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683260" y="2787650"/>
            <a:ext cx="723265" cy="955040"/>
            <a:chOff x="737" y="4617"/>
            <a:chExt cx="1139" cy="1504"/>
          </a:xfrm>
        </p:grpSpPr>
        <p:pic>
          <p:nvPicPr>
            <p:cNvPr id="6" name="Picture 101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37" y="4617"/>
              <a:ext cx="1139" cy="1139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" name="文本框 6"/>
            <p:cNvSpPr txBox="1"/>
            <p:nvPr/>
          </p:nvSpPr>
          <p:spPr>
            <a:xfrm>
              <a:off x="1131" y="5638"/>
              <a:ext cx="57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>
                  <a:latin typeface="Saturday Sans Regular" panose="02010600010101010101" charset="-122"/>
                  <a:ea typeface="Saturday Sans Regular" panose="02010600010101010101" charset="-122"/>
                  <a:cs typeface="Saturday Sans Regular" panose="02010600010101010101" charset="-122"/>
                  <a:sym typeface="Saturday Sans Regular" panose="02010600010101010101" charset="-122"/>
                </a:rPr>
                <a:t>1</a:t>
              </a:r>
              <a:endParaRPr lang="en-US" altLang="zh-CN" sz="1400"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Core OLAP Operation: Dice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7980" y="719455"/>
            <a:ext cx="4780915" cy="4049395"/>
          </a:xfrm>
        </p:spPr>
        <p:txBody>
          <a:bodyPr/>
          <a:p>
            <a:r>
              <a:rPr lang="en-US" altLang="zh-CN"/>
              <a:t>Definition: Selecting a range of values on one dimension.</a:t>
            </a:r>
            <a:endParaRPr lang="en-US" altLang="zh-CN"/>
          </a:p>
          <a:p>
            <a:r>
              <a:rPr lang="en-US" altLang="zh-CN"/>
              <a:t>Example: Selecting data for "Time in Q1 2023".</a:t>
            </a:r>
            <a:endParaRPr lang="en-US" altLang="zh-CN"/>
          </a:p>
          <a:p>
            <a:r>
              <a:rPr lang="en-US" altLang="zh-CN"/>
              <a:t>https://www.budgetbytes.com/how-to-slice-dice-and-mince/</a:t>
            </a:r>
            <a:endParaRPr lang="en-US" altLang="zh-CN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5593080" y="699770"/>
            <a:ext cx="305117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Core OLAP Operation: Drill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1200"/>
              <a:t>Drill-Down: Moving from summarized data to more detailed data (e.g., from "Year" to "Quarter" to "Month").</a:t>
            </a:r>
            <a:endParaRPr lang="en-US" altLang="zh-CN" sz="1200"/>
          </a:p>
          <a:p>
            <a:r>
              <a:rPr lang="en-US" altLang="zh-CN" sz="1200"/>
              <a:t>Roll-Up: The inverse of drill-down, aggregating detail data to a higher level.</a:t>
            </a:r>
            <a:endParaRPr lang="en-US" altLang="zh-CN" sz="1200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4533265" y="1203325"/>
            <a:ext cx="4261485" cy="401574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-180340" y="1635760"/>
            <a:ext cx="5320030" cy="365887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Core OLAP Operation: Pivot (Rotate)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7980" y="719455"/>
            <a:ext cx="4793615" cy="4049395"/>
          </a:xfrm>
        </p:spPr>
        <p:txBody>
          <a:bodyPr/>
          <a:p>
            <a:r>
              <a:rPr lang="en-US" altLang="zh-CN"/>
              <a:t>Definition: Swapping the row and column dimensions to provide a different view of the data.</a:t>
            </a:r>
            <a:endParaRPr lang="en-US" altLang="zh-CN"/>
          </a:p>
          <a:p>
            <a:r>
              <a:rPr lang="en-US" altLang="zh-CN"/>
              <a:t>Example: Swapping "Product" on rows with "Region" on columns.</a:t>
            </a:r>
            <a:endParaRPr lang="en-US" altLang="zh-CN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5147945" y="719455"/>
            <a:ext cx="3314065" cy="46037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Cross-Tab: 2D Representation of Multi-Dimensional Data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1400"/>
              <a:t>Diagram: A standard pivot table / crosstab.</a:t>
            </a:r>
            <a:endParaRPr lang="en-US" altLang="zh-CN" sz="1400"/>
          </a:p>
          <a:p>
            <a:pPr lvl="1"/>
            <a:r>
              <a:rPr lang="en-US" altLang="zh-CN" sz="1400"/>
              <a:t>Rows: Product Category</a:t>
            </a:r>
            <a:endParaRPr lang="en-US" altLang="zh-CN" sz="1400"/>
          </a:p>
          <a:p>
            <a:pPr lvl="1"/>
            <a:r>
              <a:rPr lang="en-US" altLang="zh-CN" sz="1400"/>
              <a:t>Columns: Year</a:t>
            </a:r>
            <a:endParaRPr lang="en-US" altLang="zh-CN" sz="1400"/>
          </a:p>
          <a:p>
            <a:pPr lvl="1"/>
            <a:r>
              <a:rPr lang="en-US" altLang="zh-CN" sz="1400"/>
              <a:t>Intersection: Sales Amount</a:t>
            </a:r>
            <a:endParaRPr lang="en-US" altLang="zh-CN" sz="1400"/>
          </a:p>
          <a:p>
            <a:r>
              <a:rPr lang="en-US" altLang="zh-CN" sz="1400"/>
              <a:t>Explanation: This is the most intuitive representation of OLAP operation results.</a:t>
            </a:r>
            <a:endParaRPr lang="en-US" altLang="zh-CN" sz="1400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1043940" y="2499360"/>
            <a:ext cx="6964045" cy="26949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From Cube to Cross-Tab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Visual Flow: 3D Data Cube -&gt; Via Slice/Pivot Operations -&gt; 2D Cross-Tab.</a:t>
            </a:r>
            <a:endParaRPr lang="en-US" altLang="zh-CN"/>
          </a:p>
          <a:p>
            <a:r>
              <a:rPr lang="en-US" altLang="zh-CN"/>
              <a:t>Emphasis: The cross-tab is the output of OLAP analysis.</a:t>
            </a:r>
            <a:endParaRPr lang="en-US" altLang="zh-CN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1547495" y="1601470"/>
            <a:ext cx="6327140" cy="34569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Reporting Systems: Solidified Insights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1600"/>
              <a:t>Definition: Generate fixed-format reports (daily, weekly, monthly) regularly based on the data warehouse.</a:t>
            </a:r>
            <a:endParaRPr lang="en-US" altLang="zh-CN" sz="1600"/>
          </a:p>
          <a:p>
            <a:r>
              <a:rPr lang="en-US" altLang="zh-CN" sz="1600"/>
              <a:t>Characteristics: Standardized, automated.</a:t>
            </a:r>
            <a:endParaRPr lang="en-US" altLang="zh-CN" sz="1600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2267585" y="1707515"/>
            <a:ext cx="474472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Common Chart Types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Trend Analysis: Line Chart</a:t>
            </a:r>
            <a:endParaRPr lang="en-US" altLang="zh-CN"/>
          </a:p>
          <a:p>
            <a:pPr lvl="1"/>
            <a:r>
              <a:rPr lang="en-US" altLang="zh-CN"/>
              <a:t>Comparison Analysis: Column Chart, Bar Chart</a:t>
            </a:r>
            <a:endParaRPr lang="en-US" altLang="zh-CN"/>
          </a:p>
          <a:p>
            <a:pPr lvl="1"/>
            <a:r>
              <a:rPr lang="en-US" altLang="zh-CN"/>
              <a:t>Composition Analysis: Pie Chart, Stacked Column Chart</a:t>
            </a:r>
            <a:endParaRPr lang="en-US" altLang="zh-CN"/>
          </a:p>
          <a:p>
            <a:r>
              <a:rPr lang="en-US" altLang="zh-CN"/>
              <a:t>Distribution Analysis: Scatter Plot, Histogram</a:t>
            </a:r>
            <a:endParaRPr lang="en-US" altLang="zh-CN"/>
          </a:p>
          <a:p>
            <a:pPr lvl="1"/>
            <a:r>
              <a:rPr lang="en-US" altLang="zh-CN"/>
              <a:t>Relationship Analysis: Heat Map</a:t>
            </a:r>
            <a:endParaRPr lang="en-US" altLang="zh-CN"/>
          </a:p>
          <a:p>
            <a:pPr lvl="1"/>
            <a:r>
              <a:rPr lang="en-US" altLang="zh-CN"/>
              <a:t>Geospatial Analysis: Map</a:t>
            </a:r>
            <a:endParaRPr lang="en-US" altLang="zh-CN"/>
          </a:p>
        </p:txBody>
      </p:sp>
      <p:pic>
        <p:nvPicPr>
          <p:cNvPr id="4" name="图片 3">
            <a:hlinkClick r:id="rId1" action="ppaction://hlinkfile"/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067810" y="3723640"/>
            <a:ext cx="871855" cy="87185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sz="2400"/>
              <a:t>Overview: A three-coordinate system (you can define your own)</a:t>
            </a:r>
            <a:endParaRPr lang="en-US" altLang="zh-CN" sz="2400"/>
          </a:p>
        </p:txBody>
      </p:sp>
      <p:graphicFrame>
        <p:nvGraphicFramePr>
          <p:cNvPr id="6" name="表格 5"/>
          <p:cNvGraphicFramePr/>
          <p:nvPr/>
        </p:nvGraphicFramePr>
        <p:xfrm>
          <a:off x="347980" y="637540"/>
          <a:ext cx="8693785" cy="4386580"/>
        </p:xfrm>
        <a:graphic>
          <a:graphicData uri="http://schemas.openxmlformats.org/drawingml/2006/table">
            <a:tbl>
              <a:tblPr firstRow="1">
                <a:tableStyleId>{028137C7-9195-4576-8BDD-CF5DA5E64862}</a:tableStyleId>
              </a:tblPr>
              <a:tblGrid>
                <a:gridCol w="1099820"/>
                <a:gridCol w="1860550"/>
                <a:gridCol w="1861185"/>
                <a:gridCol w="1100455"/>
                <a:gridCol w="2771775"/>
              </a:tblGrid>
              <a:tr h="248920"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Algorithm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X: Model Complexity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Y: Regularization Strength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Z: Ensemble Method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Positioning Description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</a:tr>
              <a:tr h="330200"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Linear Regression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Low (near origin)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None (near origin)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None (near origin)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The simplest baseline model, located in the (low, low, low) corner of the coordinate system.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</a:tr>
              <a:tr h="248920"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Ridge Regression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Low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High (+Y)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None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Builds upon linear regression by adding L2 regularization, moving it in the +Y direction.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</a:tr>
              <a:tr h="413385"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Lasso Regression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Low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High (+Y)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None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Similar to Ridge, but uses L1 regularization (which also performs feature selection). Also located in the +Y direction.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</a:tr>
              <a:tr h="330200"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Decision Tree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Medium-High (+X)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Low (can be increased via pruning)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None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A single tree is a flexible model with higher complexity than linear models, placing it in the +X direction.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</a:tr>
              <a:tr h="415290"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Support Vector Regression (SVR)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Medium (depends on kernel)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Medium (controlled by parameter C)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None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Its core idea of maximizing the margin is a form of regularization, placing it in the medium region of both X and Y.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</a:tr>
              <a:tr h="495935"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K-Nearest Neighbors (KNN)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Medium (controlled by K)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Low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None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Complexity is determined by the number of neighbors K. Low K means high complexity (+X), high K means low complexity. Typically has no explicit regularization.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</a:tr>
              <a:tr h="662305"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Random Forest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High (each tree is complex)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Medium (Bagging acts as regularization)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High (+Z)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Integrates multiple decision trees via Bagging. It possesses high complexity (+X) and strong ensemble characteristics (+Z). The Bagging process also reduces variance, providing a regularization effect (+Y).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</a:tr>
              <a:tr h="662305"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Gradient Boosting Machine (GBM)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High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High (via learning rate/tree depth)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High (+Z)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Integrates multiple weak learners (typically trees) sequentially via Boosting. It employs strong regularization (+Y) by limiting tree depth, using a learning rate, etc., and is a powerful ensemble method (+Z).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</a:tr>
              <a:tr h="579120"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Neural Network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Very High (Far +X)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Adjustable (Dropout, L2, etc.)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None (typically)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  <a:tc>
                  <a:txBody>
                    <a:bodyPr/>
                    <a:p>
                      <a:pPr algn="l" fontAlgn="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900"/>
                        <a:t>Possesses extremely high expressive power. Techniques like Dropout and weight decay can move it in the +Y direction to prevent overfitting given its complex structure.</a:t>
                      </a:r>
                      <a:endParaRPr lang="en-US" altLang="zh-CN" sz="900"/>
                    </a:p>
                  </a:txBody>
                  <a:tcPr marL="0" marR="0" marT="0" marB="0" anchor="t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Data Mining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We will review this in the lab next week (Data Warehouse for this Week)</a:t>
            </a:r>
            <a:endParaRPr lang="en-US" altLang="zh-CN"/>
          </a:p>
        </p:txBody>
      </p:sp>
      <p:pic>
        <p:nvPicPr>
          <p:cNvPr id="6" name="图片 5">
            <a:hlinkClick r:id="rId1" action="ppaction://hlinkfile"/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11505" y="771525"/>
            <a:ext cx="871855" cy="8718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22580" y="1563370"/>
            <a:ext cx="3048000" cy="260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Cheatsheet of ML</a:t>
            </a: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COMMONDATA" val="eyJoZGlkIjoiNjJjNTFkOTdkODM4ZDJhZTE0NWNhZWEyMDljZmVjZjEifQ=="/>
  <p:tag name="RESOURCE_RECORD_KEY" val="{&quot;29&quot;:[50000031]}"/>
  <p:tag name="resource_record_key" val="{&quot;29&quot;:[50000031,50000049]}"/>
</p:tagLst>
</file>

<file path=ppt/theme/theme1.xml><?xml version="1.0" encoding="utf-8"?>
<a:theme xmlns:a="http://schemas.openxmlformats.org/drawingml/2006/main" name="23_ClassicWhite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FFFFFF"/>
      </a:accent3>
      <a:accent4>
        <a:srgbClr val="000000"/>
      </a:accent4>
      <a:accent5>
        <a:srgbClr val="AFBCE5"/>
      </a:accent5>
      <a:accent6>
        <a:srgbClr val="2DB2A7"/>
      </a:accent6>
      <a:hlink>
        <a:srgbClr val="0000FF"/>
      </a:hlink>
      <a:folHlink>
        <a:srgbClr val="FF00FF"/>
      </a:folHlink>
    </a:clrScheme>
    <a:fontScheme name="23_Classic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</a:spPr>
      <a:bodyPr vert="horz" wrap="square" lIns="50800" tIns="50800" rIns="50800" bIns="50800" numCol="1" anchor="ctr" anchorCtr="0" compatLnSpc="1">
        <a:spAutoFit/>
      </a:bodyPr>
      <a:lstStyle>
        <a:defPPr marL="0" marR="0" indent="0" algn="ctr" defTabSz="1733550" rtl="0" eaLnBrk="1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Canela Text Regular" charset="0"/>
            <a:ea typeface="Canela Text Regular" charset="0"/>
            <a:cs typeface="Canela Text Regular" charset="0"/>
            <a:sym typeface="Canela Text Regular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0000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</a:spPr>
      <a:bodyPr vert="horz" wrap="square" lIns="50800" tIns="50800" rIns="50800" bIns="50800" numCol="1" anchor="ctr" anchorCtr="0" compatLnSpc="1">
        <a:spAutoFit/>
      </a:bodyPr>
      <a:lstStyle>
        <a:defPPr marL="0" marR="0" indent="0" algn="ctr" defTabSz="1733550" rtl="0" eaLnBrk="1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16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Canela Text Regular" charset="0"/>
            <a:ea typeface="Canela Text Regular" charset="0"/>
            <a:cs typeface="Canela Text Regular" charset="0"/>
            <a:sym typeface="Canela Text Regular" charset="0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FFFFFF"/>
      </a:accent3>
      <a:accent4>
        <a:srgbClr val="000000"/>
      </a:accent4>
      <a:accent5>
        <a:srgbClr val="AFBCE5"/>
      </a:accent5>
      <a:accent6>
        <a:srgbClr val="2DB2A7"/>
      </a:accent6>
      <a:hlink>
        <a:srgbClr val="0000FF"/>
      </a:hlink>
      <a:folHlink>
        <a:srgbClr val="FF00FF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7672</Words>
  <Application>WPS 演示</Application>
  <PresentationFormat>全屏显示(16:9)</PresentationFormat>
  <Paragraphs>310</Paragraphs>
  <Slides>34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9" baseType="lpstr">
      <vt:lpstr>Arial</vt:lpstr>
      <vt:lpstr>宋体</vt:lpstr>
      <vt:lpstr>Wingdings</vt:lpstr>
      <vt:lpstr>Canela Text Regular</vt:lpstr>
      <vt:lpstr>Segoe Print</vt:lpstr>
      <vt:lpstr>Helvetica</vt:lpstr>
      <vt:lpstr>Graphik</vt:lpstr>
      <vt:lpstr>Helvetica Neue</vt:lpstr>
      <vt:lpstr>微软雅黑</vt:lpstr>
      <vt:lpstr>Arial Unicode MS</vt:lpstr>
      <vt:lpstr>Saturday Sans Regular</vt:lpstr>
      <vt:lpstr>Toots Regular</vt:lpstr>
      <vt:lpstr>Miss Sweetie</vt:lpstr>
      <vt:lpstr>Garamond</vt:lpstr>
      <vt:lpstr>23_ClassicWhite</vt:lpstr>
      <vt:lpstr>DTS207TC Database Development and Design</vt:lpstr>
      <vt:lpstr>Outline</vt:lpstr>
      <vt:lpstr>PowerPoint 演示文稿</vt:lpstr>
      <vt:lpstr>PowerPoint 演示文稿</vt:lpstr>
      <vt:lpstr>Analogy</vt:lpstr>
      <vt:lpstr>PowerPoint 演示文稿</vt:lpstr>
      <vt:lpstr>PowerPoint 演示文稿</vt:lpstr>
      <vt:lpstr>Data Warehouse vs. Operational Database  (OLAP vs. OLTP)  </vt:lpstr>
      <vt:lpstr>The Four Key Characteristics of a Data Warehouse</vt:lpstr>
      <vt:lpstr>ETL: The "Mover" and "Beautician" of Data</vt:lpstr>
      <vt:lpstr>PowerPoint 演示文稿</vt:lpstr>
      <vt:lpstr>ETL Example</vt:lpstr>
      <vt:lpstr>The Layered Architecture of a Data Warehouse</vt:lpstr>
      <vt:lpstr>Staging Area</vt:lpstr>
      <vt:lpstr>Core Data Warehouse </vt:lpstr>
      <vt:lpstr>Data Marts</vt:lpstr>
      <vt:lpstr>Motivation</vt:lpstr>
      <vt:lpstr>The Multi-Dimensional Data Model: Core Idea</vt:lpstr>
      <vt:lpstr>Star Schema</vt:lpstr>
      <vt:lpstr>Snowflake Schema</vt:lpstr>
      <vt:lpstr>Fact Tables</vt:lpstr>
      <vt:lpstr>Dimension Tables</vt:lpstr>
      <vt:lpstr>What is OLAP?</vt:lpstr>
      <vt:lpstr>Core Concept: The Cube</vt:lpstr>
      <vt:lpstr>Core OLAP Operation: Slice</vt:lpstr>
      <vt:lpstr>Core OLAP Operation: Dice</vt:lpstr>
      <vt:lpstr>Core OLAP Operation: Drill</vt:lpstr>
      <vt:lpstr>Core OLAP Operation: Pivot (Rotate)</vt:lpstr>
      <vt:lpstr>Cross-Tab: 2D Representation of Multi-Dimensional Data</vt:lpstr>
      <vt:lpstr>From Cube to Cross-Tab</vt:lpstr>
      <vt:lpstr>Reporting Systems: Solidified Insights</vt:lpstr>
      <vt:lpstr>Common Chart Types</vt:lpstr>
      <vt:lpstr>Overview: A three-coordinate system (you can define your own)</vt:lpstr>
      <vt:lpstr>Data Mining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DTS205TC High Performance Computing</dc:title>
  <dc:creator>andyz</dc:creator>
  <cp:lastModifiedBy>ZD</cp:lastModifiedBy>
  <cp:revision>3481</cp:revision>
  <dcterms:created xsi:type="dcterms:W3CDTF">2023-04-15T13:38:00Z</dcterms:created>
  <dcterms:modified xsi:type="dcterms:W3CDTF">2025-10-27T22:09:30Z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317E91C63B9E4CA194E47D6C43C7DAEB_13</vt:lpwstr>
  </property>
  <property fmtid="{D5CDD505-2E9C-101B-9397-08002B2CF9AE}" pid="3" name="KSOProductBuildVer">
    <vt:lpwstr>2052-12.1.0.23125</vt:lpwstr>
  </property>
</Properties>
</file>