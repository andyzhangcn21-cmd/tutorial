
<file path=[Content_Types].xml><?xml version="1.0" encoding="utf-8"?>
<Types xmlns="http://schemas.openxmlformats.org/package/2006/content-types">
  <Default Extension="png" ContentType="image/png"/>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0.svg" ContentType="image/svg+xml"/>
  <Override PartName="/ppt/media/image12.svg" ContentType="image/svg+xml"/>
  <Override PartName="/ppt/media/image14.svg" ContentType="image/svg+xml"/>
  <Override PartName="/ppt/media/image29.svg" ContentType="image/svg+xml"/>
  <Override PartName="/ppt/media/image31.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p:sldMasterIdLst>
    <p:sldMasterId id="2147483648" r:id="rId1"/>
  </p:sldMasterIdLst>
  <p:notesMasterIdLst>
    <p:notesMasterId r:id="rId4"/>
  </p:notesMasterIdLst>
  <p:sldIdLst>
    <p:sldId id="256" r:id="rId3"/>
    <p:sldId id="1067" r:id="rId5"/>
    <p:sldId id="1130" r:id="rId6"/>
    <p:sldId id="1129" r:id="rId7"/>
    <p:sldId id="1131" r:id="rId8"/>
    <p:sldId id="1132" r:id="rId9"/>
    <p:sldId id="1133" r:id="rId10"/>
    <p:sldId id="1134" r:id="rId11"/>
    <p:sldId id="1135" r:id="rId12"/>
    <p:sldId id="1136" r:id="rId13"/>
    <p:sldId id="1095" r:id="rId14"/>
    <p:sldId id="1096" r:id="rId15"/>
    <p:sldId id="1097" r:id="rId16"/>
    <p:sldId id="1098" r:id="rId17"/>
    <p:sldId id="1099" r:id="rId18"/>
    <p:sldId id="1100" r:id="rId19"/>
    <p:sldId id="1101" r:id="rId20"/>
    <p:sldId id="1102" r:id="rId21"/>
    <p:sldId id="1103" r:id="rId22"/>
    <p:sldId id="1104" r:id="rId23"/>
    <p:sldId id="1105" r:id="rId24"/>
    <p:sldId id="1106" r:id="rId25"/>
    <p:sldId id="1137" r:id="rId26"/>
    <p:sldId id="1138" r:id="rId27"/>
    <p:sldId id="1112" r:id="rId28"/>
    <p:sldId id="1113" r:id="rId29"/>
    <p:sldId id="325" r:id="rId30"/>
    <p:sldId id="326" r:id="rId31"/>
    <p:sldId id="327" r:id="rId32"/>
    <p:sldId id="328" r:id="rId33"/>
    <p:sldId id="373" r:id="rId34"/>
    <p:sldId id="329" r:id="rId35"/>
    <p:sldId id="1118" r:id="rId36"/>
    <p:sldId id="1119" r:id="rId37"/>
    <p:sldId id="1120" r:id="rId38"/>
    <p:sldId id="1121" r:id="rId39"/>
    <p:sldId id="1054" r:id="rId40"/>
  </p:sldIdLst>
  <p:sldSz cx="9144000" cy="5143500" type="screen16x9"/>
  <p:notesSz cx="6858000" cy="9144000"/>
  <p:custDataLst>
    <p:tags r:id="rId45"/>
  </p:custDataLst>
  <p:defaultTextStyle>
    <a:defPPr>
      <a:defRPr lang="en-US"/>
    </a:defPPr>
    <a:lvl1pPr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1pPr>
    <a:lvl2pPr marL="285750" indent="171450"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2pPr>
    <a:lvl3pPr marL="573405" indent="341630"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3pPr>
    <a:lvl4pPr marL="860425" indent="511175"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4pPr>
    <a:lvl5pPr marL="1148080" indent="681355"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5pPr>
    <a:lvl6pPr marL="22860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6pPr>
    <a:lvl7pPr marL="27432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7pPr>
    <a:lvl8pPr marL="32004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8pPr>
    <a:lvl9pPr marL="36576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9pPr>
  </p:defaultTextStyle>
  <p:extLst>
    <p:ext uri="{521415D9-36F7-43E2-AB2F-B90AF26B5E84}">
      <p14:sectionLst xmlns:p14="http://schemas.microsoft.com/office/powerpoint/2010/main">
        <p14:section name="默认节" id="{15E45CB9-6D87-43F5-8698-06222E2DAA04}">
          <p14:sldIdLst>
            <p14:sldId id="256"/>
            <p14:sldId id="1067"/>
          </p14:sldIdLst>
        </p14:section>
        <p14:section name="Database vs File system" id="{0329C037-48DD-46D7-972A-C956EE65DC2F}">
          <p14:sldIdLst>
            <p14:sldId id="1130"/>
            <p14:sldId id="1129"/>
            <p14:sldId id="1131"/>
            <p14:sldId id="1132"/>
            <p14:sldId id="1133"/>
            <p14:sldId id="1134"/>
            <p14:sldId id="1135"/>
            <p14:sldId id="1136"/>
          </p14:sldIdLst>
        </p14:section>
        <p14:section name="File Organization" id="{8574D685-6B0F-413D-A3F6-5E2DD6F90FDA}">
          <p14:sldIdLst>
            <p14:sldId id="1095"/>
            <p14:sldId id="1096"/>
            <p14:sldId id="1097"/>
            <p14:sldId id="1098"/>
            <p14:sldId id="1099"/>
            <p14:sldId id="1100"/>
            <p14:sldId id="1101"/>
            <p14:sldId id="1102"/>
          </p14:sldIdLst>
        </p14:section>
        <p14:section name="Organization of Records" id="{D0C4C8E9-BA2B-4C43-9B4E-53F672F439B7}">
          <p14:sldIdLst>
            <p14:sldId id="1103"/>
            <p14:sldId id="1104"/>
            <p14:sldId id="1105"/>
            <p14:sldId id="1106"/>
            <p14:sldId id="1137"/>
            <p14:sldId id="1138"/>
          </p14:sldIdLst>
        </p14:section>
        <p14:section name="Cache" id="{2E6374D3-75C0-4549-89E7-31F409D8E7AB}">
          <p14:sldIdLst>
            <p14:sldId id="1112"/>
            <p14:sldId id="1113"/>
            <p14:sldId id="325"/>
            <p14:sldId id="326"/>
            <p14:sldId id="327"/>
            <p14:sldId id="328"/>
            <p14:sldId id="373"/>
            <p14:sldId id="329"/>
          </p14:sldIdLst>
        </p14:section>
        <p14:section name="Column-Oriented Storage" id="{CEDB0F32-935C-4EAA-90F7-4F2C2677B8F9}">
          <p14:sldIdLst>
            <p14:sldId id="1118"/>
            <p14:sldId id="1119"/>
            <p14:sldId id="1120"/>
            <p14:sldId id="1121"/>
            <p14:sldId id="1054"/>
          </p14:sldIdLst>
        </p14:section>
      </p14:sectionLst>
    </p:ext>
    <p:ext uri="{EFAFB233-063F-42B5-8137-9DF3F51BA10A}">
      <p15:sldGuideLst xmlns:p15="http://schemas.microsoft.com/office/powerpoint/2012/main">
        <p15:guide id="1" orient="horz" pos="1628"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2B9C05A-2A7E-4D72-A66B-1C6792E0D88E}" styleName="表样式 1 12">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620"/>
    <p:restoredTop sz="95249" autoAdjust="0"/>
  </p:normalViewPr>
  <p:slideViewPr>
    <p:cSldViewPr showGuides="1">
      <p:cViewPr varScale="1">
        <p:scale>
          <a:sx n="126" d="100"/>
          <a:sy n="126" d="100"/>
        </p:scale>
        <p:origin x="202" y="96"/>
      </p:cViewPr>
      <p:guideLst>
        <p:guide orient="horz" pos="1628"/>
        <p:guide pos="2880"/>
      </p:guideLst>
    </p:cSldViewPr>
  </p:slideViewPr>
  <p:notesTextViewPr>
    <p:cViewPr>
      <p:scale>
        <a:sx n="1" d="1"/>
        <a:sy n="1" d="1"/>
      </p:scale>
      <p:origin x="0" y="0"/>
    </p:cViewPr>
  </p:notesTextViewPr>
  <p:sorterViewPr>
    <p:cViewPr varScale="1">
      <p:scale>
        <a:sx n="1" d="1"/>
        <a:sy n="1" d="1"/>
      </p:scale>
      <p:origin x="0" y="-814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gs" Target="tags/tag6.xml"/><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
          <p:cNvSpPr>
            <a:spLocks noGrp="1" noRot="1" noChangeAspect="1"/>
          </p:cNvSpPr>
          <p:nvPr>
            <p:ph type="sldImg"/>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Rectangle 2"/>
          <p:cNvSpPr>
            <a:spLocks noGrp="1"/>
          </p:cNvSpPr>
          <p:nvPr>
            <p:ph type="body" sz="quarter" idx="1"/>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en-US" altLang="en-US" noProof="0">
                <a:sym typeface="Helvetica Neue" charset="0"/>
              </a:rPr>
              <a:t>Click to edit Template text styles</a:t>
            </a:r>
            <a:endParaRPr lang="en-US" altLang="en-US" noProof="0">
              <a:sym typeface="Helvetica Neue" charset="0"/>
            </a:endParaRPr>
          </a:p>
          <a:p>
            <a:pPr lvl="1"/>
            <a:r>
              <a:rPr lang="en-US" altLang="en-US" noProof="0">
                <a:sym typeface="Helvetica Neue" charset="0"/>
              </a:rPr>
              <a:t>Second level</a:t>
            </a:r>
            <a:endParaRPr lang="en-US" altLang="en-US" noProof="0">
              <a:sym typeface="Helvetica Neue" charset="0"/>
            </a:endParaRPr>
          </a:p>
          <a:p>
            <a:pPr lvl="2"/>
            <a:r>
              <a:rPr lang="en-US" altLang="en-US" noProof="0">
                <a:sym typeface="Helvetica Neue" charset="0"/>
              </a:rPr>
              <a:t>Third level</a:t>
            </a:r>
            <a:endParaRPr lang="en-US" altLang="en-US" noProof="0">
              <a:sym typeface="Helvetica Neue" charset="0"/>
            </a:endParaRPr>
          </a:p>
          <a:p>
            <a:pPr lvl="3"/>
            <a:r>
              <a:rPr lang="en-US" altLang="en-US" noProof="0">
                <a:sym typeface="Helvetica Neue" charset="0"/>
              </a:rPr>
              <a:t>Fourth level</a:t>
            </a:r>
            <a:endParaRPr lang="en-US" altLang="en-US" noProof="0">
              <a:sym typeface="Helvetica Neue" charset="0"/>
            </a:endParaRPr>
          </a:p>
          <a:p>
            <a:pPr lvl="4"/>
            <a:r>
              <a:rPr lang="en-US" altLang="en-US" noProof="0">
                <a:sym typeface="Helvetica Neue" charset="0"/>
              </a:rPr>
              <a:t>Fifth level</a:t>
            </a:r>
            <a:endParaRPr lang="en-US" altLang="en-US" noProof="0">
              <a:sym typeface="Helvetica Neue" charset="0"/>
            </a:endParaRPr>
          </a:p>
        </p:txBody>
      </p:sp>
    </p:spTree>
  </p:cSld>
  <p:clrMap bg1="lt1" tx1="dk1" bg2="lt2" tx2="dk2" accent1="accent1" accent2="accent2" accent3="accent3" accent4="accent4" accent5="accent5" accent6="accent6" hlink="hlink" folHlink="folHlink"/>
  <p:notesStyle>
    <a:lvl1pPr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1pPr>
    <a:lvl2pPr indent="142875"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2pPr>
    <a:lvl3pPr indent="285750"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3pPr>
    <a:lvl4pPr indent="430530"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4pPr>
    <a:lvl5pPr indent="573405"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5pPr>
    <a:lvl6pPr marL="1435100" algn="l" defTabSz="574040" rtl="0" eaLnBrk="1" latinLnBrk="0" hangingPunct="1">
      <a:defRPr sz="700" kern="1200">
        <a:solidFill>
          <a:schemeClr val="tx1"/>
        </a:solidFill>
        <a:latin typeface="+mn-lt"/>
        <a:ea typeface="+mn-ea"/>
        <a:cs typeface="+mn-cs"/>
      </a:defRPr>
    </a:lvl6pPr>
    <a:lvl7pPr marL="1722120" algn="l" defTabSz="574040" rtl="0" eaLnBrk="1" latinLnBrk="0" hangingPunct="1">
      <a:defRPr sz="700" kern="1200">
        <a:solidFill>
          <a:schemeClr val="tx1"/>
        </a:solidFill>
        <a:latin typeface="+mn-lt"/>
        <a:ea typeface="+mn-ea"/>
        <a:cs typeface="+mn-cs"/>
      </a:defRPr>
    </a:lvl7pPr>
    <a:lvl8pPr marL="2009140" algn="l" defTabSz="574040" rtl="0" eaLnBrk="1" latinLnBrk="0" hangingPunct="1">
      <a:defRPr sz="700" kern="1200">
        <a:solidFill>
          <a:schemeClr val="tx1"/>
        </a:solidFill>
        <a:latin typeface="+mn-lt"/>
        <a:ea typeface="+mn-ea"/>
        <a:cs typeface="+mn-cs"/>
      </a:defRPr>
    </a:lvl8pPr>
    <a:lvl9pPr marL="2295525" algn="l" defTabSz="574040" rtl="0" eaLnBrk="1" latinLnBrk="0" hangingPunct="1">
      <a:defRPr sz="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r>
              <a:rPr lang="zh-CN" altLang="en-US"/>
              <a:t>I am very happy to have the opportunity to meet with you all in this course.</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D8D42BA-40E3-4895-A9C8-A200B308F539}" type="slidenum">
              <a:rPr lang="en-US" altLang="en-US" sz="1300"/>
            </a:fld>
            <a:endParaRPr lang="en-US" altLang="en-US" sz="1300"/>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fld>
            <a:endParaRPr lang="en-US" altLang="en-US" sz="1300"/>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fld>
            <a:endParaRPr lang="en-US" altLang="en-US" sz="1300"/>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fld>
            <a:endParaRPr lang="en-US" altLang="en-US" sz="1300"/>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fld>
            <a:endParaRPr lang="en-US" altLang="en-US" sz="1300"/>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fld>
            <a:endParaRPr lang="en-US" altLang="en-US" sz="130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4197C76-8DA6-4441-8418-E1CA93B2A4A8}" type="slidenum">
              <a:rPr lang="en-US" altLang="en-US" sz="1300"/>
            </a:fld>
            <a:endParaRPr lang="en-US" altLang="en-US" sz="1300"/>
          </a:p>
        </p:txBody>
      </p:sp>
      <p:sp>
        <p:nvSpPr>
          <p:cNvPr id="91139" name="Rectangle 2"/>
          <p:cNvSpPr>
            <a:spLocks noGrp="1" noRot="1" noChangeAspect="1" noChangeArrowheads="1" noTextEdit="1"/>
          </p:cNvSpPr>
          <p:nvPr>
            <p:ph type="sldImg"/>
          </p:nvPr>
        </p:nvSpPr>
        <p:spPr/>
      </p:sp>
      <p:sp>
        <p:nvSpPr>
          <p:cNvPr id="911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2E65637-2214-4FA6-A9CC-A7014009F3D6}" type="slidenum">
              <a:rPr lang="en-US" altLang="en-US" sz="1300"/>
            </a:fld>
            <a:endParaRPr lang="en-US" altLang="en-US" sz="1300"/>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C8B530-0DB8-4B80-A8A3-17843A477A25}" type="slidenum">
              <a:rPr lang="en-US" altLang="en-US" sz="1300"/>
            </a:fld>
            <a:endParaRPr lang="en-US" altLang="en-US" sz="1300"/>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2E7717C-BB95-4A69-B6C6-F696DFD972A3}" type="slidenum">
              <a:rPr lang="en-US" altLang="en-US" sz="1300"/>
            </a:fld>
            <a:endParaRPr lang="en-US" altLang="en-US" sz="1300"/>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907461DE-88B5-448F-84B2-31DC1AD889C9}" type="slidenum">
              <a:rPr lang="en-US" altLang="en-US" sz="1300"/>
            </a:fld>
            <a:endParaRPr lang="en-US" altLang="en-US" sz="1300"/>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EBFA416D-C28E-4FCE-97EE-7864C178A395}" type="slidenum">
              <a:rPr lang="en-US" altLang="en-US" sz="1300"/>
            </a:fld>
            <a:endParaRPr lang="en-US" altLang="en-US" sz="1300"/>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p:sp>
      <p:sp>
        <p:nvSpPr>
          <p:cNvPr id="573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Text Placeholder 2"/>
          <p:cNvSpPr>
            <a:spLocks noGrp="1"/>
          </p:cNvSpPr>
          <p:nvPr>
            <p:ph type="body" idx="1"/>
          </p:nvPr>
        </p:nvSpPr>
        <p:spPr/>
        <p:txBody>
          <a:bodyPr/>
          <a:lstStyle/>
          <a:p>
            <a:r>
              <a:rPr lang="en-US"/>
              <a:t>https://en.wikipedia.org/wiki/Computer</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183"/>
            <a:ext cx="6858000" cy="1790680"/>
          </a:xfrm>
        </p:spPr>
        <p:txBody>
          <a:bodyPr anchor="b"/>
          <a:lstStyle>
            <a:lvl1pPr algn="ctr">
              <a:defRPr sz="3800"/>
            </a:lvl1pPr>
          </a:lstStyle>
          <a:p>
            <a:r>
              <a:rPr lang="en-US"/>
              <a:t>Click to edit Master title style</a:t>
            </a:r>
            <a:endParaRPr lang="en-US"/>
          </a:p>
        </p:txBody>
      </p:sp>
      <p:sp>
        <p:nvSpPr>
          <p:cNvPr id="3" name="Subtitle 2"/>
          <p:cNvSpPr>
            <a:spLocks noGrp="1"/>
          </p:cNvSpPr>
          <p:nvPr>
            <p:ph type="subTitle" idx="1"/>
          </p:nvPr>
        </p:nvSpPr>
        <p:spPr>
          <a:xfrm>
            <a:off x="1143000" y="2701508"/>
            <a:ext cx="6858000" cy="1241505"/>
          </a:xfrm>
        </p:spPr>
        <p:txBody>
          <a:bodyPr/>
          <a:lstStyle>
            <a:lvl1pPr marL="0" indent="0" algn="ctr">
              <a:buNone/>
              <a:defRPr sz="1600"/>
            </a:lvl1pPr>
            <a:lvl2pPr marL="287020" indent="0" algn="ctr">
              <a:buNone/>
              <a:defRPr sz="1200"/>
            </a:lvl2pPr>
            <a:lvl3pPr marL="574040" indent="0" algn="ctr">
              <a:buNone/>
              <a:defRPr sz="1200"/>
            </a:lvl3pPr>
            <a:lvl4pPr marL="861060" indent="0" algn="ctr">
              <a:buNone/>
              <a:defRPr sz="1100"/>
            </a:lvl4pPr>
            <a:lvl5pPr marL="1148080" indent="0" algn="ctr">
              <a:buNone/>
              <a:defRPr sz="1100"/>
            </a:lvl5pPr>
            <a:lvl6pPr marL="1435100" indent="0" algn="ctr">
              <a:buNone/>
              <a:defRPr sz="1100"/>
            </a:lvl6pPr>
            <a:lvl7pPr marL="1722120" indent="0" algn="ctr">
              <a:buNone/>
              <a:defRPr sz="1100"/>
            </a:lvl7pPr>
            <a:lvl8pPr marL="2009140" indent="0" algn="ctr">
              <a:buNone/>
              <a:defRPr sz="1100"/>
            </a:lvl8pPr>
            <a:lvl9pPr marL="2295525" indent="0" algn="ctr">
              <a:buNone/>
              <a:defRPr sz="1100"/>
            </a:lvl9pPr>
          </a:lstStyle>
          <a:p>
            <a:r>
              <a:rPr lang="en-US"/>
              <a:t>Click to edit Master subtitle style</a:t>
            </a:r>
            <a:endParaRPr lang="en-US"/>
          </a:p>
        </p:txBody>
      </p:sp>
      <p:sp>
        <p:nvSpPr>
          <p:cNvPr id="4" name="Rectangle 5"/>
          <p:cNvSpPr>
            <a:spLocks noGrp="1"/>
          </p:cNvSpPr>
          <p:nvPr>
            <p:ph type="sldNum" sz="quarter" idx="10"/>
          </p:nvPr>
        </p:nvSpPr>
        <p:spPr/>
        <p:txBody>
          <a:bodyPr/>
          <a:lstStyle>
            <a:lvl1pPr>
              <a:defRPr/>
            </a:lvl1pPr>
          </a:lstStyle>
          <a:p>
            <a:fld id="{606C9A41-D864-428D-9C31-5294F3735FA1}"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C4BFCE12-62F8-4935-B4B3-E8FB1AC9A4A0}"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964" y="1282528"/>
            <a:ext cx="7887146" cy="2138940"/>
          </a:xfrm>
        </p:spPr>
        <p:txBody>
          <a:bodyPr anchor="b"/>
          <a:lstStyle>
            <a:lvl1pPr>
              <a:defRPr sz="3800"/>
            </a:lvl1pPr>
          </a:lstStyle>
          <a:p>
            <a:r>
              <a:rPr lang="en-US"/>
              <a:t>Click to edit Master title style</a:t>
            </a:r>
            <a:endParaRPr lang="en-US"/>
          </a:p>
        </p:txBody>
      </p:sp>
      <p:sp>
        <p:nvSpPr>
          <p:cNvPr id="3" name="Text Placeholder 2"/>
          <p:cNvSpPr>
            <a:spLocks noGrp="1"/>
          </p:cNvSpPr>
          <p:nvPr>
            <p:ph type="body" idx="1"/>
          </p:nvPr>
        </p:nvSpPr>
        <p:spPr>
          <a:xfrm>
            <a:off x="623964" y="3442396"/>
            <a:ext cx="7887146" cy="1125141"/>
          </a:xfrm>
        </p:spPr>
        <p:txBody>
          <a:bodyPr/>
          <a:lstStyle>
            <a:lvl1pPr marL="0" indent="0">
              <a:buNone/>
              <a:defRPr sz="1600"/>
            </a:lvl1pPr>
            <a:lvl2pPr marL="287020" indent="0">
              <a:buNone/>
              <a:defRPr sz="1200"/>
            </a:lvl2pPr>
            <a:lvl3pPr marL="574040" indent="0">
              <a:buNone/>
              <a:defRPr sz="1200"/>
            </a:lvl3pPr>
            <a:lvl4pPr marL="861060" indent="0">
              <a:buNone/>
              <a:defRPr sz="1100"/>
            </a:lvl4pPr>
            <a:lvl5pPr marL="1148080" indent="0">
              <a:buNone/>
              <a:defRPr sz="1100"/>
            </a:lvl5pPr>
            <a:lvl6pPr marL="1435100" indent="0">
              <a:buNone/>
              <a:defRPr sz="1100"/>
            </a:lvl6pPr>
            <a:lvl7pPr marL="1722120" indent="0">
              <a:buNone/>
              <a:defRPr sz="1100"/>
            </a:lvl7pPr>
            <a:lvl8pPr marL="2009140" indent="0">
              <a:buNone/>
              <a:defRPr sz="1100"/>
            </a:lvl8pPr>
            <a:lvl9pPr marL="2295525" indent="0">
              <a:buNone/>
              <a:defRPr sz="1100"/>
            </a:lvl9pPr>
          </a:lstStyle>
          <a:p>
            <a:pPr lvl="0"/>
            <a:r>
              <a:rPr lang="en-US"/>
              <a:t>Click to edit Master text styles</a:t>
            </a:r>
            <a:endParaRPr lang="en-US"/>
          </a:p>
        </p:txBody>
      </p:sp>
      <p:sp>
        <p:nvSpPr>
          <p:cNvPr id="4" name="Rectangle 5"/>
          <p:cNvSpPr>
            <a:spLocks noGrp="1"/>
          </p:cNvSpPr>
          <p:nvPr>
            <p:ph type="sldNum" sz="quarter" idx="10"/>
          </p:nvPr>
        </p:nvSpPr>
        <p:spPr/>
        <p:txBody>
          <a:bodyPr/>
          <a:lstStyle>
            <a:lvl1pPr>
              <a:defRPr/>
            </a:lvl1pPr>
          </a:lstStyle>
          <a:p>
            <a:fld id="{6EB6FB98-0011-4161-BE35-0A73E2FACDA8}"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348258" y="719117"/>
            <a:ext cx="4169049" cy="40493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4463" y="719117"/>
            <a:ext cx="4170164" cy="40493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5"/>
          <p:cNvSpPr>
            <a:spLocks noGrp="1"/>
          </p:cNvSpPr>
          <p:nvPr>
            <p:ph type="sldNum" sz="quarter" idx="10"/>
          </p:nvPr>
        </p:nvSpPr>
        <p:spPr/>
        <p:txBody>
          <a:bodyPr/>
          <a:lstStyle>
            <a:lvl1pPr>
              <a:defRPr/>
            </a:lvl1pPr>
          </a:lstStyle>
          <a:p>
            <a:fld id="{D2BF4A6C-FF74-409E-AF94-9AA6BEC52E2D}"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545" y="273752"/>
            <a:ext cx="7887146" cy="994545"/>
          </a:xfrm>
        </p:spPr>
        <p:txBody>
          <a:bodyPr/>
          <a:lstStyle/>
          <a:p>
            <a:r>
              <a:rPr lang="en-US"/>
              <a:t>Click to edit Master title style</a:t>
            </a:r>
            <a:endParaRPr lang="en-US"/>
          </a:p>
        </p:txBody>
      </p:sp>
      <p:sp>
        <p:nvSpPr>
          <p:cNvPr id="3" name="Text Placeholder 2"/>
          <p:cNvSpPr>
            <a:spLocks noGrp="1"/>
          </p:cNvSpPr>
          <p:nvPr>
            <p:ph type="body" idx="1"/>
          </p:nvPr>
        </p:nvSpPr>
        <p:spPr>
          <a:xfrm>
            <a:off x="629544" y="1260762"/>
            <a:ext cx="3868788" cy="617822"/>
          </a:xfrm>
        </p:spPr>
        <p:txBody>
          <a:bodyPr anchor="b"/>
          <a:lstStyle>
            <a:lvl1pPr marL="0" indent="0">
              <a:buNone/>
              <a:defRPr sz="1600" b="1"/>
            </a:lvl1pPr>
            <a:lvl2pPr marL="287020" indent="0">
              <a:buNone/>
              <a:defRPr sz="1200" b="1"/>
            </a:lvl2pPr>
            <a:lvl3pPr marL="574040" indent="0">
              <a:buNone/>
              <a:defRPr sz="1200" b="1"/>
            </a:lvl3pPr>
            <a:lvl4pPr marL="861060" indent="0">
              <a:buNone/>
              <a:defRPr sz="1100" b="1"/>
            </a:lvl4pPr>
            <a:lvl5pPr marL="1148080" indent="0">
              <a:buNone/>
              <a:defRPr sz="1100" b="1"/>
            </a:lvl5pPr>
            <a:lvl6pPr marL="1435100" indent="0">
              <a:buNone/>
              <a:defRPr sz="1100" b="1"/>
            </a:lvl6pPr>
            <a:lvl7pPr marL="1722120" indent="0">
              <a:buNone/>
              <a:defRPr sz="1100" b="1"/>
            </a:lvl7pPr>
            <a:lvl8pPr marL="2009140" indent="0">
              <a:buNone/>
              <a:defRPr sz="1100" b="1"/>
            </a:lvl8pPr>
            <a:lvl9pPr marL="2295525" indent="0">
              <a:buNone/>
              <a:defRPr sz="1100" b="1"/>
            </a:lvl9pPr>
          </a:lstStyle>
          <a:p>
            <a:pPr lvl="0"/>
            <a:r>
              <a:rPr lang="en-US"/>
              <a:t>Click to edit Master text styles</a:t>
            </a:r>
            <a:endParaRPr lang="en-US"/>
          </a:p>
        </p:txBody>
      </p:sp>
      <p:sp>
        <p:nvSpPr>
          <p:cNvPr id="4" name="Content Placeholder 3"/>
          <p:cNvSpPr>
            <a:spLocks noGrp="1"/>
          </p:cNvSpPr>
          <p:nvPr>
            <p:ph sz="half" idx="2"/>
          </p:nvPr>
        </p:nvSpPr>
        <p:spPr>
          <a:xfrm>
            <a:off x="629544" y="1878582"/>
            <a:ext cx="3868788" cy="27634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8928" y="1260762"/>
            <a:ext cx="3887762" cy="617822"/>
          </a:xfrm>
        </p:spPr>
        <p:txBody>
          <a:bodyPr anchor="b"/>
          <a:lstStyle>
            <a:lvl1pPr marL="0" indent="0">
              <a:buNone/>
              <a:defRPr sz="1600" b="1"/>
            </a:lvl1pPr>
            <a:lvl2pPr marL="287020" indent="0">
              <a:buNone/>
              <a:defRPr sz="1200" b="1"/>
            </a:lvl2pPr>
            <a:lvl3pPr marL="574040" indent="0">
              <a:buNone/>
              <a:defRPr sz="1200" b="1"/>
            </a:lvl3pPr>
            <a:lvl4pPr marL="861060" indent="0">
              <a:buNone/>
              <a:defRPr sz="1100" b="1"/>
            </a:lvl4pPr>
            <a:lvl5pPr marL="1148080" indent="0">
              <a:buNone/>
              <a:defRPr sz="1100" b="1"/>
            </a:lvl5pPr>
            <a:lvl6pPr marL="1435100" indent="0">
              <a:buNone/>
              <a:defRPr sz="1100" b="1"/>
            </a:lvl6pPr>
            <a:lvl7pPr marL="1722120" indent="0">
              <a:buNone/>
              <a:defRPr sz="1100" b="1"/>
            </a:lvl7pPr>
            <a:lvl8pPr marL="2009140" indent="0">
              <a:buNone/>
              <a:defRPr sz="1100" b="1"/>
            </a:lvl8pPr>
            <a:lvl9pPr marL="2295525" indent="0">
              <a:buNone/>
              <a:defRPr sz="1100" b="1"/>
            </a:lvl9pPr>
          </a:lstStyle>
          <a:p>
            <a:pPr lvl="0"/>
            <a:r>
              <a:rPr lang="en-US"/>
              <a:t>Click to edit Master text styles</a:t>
            </a:r>
            <a:endParaRPr lang="en-US"/>
          </a:p>
        </p:txBody>
      </p:sp>
      <p:sp>
        <p:nvSpPr>
          <p:cNvPr id="6" name="Content Placeholder 5"/>
          <p:cNvSpPr>
            <a:spLocks noGrp="1"/>
          </p:cNvSpPr>
          <p:nvPr>
            <p:ph sz="quarter" idx="4"/>
          </p:nvPr>
        </p:nvSpPr>
        <p:spPr>
          <a:xfrm>
            <a:off x="4628928" y="1878582"/>
            <a:ext cx="3887762" cy="27634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5"/>
          <p:cNvSpPr>
            <a:spLocks noGrp="1"/>
          </p:cNvSpPr>
          <p:nvPr>
            <p:ph type="sldNum" sz="quarter" idx="10"/>
          </p:nvPr>
        </p:nvSpPr>
        <p:spPr/>
        <p:txBody>
          <a:bodyPr/>
          <a:lstStyle>
            <a:lvl1pPr>
              <a:defRPr/>
            </a:lvl1pPr>
          </a:lstStyle>
          <a:p>
            <a:fld id="{F02642A5-B4C1-490D-823B-6F62026E5D0D}"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5"/>
          <p:cNvSpPr>
            <a:spLocks noGrp="1"/>
          </p:cNvSpPr>
          <p:nvPr>
            <p:ph type="sldNum" sz="quarter" idx="10"/>
          </p:nvPr>
        </p:nvSpPr>
        <p:spPr/>
        <p:txBody>
          <a:bodyPr/>
          <a:lstStyle>
            <a:lvl1pPr>
              <a:defRPr/>
            </a:lvl1pPr>
          </a:lstStyle>
          <a:p>
            <a:fld id="{99B72306-FD3C-4756-B3FD-766F3400AAC9}"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p:cNvSpPr>
          <p:nvPr>
            <p:ph type="sldNum" sz="quarter" idx="10"/>
          </p:nvPr>
        </p:nvSpPr>
        <p:spPr/>
        <p:txBody>
          <a:bodyPr/>
          <a:lstStyle>
            <a:lvl1pPr>
              <a:defRPr/>
            </a:lvl1pPr>
          </a:lstStyle>
          <a:p>
            <a:fld id="{46FCE69C-6874-463F-8672-A48ADE6CA405}"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544" y="343235"/>
            <a:ext cx="2949029" cy="1199650"/>
          </a:xfrm>
        </p:spPr>
        <p:txBody>
          <a:bodyPr anchor="b"/>
          <a:lstStyle>
            <a:lvl1pPr>
              <a:defRPr sz="2100"/>
            </a:lvl1pPr>
          </a:lstStyle>
          <a:p>
            <a:r>
              <a:rPr lang="en-US"/>
              <a:t>Click to edit Master title style</a:t>
            </a:r>
            <a:endParaRPr lang="en-US"/>
          </a:p>
        </p:txBody>
      </p:sp>
      <p:sp>
        <p:nvSpPr>
          <p:cNvPr id="3" name="Content Placeholder 2"/>
          <p:cNvSpPr>
            <a:spLocks noGrp="1"/>
          </p:cNvSpPr>
          <p:nvPr>
            <p:ph idx="1"/>
          </p:nvPr>
        </p:nvSpPr>
        <p:spPr>
          <a:xfrm>
            <a:off x="3887765" y="740886"/>
            <a:ext cx="4628926" cy="3655035"/>
          </a:xfrm>
        </p:spPr>
        <p:txBody>
          <a:bodyPr/>
          <a:lstStyle>
            <a:lvl1pPr>
              <a:defRPr sz="2100"/>
            </a:lvl1pPr>
            <a:lvl2pPr>
              <a:defRPr sz="1800"/>
            </a:lvl2pPr>
            <a:lvl3pPr>
              <a:defRPr sz="16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544" y="1542881"/>
            <a:ext cx="2949029" cy="2858895"/>
          </a:xfrm>
        </p:spPr>
        <p:txBody>
          <a:bodyPr/>
          <a:lstStyle>
            <a:lvl1pPr marL="0" indent="0">
              <a:buNone/>
              <a:defRPr sz="1100"/>
            </a:lvl1pPr>
            <a:lvl2pPr marL="287020" indent="0">
              <a:buNone/>
              <a:defRPr sz="900"/>
            </a:lvl2pPr>
            <a:lvl3pPr marL="574040" indent="0">
              <a:buNone/>
              <a:defRPr sz="700"/>
            </a:lvl3pPr>
            <a:lvl4pPr marL="861060" indent="0">
              <a:buNone/>
              <a:defRPr sz="700"/>
            </a:lvl4pPr>
            <a:lvl5pPr marL="1148080" indent="0">
              <a:buNone/>
              <a:defRPr sz="700"/>
            </a:lvl5pPr>
            <a:lvl6pPr marL="1435100" indent="0">
              <a:buNone/>
              <a:defRPr sz="700"/>
            </a:lvl6pPr>
            <a:lvl7pPr marL="1722120" indent="0">
              <a:buNone/>
              <a:defRPr sz="700"/>
            </a:lvl7pPr>
            <a:lvl8pPr marL="2009140" indent="0">
              <a:buNone/>
              <a:defRPr sz="700"/>
            </a:lvl8pPr>
            <a:lvl9pPr marL="2295525" indent="0">
              <a:buNone/>
              <a:defRPr sz="7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1EA9E2C9-38C0-4E05-A9A0-7FD9158DBDA4}"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544" y="343235"/>
            <a:ext cx="2949029" cy="1199650"/>
          </a:xfrm>
        </p:spPr>
        <p:txBody>
          <a:bodyPr anchor="b"/>
          <a:lstStyle>
            <a:lvl1pPr>
              <a:defRPr sz="2100"/>
            </a:lvl1pPr>
          </a:lstStyle>
          <a:p>
            <a:r>
              <a:rPr lang="en-US"/>
              <a:t>Click to edit Master title style</a:t>
            </a:r>
            <a:endParaRPr lang="en-US"/>
          </a:p>
        </p:txBody>
      </p:sp>
      <p:sp>
        <p:nvSpPr>
          <p:cNvPr id="3" name="Picture Placeholder 2"/>
          <p:cNvSpPr>
            <a:spLocks noGrp="1"/>
          </p:cNvSpPr>
          <p:nvPr>
            <p:ph type="pic" idx="1"/>
          </p:nvPr>
        </p:nvSpPr>
        <p:spPr>
          <a:xfrm>
            <a:off x="3887765" y="740886"/>
            <a:ext cx="4628926" cy="3655035"/>
          </a:xfrm>
        </p:spPr>
        <p:txBody>
          <a:bodyPr/>
          <a:lstStyle>
            <a:lvl1pPr marL="0" indent="0">
              <a:buNone/>
              <a:defRPr sz="2100"/>
            </a:lvl1pPr>
            <a:lvl2pPr marL="287020" indent="0">
              <a:buNone/>
              <a:defRPr sz="1800"/>
            </a:lvl2pPr>
            <a:lvl3pPr marL="574040" indent="0">
              <a:buNone/>
              <a:defRPr sz="1600"/>
            </a:lvl3pPr>
            <a:lvl4pPr marL="861060" indent="0">
              <a:buNone/>
              <a:defRPr sz="1200"/>
            </a:lvl4pPr>
            <a:lvl5pPr marL="1148080" indent="0">
              <a:buNone/>
              <a:defRPr sz="1200"/>
            </a:lvl5pPr>
            <a:lvl6pPr marL="1435100" indent="0">
              <a:buNone/>
              <a:defRPr sz="1200"/>
            </a:lvl6pPr>
            <a:lvl7pPr marL="1722120" indent="0">
              <a:buNone/>
              <a:defRPr sz="1200"/>
            </a:lvl7pPr>
            <a:lvl8pPr marL="2009140" indent="0">
              <a:buNone/>
              <a:defRPr sz="1200"/>
            </a:lvl8pPr>
            <a:lvl9pPr marL="2295525" indent="0">
              <a:buNone/>
              <a:defRPr sz="1200"/>
            </a:lvl9pPr>
          </a:lstStyle>
          <a:p>
            <a:pPr lvl="0"/>
            <a:endParaRPr lang="en-US" noProof="0">
              <a:sym typeface="Helvetica" panose="020B0604020202020204" pitchFamily="34" charset="0"/>
            </a:endParaRPr>
          </a:p>
        </p:txBody>
      </p:sp>
      <p:sp>
        <p:nvSpPr>
          <p:cNvPr id="4" name="Text Placeholder 3"/>
          <p:cNvSpPr>
            <a:spLocks noGrp="1"/>
          </p:cNvSpPr>
          <p:nvPr>
            <p:ph type="body" sz="half" idx="2"/>
          </p:nvPr>
        </p:nvSpPr>
        <p:spPr>
          <a:xfrm>
            <a:off x="629544" y="1542881"/>
            <a:ext cx="2949029" cy="2858895"/>
          </a:xfrm>
        </p:spPr>
        <p:txBody>
          <a:bodyPr/>
          <a:lstStyle>
            <a:lvl1pPr marL="0" indent="0">
              <a:buNone/>
              <a:defRPr sz="1100"/>
            </a:lvl1pPr>
            <a:lvl2pPr marL="287020" indent="0">
              <a:buNone/>
              <a:defRPr sz="900"/>
            </a:lvl2pPr>
            <a:lvl3pPr marL="574040" indent="0">
              <a:buNone/>
              <a:defRPr sz="700"/>
            </a:lvl3pPr>
            <a:lvl4pPr marL="861060" indent="0">
              <a:buNone/>
              <a:defRPr sz="700"/>
            </a:lvl4pPr>
            <a:lvl5pPr marL="1148080" indent="0">
              <a:buNone/>
              <a:defRPr sz="700"/>
            </a:lvl5pPr>
            <a:lvl6pPr marL="1435100" indent="0">
              <a:buNone/>
              <a:defRPr sz="700"/>
            </a:lvl6pPr>
            <a:lvl7pPr marL="1722120" indent="0">
              <a:buNone/>
              <a:defRPr sz="700"/>
            </a:lvl7pPr>
            <a:lvl8pPr marL="2009140" indent="0">
              <a:buNone/>
              <a:defRPr sz="700"/>
            </a:lvl8pPr>
            <a:lvl9pPr marL="2295525" indent="0">
              <a:buNone/>
              <a:defRPr sz="7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EB709096-912F-4774-8F9C-D173966EA403}"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4D661447-7998-46BF-B95E-D71DBFFC4D68}"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3872" y="92928"/>
            <a:ext cx="2110755" cy="467552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348257" y="92928"/>
            <a:ext cx="6228458" cy="467552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CC14C122-CBE5-46C5-AE21-5F2E3318462A}"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521970" y="4767263"/>
            <a:ext cx="2057400" cy="273844"/>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28950" y="4767263"/>
            <a:ext cx="3086100" cy="273844"/>
          </a:xfrm>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lvl1pPr algn="l">
              <a:defRPr/>
            </a:lvl1p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p:cNvSpPr>
          <p:nvPr>
            <p:ph type="body" idx="1"/>
          </p:nvPr>
        </p:nvSpPr>
        <p:spPr bwMode="auto">
          <a:xfrm>
            <a:off x="347663" y="719138"/>
            <a:ext cx="8447087" cy="404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31886" tIns="31886" rIns="31886" bIns="31886" numCol="1" anchor="t" anchorCtr="0" compatLnSpc="1"/>
          <a:lstStyle/>
          <a:p>
            <a:pPr lvl="0"/>
            <a:r>
              <a:rPr lang="en-US" altLang="en-US">
                <a:sym typeface="Helvetica" panose="020B0604020202020204" pitchFamily="34" charset="0"/>
              </a:rPr>
              <a:t>Click to edit Template text styles</a:t>
            </a:r>
            <a:endParaRPr lang="en-US" altLang="en-US">
              <a:sym typeface="Helvetica" panose="020B0604020202020204" pitchFamily="34" charset="0"/>
            </a:endParaRPr>
          </a:p>
          <a:p>
            <a:pPr lvl="1"/>
            <a:r>
              <a:rPr lang="en-US" altLang="en-US">
                <a:sym typeface="Helvetica" panose="020B0604020202020204" pitchFamily="34" charset="0"/>
              </a:rPr>
              <a:t>Second level</a:t>
            </a:r>
            <a:endParaRPr lang="en-US" altLang="en-US">
              <a:sym typeface="Helvetica" panose="020B0604020202020204" pitchFamily="34" charset="0"/>
            </a:endParaRPr>
          </a:p>
          <a:p>
            <a:pPr lvl="2"/>
            <a:r>
              <a:rPr lang="en-US" altLang="en-US">
                <a:sym typeface="Helvetica" panose="020B0604020202020204" pitchFamily="34" charset="0"/>
              </a:rPr>
              <a:t>Third level</a:t>
            </a:r>
            <a:endParaRPr lang="en-US" altLang="en-US">
              <a:sym typeface="Helvetica" panose="020B0604020202020204" pitchFamily="34" charset="0"/>
            </a:endParaRPr>
          </a:p>
          <a:p>
            <a:pPr lvl="3"/>
            <a:r>
              <a:rPr lang="en-US" altLang="en-US">
                <a:sym typeface="Helvetica" panose="020B0604020202020204" pitchFamily="34" charset="0"/>
              </a:rPr>
              <a:t>Fourth level</a:t>
            </a:r>
            <a:endParaRPr lang="en-US" altLang="en-US">
              <a:sym typeface="Helvetica" panose="020B0604020202020204" pitchFamily="34" charset="0"/>
            </a:endParaRPr>
          </a:p>
          <a:p>
            <a:pPr lvl="4"/>
            <a:r>
              <a:rPr lang="en-US" altLang="en-US">
                <a:sym typeface="Helvetica" panose="020B0604020202020204" pitchFamily="34" charset="0"/>
              </a:rPr>
              <a:t>Fifth level</a:t>
            </a:r>
            <a:endParaRPr lang="en-US" altLang="en-US">
              <a:sym typeface="Helvetica" panose="020B0604020202020204" pitchFamily="34" charset="0"/>
            </a:endParaRPr>
          </a:p>
        </p:txBody>
      </p:sp>
      <p:sp>
        <p:nvSpPr>
          <p:cNvPr id="1027" name="Rectangle 2"/>
          <p:cNvSpPr>
            <a:spLocks noGrp="1"/>
          </p:cNvSpPr>
          <p:nvPr>
            <p:ph type="title"/>
          </p:nvPr>
        </p:nvSpPr>
        <p:spPr bwMode="auto">
          <a:xfrm>
            <a:off x="500063" y="93663"/>
            <a:ext cx="8143875"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31886" tIns="31886" rIns="31886" bIns="31886" numCol="1" anchor="t" anchorCtr="0" compatLnSpc="1"/>
          <a:lstStyle/>
          <a:p>
            <a:pPr lvl="0"/>
            <a:r>
              <a:rPr lang="en-US" altLang="en-US">
                <a:sym typeface="Helvetica" panose="020B0604020202020204" pitchFamily="34" charset="0"/>
              </a:rPr>
              <a:t>Click to edit Template title style</a:t>
            </a:r>
            <a:endParaRPr lang="en-US" altLang="en-US">
              <a:sym typeface="Helvetica" panose="020B0604020202020204" pitchFamily="34" charset="0"/>
            </a:endParaRPr>
          </a:p>
        </p:txBody>
      </p:sp>
      <p:pic>
        <p:nvPicPr>
          <p:cNvPr id="1028" name="Picture 3"/>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005638" y="69850"/>
            <a:ext cx="1851025"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 name="Line 4"/>
          <p:cNvSpPr>
            <a:spLocks noChangeShapeType="1"/>
          </p:cNvSpPr>
          <p:nvPr/>
        </p:nvSpPr>
        <p:spPr bwMode="auto">
          <a:xfrm>
            <a:off x="341313" y="588963"/>
            <a:ext cx="8459787"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1886" tIns="31886" rIns="31886" bIns="31886" anchor="ctr"/>
          <a:lstStyle/>
          <a:p>
            <a:endParaRPr lang="en-US"/>
          </a:p>
        </p:txBody>
      </p:sp>
      <p:sp>
        <p:nvSpPr>
          <p:cNvPr id="2" name="Rectangle 5"/>
          <p:cNvSpPr>
            <a:spLocks noGrp="1"/>
          </p:cNvSpPr>
          <p:nvPr>
            <p:ph type="sldNum" sz="quarter" idx="2"/>
          </p:nvPr>
        </p:nvSpPr>
        <p:spPr bwMode="auto">
          <a:xfrm>
            <a:off x="4460875" y="4808538"/>
            <a:ext cx="215900" cy="173037"/>
          </a:xfrm>
          <a:prstGeom prst="rect">
            <a:avLst/>
          </a:prstGeom>
          <a:noFill/>
          <a:ln>
            <a:noFill/>
          </a:ln>
          <a:effectLst/>
        </p:spPr>
        <p:txBody>
          <a:bodyPr vert="horz" wrap="none" lIns="31886" tIns="31886" rIns="31886" bIns="31886" numCol="1" anchor="b" anchorCtr="0" compatLnSpc="1"/>
          <a:lstStyle>
            <a:lvl1pPr algn="ctr" defTabSz="1090930" eaLnBrk="1">
              <a:defRPr sz="900">
                <a:solidFill>
                  <a:srgbClr val="5E5E5E"/>
                </a:solidFill>
                <a:latin typeface="Graphik" charset="0"/>
                <a:ea typeface="Graphik" charset="0"/>
                <a:cs typeface="Graphik" charset="0"/>
                <a:sym typeface="Graphik" charset="0"/>
              </a:defRPr>
            </a:lvl1pPr>
          </a:lstStyle>
          <a:p>
            <a:fld id="{B78101D5-FE84-44C9-AB30-8CA2B182F501}"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1090930" rtl="0" eaLnBrk="0" fontAlgn="base" hangingPunct="0">
        <a:lnSpc>
          <a:spcPct val="70000"/>
        </a:lnSpc>
        <a:spcBef>
          <a:spcPct val="0"/>
        </a:spcBef>
        <a:spcAft>
          <a:spcPct val="0"/>
        </a:spcAft>
        <a:defRPr sz="3600" b="1" kern="1200">
          <a:solidFill>
            <a:srgbClr val="AE0428"/>
          </a:solidFill>
          <a:latin typeface="+mj-lt"/>
          <a:ea typeface="+mj-ea"/>
          <a:cs typeface="+mj-cs"/>
          <a:sym typeface="Helvetica" panose="020B0604020202020204" pitchFamily="34" charset="0"/>
        </a:defRPr>
      </a:lvl1pPr>
      <a:lvl2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8702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57404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86106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114808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p:titleStyle>
    <p:bodyStyle>
      <a:lvl1pPr marL="263525" indent="-263525" algn="l" defTabSz="1090930" rtl="0" eaLnBrk="0" fontAlgn="base" hangingPunct="0">
        <a:spcBef>
          <a:spcPts val="1250"/>
        </a:spcBef>
        <a:spcAft>
          <a:spcPct val="0"/>
        </a:spcAft>
        <a:buSzPct val="75000"/>
        <a:buChar char="•"/>
        <a:defRPr sz="1900" kern="1200">
          <a:solidFill>
            <a:srgbClr val="000000"/>
          </a:solidFill>
          <a:latin typeface="+mn-lt"/>
          <a:ea typeface="+mn-ea"/>
          <a:cs typeface="+mn-cs"/>
          <a:sym typeface="Helvetica" panose="020B0604020202020204" pitchFamily="34" charset="0"/>
        </a:defRPr>
      </a:lvl1pPr>
      <a:lvl2pPr marL="494030"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2pPr>
      <a:lvl3pPr marL="73977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3pPr>
      <a:lvl4pPr marL="98742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4pPr>
      <a:lvl5pPr marL="123507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5pPr>
      <a:lvl6pPr marL="1578610"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6pPr>
      <a:lvl7pPr marL="1865630"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7pPr>
      <a:lvl8pPr marL="2152015"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8pPr>
      <a:lvl9pPr marL="2439035"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574040" rtl="0" eaLnBrk="1" latinLnBrk="0" hangingPunct="1">
        <a:defRPr sz="1200" kern="1200">
          <a:solidFill>
            <a:schemeClr val="tx1"/>
          </a:solidFill>
          <a:latin typeface="+mn-lt"/>
          <a:ea typeface="+mn-ea"/>
          <a:cs typeface="+mn-cs"/>
        </a:defRPr>
      </a:lvl1pPr>
      <a:lvl2pPr marL="287020" algn="l" defTabSz="574040" rtl="0" eaLnBrk="1" latinLnBrk="0" hangingPunct="1">
        <a:defRPr sz="1200" kern="1200">
          <a:solidFill>
            <a:schemeClr val="tx1"/>
          </a:solidFill>
          <a:latin typeface="+mn-lt"/>
          <a:ea typeface="+mn-ea"/>
          <a:cs typeface="+mn-cs"/>
        </a:defRPr>
      </a:lvl2pPr>
      <a:lvl3pPr marL="574040" algn="l" defTabSz="574040" rtl="0" eaLnBrk="1" latinLnBrk="0" hangingPunct="1">
        <a:defRPr sz="1200" kern="1200">
          <a:solidFill>
            <a:schemeClr val="tx1"/>
          </a:solidFill>
          <a:latin typeface="+mn-lt"/>
          <a:ea typeface="+mn-ea"/>
          <a:cs typeface="+mn-cs"/>
        </a:defRPr>
      </a:lvl3pPr>
      <a:lvl4pPr marL="861060" algn="l" defTabSz="574040" rtl="0" eaLnBrk="1" latinLnBrk="0" hangingPunct="1">
        <a:defRPr sz="1200" kern="1200">
          <a:solidFill>
            <a:schemeClr val="tx1"/>
          </a:solidFill>
          <a:latin typeface="+mn-lt"/>
          <a:ea typeface="+mn-ea"/>
          <a:cs typeface="+mn-cs"/>
        </a:defRPr>
      </a:lvl4pPr>
      <a:lvl5pPr marL="1148080" algn="l" defTabSz="574040" rtl="0" eaLnBrk="1" latinLnBrk="0" hangingPunct="1">
        <a:defRPr sz="1200" kern="1200">
          <a:solidFill>
            <a:schemeClr val="tx1"/>
          </a:solidFill>
          <a:latin typeface="+mn-lt"/>
          <a:ea typeface="+mn-ea"/>
          <a:cs typeface="+mn-cs"/>
        </a:defRPr>
      </a:lvl5pPr>
      <a:lvl6pPr marL="1435100" algn="l" defTabSz="574040" rtl="0" eaLnBrk="1" latinLnBrk="0" hangingPunct="1">
        <a:defRPr sz="1200" kern="1200">
          <a:solidFill>
            <a:schemeClr val="tx1"/>
          </a:solidFill>
          <a:latin typeface="+mn-lt"/>
          <a:ea typeface="+mn-ea"/>
          <a:cs typeface="+mn-cs"/>
        </a:defRPr>
      </a:lvl6pPr>
      <a:lvl7pPr marL="1722120" algn="l" defTabSz="574040" rtl="0" eaLnBrk="1" latinLnBrk="0" hangingPunct="1">
        <a:defRPr sz="1200" kern="1200">
          <a:solidFill>
            <a:schemeClr val="tx1"/>
          </a:solidFill>
          <a:latin typeface="+mn-lt"/>
          <a:ea typeface="+mn-ea"/>
          <a:cs typeface="+mn-cs"/>
        </a:defRPr>
      </a:lvl7pPr>
      <a:lvl8pPr marL="2009140" algn="l" defTabSz="574040" rtl="0" eaLnBrk="1" latinLnBrk="0" hangingPunct="1">
        <a:defRPr sz="1200" kern="1200">
          <a:solidFill>
            <a:schemeClr val="tx1"/>
          </a:solidFill>
          <a:latin typeface="+mn-lt"/>
          <a:ea typeface="+mn-ea"/>
          <a:cs typeface="+mn-cs"/>
        </a:defRPr>
      </a:lvl8pPr>
      <a:lvl9pPr marL="2295525" algn="l" defTabSz="57404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6.sv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8.sv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10.sv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2.sv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4.sv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5.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8.e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9.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en.wikipedia.org/wiki/Cache_replacement_policies" TargetMode="Externa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svg"/><Relationship Id="rId1"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svg"/><Relationship Id="rId1"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
          <p:cNvSpPr>
            <a:spLocks noGrp="1"/>
          </p:cNvSpPr>
          <p:nvPr>
            <p:ph type="ctrTitle"/>
          </p:nvPr>
        </p:nvSpPr>
        <p:spPr>
          <a:xfrm>
            <a:off x="500063" y="1158875"/>
            <a:ext cx="8143875" cy="568325"/>
          </a:xfrm>
        </p:spPr>
        <p:txBody>
          <a:bodyPr/>
          <a:lstStyle/>
          <a:p>
            <a:pPr eaLnBrk="1">
              <a:lnSpc>
                <a:spcPct val="80000"/>
              </a:lnSpc>
            </a:pPr>
            <a:r>
              <a:rPr lang="en-US" altLang="en-US" sz="2800" dirty="0"/>
              <a:t>DTS207TC Database Development and Design</a:t>
            </a:r>
            <a:endParaRPr lang="en-US" altLang="en-US" sz="2800" dirty="0"/>
          </a:p>
        </p:txBody>
      </p:sp>
      <p:sp>
        <p:nvSpPr>
          <p:cNvPr id="2051" name="Rectangle 2"/>
          <p:cNvSpPr>
            <a:spLocks noGrp="1"/>
          </p:cNvSpPr>
          <p:nvPr>
            <p:ph type="subTitle" sz="quarter" idx="1"/>
          </p:nvPr>
        </p:nvSpPr>
        <p:spPr>
          <a:xfrm>
            <a:off x="500063" y="2428240"/>
            <a:ext cx="8143875" cy="385763"/>
          </a:xfrm>
        </p:spPr>
        <p:txBody>
          <a:bodyPr/>
          <a:lstStyle/>
          <a:p>
            <a:pPr defTabSz="365125" eaLnBrk="1">
              <a:spcBef>
                <a:spcPct val="0"/>
              </a:spcBef>
              <a:buSzTx/>
            </a:pPr>
            <a:r>
              <a:rPr lang="en-US" altLang="zh-CN" sz="2100" b="1" dirty="0">
                <a:solidFill>
                  <a:srgbClr val="AE0428"/>
                </a:solidFill>
                <a:ea typeface="宋体" panose="02010600030101010101" pitchFamily="2" charset="-122"/>
              </a:rPr>
              <a:t>Lecture 9</a:t>
            </a:r>
            <a:endParaRPr lang="en-US" altLang="zh-CN" sz="2100" b="1" dirty="0">
              <a:solidFill>
                <a:srgbClr val="AE0428"/>
              </a:solidFill>
              <a:ea typeface="宋体" panose="02010600030101010101" pitchFamily="2" charset="-122"/>
            </a:endParaRPr>
          </a:p>
          <a:p>
            <a:pPr algn="ctr" defTabSz="365125" eaLnBrk="1">
              <a:buClrTx/>
              <a:buSzTx/>
              <a:buFontTx/>
            </a:pPr>
            <a:r>
              <a:rPr lang="en-US" altLang="zh-CN" sz="2100" b="1" dirty="0">
                <a:solidFill>
                  <a:srgbClr val="AE0428"/>
                </a:solidFill>
                <a:ea typeface="宋体" panose="02010600030101010101" pitchFamily="2" charset="-122"/>
                <a:sym typeface="+mn-ea"/>
              </a:rPr>
              <a:t>Chap 13. Data Storage Structure</a:t>
            </a:r>
            <a:endParaRPr lang="en-US" altLang="zh-CN" sz="2100" b="1" dirty="0">
              <a:solidFill>
                <a:srgbClr val="AE0428"/>
              </a:solidFill>
              <a:ea typeface="宋体" panose="02010600030101010101" pitchFamily="2" charset="-122"/>
              <a:sym typeface="+mn-ea"/>
            </a:endParaRPr>
          </a:p>
        </p:txBody>
      </p:sp>
      <p:sp>
        <p:nvSpPr>
          <p:cNvPr id="2052" name="Text Box 3"/>
          <p:cNvSpPr txBox="1"/>
          <p:nvPr/>
        </p:nvSpPr>
        <p:spPr bwMode="auto">
          <a:xfrm>
            <a:off x="500063" y="4435475"/>
            <a:ext cx="8143875" cy="225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1886" tIns="31886" rIns="31886" bIns="31886"/>
          <a:lstStyle>
            <a:lvl1pPr defTabSz="586105">
              <a:defRPr sz="1100">
                <a:solidFill>
                  <a:srgbClr val="000000"/>
                </a:solidFill>
                <a:latin typeface="Canela Text Regular" charset="0"/>
                <a:ea typeface="Canela Text Regular" charset="0"/>
                <a:cs typeface="Canela Text Regular" charset="0"/>
                <a:sym typeface="Canela Text Regular" charset="0"/>
              </a:defRPr>
            </a:lvl1pPr>
            <a:lvl2pPr marL="742950" indent="-285750" defTabSz="586105">
              <a:defRPr sz="1100">
                <a:solidFill>
                  <a:srgbClr val="000000"/>
                </a:solidFill>
                <a:latin typeface="Canela Text Regular" charset="0"/>
                <a:ea typeface="Canela Text Regular" charset="0"/>
                <a:cs typeface="Canela Text Regular" charset="0"/>
                <a:sym typeface="Canela Text Regular" charset="0"/>
              </a:defRPr>
            </a:lvl2pPr>
            <a:lvl3pPr marL="1143000" indent="-228600" defTabSz="586105">
              <a:defRPr sz="1100">
                <a:solidFill>
                  <a:srgbClr val="000000"/>
                </a:solidFill>
                <a:latin typeface="Canela Text Regular" charset="0"/>
                <a:ea typeface="Canela Text Regular" charset="0"/>
                <a:cs typeface="Canela Text Regular" charset="0"/>
                <a:sym typeface="Canela Text Regular" charset="0"/>
              </a:defRPr>
            </a:lvl3pPr>
            <a:lvl4pPr marL="1600200" indent="-228600" defTabSz="586105">
              <a:defRPr sz="1100">
                <a:solidFill>
                  <a:srgbClr val="000000"/>
                </a:solidFill>
                <a:latin typeface="Canela Text Regular" charset="0"/>
                <a:ea typeface="Canela Text Regular" charset="0"/>
                <a:cs typeface="Canela Text Regular" charset="0"/>
                <a:sym typeface="Canela Text Regular" charset="0"/>
              </a:defRPr>
            </a:lvl4pPr>
            <a:lvl5pPr marL="2057400" indent="-228600" defTabSz="586105">
              <a:defRPr sz="1100">
                <a:solidFill>
                  <a:srgbClr val="000000"/>
                </a:solidFill>
                <a:latin typeface="Canela Text Regular" charset="0"/>
                <a:ea typeface="Canela Text Regular" charset="0"/>
                <a:cs typeface="Canela Text Regular" charset="0"/>
                <a:sym typeface="Canela Text Regular" charset="0"/>
              </a:defRPr>
            </a:lvl5pPr>
            <a:lvl6pPr marL="25146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6pPr>
            <a:lvl7pPr marL="29718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7pPr>
            <a:lvl8pPr marL="34290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8pPr>
            <a:lvl9pPr marL="38862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9pPr>
          </a:lstStyle>
          <a:p>
            <a:pPr algn="ctr" eaLnBrk="1"/>
            <a:r>
              <a:rPr lang="en-US" altLang="zh-CN" sz="1200">
                <a:latin typeface="Helvetica" panose="020B0604020202020204" pitchFamily="34" charset="0"/>
                <a:ea typeface="宋体" panose="02010600030101010101" pitchFamily="2" charset="-122"/>
                <a:sym typeface="Helvetica" panose="020B0604020202020204" pitchFamily="34" charset="0"/>
              </a:rPr>
              <a:t>Di Zhang</a:t>
            </a:r>
            <a:r>
              <a:rPr lang="en-US" altLang="en-US" sz="1200">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rPr>
              <a:t>, Autumn 2025</a:t>
            </a:r>
            <a:endParaRPr lang="en-US" altLang="en-US" sz="1200">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endParaRPr>
          </a:p>
        </p:txBody>
      </p:sp>
      <p:sp>
        <p:nvSpPr>
          <p:cNvPr id="2" name="文本框 1"/>
          <p:cNvSpPr txBox="1"/>
          <p:nvPr/>
        </p:nvSpPr>
        <p:spPr>
          <a:xfrm>
            <a:off x="3279140" y="4832350"/>
            <a:ext cx="3048000" cy="260350"/>
          </a:xfrm>
          <a:prstGeom prst="rect">
            <a:avLst/>
          </a:prstGeom>
          <a:noFill/>
        </p:spPr>
        <p:txBody>
          <a:bodyPr wrap="square" rtlCol="0">
            <a:spAutoFit/>
          </a:bodyPr>
          <a:lstStyle/>
          <a:p>
            <a:r>
              <a:rPr lang="en-US" altLang="zh-CN" b="1" dirty="0">
                <a:solidFill>
                  <a:srgbClr val="AE0428"/>
                </a:solidFill>
                <a:ea typeface="宋体" panose="02010600030101010101" pitchFamily="2" charset="-122"/>
                <a:sym typeface="+mn-ea"/>
              </a:rPr>
              <a:t>Titles with * will not be assessed</a:t>
            </a:r>
            <a:endParaRPr lang="zh-CN" altLang="en-US" dirty="0"/>
          </a:p>
        </p:txBody>
      </p:sp>
      <p:sp>
        <p:nvSpPr>
          <p:cNvPr id="3" name="文本框 2"/>
          <p:cNvSpPr txBox="1"/>
          <p:nvPr/>
        </p:nvSpPr>
        <p:spPr>
          <a:xfrm>
            <a:off x="1481455" y="951865"/>
            <a:ext cx="3048000" cy="260350"/>
          </a:xfrm>
          <a:prstGeom prst="rect">
            <a:avLst/>
          </a:prstGeom>
          <a:noFill/>
        </p:spPr>
        <p:txBody>
          <a:bodyPr wrap="square" rtlCol="0">
            <a:spAutoFit/>
          </a:bodyPr>
          <a:lstStyle/>
          <a:p>
            <a:endParaRPr lang="zh-CN" alt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Outline</a:t>
            </a:r>
            <a:endParaRPr lang="en-US" altLang="zh-CN"/>
          </a:p>
        </p:txBody>
      </p:sp>
      <p:sp>
        <p:nvSpPr>
          <p:cNvPr id="3" name="内容占位符 2"/>
          <p:cNvSpPr>
            <a:spLocks noGrp="1"/>
          </p:cNvSpPr>
          <p:nvPr>
            <p:ph idx="1"/>
          </p:nvPr>
        </p:nvSpPr>
        <p:spPr/>
        <p:txBody>
          <a:bodyPr/>
          <a:lstStyle/>
          <a:p>
            <a:r>
              <a:rPr lang="en-US" altLang="zh-CN" dirty="0"/>
              <a:t>Database vs. File system*</a:t>
            </a:r>
            <a:endParaRPr lang="en-US" altLang="zh-CN" dirty="0"/>
          </a:p>
          <a:p>
            <a:r>
              <a:rPr lang="en-US" altLang="zh-CN" dirty="0"/>
              <a:t>File Organization</a:t>
            </a:r>
            <a:endParaRPr lang="en-US" altLang="zh-CN" dirty="0"/>
          </a:p>
          <a:p>
            <a:r>
              <a:rPr lang="en-US" altLang="zh-CN" dirty="0"/>
              <a:t>Organization of Records</a:t>
            </a:r>
            <a:endParaRPr lang="en-US" altLang="zh-CN" dirty="0"/>
          </a:p>
          <a:p>
            <a:r>
              <a:rPr lang="en-US" altLang="zh-CN" dirty="0"/>
              <a:t>Cache</a:t>
            </a:r>
            <a:endParaRPr lang="en-US" altLang="zh-CN" dirty="0"/>
          </a:p>
          <a:p>
            <a:r>
              <a:rPr lang="en-US" altLang="zh-CN" dirty="0"/>
              <a:t>Column-Oriented Storage*</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What is a File System?</a:t>
            </a:r>
            <a:endParaRPr lang="en-US" altLang="zh-CN"/>
          </a:p>
        </p:txBody>
      </p:sp>
      <p:sp>
        <p:nvSpPr>
          <p:cNvPr id="3" name="内容占位符 2"/>
          <p:cNvSpPr>
            <a:spLocks noGrp="1"/>
          </p:cNvSpPr>
          <p:nvPr>
            <p:ph idx="1"/>
          </p:nvPr>
        </p:nvSpPr>
        <p:spPr/>
        <p:txBody>
          <a:bodyPr/>
          <a:lstStyle/>
          <a:p>
            <a:r>
              <a:rPr lang="en-US" altLang="zh-CN" sz="1200"/>
              <a:t>The Translator Between </a:t>
            </a:r>
            <a:r>
              <a:rPr lang="en-US" altLang="zh-CN" sz="1200" b="1"/>
              <a:t>You </a:t>
            </a:r>
            <a:r>
              <a:rPr lang="en-US" altLang="zh-CN" sz="1200"/>
              <a:t>and </a:t>
            </a:r>
            <a:r>
              <a:rPr lang="en-US" altLang="zh-CN" sz="1200" b="1"/>
              <a:t>Your Storage</a:t>
            </a:r>
            <a:endParaRPr lang="en-US" altLang="zh-CN" sz="1200" b="1"/>
          </a:p>
          <a:p>
            <a:r>
              <a:rPr lang="en-US" altLang="zh-CN" sz="1200"/>
              <a:t>The Core Problem:</a:t>
            </a:r>
            <a:endParaRPr lang="en-US" altLang="zh-CN" sz="1200"/>
          </a:p>
          <a:p>
            <a:pPr lvl="1"/>
            <a:r>
              <a:rPr lang="en-US" altLang="zh-CN" sz="1200"/>
              <a:t>A storage device (HDD, SSD) is just a "dumb" collection of fixed-size blocks.</a:t>
            </a:r>
            <a:endParaRPr lang="en-US" altLang="zh-CN" sz="1200"/>
          </a:p>
          <a:p>
            <a:pPr lvl="1"/>
            <a:r>
              <a:rPr lang="en-US" altLang="zh-CN" sz="1200"/>
              <a:t>How do we store, find, and manage our data (documents, photos, code) in a user-friendly way?</a:t>
            </a:r>
            <a:endParaRPr lang="en-US" altLang="zh-CN" sz="1200"/>
          </a:p>
          <a:p>
            <a:r>
              <a:rPr lang="en-US" altLang="zh-CN" sz="1200"/>
              <a:t>The Solution: The File System</a:t>
            </a:r>
            <a:endParaRPr lang="en-US" altLang="zh-CN" sz="1200"/>
          </a:p>
          <a:p>
            <a:pPr lvl="1"/>
            <a:r>
              <a:rPr lang="en-US" altLang="zh-CN" sz="1200"/>
              <a:t>It is the software layer in an operating system that manages how data is stored, organized, and retrieved on a storage device.</a:t>
            </a:r>
            <a:endParaRPr lang="en-US" altLang="zh-CN" sz="1200"/>
          </a:p>
        </p:txBody>
      </p:sp>
      <p:pic>
        <p:nvPicPr>
          <p:cNvPr id="4" name="图片 3"/>
          <p:cNvPicPr/>
          <p:nvPr/>
        </p:nvPicPr>
        <p:blipFill>
          <a:blip r:embed="rId1"/>
          <a:stretch>
            <a:fillRect/>
          </a:stretch>
        </p:blipFill>
        <p:spPr>
          <a:xfrm>
            <a:off x="2195830" y="2806700"/>
            <a:ext cx="5069840" cy="22364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What It Provides:</a:t>
            </a:r>
            <a:br>
              <a:rPr lang="en-US" altLang="zh-CN"/>
            </a:br>
            <a:br>
              <a:rPr lang="en-US" altLang="zh-CN"/>
            </a:br>
            <a:endParaRPr lang="en-US" altLang="zh-CN"/>
          </a:p>
        </p:txBody>
      </p:sp>
      <p:sp>
        <p:nvSpPr>
          <p:cNvPr id="3" name="内容占位符 2"/>
          <p:cNvSpPr>
            <a:spLocks noGrp="1"/>
          </p:cNvSpPr>
          <p:nvPr>
            <p:ph idx="1"/>
          </p:nvPr>
        </p:nvSpPr>
        <p:spPr>
          <a:xfrm>
            <a:off x="347980" y="2858135"/>
            <a:ext cx="8446770" cy="1910715"/>
          </a:xfrm>
        </p:spPr>
        <p:txBody>
          <a:bodyPr/>
          <a:lstStyle/>
          <a:p>
            <a:endParaRPr lang="zh-CN" altLang="en-US"/>
          </a:p>
        </p:txBody>
      </p:sp>
      <p:graphicFrame>
        <p:nvGraphicFramePr>
          <p:cNvPr id="4" name="表格 3"/>
          <p:cNvGraphicFramePr/>
          <p:nvPr>
            <p:custDataLst>
              <p:tags r:id="rId1"/>
            </p:custDataLst>
          </p:nvPr>
        </p:nvGraphicFramePr>
        <p:xfrm>
          <a:off x="511810" y="843280"/>
          <a:ext cx="7863840" cy="2927350"/>
        </p:xfrm>
        <a:graphic>
          <a:graphicData uri="http://schemas.openxmlformats.org/drawingml/2006/table">
            <a:tbl>
              <a:tblPr firstRow="1">
                <a:tableStyleId>{92B9C05A-2A7E-4D72-A66B-1C6792E0D88E}</a:tableStyleId>
              </a:tblPr>
              <a:tblGrid>
                <a:gridCol w="3931920"/>
                <a:gridCol w="3931920"/>
              </a:tblGrid>
              <a:tr h="585470">
                <a:tc>
                  <a:txBody>
                    <a:bodyPr/>
                    <a:lstStyle/>
                    <a:p>
                      <a:pPr algn="l">
                        <a:lnSpc>
                          <a:spcPts val="1500"/>
                        </a:lnSpc>
                      </a:pPr>
                      <a:r>
                        <a:rPr lang="en-US" altLang="zh-CN" sz="1400"/>
                        <a:t>Abstraction &amp; Structure</a:t>
                      </a:r>
                      <a:endParaRPr lang="en-US" altLang="zh-CN" sz="1400"/>
                    </a:p>
                  </a:txBody>
                  <a:tcPr marL="0" marR="122237" marT="76517" marB="76517" anchor="ctr"/>
                </a:tc>
                <a:tc>
                  <a:txBody>
                    <a:bodyPr/>
                    <a:lstStyle/>
                    <a:p>
                      <a:pPr algn="l">
                        <a:lnSpc>
                          <a:spcPts val="1500"/>
                        </a:lnSpc>
                      </a:pPr>
                      <a:r>
                        <a:rPr lang="en-US" altLang="zh-CN" sz="1400"/>
                        <a:t>Core Functions</a:t>
                      </a:r>
                      <a:endParaRPr lang="en-US" altLang="zh-CN" sz="1400"/>
                    </a:p>
                  </a:txBody>
                  <a:tcPr marL="122237" marR="122237" marT="76517" marB="76517" anchor="ctr"/>
                </a:tc>
              </a:tr>
              <a:tr h="585470">
                <a:tc>
                  <a:txBody>
                    <a:bodyPr/>
                    <a:lstStyle/>
                    <a:p>
                      <a:pPr>
                        <a:lnSpc>
                          <a:spcPts val="1500"/>
                        </a:lnSpc>
                      </a:pPr>
                      <a:r>
                        <a:rPr lang="en-US" altLang="zh-CN" sz="1400"/>
                        <a:t>Files: Named collections of data (bytes).</a:t>
                      </a:r>
                      <a:endParaRPr lang="en-US" altLang="zh-CN" sz="1400"/>
                    </a:p>
                  </a:txBody>
                  <a:tcPr marL="0" marR="122237" marT="76517" marB="76517" anchor="ctr"/>
                </a:tc>
                <a:tc>
                  <a:txBody>
                    <a:bodyPr/>
                    <a:lstStyle/>
                    <a:p>
                      <a:pPr>
                        <a:lnSpc>
                          <a:spcPts val="1500"/>
                        </a:lnSpc>
                      </a:pPr>
                      <a:r>
                        <a:rPr lang="en-US" altLang="zh-CN" sz="1400"/>
                        <a:t>Naming: Creates a human-readable name for data.</a:t>
                      </a:r>
                      <a:endParaRPr lang="en-US" altLang="zh-CN" sz="1400"/>
                    </a:p>
                  </a:txBody>
                  <a:tcPr marL="122237" marR="0" marT="76517" marB="76517" anchor="ctr"/>
                </a:tc>
              </a:tr>
              <a:tr h="585470">
                <a:tc>
                  <a:txBody>
                    <a:bodyPr/>
                    <a:lstStyle/>
                    <a:p>
                      <a:pPr>
                        <a:lnSpc>
                          <a:spcPts val="1500"/>
                        </a:lnSpc>
                      </a:pPr>
                      <a:r>
                        <a:rPr lang="en-US" altLang="zh-CN" sz="1400"/>
                        <a:t>Directories/Folders: Hierarchical organization.</a:t>
                      </a:r>
                      <a:endParaRPr lang="en-US" altLang="zh-CN" sz="1400"/>
                    </a:p>
                  </a:txBody>
                  <a:tcPr marL="0" marR="122237" marT="76517" marB="76517" anchor="ctr"/>
                </a:tc>
                <a:tc>
                  <a:txBody>
                    <a:bodyPr/>
                    <a:lstStyle/>
                    <a:p>
                      <a:pPr>
                        <a:lnSpc>
                          <a:spcPts val="1500"/>
                        </a:lnSpc>
                      </a:pPr>
                      <a:r>
                        <a:rPr lang="en-US" altLang="zh-CN" sz="1400"/>
                        <a:t>Metadata: Tracks info like size, creation time, permissions.</a:t>
                      </a:r>
                      <a:endParaRPr lang="en-US" altLang="zh-CN" sz="1400"/>
                    </a:p>
                  </a:txBody>
                  <a:tcPr marL="122237" marR="0" marT="76517" marB="76517" anchor="ctr"/>
                </a:tc>
              </a:tr>
              <a:tr h="585470">
                <a:tc>
                  <a:txBody>
                    <a:bodyPr/>
                    <a:lstStyle/>
                    <a:p>
                      <a:pPr>
                        <a:lnSpc>
                          <a:spcPts val="1500"/>
                        </a:lnSpc>
                      </a:pPr>
                      <a:r>
                        <a:rPr lang="en-US" altLang="zh-CN" sz="1400"/>
                        <a:t>Pathnames: A logical address (</a:t>
                      </a:r>
                      <a:r>
                        <a:rPr lang="en-US" altLang="zh-CN" sz="1000"/>
                        <a:t>/home/doc/report.txt</a:t>
                      </a:r>
                      <a:r>
                        <a:rPr lang="en-US" altLang="zh-CN" sz="1400"/>
                        <a:t>).</a:t>
                      </a:r>
                      <a:endParaRPr lang="en-US" altLang="zh-CN" sz="1400"/>
                    </a:p>
                  </a:txBody>
                  <a:tcPr marL="0" marR="122237" marT="76517" marB="76517" anchor="ctr"/>
                </a:tc>
                <a:tc>
                  <a:txBody>
                    <a:bodyPr/>
                    <a:lstStyle/>
                    <a:p>
                      <a:pPr>
                        <a:lnSpc>
                          <a:spcPts val="1500"/>
                        </a:lnSpc>
                      </a:pPr>
                      <a:r>
                        <a:rPr lang="en-US" altLang="zh-CN" sz="1400"/>
                        <a:t>Access Control: Manages who can read/write files.</a:t>
                      </a:r>
                      <a:endParaRPr lang="en-US" altLang="zh-CN" sz="1400"/>
                    </a:p>
                  </a:txBody>
                  <a:tcPr marL="122237" marR="0" marT="76517" marB="76517" anchor="ctr"/>
                </a:tc>
              </a:tr>
              <a:tr h="585470">
                <a:tc>
                  <a:txBody>
                    <a:bodyPr/>
                    <a:lstStyle/>
                    <a:p>
                      <a:pPr>
                        <a:lnSpc>
                          <a:spcPts val="1500"/>
                        </a:lnSpc>
                      </a:pPr>
                      <a:endParaRPr sz="1400"/>
                    </a:p>
                  </a:txBody>
                  <a:tcPr marL="0" marR="122237" marT="76517" marB="76517" anchor="ctr"/>
                </a:tc>
                <a:tc>
                  <a:txBody>
                    <a:bodyPr/>
                    <a:lstStyle/>
                    <a:p>
                      <a:pPr>
                        <a:lnSpc>
                          <a:spcPts val="1500"/>
                        </a:lnSpc>
                      </a:pPr>
                      <a:r>
                        <a:rPr lang="en-US" altLang="zh-CN" sz="1400"/>
                        <a:t>Reliability: Prevents corruption (e.g., journaling).</a:t>
                      </a:r>
                      <a:endParaRPr lang="en-US" altLang="zh-CN" sz="1400"/>
                    </a:p>
                  </a:txBody>
                  <a:tcPr marL="122237" marR="0" marT="76517" marB="76517"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The Magic Trick: Mapping</a:t>
            </a:r>
            <a:endParaRPr lang="en-US" altLang="zh-CN"/>
          </a:p>
        </p:txBody>
      </p:sp>
      <p:sp>
        <p:nvSpPr>
          <p:cNvPr id="3" name="内容占位符 2"/>
          <p:cNvSpPr>
            <a:spLocks noGrp="1"/>
          </p:cNvSpPr>
          <p:nvPr>
            <p:ph idx="1"/>
          </p:nvPr>
        </p:nvSpPr>
        <p:spPr>
          <a:xfrm>
            <a:off x="347980" y="719455"/>
            <a:ext cx="3726815" cy="4049395"/>
          </a:xfrm>
        </p:spPr>
        <p:txBody>
          <a:bodyPr/>
          <a:lstStyle/>
          <a:p>
            <a:r>
              <a:rPr lang="en-US" altLang="zh-CN" sz="1400"/>
              <a:t>The file system's key job is to translate the logical structure (Files &amp; Folders) into the physical reality (Blocks on a disk).</a:t>
            </a:r>
            <a:endParaRPr lang="en-US" altLang="zh-CN" sz="1400"/>
          </a:p>
          <a:p>
            <a:endParaRPr lang="en-US" altLang="zh-CN" sz="1400"/>
          </a:p>
          <a:p>
            <a:endParaRPr lang="en-US" altLang="zh-CN" sz="1400"/>
          </a:p>
          <a:p>
            <a:endParaRPr lang="en-US" altLang="zh-CN" sz="1400"/>
          </a:p>
          <a:p>
            <a:endParaRPr lang="en-US" altLang="zh-CN" sz="1400"/>
          </a:p>
          <a:p>
            <a:r>
              <a:rPr lang="en-US" altLang="zh-CN" sz="1400"/>
              <a:t>In a Nutshell: A File System turns a chaotic pile of raw storage blocks into an organized, usable, and reliable digital filing cabinet.</a:t>
            </a:r>
            <a:endParaRPr lang="en-US" altLang="zh-CN" sz="1400"/>
          </a:p>
        </p:txBody>
      </p:sp>
      <p:sp>
        <p:nvSpPr>
          <p:cNvPr id="4" name="文本框 3"/>
          <p:cNvSpPr txBox="1"/>
          <p:nvPr/>
        </p:nvSpPr>
        <p:spPr>
          <a:xfrm>
            <a:off x="826135" y="1564005"/>
            <a:ext cx="6670675" cy="1198880"/>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rtlCol="0">
            <a:spAutoFit/>
          </a:bodyPr>
          <a:lstStyle/>
          <a:p>
            <a:pPr algn="l">
              <a:buClrTx/>
              <a:buSzTx/>
              <a:buFontTx/>
            </a:pPr>
            <a:r>
              <a:rPr lang="en-US" altLang="en-US" sz="1200" dirty="0">
                <a:solidFill>
                  <a:srgbClr val="000000"/>
                </a:solidFill>
                <a:latin typeface="Canela Text Regular" charset="0"/>
                <a:ea typeface="Canela Text Regular" charset="0"/>
                <a:cs typeface="Canela Text Regular" charset="0"/>
              </a:rPr>
              <a:t>[User/App sees: "/Projects/data.txt"]</a:t>
            </a:r>
            <a:endParaRPr lang="en-US" altLang="en-US" sz="1200" dirty="0">
              <a:solidFill>
                <a:srgbClr val="000000"/>
              </a:solidFill>
              <a:latin typeface="Canela Text Regular" charset="0"/>
              <a:ea typeface="Canela Text Regular" charset="0"/>
              <a:cs typeface="Canela Text Regular" charset="0"/>
            </a:endParaRPr>
          </a:p>
          <a:p>
            <a:pPr algn="l">
              <a:buClrTx/>
              <a:buSzTx/>
              <a:buFontTx/>
            </a:pPr>
            <a:r>
              <a:rPr lang="en-US" altLang="en-US" sz="1200" dirty="0">
                <a:solidFill>
                  <a:srgbClr val="000000"/>
                </a:solidFill>
                <a:latin typeface="Canela Text Regular" charset="0"/>
                <a:ea typeface="Canela Text Regular" charset="0"/>
                <a:cs typeface="Canela Text Regular" charset="0"/>
              </a:rPr>
              <a:t>                      ↓</a:t>
            </a:r>
            <a:endParaRPr lang="en-US" altLang="en-US" sz="1200" dirty="0">
              <a:solidFill>
                <a:srgbClr val="000000"/>
              </a:solidFill>
              <a:latin typeface="Canela Text Regular" charset="0"/>
              <a:ea typeface="Canela Text Regular" charset="0"/>
              <a:cs typeface="Canela Text Regular" charset="0"/>
            </a:endParaRPr>
          </a:p>
          <a:p>
            <a:pPr algn="l">
              <a:buClrTx/>
              <a:buSzTx/>
              <a:buFontTx/>
            </a:pPr>
            <a:r>
              <a:rPr lang="en-US" altLang="en-US" sz="1200" dirty="0">
                <a:solidFill>
                  <a:srgbClr val="000000"/>
                </a:solidFill>
                <a:latin typeface="Canela Text Regular" charset="0"/>
                <a:ea typeface="Canela Text Regular" charset="0"/>
                <a:cs typeface="Canela Text Regular" charset="0"/>
              </a:rPr>
              <a:t>[File System maps this to:]</a:t>
            </a:r>
            <a:endParaRPr lang="en-US" altLang="en-US" sz="1200" dirty="0">
              <a:solidFill>
                <a:srgbClr val="000000"/>
              </a:solidFill>
              <a:latin typeface="Canela Text Regular" charset="0"/>
              <a:ea typeface="Canela Text Regular" charset="0"/>
              <a:cs typeface="Canela Text Regular" charset="0"/>
            </a:endParaRPr>
          </a:p>
          <a:p>
            <a:pPr algn="l">
              <a:buClrTx/>
              <a:buSzTx/>
              <a:buFontTx/>
            </a:pPr>
            <a:r>
              <a:rPr lang="en-US" altLang="en-US" sz="1200" dirty="0">
                <a:solidFill>
                  <a:srgbClr val="000000"/>
                </a:solidFill>
                <a:latin typeface="Canela Text Regular" charset="0"/>
                <a:ea typeface="Canela Text Regular" charset="0"/>
                <a:cs typeface="Canela Text Regular" charset="0"/>
              </a:rPr>
              <a:t>  - Block 1023: "Hello, "</a:t>
            </a:r>
            <a:endParaRPr lang="en-US" altLang="en-US" sz="1200" dirty="0">
              <a:solidFill>
                <a:srgbClr val="000000"/>
              </a:solidFill>
              <a:latin typeface="Canela Text Regular" charset="0"/>
              <a:ea typeface="Canela Text Regular" charset="0"/>
              <a:cs typeface="Canela Text Regular" charset="0"/>
            </a:endParaRPr>
          </a:p>
          <a:p>
            <a:pPr algn="l">
              <a:buClrTx/>
              <a:buSzTx/>
              <a:buFontTx/>
            </a:pPr>
            <a:r>
              <a:rPr lang="en-US" altLang="en-US" sz="1200" dirty="0">
                <a:solidFill>
                  <a:srgbClr val="000000"/>
                </a:solidFill>
                <a:latin typeface="Canela Text Regular" charset="0"/>
                <a:ea typeface="Canela Text Regular" charset="0"/>
                <a:cs typeface="Canela Text Regular" charset="0"/>
              </a:rPr>
              <a:t>  - Block 1045: "World!"</a:t>
            </a:r>
            <a:endParaRPr lang="en-US" altLang="en-US" sz="1200" dirty="0">
              <a:solidFill>
                <a:srgbClr val="000000"/>
              </a:solidFill>
              <a:latin typeface="Canela Text Regular" charset="0"/>
              <a:ea typeface="Canela Text Regular" charset="0"/>
              <a:cs typeface="Canela Text Regular" charset="0"/>
            </a:endParaRPr>
          </a:p>
          <a:p>
            <a:pPr algn="l">
              <a:buClrTx/>
              <a:buSzTx/>
              <a:buFontTx/>
            </a:pPr>
            <a:r>
              <a:rPr lang="en-US" altLang="en-US" sz="1200" dirty="0">
                <a:solidFill>
                  <a:srgbClr val="000000"/>
                </a:solidFill>
                <a:latin typeface="Canela Text Regular" charset="0"/>
                <a:ea typeface="Canela Text Regular" charset="0"/>
                <a:cs typeface="Canela Text Regular" charset="0"/>
              </a:rPr>
              <a:t>  - Block 2011: (Rest of file...)</a:t>
            </a:r>
            <a:endParaRPr lang="en-US" altLang="en-US" sz="1200" dirty="0">
              <a:solidFill>
                <a:srgbClr val="000000"/>
              </a:solidFill>
              <a:latin typeface="Canela Text Regular" charset="0"/>
              <a:ea typeface="Canela Text Regular" charset="0"/>
              <a:cs typeface="Canela Text Regular" charset="0"/>
            </a:endParaRPr>
          </a:p>
        </p:txBody>
      </p:sp>
      <p:pic>
        <p:nvPicPr>
          <p:cNvPr id="5" name="图片 4"/>
          <p:cNvPicPr/>
          <p:nvPr/>
        </p:nvPicPr>
        <p:blipFill>
          <a:blip r:embed="rId1"/>
          <a:stretch>
            <a:fillRect/>
          </a:stretch>
        </p:blipFill>
        <p:spPr>
          <a:xfrm>
            <a:off x="4859655" y="988060"/>
            <a:ext cx="4203065" cy="27997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Database Systems vs. File Systems: A Layered Partnership</a:t>
            </a:r>
            <a:endParaRPr lang="en-US" altLang="zh-CN"/>
          </a:p>
        </p:txBody>
      </p:sp>
      <p:sp>
        <p:nvSpPr>
          <p:cNvPr id="3" name="内容占位符 2"/>
          <p:cNvSpPr>
            <a:spLocks noGrp="1"/>
          </p:cNvSpPr>
          <p:nvPr>
            <p:ph idx="1"/>
          </p:nvPr>
        </p:nvSpPr>
        <p:spPr/>
        <p:txBody>
          <a:bodyPr/>
          <a:lstStyle/>
          <a:p>
            <a:r>
              <a:rPr lang="en-US" altLang="zh-CN" sz="1600">
                <a:sym typeface="+mn-ea"/>
              </a:rPr>
              <a:t>File Systems</a:t>
            </a:r>
            <a:r>
              <a:rPr lang="en-US" altLang="zh-CN" sz="1600"/>
              <a:t>: Presents a linear array of bytes within each file.</a:t>
            </a:r>
            <a:endParaRPr lang="en-US" altLang="zh-CN" sz="1600"/>
          </a:p>
          <a:p>
            <a:r>
              <a:rPr lang="en-US" altLang="zh-CN" sz="1600"/>
              <a:t>Database System: as the "Data Expert"</a:t>
            </a:r>
            <a:endParaRPr lang="en-US" altLang="zh-CN" sz="1600"/>
          </a:p>
          <a:p>
            <a:pPr lvl="1"/>
            <a:r>
              <a:rPr lang="en-US" altLang="zh-CN" sz="1600"/>
              <a:t>Abstraction: Presents tables, indexes, schemas, and a high-level query language (e.g., SQL).</a:t>
            </a:r>
            <a:endParaRPr lang="en-US" altLang="zh-CN" sz="1600"/>
          </a:p>
          <a:p>
            <a:r>
              <a:rPr lang="en-US" altLang="zh-CN" sz="1600"/>
              <a:t>Key Responsibilities:</a:t>
            </a:r>
            <a:endParaRPr lang="en-US" altLang="zh-CN" sz="1600"/>
          </a:p>
          <a:p>
            <a:pPr lvl="1"/>
            <a:r>
              <a:rPr lang="en-US" altLang="zh-CN" sz="1600"/>
              <a:t>Data Structures: Implements tables, B+Trees, and indexes within one or more files provided by the file system.</a:t>
            </a:r>
            <a:endParaRPr lang="en-US" altLang="zh-CN" sz="1600"/>
          </a:p>
          <a:p>
            <a:pPr lvl="1"/>
            <a:r>
              <a:rPr lang="en-US" altLang="zh-CN" sz="1600"/>
              <a:t>Query Processing: Translates high-level queries into low-level file operations (read, write, seek).</a:t>
            </a:r>
            <a:endParaRPr lang="en-US" altLang="zh-CN" sz="1600"/>
          </a:p>
          <a:p>
            <a:pPr lvl="1"/>
            <a:r>
              <a:rPr lang="en-US" altLang="zh-CN" sz="1600"/>
              <a:t>Advanced Control: Implements its own buffer pool caching and transaction logs for reliability and performance.</a:t>
            </a:r>
            <a:endParaRPr lang="en-US" altLang="zh-CN"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The Crucial Relationship</a:t>
            </a:r>
            <a:endParaRPr lang="en-US" altLang="zh-CN"/>
          </a:p>
        </p:txBody>
      </p:sp>
      <p:sp>
        <p:nvSpPr>
          <p:cNvPr id="3" name="内容占位符 2"/>
          <p:cNvSpPr>
            <a:spLocks noGrp="1"/>
          </p:cNvSpPr>
          <p:nvPr>
            <p:ph idx="1"/>
          </p:nvPr>
        </p:nvSpPr>
        <p:spPr>
          <a:xfrm>
            <a:off x="347980" y="1851025"/>
            <a:ext cx="8446770" cy="797560"/>
          </a:xfrm>
        </p:spPr>
        <p:txBody>
          <a:bodyPr/>
          <a:lstStyle/>
          <a:p>
            <a:r>
              <a:rPr lang="en-US" altLang="zh-CN"/>
              <a:t>The File System provides the foundation of persistent storage, while the Database System adds the logic for data organization, integrity, and access.</a:t>
            </a:r>
            <a:endParaRPr lang="en-US" altLang="zh-CN"/>
          </a:p>
        </p:txBody>
      </p:sp>
      <p:sp>
        <p:nvSpPr>
          <p:cNvPr id="4" name="文本框 3"/>
          <p:cNvSpPr txBox="1"/>
          <p:nvPr/>
        </p:nvSpPr>
        <p:spPr>
          <a:xfrm>
            <a:off x="1548130" y="843915"/>
            <a:ext cx="5591175" cy="829945"/>
          </a:xfrm>
          <a:prstGeom prst="rect">
            <a:avLst/>
          </a:prstGeom>
        </p:spPr>
        <p:style>
          <a:lnRef idx="2">
            <a:schemeClr val="accent1"/>
          </a:lnRef>
          <a:fillRef idx="0">
            <a:srgbClr val="FFFFFF"/>
          </a:fillRef>
          <a:effectRef idx="0">
            <a:srgbClr val="FFFFFF"/>
          </a:effectRef>
          <a:fontRef idx="minor">
            <a:schemeClr val="tx1"/>
          </a:fontRef>
        </p:style>
        <p:txBody>
          <a:bodyPr wrap="square" rtlCol="0">
            <a:spAutoFit/>
          </a:bodyPr>
          <a:lstStyle/>
          <a:p>
            <a:r>
              <a:rPr lang="en-US" altLang="zh-CN" sz="2400" b="1">
                <a:latin typeface="Bradley Hand ITC" panose="03070402050302030203" charset="0"/>
                <a:cs typeface="Bradley Hand ITC" panose="03070402050302030203" charset="0"/>
              </a:rPr>
              <a:t>A Database System is a sophisticated user of the File System.</a:t>
            </a:r>
            <a:endParaRPr lang="en-US" altLang="zh-CN" sz="2400" b="1">
              <a:latin typeface="Bradley Hand ITC" panose="03070402050302030203" charset="0"/>
              <a:cs typeface="Bradley Hand ITC" panose="03070402050302030203" charset="0"/>
            </a:endParaRPr>
          </a:p>
        </p:txBody>
      </p:sp>
      <p:sp>
        <p:nvSpPr>
          <p:cNvPr id="5" name="文本框 4"/>
          <p:cNvSpPr txBox="1"/>
          <p:nvPr/>
        </p:nvSpPr>
        <p:spPr>
          <a:xfrm>
            <a:off x="2058035" y="2932430"/>
            <a:ext cx="4572000" cy="1014730"/>
          </a:xfrm>
          <a:prstGeom prst="rect">
            <a:avLst/>
          </a:prstGeom>
          <a:noFill/>
        </p:spPr>
        <p:txBody>
          <a:bodyPr wrap="square" rtlCol="0" anchor="t">
            <a:spAutoFit/>
          </a:bodyPr>
          <a:lstStyle/>
          <a:p>
            <a:r>
              <a:rPr lang="en-US" altLang="zh-CN" sz="1200"/>
              <a:t>[Database Engine (SQL, Transactions, Query Optimizer)]</a:t>
            </a:r>
            <a:endParaRPr lang="en-US" altLang="zh-CN" sz="1200"/>
          </a:p>
          <a:p>
            <a:r>
              <a:rPr lang="en-US" altLang="zh-CN" sz="1200"/>
              <a:t>          </a:t>
            </a:r>
            <a:r>
              <a:rPr lang="en-US" altLang="en-US" sz="1200"/>
              <a:t>↓</a:t>
            </a:r>
            <a:r>
              <a:rPr lang="en-US" altLang="zh-CN" sz="1200"/>
              <a:t> (Uses)</a:t>
            </a:r>
            <a:endParaRPr lang="en-US" altLang="zh-CN" sz="1200"/>
          </a:p>
          <a:p>
            <a:r>
              <a:rPr lang="en-US" altLang="zh-CN" sz="1200"/>
              <a:t>[File System API (open, read, write, seek)]</a:t>
            </a:r>
            <a:endParaRPr lang="en-US" altLang="zh-CN" sz="1200"/>
          </a:p>
          <a:p>
            <a:r>
              <a:rPr lang="en-US" altLang="zh-CN" sz="1200"/>
              <a:t>          </a:t>
            </a:r>
            <a:r>
              <a:rPr lang="en-US" altLang="en-US" sz="1200"/>
              <a:t>↓</a:t>
            </a:r>
            <a:r>
              <a:rPr lang="en-US" altLang="zh-CN" sz="1200"/>
              <a:t> (Manages)</a:t>
            </a:r>
            <a:endParaRPr lang="en-US" altLang="zh-CN" sz="1200"/>
          </a:p>
          <a:p>
            <a:r>
              <a:rPr lang="en-US" altLang="zh-CN" sz="1200"/>
              <a:t>[Raw Disk Blocks (Hard Drive / SSD)]</a:t>
            </a:r>
            <a:endParaRPr lang="en-US" altLang="zh-CN"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000"/>
              <a:t>How Programs Control Data Layout Within Files</a:t>
            </a:r>
            <a:br>
              <a:rPr lang="en-US" altLang="zh-CN" sz="2000"/>
            </a:br>
            <a:endParaRPr lang="en-US" altLang="zh-CN" sz="2000"/>
          </a:p>
        </p:txBody>
      </p:sp>
      <p:sp>
        <p:nvSpPr>
          <p:cNvPr id="3" name="内容占位符 2"/>
          <p:cNvSpPr>
            <a:spLocks noGrp="1"/>
          </p:cNvSpPr>
          <p:nvPr>
            <p:ph idx="1"/>
          </p:nvPr>
        </p:nvSpPr>
        <p:spPr>
          <a:xfrm>
            <a:off x="347980" y="719455"/>
            <a:ext cx="4319905" cy="4049395"/>
          </a:xfrm>
        </p:spPr>
        <p:txBody>
          <a:bodyPr/>
          <a:lstStyle/>
          <a:p>
            <a:r>
              <a:rPr lang="en-US" altLang="zh-CN" sz="1200"/>
              <a:t>Key Distinction: Logical vs. Physical</a:t>
            </a:r>
            <a:endParaRPr lang="en-US" altLang="zh-CN" sz="1200"/>
          </a:p>
          <a:p>
            <a:pPr lvl="1"/>
            <a:r>
              <a:rPr lang="en-US" altLang="zh-CN" sz="1200"/>
              <a:t>Logical Layout: The order and position of bytes as seen by the application. This is what a program controls.</a:t>
            </a:r>
            <a:endParaRPr lang="en-US" altLang="zh-CN" sz="1200"/>
          </a:p>
          <a:p>
            <a:pPr lvl="1"/>
            <a:r>
              <a:rPr lang="en-US" altLang="zh-CN" sz="1200"/>
              <a:t>Physical Storage: The location of data on the actual disk hardware. This is managed automatically by the OS and File System.</a:t>
            </a:r>
            <a:endParaRPr lang="en-US" altLang="zh-CN" sz="1200"/>
          </a:p>
          <a:p>
            <a:r>
              <a:rPr lang="en-US" altLang="zh-CN" sz="1200"/>
              <a:t>Core Mechanism: The File Pointer</a:t>
            </a:r>
            <a:endParaRPr lang="en-US" altLang="zh-CN" sz="1200"/>
          </a:p>
          <a:p>
            <a:pPr lvl="1"/>
            <a:r>
              <a:rPr lang="en-US" altLang="zh-CN" sz="1200"/>
              <a:t>Every open file has a file pointer (or file offset), which acts as a cursor within the file.</a:t>
            </a:r>
            <a:endParaRPr lang="en-US" altLang="zh-CN" sz="1200"/>
          </a:p>
          <a:p>
            <a:pPr lvl="1"/>
            <a:r>
              <a:rPr lang="en-US" altLang="zh-CN" sz="1200"/>
              <a:t>Read/Write operations start at the current position of this pointer and advance it automatically.</a:t>
            </a:r>
            <a:endParaRPr lang="en-US" altLang="zh-CN" sz="1200"/>
          </a:p>
          <a:p>
            <a:r>
              <a:rPr lang="en-US" altLang="zh-CN" sz="1200"/>
              <a:t>Primary Control Method: Seeking</a:t>
            </a:r>
            <a:endParaRPr lang="en-US" altLang="zh-CN" sz="1200"/>
          </a:p>
          <a:p>
            <a:pPr lvl="1"/>
            <a:r>
              <a:rPr lang="en-US" altLang="zh-CN" sz="1200"/>
              <a:t>The lseek (Linux/POSIX) or SetFilePointer (Windows) system call is the primary tool.</a:t>
            </a:r>
            <a:endParaRPr lang="en-US" altLang="zh-CN" sz="1200"/>
          </a:p>
          <a:p>
            <a:pPr lvl="1"/>
            <a:r>
              <a:rPr lang="en-US" altLang="zh-CN" sz="1200"/>
              <a:t>It allows a program to reposition the file pointer to any byte offset within the file.</a:t>
            </a:r>
            <a:endParaRPr lang="en-US" altLang="zh-CN" sz="1200"/>
          </a:p>
        </p:txBody>
      </p:sp>
      <p:sp>
        <p:nvSpPr>
          <p:cNvPr id="5" name="文本框 4"/>
          <p:cNvSpPr txBox="1"/>
          <p:nvPr/>
        </p:nvSpPr>
        <p:spPr>
          <a:xfrm>
            <a:off x="5147945" y="1131570"/>
            <a:ext cx="3324860" cy="2491740"/>
          </a:xfrm>
          <a:prstGeom prst="rect">
            <a:avLst/>
          </a:prstGeom>
          <a:noFill/>
        </p:spPr>
        <p:txBody>
          <a:bodyPr wrap="square" rtlCol="0" anchor="t">
            <a:spAutoFit/>
          </a:bodyPr>
          <a:lstStyle/>
          <a:p>
            <a:r>
              <a:rPr lang="en-US" altLang="zh-CN" sz="1200"/>
              <a:t>// 1. Open a file</a:t>
            </a:r>
            <a:endParaRPr lang="en-US" altLang="zh-CN" sz="1200"/>
          </a:p>
          <a:p>
            <a:r>
              <a:rPr lang="en-US" altLang="zh-CN" sz="1200"/>
              <a:t>int fd = open("data.bin", O_RDWR);</a:t>
            </a:r>
            <a:endParaRPr lang="en-US" altLang="zh-CN" sz="1200"/>
          </a:p>
          <a:p>
            <a:endParaRPr lang="en-US" altLang="zh-CN" sz="1200"/>
          </a:p>
          <a:p>
            <a:r>
              <a:rPr lang="en-US" altLang="zh-CN" sz="1200"/>
              <a:t>// 2. CONTROL: Move pointer to a specific location (e.g., 1024 bytes from start)</a:t>
            </a:r>
            <a:endParaRPr lang="en-US" altLang="zh-CN" sz="1200"/>
          </a:p>
          <a:p>
            <a:r>
              <a:rPr lang="en-US" altLang="zh-CN" sz="1200"/>
              <a:t>lseek(fd, 1024, SEEK_SET);</a:t>
            </a:r>
            <a:endParaRPr lang="en-US" altLang="zh-CN" sz="1200"/>
          </a:p>
          <a:p>
            <a:endParaRPr lang="en-US" altLang="zh-CN" sz="1200"/>
          </a:p>
          <a:p>
            <a:r>
              <a:rPr lang="en-US" altLang="zh-CN" sz="1200"/>
              <a:t>// 3. Write data at that exact location</a:t>
            </a:r>
            <a:endParaRPr lang="en-US" altLang="zh-CN" sz="1200"/>
          </a:p>
          <a:p>
            <a:r>
              <a:rPr lang="en-US" altLang="zh-CN" sz="1200"/>
              <a:t>write(fd, buffer, buffer_size);</a:t>
            </a:r>
            <a:endParaRPr lang="en-US" altLang="zh-CN" sz="1200"/>
          </a:p>
          <a:p>
            <a:endParaRPr lang="en-US" altLang="zh-CN" sz="1200"/>
          </a:p>
          <a:p>
            <a:r>
              <a:rPr lang="en-US" altLang="zh-CN" sz="1200"/>
              <a:t>// The data "buffer" is now logically placed at offset 1024-1024+buffer_size.</a:t>
            </a:r>
            <a:endParaRPr lang="en-US" altLang="zh-CN"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sv-SE" altLang="zh-CN" dirty="0"/>
              <a:t>The Abstraction of Storage</a:t>
            </a:r>
            <a:endParaRPr lang="zh-CN" altLang="en-US" dirty="0"/>
          </a:p>
        </p:txBody>
      </p:sp>
      <p:sp>
        <p:nvSpPr>
          <p:cNvPr id="3" name="内容占位符 2"/>
          <p:cNvSpPr>
            <a:spLocks noGrp="1"/>
          </p:cNvSpPr>
          <p:nvPr>
            <p:ph idx="1"/>
          </p:nvPr>
        </p:nvSpPr>
        <p:spPr>
          <a:xfrm>
            <a:off x="347663" y="719138"/>
            <a:ext cx="4512369" cy="4049712"/>
          </a:xfrm>
        </p:spPr>
        <p:txBody>
          <a:bodyPr/>
          <a:lstStyle/>
          <a:p>
            <a:pPr algn="l"/>
            <a:r>
              <a:rPr lang="en-US" altLang="zh-CN" sz="1000" i="0" dirty="0">
                <a:solidFill>
                  <a:srgbClr val="0F1115"/>
                </a:solidFill>
                <a:effectLst/>
                <a:latin typeface="quote-cjk-patch"/>
              </a:rPr>
              <a:t>The Hardware Reality: Disk Sectors</a:t>
            </a:r>
            <a:endParaRPr lang="en-US" altLang="zh-CN" sz="1000" i="0" dirty="0">
              <a:solidFill>
                <a:srgbClr val="0F1115"/>
              </a:solidFill>
              <a:effectLst/>
              <a:latin typeface="quote-cjk-patch"/>
            </a:endParaRPr>
          </a:p>
          <a:p>
            <a:pPr algn="l">
              <a:buFont typeface="Arial" panose="020B0604020202020204" pitchFamily="34" charset="0"/>
              <a:buChar char="•"/>
            </a:pPr>
            <a:r>
              <a:rPr lang="en-US" altLang="zh-CN" sz="1000" i="0" dirty="0">
                <a:solidFill>
                  <a:srgbClr val="0F1115"/>
                </a:solidFill>
                <a:effectLst/>
                <a:latin typeface="quote-cjk-patch"/>
              </a:rPr>
              <a:t>Definition: The smallest physically addressable unit on a storage device.</a:t>
            </a:r>
            <a:endParaRPr lang="en-US" altLang="zh-CN" sz="1000" i="0" dirty="0">
              <a:solidFill>
                <a:srgbClr val="0F1115"/>
              </a:solidFill>
              <a:effectLst/>
              <a:latin typeface="quote-cjk-patch"/>
            </a:endParaRPr>
          </a:p>
          <a:p>
            <a:pPr algn="l">
              <a:buFont typeface="Arial" panose="020B0604020202020204" pitchFamily="34" charset="0"/>
              <a:buChar char="•"/>
            </a:pPr>
            <a:r>
              <a:rPr lang="en-US" altLang="zh-CN" sz="1000" i="0" dirty="0">
                <a:solidFill>
                  <a:srgbClr val="0F1115"/>
                </a:solidFill>
                <a:effectLst/>
                <a:latin typeface="quote-cjk-patch"/>
              </a:rPr>
              <a:t>Typical Size:</a:t>
            </a:r>
            <a:endParaRPr lang="en-US" altLang="zh-CN" sz="1000" i="0" dirty="0">
              <a:solidFill>
                <a:srgbClr val="0F1115"/>
              </a:solidFill>
              <a:effectLst/>
              <a:latin typeface="quote-cjk-patch"/>
            </a:endParaRPr>
          </a:p>
          <a:p>
            <a:pPr marL="742950" lvl="1" indent="-285750" algn="l">
              <a:buFont typeface="Arial" panose="020B0604020202020204" pitchFamily="34" charset="0"/>
              <a:buChar char="•"/>
            </a:pPr>
            <a:r>
              <a:rPr lang="en-US" altLang="zh-CN" sz="1000" i="0" dirty="0">
                <a:solidFill>
                  <a:srgbClr val="0F1115"/>
                </a:solidFill>
                <a:effectLst/>
                <a:latin typeface="quote-cjk-patch"/>
              </a:rPr>
              <a:t>Legacy HDDs: 512 Bytes</a:t>
            </a:r>
            <a:endParaRPr lang="en-US" altLang="zh-CN" sz="1000" i="0" dirty="0">
              <a:solidFill>
                <a:srgbClr val="0F1115"/>
              </a:solidFill>
              <a:effectLst/>
              <a:latin typeface="quote-cjk-patch"/>
            </a:endParaRPr>
          </a:p>
          <a:p>
            <a:pPr marL="742950" lvl="1" indent="-285750" algn="l">
              <a:buFont typeface="Arial" panose="020B0604020202020204" pitchFamily="34" charset="0"/>
              <a:buChar char="•"/>
            </a:pPr>
            <a:r>
              <a:rPr lang="en-US" altLang="zh-CN" sz="1000" i="0" dirty="0">
                <a:solidFill>
                  <a:srgbClr val="0F1115"/>
                </a:solidFill>
                <a:effectLst/>
                <a:latin typeface="quote-cjk-patch"/>
              </a:rPr>
              <a:t>Modern HDDs/SSDs: 4096 Bytes (4KB) - "Advanced Format"</a:t>
            </a:r>
            <a:endParaRPr lang="en-US" altLang="zh-CN" sz="1000" i="0" dirty="0">
              <a:solidFill>
                <a:srgbClr val="0F1115"/>
              </a:solidFill>
              <a:effectLst/>
              <a:latin typeface="quote-cjk-patch"/>
            </a:endParaRPr>
          </a:p>
          <a:p>
            <a:pPr algn="l">
              <a:buFont typeface="Arial" panose="020B0604020202020204" pitchFamily="34" charset="0"/>
              <a:buChar char="•"/>
            </a:pPr>
            <a:r>
              <a:rPr lang="en-US" altLang="zh-CN" sz="1000" i="0" dirty="0">
                <a:solidFill>
                  <a:srgbClr val="0F1115"/>
                </a:solidFill>
                <a:effectLst/>
                <a:latin typeface="quote-cjk-patch"/>
              </a:rPr>
              <a:t>Analogy: The</a:t>
            </a:r>
            <a:r>
              <a:rPr lang="en-US" altLang="zh-CN" sz="1000" b="1" i="0" dirty="0">
                <a:solidFill>
                  <a:srgbClr val="0F1115"/>
                </a:solidFill>
                <a:effectLst/>
                <a:latin typeface="quote-cjk-patch"/>
              </a:rPr>
              <a:t> individual bricks </a:t>
            </a:r>
            <a:r>
              <a:rPr lang="en-US" altLang="zh-CN" sz="1000" i="0" dirty="0">
                <a:solidFill>
                  <a:srgbClr val="0F1115"/>
                </a:solidFill>
                <a:effectLst/>
                <a:latin typeface="quote-cjk-patch"/>
              </a:rPr>
              <a:t>used in construction.</a:t>
            </a:r>
            <a:endParaRPr lang="en-US" altLang="zh-CN" sz="1000" i="0" dirty="0">
              <a:solidFill>
                <a:srgbClr val="0F1115"/>
              </a:solidFill>
              <a:effectLst/>
              <a:latin typeface="quote-cjk-patch"/>
            </a:endParaRPr>
          </a:p>
          <a:p>
            <a:pPr algn="l"/>
            <a:br>
              <a:rPr lang="en-US" altLang="zh-CN" sz="1000" dirty="0"/>
            </a:br>
            <a:r>
              <a:rPr lang="en-US" altLang="zh-CN" sz="1000" i="0" dirty="0">
                <a:solidFill>
                  <a:srgbClr val="0F1115"/>
                </a:solidFill>
                <a:effectLst/>
                <a:latin typeface="quote-cjk-patch"/>
              </a:rPr>
              <a:t>The Software Abstraction: File System Blocks</a:t>
            </a:r>
            <a:endParaRPr lang="en-US" altLang="zh-CN" sz="1000" i="0" dirty="0">
              <a:solidFill>
                <a:srgbClr val="0F1115"/>
              </a:solidFill>
              <a:effectLst/>
              <a:latin typeface="quote-cjk-patch"/>
            </a:endParaRPr>
          </a:p>
          <a:p>
            <a:pPr algn="l">
              <a:buFont typeface="Arial" panose="020B0604020202020204" pitchFamily="34" charset="0"/>
              <a:buChar char="•"/>
            </a:pPr>
            <a:r>
              <a:rPr lang="en-US" altLang="zh-CN" sz="1000" i="0" dirty="0">
                <a:solidFill>
                  <a:srgbClr val="0F1115"/>
                </a:solidFill>
                <a:effectLst/>
                <a:latin typeface="quote-cjk-patch"/>
              </a:rPr>
              <a:t>Definition: The smallest unit of allocation managed by the file system.</a:t>
            </a:r>
            <a:endParaRPr lang="en-US" altLang="zh-CN" sz="1000" i="0" dirty="0">
              <a:solidFill>
                <a:srgbClr val="0F1115"/>
              </a:solidFill>
              <a:effectLst/>
              <a:latin typeface="quote-cjk-patch"/>
            </a:endParaRPr>
          </a:p>
          <a:p>
            <a:pPr algn="l">
              <a:buFont typeface="Arial" panose="020B0604020202020204" pitchFamily="34" charset="0"/>
              <a:buChar char="•"/>
            </a:pPr>
            <a:r>
              <a:rPr lang="en-US" altLang="zh-CN" sz="1000" i="0" dirty="0">
                <a:solidFill>
                  <a:srgbClr val="0F1115"/>
                </a:solidFill>
                <a:effectLst/>
                <a:latin typeface="quote-cjk-patch"/>
              </a:rPr>
              <a:t>Typical Size: 4KB (most common), 8KB.</a:t>
            </a:r>
            <a:endParaRPr lang="en-US" altLang="zh-CN" sz="1000" i="0" dirty="0">
              <a:solidFill>
                <a:srgbClr val="0F1115"/>
              </a:solidFill>
              <a:effectLst/>
              <a:latin typeface="quote-cjk-patch"/>
            </a:endParaRPr>
          </a:p>
          <a:p>
            <a:pPr algn="l">
              <a:buFont typeface="Arial" panose="020B0604020202020204" pitchFamily="34" charset="0"/>
              <a:buChar char="•"/>
            </a:pPr>
            <a:r>
              <a:rPr lang="en-US" altLang="zh-CN" sz="1000" i="0" dirty="0">
                <a:solidFill>
                  <a:srgbClr val="0F1115"/>
                </a:solidFill>
                <a:effectLst/>
                <a:latin typeface="quote-cjk-patch"/>
              </a:rPr>
              <a:t>Why? Efficiency. Managing 4KB blocks is far less overhead than managing 512B sectors.</a:t>
            </a:r>
            <a:endParaRPr lang="en-US" altLang="zh-CN" sz="1000" i="0" dirty="0">
              <a:solidFill>
                <a:srgbClr val="0F1115"/>
              </a:solidFill>
              <a:effectLst/>
              <a:latin typeface="quote-cjk-patch"/>
            </a:endParaRPr>
          </a:p>
          <a:p>
            <a:pPr algn="l">
              <a:buFont typeface="Arial" panose="020B0604020202020204" pitchFamily="34" charset="0"/>
              <a:buChar char="•"/>
            </a:pPr>
            <a:r>
              <a:rPr lang="en-US" altLang="zh-CN" sz="1000" i="0" dirty="0">
                <a:solidFill>
                  <a:srgbClr val="0F1115"/>
                </a:solidFill>
                <a:effectLst/>
                <a:latin typeface="quote-cjk-patch"/>
              </a:rPr>
              <a:t>Analogy: Pre-assembled </a:t>
            </a:r>
            <a:r>
              <a:rPr lang="en-US" altLang="zh-CN" sz="1000" b="1" i="0" dirty="0">
                <a:solidFill>
                  <a:srgbClr val="0F1115"/>
                </a:solidFill>
                <a:effectLst/>
                <a:latin typeface="quote-cjk-patch"/>
              </a:rPr>
              <a:t>wall panels </a:t>
            </a:r>
            <a:r>
              <a:rPr lang="en-US" altLang="zh-CN" sz="1000" i="0" dirty="0">
                <a:solidFill>
                  <a:srgbClr val="0F1115"/>
                </a:solidFill>
                <a:effectLst/>
                <a:latin typeface="quote-cjk-patch"/>
              </a:rPr>
              <a:t>made from multiple bricks.</a:t>
            </a:r>
            <a:endParaRPr lang="en-US" altLang="zh-CN" sz="1000" i="0" dirty="0">
              <a:solidFill>
                <a:srgbClr val="0F1115"/>
              </a:solidFill>
              <a:effectLst/>
              <a:latin typeface="quote-cjk-patch"/>
            </a:endParaRPr>
          </a:p>
          <a:p>
            <a:br>
              <a:rPr lang="en-US" altLang="zh-CN" sz="1000" dirty="0"/>
            </a:br>
            <a:endParaRPr lang="zh-CN" altLang="en-US" sz="1000" dirty="0"/>
          </a:p>
        </p:txBody>
      </p:sp>
      <p:pic>
        <p:nvPicPr>
          <p:cNvPr id="5" name="图片 4" descr="图片包含 木, 桌子, 板子, 大&#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16016" y="762902"/>
            <a:ext cx="4155926" cy="41559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The Crucial Relationship: The Block-to-Sector Map</a:t>
            </a:r>
            <a:endParaRPr lang="zh-CN" altLang="en-US" sz="2400" dirty="0"/>
          </a:p>
        </p:txBody>
      </p:sp>
      <p:sp>
        <p:nvSpPr>
          <p:cNvPr id="3" name="内容占位符 2"/>
          <p:cNvSpPr>
            <a:spLocks noGrp="1"/>
          </p:cNvSpPr>
          <p:nvPr>
            <p:ph idx="1"/>
          </p:nvPr>
        </p:nvSpPr>
        <p:spPr/>
        <p:txBody>
          <a:bodyPr/>
          <a:lstStyle/>
          <a:p>
            <a:pPr algn="l">
              <a:buFont typeface="Arial" panose="020B0604020202020204" pitchFamily="34" charset="0"/>
              <a:buChar char="•"/>
            </a:pPr>
            <a:r>
              <a:rPr lang="en-US" altLang="zh-CN" b="0" i="0" dirty="0">
                <a:solidFill>
                  <a:srgbClr val="0F1115"/>
                </a:solidFill>
                <a:effectLst/>
                <a:latin typeface="quote-cjk-patch"/>
              </a:rPr>
              <a:t>A single File System Block spans </a:t>
            </a:r>
            <a:r>
              <a:rPr lang="en-US" altLang="zh-CN" i="0" dirty="0">
                <a:solidFill>
                  <a:srgbClr val="0F1115"/>
                </a:solidFill>
                <a:effectLst/>
                <a:latin typeface="quote-cjk-patch"/>
              </a:rPr>
              <a:t>multiple contiguous Disk Sectors, or one big sector.</a:t>
            </a:r>
            <a:br>
              <a:rPr lang="en-US" altLang="zh-CN" b="0" i="0" dirty="0">
                <a:solidFill>
                  <a:srgbClr val="0F1115"/>
                </a:solidFill>
                <a:effectLst/>
                <a:latin typeface="quote-cjk-patch"/>
              </a:rPr>
            </a:br>
            <a:endParaRPr lang="zh-CN" altLang="en-US" dirty="0"/>
          </a:p>
        </p:txBody>
      </p:sp>
      <p:sp>
        <p:nvSpPr>
          <p:cNvPr id="4" name="文本框 3"/>
          <p:cNvSpPr txBox="1"/>
          <p:nvPr/>
        </p:nvSpPr>
        <p:spPr>
          <a:xfrm>
            <a:off x="1259840" y="1636395"/>
            <a:ext cx="6670675" cy="2246769"/>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rtlCol="0">
            <a:spAutoFit/>
          </a:bodyPr>
          <a:lstStyle/>
          <a:p>
            <a:pPr algn="l">
              <a:buClrTx/>
              <a:buSzTx/>
              <a:buFontTx/>
            </a:pPr>
            <a:r>
              <a:rPr lang="en-US" altLang="en-US" sz="1400" dirty="0">
                <a:solidFill>
                  <a:srgbClr val="000000"/>
                </a:solidFill>
                <a:latin typeface="Canela Text Regular" charset="0"/>
                <a:ea typeface="Canela Text Regular" charset="0"/>
                <a:cs typeface="Canela Text Regular" charset="0"/>
              </a:rPr>
              <a:t>File System View:   [       Block 0 (4KB)       ][       Block 1 (4KB)       ]</a:t>
            </a:r>
            <a:endParaRPr lang="en-US" altLang="en-US" sz="1400" dirty="0">
              <a:solidFill>
                <a:srgbClr val="000000"/>
              </a:solidFill>
              <a:latin typeface="Canela Text Regular" charset="0"/>
              <a:ea typeface="Canela Text Regular" charset="0"/>
              <a:cs typeface="Canela Text Regular" charset="0"/>
            </a:endParaRPr>
          </a:p>
          <a:p>
            <a:pPr algn="l">
              <a:buClrTx/>
              <a:buSzTx/>
              <a:buFontTx/>
            </a:pPr>
            <a:r>
              <a:rPr lang="en-US" altLang="en-US" sz="1400" dirty="0">
                <a:solidFill>
                  <a:srgbClr val="000000"/>
                </a:solidFill>
                <a:latin typeface="Canela Text Regular" charset="0"/>
                <a:ea typeface="Canela Text Regular" charset="0"/>
                <a:cs typeface="Canela Text Regular" charset="0"/>
              </a:rPr>
              <a:t>                    |                           | |                           |</a:t>
            </a:r>
            <a:endParaRPr lang="en-US" altLang="en-US" sz="1400" dirty="0">
              <a:solidFill>
                <a:srgbClr val="000000"/>
              </a:solidFill>
              <a:latin typeface="Canela Text Regular" charset="0"/>
              <a:ea typeface="Canela Text Regular" charset="0"/>
              <a:cs typeface="Canela Text Regular" charset="0"/>
            </a:endParaRPr>
          </a:p>
          <a:p>
            <a:pPr algn="l">
              <a:buClrTx/>
              <a:buSzTx/>
              <a:buFontTx/>
            </a:pPr>
            <a:r>
              <a:rPr lang="en-US" altLang="en-US" sz="1400" dirty="0">
                <a:solidFill>
                  <a:srgbClr val="000000"/>
                </a:solidFill>
                <a:latin typeface="Canela Text Regular" charset="0"/>
                <a:ea typeface="Canela Text Regular" charset="0"/>
                <a:cs typeface="Canela Text Regular" charset="0"/>
              </a:rPr>
              <a:t>Disk View:        [Sector A][Sector B]...[Sector H] [Sector I][Sector J]...</a:t>
            </a:r>
            <a:endParaRPr lang="en-US" altLang="en-US" sz="1400" dirty="0">
              <a:solidFill>
                <a:srgbClr val="000000"/>
              </a:solidFill>
              <a:latin typeface="Canela Text Regular" charset="0"/>
              <a:ea typeface="Canela Text Regular" charset="0"/>
              <a:cs typeface="Canela Text Regular" charset="0"/>
            </a:endParaRPr>
          </a:p>
          <a:p>
            <a:pPr algn="l">
              <a:buClrTx/>
              <a:buSzTx/>
              <a:buFontTx/>
            </a:pPr>
            <a:r>
              <a:rPr lang="en-US" altLang="en-US" sz="1400" dirty="0">
                <a:solidFill>
                  <a:srgbClr val="000000"/>
                </a:solidFill>
                <a:latin typeface="Canela Text Regular" charset="0"/>
                <a:ea typeface="Canela Text Regular" charset="0"/>
                <a:cs typeface="Canela Text Regular" charset="0"/>
              </a:rPr>
              <a:t>(512B Sectors)      (8 Sectors per Block)          (8 Sectors per Block)</a:t>
            </a:r>
            <a:endParaRPr lang="en-US" altLang="en-US" sz="1400" dirty="0">
              <a:solidFill>
                <a:srgbClr val="000000"/>
              </a:solidFill>
              <a:latin typeface="Canela Text Regular" charset="0"/>
              <a:ea typeface="Canela Text Regular" charset="0"/>
              <a:cs typeface="Canela Text Regular" charset="0"/>
            </a:endParaRPr>
          </a:p>
          <a:p>
            <a:pPr algn="l">
              <a:buClrTx/>
              <a:buSzTx/>
              <a:buFontTx/>
            </a:pPr>
            <a:endParaRPr lang="en-US" altLang="en-US" sz="1400" dirty="0">
              <a:solidFill>
                <a:srgbClr val="000000"/>
              </a:solidFill>
              <a:latin typeface="Canela Text Regular" charset="0"/>
              <a:ea typeface="Canela Text Regular" charset="0"/>
              <a:cs typeface="Canela Text Regular" charset="0"/>
            </a:endParaRPr>
          </a:p>
          <a:p>
            <a:pPr algn="l">
              <a:buClrTx/>
              <a:buSzTx/>
              <a:buFontTx/>
            </a:pPr>
            <a:r>
              <a:rPr lang="en-US" altLang="en-US" sz="1400" dirty="0">
                <a:solidFill>
                  <a:srgbClr val="000000"/>
                </a:solidFill>
                <a:latin typeface="Canela Text Regular" charset="0"/>
                <a:ea typeface="Canela Text Regular" charset="0"/>
                <a:cs typeface="Canela Text Regular" charset="0"/>
              </a:rPr>
              <a:t>// OR with Modern 4K Sectors</a:t>
            </a:r>
            <a:endParaRPr lang="en-US" altLang="en-US" sz="1400" dirty="0">
              <a:solidFill>
                <a:srgbClr val="000000"/>
              </a:solidFill>
              <a:latin typeface="Canela Text Regular" charset="0"/>
              <a:ea typeface="Canela Text Regular" charset="0"/>
              <a:cs typeface="Canela Text Regular" charset="0"/>
            </a:endParaRPr>
          </a:p>
          <a:p>
            <a:pPr algn="l">
              <a:buClrTx/>
              <a:buSzTx/>
              <a:buFontTx/>
            </a:pPr>
            <a:r>
              <a:rPr lang="en-US" altLang="en-US" sz="1400" dirty="0">
                <a:solidFill>
                  <a:srgbClr val="000000"/>
                </a:solidFill>
                <a:latin typeface="Canela Text Regular" charset="0"/>
                <a:ea typeface="Canela Text Regular" charset="0"/>
                <a:cs typeface="Canela Text Regular" charset="0"/>
              </a:rPr>
              <a:t>File System View:   [    Block 0 (4KB)    ][    Block 1 (4KB)    ]</a:t>
            </a:r>
            <a:endParaRPr lang="en-US" altLang="en-US" sz="1400" dirty="0">
              <a:solidFill>
                <a:srgbClr val="000000"/>
              </a:solidFill>
              <a:latin typeface="Canela Text Regular" charset="0"/>
              <a:ea typeface="Canela Text Regular" charset="0"/>
              <a:cs typeface="Canela Text Regular" charset="0"/>
            </a:endParaRPr>
          </a:p>
          <a:p>
            <a:pPr algn="l">
              <a:buClrTx/>
              <a:buSzTx/>
              <a:buFontTx/>
            </a:pPr>
            <a:r>
              <a:rPr lang="en-US" altLang="en-US" sz="1400" dirty="0">
                <a:solidFill>
                  <a:srgbClr val="000000"/>
                </a:solidFill>
                <a:latin typeface="Canela Text Regular" charset="0"/>
                <a:ea typeface="Canela Text Regular" charset="0"/>
                <a:cs typeface="Canela Text Regular" charset="0"/>
              </a:rPr>
              <a:t>                    |                      | |                      |</a:t>
            </a:r>
            <a:endParaRPr lang="en-US" altLang="en-US" sz="1400" dirty="0">
              <a:solidFill>
                <a:srgbClr val="000000"/>
              </a:solidFill>
              <a:latin typeface="Canela Text Regular" charset="0"/>
              <a:ea typeface="Canela Text Regular" charset="0"/>
              <a:cs typeface="Canela Text Regular" charset="0"/>
            </a:endParaRPr>
          </a:p>
          <a:p>
            <a:pPr algn="l">
              <a:buClrTx/>
              <a:buSzTx/>
              <a:buFontTx/>
            </a:pPr>
            <a:r>
              <a:rPr lang="en-US" altLang="en-US" sz="1400" dirty="0">
                <a:solidFill>
                  <a:srgbClr val="000000"/>
                </a:solidFill>
                <a:latin typeface="Canela Text Regular" charset="0"/>
                <a:ea typeface="Canela Text Regular" charset="0"/>
                <a:cs typeface="Canela Text Regular" charset="0"/>
              </a:rPr>
              <a:t>Disk View:        [     Sector A (4KB)    ][     Sector B (4KB)    ]</a:t>
            </a:r>
            <a:endParaRPr lang="en-US" altLang="en-US" sz="1400" dirty="0">
              <a:solidFill>
                <a:srgbClr val="000000"/>
              </a:solidFill>
              <a:latin typeface="Canela Text Regular" charset="0"/>
              <a:ea typeface="Canela Text Regular" charset="0"/>
              <a:cs typeface="Canela Text Regular" charset="0"/>
            </a:endParaRPr>
          </a:p>
          <a:p>
            <a:pPr algn="l">
              <a:buClrTx/>
              <a:buSzTx/>
              <a:buFontTx/>
            </a:pPr>
            <a:r>
              <a:rPr lang="en-US" altLang="en-US" sz="1400" dirty="0">
                <a:solidFill>
                  <a:srgbClr val="000000"/>
                </a:solidFill>
                <a:latin typeface="Canela Text Regular" charset="0"/>
                <a:ea typeface="Canela Text Regular" charset="0"/>
                <a:cs typeface="Canela Text Regular" charset="0"/>
              </a:rPr>
              <a:t>                    (1 Sector per Block)        (1 Sector per Block)</a:t>
            </a:r>
            <a:endParaRPr lang="en-US" altLang="en-US" sz="1400" dirty="0">
              <a:solidFill>
                <a:srgbClr val="000000"/>
              </a:solidFill>
              <a:latin typeface="Canela Text Regular" charset="0"/>
              <a:ea typeface="Canela Text Regular" charset="0"/>
              <a:cs typeface="Canela Text Regular"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File Organization</a:t>
            </a:r>
            <a:endParaRPr lang="en-US" altLang="en-US" dirty="0">
              <a:effectLst>
                <a:outerShdw blurRad="38100" dist="38100" dir="2700000" algn="tl">
                  <a:srgbClr val="C0C0C0"/>
                </a:outerShdw>
              </a:effectLst>
            </a:endParaRPr>
          </a:p>
        </p:txBody>
      </p:sp>
      <p:sp>
        <p:nvSpPr>
          <p:cNvPr id="77827" name="Rectangle 3"/>
          <p:cNvSpPr>
            <a:spLocks noGrp="1" noChangeArrowheads="1"/>
          </p:cNvSpPr>
          <p:nvPr>
            <p:ph idx="1"/>
          </p:nvPr>
        </p:nvSpPr>
        <p:spPr>
          <a:xfrm>
            <a:off x="683568" y="820341"/>
            <a:ext cx="6984776" cy="3677840"/>
          </a:xfrm>
        </p:spPr>
        <p:txBody>
          <a:bodyPr/>
          <a:lstStyle/>
          <a:p>
            <a:r>
              <a:rPr lang="en-US" altLang="en-US" sz="1800" dirty="0"/>
              <a:t>The database is stored as a collection of </a:t>
            </a:r>
            <a:r>
              <a:rPr lang="en-US" altLang="en-US" sz="1800" i="1" dirty="0"/>
              <a:t>files</a:t>
            </a:r>
            <a:r>
              <a:rPr lang="en-US" altLang="en-US" sz="1800" dirty="0"/>
              <a:t>.  Each file is a sequence of </a:t>
            </a:r>
            <a:r>
              <a:rPr lang="en-US" altLang="en-US" sz="1800" i="1" dirty="0"/>
              <a:t>records.  </a:t>
            </a:r>
            <a:r>
              <a:rPr lang="en-US" altLang="en-US" sz="1800" dirty="0"/>
              <a:t>A record is a sequence of fields.</a:t>
            </a:r>
            <a:endParaRPr lang="en-US" altLang="en-US" sz="1800" dirty="0"/>
          </a:p>
          <a:p>
            <a:r>
              <a:rPr lang="en-US" altLang="en-US" sz="1800" dirty="0"/>
              <a:t>One approach</a:t>
            </a:r>
            <a:endParaRPr lang="en-US" altLang="en-US" sz="1800" dirty="0"/>
          </a:p>
          <a:p>
            <a:pPr lvl="1"/>
            <a:r>
              <a:rPr lang="en-US" altLang="en-US" sz="1800" dirty="0"/>
              <a:t>Assume record size is fixed</a:t>
            </a:r>
            <a:endParaRPr lang="en-US" altLang="en-US" sz="1800" dirty="0"/>
          </a:p>
          <a:p>
            <a:pPr lvl="1"/>
            <a:r>
              <a:rPr lang="en-US" altLang="en-US" sz="1800" dirty="0"/>
              <a:t>Each file has records of one particular type only</a:t>
            </a:r>
            <a:endParaRPr lang="en-US" altLang="en-US" sz="1800" dirty="0"/>
          </a:p>
          <a:p>
            <a:pPr lvl="1"/>
            <a:r>
              <a:rPr lang="en-US" altLang="en-US" sz="1800" dirty="0"/>
              <a:t>Different files are used for different relations</a:t>
            </a:r>
            <a:endParaRPr lang="en-US" altLang="en-US" sz="1800" dirty="0"/>
          </a:p>
          <a:p>
            <a:pPr marL="457200" lvl="1" indent="0">
              <a:buNone/>
            </a:pPr>
            <a:r>
              <a:rPr lang="en-US" altLang="en-US" sz="1800" dirty="0"/>
              <a:t>This case is easiest to implement; will consider variable length records later</a:t>
            </a:r>
            <a:endParaRPr lang="en-US" altLang="en-US" sz="1800" dirty="0"/>
          </a:p>
          <a:p>
            <a:pPr marL="8255" indent="-8255"/>
            <a:r>
              <a:rPr lang="en-US" altLang="en-US" sz="1800" dirty="0"/>
              <a:t> We assume that records are smaller than a disk block</a:t>
            </a:r>
            <a:endParaRPr lang="en-US" altLang="en-US" sz="1800" dirty="0"/>
          </a:p>
          <a:p>
            <a:pPr marL="465455" lvl="1" indent="-8255">
              <a:buFont typeface="Monotype Sorts" pitchFamily="-65" charset="2"/>
              <a:buNone/>
            </a:pPr>
            <a:r>
              <a:rPr lang="en-US" altLang="en-US" sz="1800" dirty="0"/>
              <a:t>.</a:t>
            </a:r>
            <a:endParaRPr lang="en-US" alt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endParaRPr lang="en-US" altLang="en-US">
              <a:effectLst>
                <a:outerShdw blurRad="38100" dist="38100" dir="2700000" algn="tl">
                  <a:srgbClr val="C0C0C0"/>
                </a:outerShdw>
              </a:effectLst>
            </a:endParaRPr>
          </a:p>
        </p:txBody>
      </p:sp>
      <p:sp>
        <p:nvSpPr>
          <p:cNvPr id="79875" name="Rectangle 3"/>
          <p:cNvSpPr>
            <a:spLocks noGrp="1" noChangeArrowheads="1"/>
          </p:cNvSpPr>
          <p:nvPr>
            <p:ph type="body" idx="1"/>
          </p:nvPr>
        </p:nvSpPr>
        <p:spPr>
          <a:xfrm>
            <a:off x="755576" y="862983"/>
            <a:ext cx="7704856" cy="1434800"/>
          </a:xfrm>
        </p:spPr>
        <p:txBody>
          <a:bodyPr/>
          <a:lstStyle/>
          <a:p>
            <a:r>
              <a:rPr lang="en-US" altLang="en-US" sz="1400" dirty="0"/>
              <a:t>Simple approach:</a:t>
            </a:r>
            <a:endParaRPr lang="en-US" altLang="en-US" sz="1400" dirty="0"/>
          </a:p>
          <a:p>
            <a:pPr lvl="1"/>
            <a:r>
              <a:rPr lang="en-US" altLang="en-US" sz="1400" dirty="0"/>
              <a:t>Store record </a:t>
            </a:r>
            <a:r>
              <a:rPr lang="en-US" altLang="en-US" sz="1400" i="1" dirty="0" err="1"/>
              <a:t>i</a:t>
            </a:r>
            <a:r>
              <a:rPr lang="en-US" altLang="en-US" sz="1400" dirty="0"/>
              <a:t> starting from byte </a:t>
            </a:r>
            <a:r>
              <a:rPr lang="en-US" altLang="en-US" sz="1400" i="1" dirty="0">
                <a:sym typeface="Greek Symbols" pitchFamily="18" charset="2"/>
              </a:rPr>
              <a:t>n </a:t>
            </a:r>
            <a:r>
              <a:rPr lang="en-US" altLang="en-US" sz="1400" i="1" dirty="0">
                <a:sym typeface="Symbol" panose="05050102010706020507" pitchFamily="18" charset="2"/>
              </a:rPr>
              <a:t> (</a:t>
            </a:r>
            <a:r>
              <a:rPr lang="en-US" altLang="en-US" sz="1400" i="1" dirty="0" err="1">
                <a:sym typeface="Symbol" panose="05050102010706020507" pitchFamily="18" charset="2"/>
              </a:rPr>
              <a:t>i</a:t>
            </a:r>
            <a:r>
              <a:rPr lang="en-US" altLang="en-US" sz="1400" i="1" dirty="0">
                <a:sym typeface="Symbol" panose="05050102010706020507" pitchFamily="18" charset="2"/>
              </a:rPr>
              <a:t> – </a:t>
            </a:r>
            <a:r>
              <a:rPr lang="en-US" altLang="en-US" sz="1400" dirty="0">
                <a:sym typeface="Symbol" panose="05050102010706020507" pitchFamily="18" charset="2"/>
              </a:rPr>
              <a:t>1), where </a:t>
            </a:r>
            <a:r>
              <a:rPr lang="en-US" altLang="en-US" sz="1400" i="1" dirty="0">
                <a:sym typeface="Symbol" panose="05050102010706020507" pitchFamily="18" charset="2"/>
              </a:rPr>
              <a:t>n </a:t>
            </a:r>
            <a:r>
              <a:rPr lang="en-US" altLang="en-US" sz="1400" dirty="0">
                <a:sym typeface="Symbol" panose="05050102010706020507" pitchFamily="18" charset="2"/>
              </a:rPr>
              <a:t>is the size of each record.</a:t>
            </a:r>
            <a:endParaRPr lang="en-US" altLang="en-US" sz="1400" dirty="0">
              <a:sym typeface="Symbol" panose="05050102010706020507" pitchFamily="18" charset="2"/>
            </a:endParaRPr>
          </a:p>
          <a:p>
            <a:pPr lvl="1"/>
            <a:r>
              <a:rPr lang="en-US" altLang="en-US" sz="1400" dirty="0">
                <a:sym typeface="Symbol" panose="05050102010706020507" pitchFamily="18" charset="2"/>
              </a:rPr>
              <a:t>Record access is simple but records may cross blocks</a:t>
            </a:r>
            <a:endParaRPr lang="en-US" altLang="en-US" sz="1400" dirty="0">
              <a:sym typeface="Symbol" panose="05050102010706020507" pitchFamily="18" charset="2"/>
            </a:endParaRPr>
          </a:p>
          <a:p>
            <a:pPr lvl="2"/>
            <a:r>
              <a:rPr lang="en-US" altLang="en-US" sz="1400" dirty="0">
                <a:sym typeface="Symbol" panose="05050102010706020507" pitchFamily="18" charset="2"/>
              </a:rPr>
              <a:t>Modification: do not allow records to cross block boundaries</a:t>
            </a:r>
            <a:endParaRPr lang="en-US" altLang="en-US" sz="1400" dirty="0">
              <a:sym typeface="Symbol" panose="05050102010706020507" pitchFamily="18" charset="2"/>
            </a:endParaRPr>
          </a:p>
        </p:txBody>
      </p:sp>
      <p:pic>
        <p:nvPicPr>
          <p:cNvPr id="5" name="Content Placeholder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bwMode="auto">
          <a:xfrm>
            <a:off x="2579230" y="2380636"/>
            <a:ext cx="3880487" cy="24817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endParaRPr lang="en-US" altLang="en-US">
              <a:effectLst>
                <a:outerShdw blurRad="38100" dist="38100" dir="2700000" algn="tl">
                  <a:srgbClr val="C0C0C0"/>
                </a:outerShdw>
              </a:effectLst>
            </a:endParaRPr>
          </a:p>
        </p:txBody>
      </p:sp>
      <p:sp>
        <p:nvSpPr>
          <p:cNvPr id="79875" name="Rectangle 3"/>
          <p:cNvSpPr>
            <a:spLocks noGrp="1" noChangeArrowheads="1"/>
          </p:cNvSpPr>
          <p:nvPr>
            <p:ph type="body" idx="1"/>
          </p:nvPr>
        </p:nvSpPr>
        <p:spPr>
          <a:xfrm>
            <a:off x="1719262" y="862983"/>
            <a:ext cx="5635412" cy="3657600"/>
          </a:xfrm>
        </p:spPr>
        <p:txBody>
          <a:bodyPr/>
          <a:lstStyle/>
          <a:p>
            <a:r>
              <a:rPr lang="en-US" altLang="en-US" sz="1100" dirty="0"/>
              <a:t>Deletion of record </a:t>
            </a:r>
            <a:r>
              <a:rPr lang="en-US" altLang="en-US" sz="1100" i="1" dirty="0"/>
              <a:t>i:  </a:t>
            </a:r>
            <a:r>
              <a:rPr lang="en-US" altLang="en-US" sz="1100" dirty="0"/>
              <a:t>alternatives</a:t>
            </a:r>
            <a:r>
              <a:rPr lang="en-US" altLang="en-US" sz="1100" i="1" dirty="0"/>
              <a:t>:</a:t>
            </a:r>
            <a:endParaRPr lang="en-US" altLang="en-US" sz="1100" i="1" dirty="0"/>
          </a:p>
          <a:p>
            <a:pPr lvl="1"/>
            <a:r>
              <a:rPr lang="en-US" altLang="en-US" sz="1100" b="1" dirty="0"/>
              <a:t>move records </a:t>
            </a:r>
            <a:r>
              <a:rPr lang="en-US" altLang="en-US" sz="1100" b="1" i="1" dirty="0" err="1"/>
              <a:t>i</a:t>
            </a:r>
            <a:r>
              <a:rPr lang="en-US" altLang="en-US" sz="1100" b="1" dirty="0"/>
              <a:t> + 1, . . ., </a:t>
            </a:r>
            <a:r>
              <a:rPr lang="en-US" altLang="en-US" sz="1100" b="1" i="1" dirty="0"/>
              <a:t>n</a:t>
            </a:r>
            <a:r>
              <a:rPr lang="en-US" altLang="en-US" sz="1100" b="1" dirty="0"/>
              <a:t>  to </a:t>
            </a:r>
            <a:r>
              <a:rPr lang="en-US" altLang="en-US" sz="1100" b="1" i="1" dirty="0" err="1"/>
              <a:t>i</a:t>
            </a:r>
            <a:r>
              <a:rPr lang="en-US" altLang="en-US" sz="1100" b="1" i="1" dirty="0"/>
              <a:t>, . . . , n </a:t>
            </a:r>
            <a:r>
              <a:rPr lang="en-US" altLang="en-US" sz="1100" b="1" i="1" dirty="0">
                <a:sym typeface="Symbol" panose="05050102010706020507" pitchFamily="18" charset="2"/>
              </a:rPr>
              <a:t>– </a:t>
            </a:r>
            <a:r>
              <a:rPr lang="en-US" altLang="en-US" sz="1100" b="1" dirty="0">
                <a:sym typeface="Symbol" panose="05050102010706020507" pitchFamily="18" charset="2"/>
              </a:rPr>
              <a:t>1</a:t>
            </a:r>
            <a:endParaRPr lang="en-US" altLang="en-US" sz="1100" b="1" dirty="0">
              <a:sym typeface="Symbol" panose="05050102010706020507" pitchFamily="18" charset="2"/>
            </a:endParaRPr>
          </a:p>
          <a:p>
            <a:pPr lvl="1"/>
            <a:r>
              <a:rPr lang="en-US" altLang="en-US" sz="1100" dirty="0">
                <a:sym typeface="Symbol" panose="05050102010706020507" pitchFamily="18" charset="2"/>
              </a:rPr>
              <a:t>move record </a:t>
            </a:r>
            <a:r>
              <a:rPr lang="en-US" altLang="en-US" sz="1100" i="1" dirty="0">
                <a:sym typeface="Symbol" panose="05050102010706020507" pitchFamily="18" charset="2"/>
              </a:rPr>
              <a:t>n </a:t>
            </a:r>
            <a:r>
              <a:rPr lang="en-US" altLang="en-US" sz="1100" dirty="0">
                <a:sym typeface="Symbol" panose="05050102010706020507" pitchFamily="18" charset="2"/>
              </a:rPr>
              <a:t> to </a:t>
            </a:r>
            <a:r>
              <a:rPr lang="en-US" altLang="en-US" sz="1100" i="1" dirty="0" err="1">
                <a:sym typeface="Symbol" panose="05050102010706020507" pitchFamily="18" charset="2"/>
              </a:rPr>
              <a:t>i</a:t>
            </a:r>
            <a:endParaRPr lang="en-US" altLang="en-US" sz="1100" dirty="0">
              <a:sym typeface="Symbol" panose="05050102010706020507" pitchFamily="18" charset="2"/>
            </a:endParaRPr>
          </a:p>
          <a:p>
            <a:pPr lvl="1"/>
            <a:r>
              <a:rPr lang="en-US" altLang="en-US" sz="1100" dirty="0">
                <a:sym typeface="Symbol" panose="05050102010706020507" pitchFamily="18" charset="2"/>
              </a:rPr>
              <a:t>do not move records, but link all free records on a </a:t>
            </a:r>
            <a:r>
              <a:rPr lang="en-US" altLang="en-US" sz="1100" i="1" dirty="0">
                <a:sym typeface="Symbol" panose="05050102010706020507" pitchFamily="18" charset="2"/>
              </a:rPr>
              <a:t>free list</a:t>
            </a:r>
            <a:endParaRPr lang="en-US" altLang="en-US" sz="1100" i="1" dirty="0">
              <a:sym typeface="Symbol" panose="05050102010706020507" pitchFamily="18" charset="2"/>
            </a:endParaRPr>
          </a:p>
          <a:p>
            <a:pPr marL="457200" lvl="1" indent="0">
              <a:buNone/>
            </a:pPr>
            <a:r>
              <a:rPr lang="en-US" altLang="en-US" sz="1100" b="1" dirty="0">
                <a:sym typeface="Symbol" panose="05050102010706020507" pitchFamily="18" charset="2"/>
              </a:rPr>
              <a:t>Record 3 deleted</a:t>
            </a:r>
            <a:endParaRPr lang="en-US" altLang="en-US" sz="1100" b="1" dirty="0">
              <a:sym typeface="Symbol" panose="05050102010706020507" pitchFamily="18" charset="2"/>
            </a:endParaRPr>
          </a:p>
        </p:txBody>
      </p:sp>
      <p:pic>
        <p:nvPicPr>
          <p:cNvPr id="6" name="Graphic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07481" y="2715766"/>
            <a:ext cx="3679324" cy="21498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endParaRPr lang="en-US" altLang="en-US">
              <a:effectLst>
                <a:outerShdw blurRad="38100" dist="38100" dir="2700000" algn="tl">
                  <a:srgbClr val="C0C0C0"/>
                </a:outerShdw>
              </a:effectLst>
            </a:endParaRPr>
          </a:p>
        </p:txBody>
      </p:sp>
      <p:sp>
        <p:nvSpPr>
          <p:cNvPr id="79875" name="Rectangle 3"/>
          <p:cNvSpPr>
            <a:spLocks noGrp="1" noChangeArrowheads="1"/>
          </p:cNvSpPr>
          <p:nvPr>
            <p:ph type="body" idx="1"/>
          </p:nvPr>
        </p:nvSpPr>
        <p:spPr>
          <a:xfrm>
            <a:off x="1719262" y="862983"/>
            <a:ext cx="5635412" cy="3657600"/>
          </a:xfrm>
        </p:spPr>
        <p:txBody>
          <a:bodyPr/>
          <a:lstStyle/>
          <a:p>
            <a:r>
              <a:rPr lang="en-US" altLang="en-US" sz="1100" dirty="0"/>
              <a:t>Deletion of record </a:t>
            </a:r>
            <a:r>
              <a:rPr lang="en-US" altLang="en-US" sz="1100" i="1" dirty="0"/>
              <a:t>i:  </a:t>
            </a:r>
            <a:r>
              <a:rPr lang="en-US" altLang="en-US" sz="1100" dirty="0"/>
              <a:t>alternatives</a:t>
            </a:r>
            <a:r>
              <a:rPr lang="en-US" altLang="en-US" sz="1100" i="1" dirty="0"/>
              <a:t>:</a:t>
            </a:r>
            <a:endParaRPr lang="en-US" altLang="en-US" sz="1100" i="1" dirty="0"/>
          </a:p>
          <a:p>
            <a:pPr lvl="1"/>
            <a:r>
              <a:rPr lang="en-US" altLang="en-US" sz="1100" dirty="0"/>
              <a:t>move records </a:t>
            </a:r>
            <a:r>
              <a:rPr lang="en-US" altLang="en-US" sz="1100" i="1" dirty="0" err="1"/>
              <a:t>i</a:t>
            </a:r>
            <a:r>
              <a:rPr lang="en-US" altLang="en-US" sz="1100" dirty="0"/>
              <a:t> + 1, . . ., </a:t>
            </a:r>
            <a:r>
              <a:rPr lang="en-US" altLang="en-US" sz="1100" i="1" dirty="0"/>
              <a:t>n</a:t>
            </a:r>
            <a:r>
              <a:rPr lang="en-US" altLang="en-US" sz="1100" dirty="0"/>
              <a:t>  to </a:t>
            </a:r>
            <a:r>
              <a:rPr lang="en-US" altLang="en-US" sz="1100" i="1" dirty="0" err="1"/>
              <a:t>i</a:t>
            </a:r>
            <a:r>
              <a:rPr lang="en-US" altLang="en-US" sz="1100" i="1" dirty="0"/>
              <a:t>, . . . , n </a:t>
            </a:r>
            <a:r>
              <a:rPr lang="en-US" altLang="en-US" sz="1100" i="1" dirty="0">
                <a:sym typeface="Symbol" panose="05050102010706020507" pitchFamily="18" charset="2"/>
              </a:rPr>
              <a:t>– </a:t>
            </a:r>
            <a:r>
              <a:rPr lang="en-US" altLang="en-US" sz="1100" dirty="0">
                <a:sym typeface="Symbol" panose="05050102010706020507" pitchFamily="18" charset="2"/>
              </a:rPr>
              <a:t>1</a:t>
            </a:r>
            <a:endParaRPr lang="en-US" altLang="en-US" sz="1100" dirty="0">
              <a:sym typeface="Symbol" panose="05050102010706020507" pitchFamily="18" charset="2"/>
            </a:endParaRPr>
          </a:p>
          <a:p>
            <a:pPr lvl="1"/>
            <a:r>
              <a:rPr lang="en-US" altLang="en-US" sz="1100" b="1" dirty="0">
                <a:sym typeface="Symbol" panose="05050102010706020507" pitchFamily="18" charset="2"/>
              </a:rPr>
              <a:t>move record </a:t>
            </a:r>
            <a:r>
              <a:rPr lang="en-US" altLang="en-US" sz="1100" b="1" i="1" dirty="0">
                <a:sym typeface="Symbol" panose="05050102010706020507" pitchFamily="18" charset="2"/>
              </a:rPr>
              <a:t>n </a:t>
            </a:r>
            <a:r>
              <a:rPr lang="en-US" altLang="en-US" sz="1100" b="1" dirty="0">
                <a:sym typeface="Symbol" panose="05050102010706020507" pitchFamily="18" charset="2"/>
              </a:rPr>
              <a:t> to </a:t>
            </a:r>
            <a:r>
              <a:rPr lang="en-US" altLang="en-US" sz="1100" b="1" i="1" dirty="0" err="1">
                <a:sym typeface="Symbol" panose="05050102010706020507" pitchFamily="18" charset="2"/>
              </a:rPr>
              <a:t>i</a:t>
            </a:r>
            <a:endParaRPr lang="en-US" altLang="en-US" sz="1100" b="1" dirty="0">
              <a:sym typeface="Symbol" panose="05050102010706020507" pitchFamily="18" charset="2"/>
            </a:endParaRPr>
          </a:p>
          <a:p>
            <a:pPr lvl="1"/>
            <a:r>
              <a:rPr lang="en-US" altLang="en-US" sz="1100" dirty="0">
                <a:sym typeface="Symbol" panose="05050102010706020507" pitchFamily="18" charset="2"/>
              </a:rPr>
              <a:t>do not move records, but link all free records on a </a:t>
            </a:r>
            <a:r>
              <a:rPr lang="en-US" altLang="en-US" sz="1100" i="1" dirty="0">
                <a:sym typeface="Symbol" panose="05050102010706020507" pitchFamily="18" charset="2"/>
              </a:rPr>
              <a:t>free list</a:t>
            </a:r>
            <a:endParaRPr lang="en-US" altLang="en-US" sz="1100" i="1" dirty="0">
              <a:sym typeface="Symbol" panose="05050102010706020507" pitchFamily="18" charset="2"/>
            </a:endParaRPr>
          </a:p>
          <a:p>
            <a:pPr marL="457200" lvl="1" indent="0">
              <a:buNone/>
            </a:pPr>
            <a:r>
              <a:rPr lang="en-US" altLang="en-US" sz="1100" b="1" dirty="0">
                <a:sym typeface="Symbol" panose="05050102010706020507" pitchFamily="18" charset="2"/>
              </a:rPr>
              <a:t>Record 3 deleted and replaced by record 11</a:t>
            </a:r>
            <a:endParaRPr lang="en-US" altLang="en-US" sz="1100" b="1" dirty="0">
              <a:sym typeface="Symbol" panose="05050102010706020507" pitchFamily="18" charset="2"/>
            </a:endParaRPr>
          </a:p>
          <a:p>
            <a:pPr marL="457200" lvl="1" indent="0">
              <a:buNone/>
            </a:pPr>
            <a:endParaRPr lang="en-US" altLang="en-US" sz="1100" b="1" dirty="0">
              <a:sym typeface="Symbol" panose="05050102010706020507" pitchFamily="18" charset="2"/>
            </a:endParaRPr>
          </a:p>
        </p:txBody>
      </p:sp>
      <p:pic>
        <p:nvPicPr>
          <p:cNvPr id="5" name="Graphic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411760" y="2571750"/>
            <a:ext cx="3864141" cy="224560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endParaRPr lang="en-US" altLang="en-US">
              <a:effectLst>
                <a:outerShdw blurRad="38100" dist="38100" dir="2700000" algn="tl">
                  <a:srgbClr val="C0C0C0"/>
                </a:outerShdw>
              </a:effectLst>
            </a:endParaRPr>
          </a:p>
        </p:txBody>
      </p:sp>
      <p:sp>
        <p:nvSpPr>
          <p:cNvPr id="79875" name="Rectangle 3"/>
          <p:cNvSpPr>
            <a:spLocks noGrp="1" noChangeArrowheads="1"/>
          </p:cNvSpPr>
          <p:nvPr>
            <p:ph type="body" idx="1"/>
          </p:nvPr>
        </p:nvSpPr>
        <p:spPr>
          <a:xfrm>
            <a:off x="1719262" y="862983"/>
            <a:ext cx="5635412" cy="3657600"/>
          </a:xfrm>
        </p:spPr>
        <p:txBody>
          <a:bodyPr/>
          <a:lstStyle/>
          <a:p>
            <a:r>
              <a:rPr lang="en-US" altLang="en-US" sz="1200" dirty="0"/>
              <a:t>Deletion of record </a:t>
            </a:r>
            <a:r>
              <a:rPr lang="en-US" altLang="en-US" sz="1200" i="1" dirty="0"/>
              <a:t>i:  </a:t>
            </a:r>
            <a:r>
              <a:rPr lang="en-US" altLang="en-US" sz="1200" dirty="0"/>
              <a:t>alternatives</a:t>
            </a:r>
            <a:r>
              <a:rPr lang="en-US" altLang="en-US" sz="1200" i="1" dirty="0"/>
              <a:t>:</a:t>
            </a:r>
            <a:endParaRPr lang="en-US" altLang="en-US" sz="1200" i="1" dirty="0"/>
          </a:p>
          <a:p>
            <a:pPr lvl="1"/>
            <a:r>
              <a:rPr lang="en-US" altLang="en-US" sz="1200" dirty="0"/>
              <a:t>move records </a:t>
            </a:r>
            <a:r>
              <a:rPr lang="en-US" altLang="en-US" sz="1200" i="1" dirty="0" err="1"/>
              <a:t>i</a:t>
            </a:r>
            <a:r>
              <a:rPr lang="en-US" altLang="en-US" sz="1200" dirty="0"/>
              <a:t> + 1, . . ., </a:t>
            </a:r>
            <a:r>
              <a:rPr lang="en-US" altLang="en-US" sz="1200" i="1" dirty="0"/>
              <a:t>n</a:t>
            </a:r>
            <a:r>
              <a:rPr lang="en-US" altLang="en-US" sz="1200" dirty="0"/>
              <a:t>  to </a:t>
            </a:r>
            <a:r>
              <a:rPr lang="en-US" altLang="en-US" sz="1200" i="1" dirty="0" err="1"/>
              <a:t>i</a:t>
            </a:r>
            <a:r>
              <a:rPr lang="en-US" altLang="en-US" sz="1200" i="1" dirty="0"/>
              <a:t>, . . . , n </a:t>
            </a:r>
            <a:r>
              <a:rPr lang="en-US" altLang="en-US" sz="1200" i="1" dirty="0">
                <a:sym typeface="Symbol" panose="05050102010706020507" pitchFamily="18" charset="2"/>
              </a:rPr>
              <a:t>– </a:t>
            </a:r>
            <a:r>
              <a:rPr lang="en-US" altLang="en-US" sz="1200" dirty="0">
                <a:sym typeface="Symbol" panose="05050102010706020507" pitchFamily="18" charset="2"/>
              </a:rPr>
              <a:t>1</a:t>
            </a:r>
            <a:endParaRPr lang="en-US" altLang="en-US" sz="1200" dirty="0">
              <a:sym typeface="Symbol" panose="05050102010706020507" pitchFamily="18" charset="2"/>
            </a:endParaRPr>
          </a:p>
          <a:p>
            <a:pPr lvl="1"/>
            <a:r>
              <a:rPr lang="en-US" altLang="en-US" sz="1200" dirty="0">
                <a:sym typeface="Symbol" panose="05050102010706020507" pitchFamily="18" charset="2"/>
              </a:rPr>
              <a:t>move record </a:t>
            </a:r>
            <a:r>
              <a:rPr lang="en-US" altLang="en-US" sz="1200" i="1" dirty="0">
                <a:sym typeface="Symbol" panose="05050102010706020507" pitchFamily="18" charset="2"/>
              </a:rPr>
              <a:t>n </a:t>
            </a:r>
            <a:r>
              <a:rPr lang="en-US" altLang="en-US" sz="1200" dirty="0">
                <a:sym typeface="Symbol" panose="05050102010706020507" pitchFamily="18" charset="2"/>
              </a:rPr>
              <a:t> to </a:t>
            </a:r>
            <a:r>
              <a:rPr lang="en-US" altLang="en-US" sz="1200" i="1" dirty="0" err="1">
                <a:sym typeface="Symbol" panose="05050102010706020507" pitchFamily="18" charset="2"/>
              </a:rPr>
              <a:t>i</a:t>
            </a:r>
            <a:endParaRPr lang="en-US" altLang="en-US" sz="1200" dirty="0">
              <a:sym typeface="Symbol" panose="05050102010706020507" pitchFamily="18" charset="2"/>
            </a:endParaRPr>
          </a:p>
          <a:p>
            <a:pPr lvl="1"/>
            <a:r>
              <a:rPr lang="en-US" altLang="en-US" sz="1200" b="1" dirty="0">
                <a:sym typeface="Symbol" panose="05050102010706020507" pitchFamily="18" charset="2"/>
              </a:rPr>
              <a:t>do not move records, but link all free records on a </a:t>
            </a:r>
            <a:r>
              <a:rPr lang="en-US" altLang="en-US" sz="1200" b="1" i="1" dirty="0">
                <a:sym typeface="Symbol" panose="05050102010706020507" pitchFamily="18" charset="2"/>
              </a:rPr>
              <a:t>free list</a:t>
            </a:r>
            <a:endParaRPr lang="en-US" altLang="en-US" sz="1200" b="1" dirty="0">
              <a:sym typeface="Symbol" panose="05050102010706020507" pitchFamily="18" charset="2"/>
            </a:endParaRPr>
          </a:p>
        </p:txBody>
      </p:sp>
      <p:pic>
        <p:nvPicPr>
          <p:cNvPr id="6" name="Graphic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699792" y="2427734"/>
            <a:ext cx="3944525" cy="247885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Variable-Length Records</a:t>
            </a:r>
            <a:endParaRPr lang="en-US" altLang="en-US">
              <a:effectLst>
                <a:outerShdw blurRad="38100" dist="38100" dir="2700000" algn="tl">
                  <a:srgbClr val="C0C0C0"/>
                </a:outerShdw>
              </a:effectLst>
            </a:endParaRPr>
          </a:p>
        </p:txBody>
      </p:sp>
      <p:sp>
        <p:nvSpPr>
          <p:cNvPr id="88067" name="Rectangle 3"/>
          <p:cNvSpPr>
            <a:spLocks noGrp="1" noChangeArrowheads="1"/>
          </p:cNvSpPr>
          <p:nvPr>
            <p:ph type="body" idx="1"/>
          </p:nvPr>
        </p:nvSpPr>
        <p:spPr>
          <a:xfrm>
            <a:off x="1753710" y="771550"/>
            <a:ext cx="5701314" cy="3673078"/>
          </a:xfrm>
        </p:spPr>
        <p:txBody>
          <a:bodyPr/>
          <a:lstStyle/>
          <a:p>
            <a:r>
              <a:rPr lang="en-US" altLang="en-US" sz="1200" dirty="0"/>
              <a:t>Variable-length records arise in database systems in several ways:</a:t>
            </a:r>
            <a:endParaRPr lang="en-US" altLang="en-US" sz="1200" dirty="0"/>
          </a:p>
          <a:p>
            <a:pPr lvl="1"/>
            <a:r>
              <a:rPr lang="en-US" altLang="en-US" sz="1200" dirty="0"/>
              <a:t>Storage of multiple record types in a file.</a:t>
            </a:r>
            <a:endParaRPr lang="en-US" altLang="en-US" sz="1200" dirty="0"/>
          </a:p>
          <a:p>
            <a:pPr lvl="1"/>
            <a:r>
              <a:rPr lang="en-US" altLang="en-US" sz="1200" dirty="0"/>
              <a:t>Record types that allow variable lengths for one or more fields such as strings (</a:t>
            </a:r>
            <a:r>
              <a:rPr lang="en-US" altLang="en-US" sz="1200" b="1" dirty="0"/>
              <a:t>varchar</a:t>
            </a:r>
            <a:r>
              <a:rPr lang="en-US" altLang="en-US" sz="1200" dirty="0"/>
              <a:t>)</a:t>
            </a:r>
            <a:endParaRPr lang="en-US" altLang="en-US" sz="1200" dirty="0"/>
          </a:p>
          <a:p>
            <a:pPr lvl="1"/>
            <a:r>
              <a:rPr lang="en-US" altLang="en-US" sz="1200" dirty="0"/>
              <a:t>Record types that allow repeating fields (used in some older data models).</a:t>
            </a:r>
            <a:endParaRPr lang="en-US" altLang="en-US" sz="1200" dirty="0"/>
          </a:p>
          <a:p>
            <a:r>
              <a:rPr lang="en-US" altLang="en-US" sz="1200" dirty="0"/>
              <a:t>Attributes are stored in order</a:t>
            </a:r>
            <a:endParaRPr lang="en-US" altLang="en-US" sz="1200" dirty="0"/>
          </a:p>
          <a:p>
            <a:r>
              <a:rPr lang="en-US" altLang="en-US" sz="1200" dirty="0"/>
              <a:t>Variable length attributes represented by fixed size (offset, length), with actual data stored after all fixed length attributes</a:t>
            </a:r>
            <a:endParaRPr lang="en-US" altLang="en-US" sz="1200" dirty="0"/>
          </a:p>
          <a:p>
            <a:r>
              <a:rPr lang="en-US" altLang="en-US" sz="1200" dirty="0"/>
              <a:t>Null values represented by null-value bitmap</a:t>
            </a:r>
            <a:endParaRPr lang="en-US" altLang="en-US" sz="1200" dirty="0"/>
          </a:p>
          <a:p>
            <a:pPr>
              <a:buFont typeface="Monotype Sorts" pitchFamily="-65" charset="2"/>
              <a:buNone/>
            </a:pPr>
            <a:endParaRPr lang="en-US" altLang="en-US" sz="1200" dirty="0"/>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195736" y="3766696"/>
            <a:ext cx="4864974" cy="89328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1658600" y="253607"/>
            <a:ext cx="6470989" cy="342900"/>
          </a:xfrm>
        </p:spPr>
        <p:txBody>
          <a:bodyPr/>
          <a:lstStyle/>
          <a:p>
            <a:pPr>
              <a:defRPr/>
            </a:pPr>
            <a:r>
              <a:rPr lang="en-US" altLang="en-US" sz="2025" dirty="0">
                <a:effectLst>
                  <a:outerShdw blurRad="38100" dist="38100" dir="2700000" algn="tl">
                    <a:srgbClr val="C0C0C0"/>
                  </a:outerShdw>
                </a:effectLst>
              </a:rPr>
              <a:t>Variable-Length Records: Slotted Page Structure</a:t>
            </a:r>
            <a:endParaRPr lang="en-US" altLang="en-US" sz="2025" dirty="0">
              <a:effectLst>
                <a:outerShdw blurRad="38100" dist="38100" dir="2700000" algn="tl">
                  <a:srgbClr val="C0C0C0"/>
                </a:outerShdw>
              </a:effectLst>
            </a:endParaRPr>
          </a:p>
        </p:txBody>
      </p:sp>
      <p:sp>
        <p:nvSpPr>
          <p:cNvPr id="90115" name="Rectangle 3"/>
          <p:cNvSpPr>
            <a:spLocks noGrp="1" noChangeArrowheads="1"/>
          </p:cNvSpPr>
          <p:nvPr>
            <p:ph type="body" idx="1"/>
          </p:nvPr>
        </p:nvSpPr>
        <p:spPr>
          <a:xfrm>
            <a:off x="1775534" y="2299097"/>
            <a:ext cx="5572957" cy="2578894"/>
          </a:xfrm>
        </p:spPr>
        <p:txBody>
          <a:bodyPr/>
          <a:lstStyle/>
          <a:p>
            <a:r>
              <a:rPr lang="en-US" altLang="en-US" sz="1200" b="1" dirty="0">
                <a:solidFill>
                  <a:srgbClr val="002060"/>
                </a:solidFill>
              </a:rPr>
              <a:t>Slotted page</a:t>
            </a:r>
            <a:r>
              <a:rPr lang="en-US" altLang="en-US" sz="1200" dirty="0">
                <a:solidFill>
                  <a:srgbClr val="002060"/>
                </a:solidFill>
              </a:rPr>
              <a:t> </a:t>
            </a:r>
            <a:r>
              <a:rPr lang="en-US" altLang="en-US" sz="1200" dirty="0"/>
              <a:t>header contains:</a:t>
            </a:r>
            <a:endParaRPr lang="en-US" altLang="en-US" sz="1200" dirty="0"/>
          </a:p>
          <a:p>
            <a:pPr lvl="1"/>
            <a:r>
              <a:rPr lang="en-US" altLang="en-US" sz="1200" dirty="0"/>
              <a:t>number of record entries</a:t>
            </a:r>
            <a:endParaRPr lang="en-US" altLang="en-US" sz="1200" dirty="0"/>
          </a:p>
          <a:p>
            <a:pPr lvl="1"/>
            <a:r>
              <a:rPr lang="en-US" altLang="en-US" sz="1200" dirty="0"/>
              <a:t>end of free space in the block</a:t>
            </a:r>
            <a:endParaRPr lang="en-US" altLang="en-US" sz="1200" dirty="0"/>
          </a:p>
          <a:p>
            <a:pPr lvl="1"/>
            <a:r>
              <a:rPr lang="en-US" altLang="en-US" sz="1200" dirty="0"/>
              <a:t>location and size of each record</a:t>
            </a:r>
            <a:endParaRPr lang="en-US" altLang="en-US" sz="1200" dirty="0"/>
          </a:p>
          <a:p>
            <a:r>
              <a:rPr lang="en-US" altLang="en-US" sz="1200" dirty="0"/>
              <a:t>Records can be moved around within a page to keep them contiguous with no empty space between them; entry in the header must be updated.</a:t>
            </a:r>
            <a:endParaRPr lang="en-US" altLang="en-US" sz="1200" dirty="0"/>
          </a:p>
          <a:p>
            <a:r>
              <a:rPr lang="en-US" altLang="en-US" sz="1200" dirty="0"/>
              <a:t>Pointers should not point directly to record — instead they should point to the entry for the record in header.</a:t>
            </a:r>
            <a:endParaRPr lang="en-US" altLang="en-US" sz="1200" dirty="0"/>
          </a:p>
        </p:txBody>
      </p:sp>
      <p:pic>
        <p:nvPicPr>
          <p:cNvPr id="90116"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50261" y="866804"/>
            <a:ext cx="3827859" cy="1300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Storing Large Objects</a:t>
            </a:r>
            <a:endParaRPr lang="en-IN" dirty="0"/>
          </a:p>
        </p:txBody>
      </p:sp>
      <p:sp>
        <p:nvSpPr>
          <p:cNvPr id="3" name="Content Placeholder 2"/>
          <p:cNvSpPr>
            <a:spLocks noGrp="1"/>
          </p:cNvSpPr>
          <p:nvPr>
            <p:ph idx="1"/>
          </p:nvPr>
        </p:nvSpPr>
        <p:spPr/>
        <p:txBody>
          <a:bodyPr/>
          <a:lstStyle/>
          <a:p>
            <a:r>
              <a:rPr lang="en-IN" dirty="0"/>
              <a:t>E.g., blob/</a:t>
            </a:r>
            <a:r>
              <a:rPr lang="en-IN" dirty="0" err="1"/>
              <a:t>clob</a:t>
            </a:r>
            <a:r>
              <a:rPr lang="en-IN" dirty="0"/>
              <a:t> types</a:t>
            </a:r>
            <a:endParaRPr lang="en-IN" dirty="0"/>
          </a:p>
          <a:p>
            <a:r>
              <a:rPr lang="en-IN" dirty="0"/>
              <a:t>Records must be smaller than pages</a:t>
            </a:r>
            <a:endParaRPr lang="en-IN" dirty="0"/>
          </a:p>
          <a:p>
            <a:r>
              <a:rPr lang="en-IN" dirty="0"/>
              <a:t>Alternatives:</a:t>
            </a:r>
            <a:endParaRPr lang="en-IN" dirty="0"/>
          </a:p>
          <a:p>
            <a:pPr lvl="1"/>
            <a:r>
              <a:rPr lang="en-IN" dirty="0"/>
              <a:t>Store as files in file systems</a:t>
            </a:r>
            <a:endParaRPr lang="en-IN" dirty="0"/>
          </a:p>
          <a:p>
            <a:pPr lvl="1"/>
            <a:r>
              <a:rPr lang="en-IN" dirty="0"/>
              <a:t>Store as files managed by database</a:t>
            </a:r>
            <a:endParaRPr lang="en-IN" dirty="0"/>
          </a:p>
          <a:p>
            <a:pPr lvl="1"/>
            <a:r>
              <a:rPr lang="en-IN" dirty="0"/>
              <a:t>Break into pieces and store in multiple tuples in separate relation</a:t>
            </a:r>
            <a:endParaRPr lang="en-IN" dirty="0"/>
          </a:p>
          <a:p>
            <a:pPr lvl="2"/>
            <a:r>
              <a:rPr lang="en-IN" dirty="0"/>
              <a:t>PostgreSQL TOAST</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Organization of Records in Files</a:t>
            </a:r>
            <a:endParaRPr lang="en-US" altLang="en-US">
              <a:effectLst>
                <a:outerShdw blurRad="38100" dist="38100" dir="2700000" algn="tl">
                  <a:srgbClr val="C0C0C0"/>
                </a:outerShdw>
              </a:effectLst>
            </a:endParaRPr>
          </a:p>
        </p:txBody>
      </p:sp>
      <p:sp>
        <p:nvSpPr>
          <p:cNvPr id="92163" name="Rectangle 3"/>
          <p:cNvSpPr>
            <a:spLocks noGrp="1" noChangeArrowheads="1"/>
          </p:cNvSpPr>
          <p:nvPr>
            <p:ph type="body" idx="1"/>
          </p:nvPr>
        </p:nvSpPr>
        <p:spPr>
          <a:xfrm>
            <a:off x="1719263" y="895350"/>
            <a:ext cx="5775710" cy="3650726"/>
          </a:xfrm>
        </p:spPr>
        <p:txBody>
          <a:bodyPr/>
          <a:lstStyle/>
          <a:p>
            <a:r>
              <a:rPr lang="en-US" altLang="en-US" sz="1200" b="1" dirty="0">
                <a:solidFill>
                  <a:srgbClr val="002060"/>
                </a:solidFill>
              </a:rPr>
              <a:t>Heap</a:t>
            </a:r>
            <a:r>
              <a:rPr lang="en-US" altLang="en-US" sz="1200" b="1" dirty="0"/>
              <a:t> </a:t>
            </a:r>
            <a:r>
              <a:rPr lang="en-US" altLang="en-US" sz="1200" dirty="0"/>
              <a:t>– record can be placed anywhere in the file where there is space</a:t>
            </a:r>
            <a:endParaRPr lang="en-US" altLang="en-US" sz="1200" dirty="0"/>
          </a:p>
          <a:p>
            <a:r>
              <a:rPr lang="en-US" altLang="en-US" sz="1200" b="1" dirty="0">
                <a:solidFill>
                  <a:srgbClr val="002060"/>
                </a:solidFill>
              </a:rPr>
              <a:t>Sequential</a:t>
            </a:r>
            <a:r>
              <a:rPr lang="en-US" altLang="en-US" sz="1200" b="1" dirty="0">
                <a:solidFill>
                  <a:schemeClr val="tx2"/>
                </a:solidFill>
              </a:rPr>
              <a:t> </a:t>
            </a:r>
            <a:r>
              <a:rPr lang="en-US" altLang="en-US" sz="1200" dirty="0"/>
              <a:t>– store records in sequential order, based on the value of the search key of each record</a:t>
            </a:r>
            <a:endParaRPr lang="en-US" altLang="en-US" sz="1200" dirty="0"/>
          </a:p>
          <a:p>
            <a:endParaRPr lang="en-US"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Heap File Organization</a:t>
            </a:r>
            <a:endParaRPr lang="en-IN" dirty="0"/>
          </a:p>
        </p:txBody>
      </p:sp>
      <p:sp>
        <p:nvSpPr>
          <p:cNvPr id="3" name="Content Placeholder 2"/>
          <p:cNvSpPr>
            <a:spLocks noGrp="1"/>
          </p:cNvSpPr>
          <p:nvPr>
            <p:ph idx="1"/>
          </p:nvPr>
        </p:nvSpPr>
        <p:spPr>
          <a:xfrm>
            <a:off x="1753791" y="820341"/>
            <a:ext cx="5745956" cy="3677840"/>
          </a:xfrm>
        </p:spPr>
        <p:txBody>
          <a:bodyPr/>
          <a:lstStyle/>
          <a:p>
            <a:r>
              <a:rPr lang="en-IN" sz="1000" dirty="0"/>
              <a:t>Records can be placed anywhere in the file where there is free space</a:t>
            </a:r>
            <a:endParaRPr lang="en-IN" sz="1000" dirty="0"/>
          </a:p>
          <a:p>
            <a:r>
              <a:rPr lang="en-IN" sz="1000" dirty="0"/>
              <a:t>Records usually do not move once allocated</a:t>
            </a:r>
            <a:endParaRPr lang="en-IN" sz="1000" dirty="0"/>
          </a:p>
          <a:p>
            <a:r>
              <a:rPr lang="en-IN" sz="1000" dirty="0"/>
              <a:t>Important to be able to efficiently find free space within file</a:t>
            </a:r>
            <a:endParaRPr lang="en-IN" sz="1000" dirty="0"/>
          </a:p>
          <a:p>
            <a:r>
              <a:rPr lang="en-IN" sz="1000" b="1" dirty="0">
                <a:solidFill>
                  <a:srgbClr val="002060"/>
                </a:solidFill>
              </a:rPr>
              <a:t>Free-space map</a:t>
            </a:r>
            <a:endParaRPr lang="en-IN" sz="1000" b="1" dirty="0">
              <a:solidFill>
                <a:srgbClr val="002060"/>
              </a:solidFill>
            </a:endParaRPr>
          </a:p>
          <a:p>
            <a:pPr lvl="1"/>
            <a:r>
              <a:rPr lang="en-IN" sz="1000" dirty="0">
                <a:solidFill>
                  <a:schemeClr val="accent4"/>
                </a:solidFill>
              </a:rPr>
              <a:t>Array with 1 entry per block.  Each entry is a few bits to a byte, and records fraction of block that is free</a:t>
            </a:r>
            <a:endParaRPr lang="en-IN" sz="1000" dirty="0">
              <a:solidFill>
                <a:schemeClr val="accent4"/>
              </a:solidFill>
            </a:endParaRPr>
          </a:p>
          <a:p>
            <a:pPr lvl="1"/>
            <a:r>
              <a:rPr lang="en-IN" sz="1000" dirty="0">
                <a:solidFill>
                  <a:schemeClr val="accent4"/>
                </a:solidFill>
              </a:rPr>
              <a:t>In example below, 3 bits per block, value divided by 8 indicates fraction of block that is free</a:t>
            </a:r>
            <a:br>
              <a:rPr lang="en-IN" sz="1000" dirty="0">
                <a:solidFill>
                  <a:schemeClr val="accent4"/>
                </a:solidFill>
              </a:rPr>
            </a:br>
            <a:br>
              <a:rPr lang="en-IN" sz="1000" dirty="0">
                <a:solidFill>
                  <a:schemeClr val="accent4"/>
                </a:solidFill>
              </a:rPr>
            </a:br>
            <a:endParaRPr lang="en-IN" sz="1000" dirty="0">
              <a:solidFill>
                <a:schemeClr val="accent4"/>
              </a:solidFill>
            </a:endParaRPr>
          </a:p>
          <a:p>
            <a:pPr lvl="1"/>
            <a:r>
              <a:rPr lang="en-IN" sz="1000" dirty="0">
                <a:solidFill>
                  <a:schemeClr val="accent4"/>
                </a:solidFill>
              </a:rPr>
              <a:t>Can have second-level free-space map</a:t>
            </a:r>
            <a:endParaRPr lang="en-IN" sz="1000" dirty="0">
              <a:solidFill>
                <a:schemeClr val="accent4"/>
              </a:solidFill>
            </a:endParaRPr>
          </a:p>
          <a:p>
            <a:pPr lvl="1"/>
            <a:r>
              <a:rPr lang="en-IN" sz="1000" dirty="0">
                <a:solidFill>
                  <a:schemeClr val="accent4"/>
                </a:solidFill>
              </a:rPr>
              <a:t>In example below, each entry stores maximum from 4 entries of first-level free-space map</a:t>
            </a:r>
            <a:endParaRPr lang="en-IN" sz="1000" dirty="0">
              <a:solidFill>
                <a:schemeClr val="accent4"/>
              </a:solidFill>
            </a:endParaRPr>
          </a:p>
          <a:p>
            <a:pPr marL="457200" lvl="1" indent="0">
              <a:buNone/>
            </a:pPr>
            <a:endParaRPr lang="en-IN" sz="1000" dirty="0">
              <a:solidFill>
                <a:schemeClr val="accent4"/>
              </a:solidFill>
            </a:endParaRPr>
          </a:p>
          <a:p>
            <a:r>
              <a:rPr lang="en-IN" sz="1000" dirty="0">
                <a:solidFill>
                  <a:schemeClr val="accent4"/>
                </a:solidFill>
              </a:rPr>
              <a:t>Free space map written to disk periodically, OK to have wrong (old) values for some entries (will be detected and fixed)</a:t>
            </a:r>
            <a:endParaRPr lang="en-IN" sz="1000" dirty="0">
              <a:solidFill>
                <a:schemeClr val="accent4"/>
              </a:solidFill>
            </a:endParaRPr>
          </a:p>
        </p:txBody>
      </p:sp>
      <p:pic>
        <p:nvPicPr>
          <p:cNvPr id="4" name="Picture 3"/>
          <p:cNvPicPr>
            <a:picLocks noChangeAspect="1"/>
          </p:cNvPicPr>
          <p:nvPr/>
        </p:nvPicPr>
        <p:blipFill>
          <a:blip r:embed="rId1"/>
          <a:stretch>
            <a:fillRect/>
          </a:stretch>
        </p:blipFill>
        <p:spPr>
          <a:xfrm>
            <a:off x="2977691" y="2819023"/>
            <a:ext cx="3188617" cy="344948"/>
          </a:xfrm>
          <a:prstGeom prst="rect">
            <a:avLst/>
          </a:prstGeom>
        </p:spPr>
      </p:pic>
      <p:pic>
        <p:nvPicPr>
          <p:cNvPr id="5" name="Picture 4"/>
          <p:cNvPicPr>
            <a:picLocks noChangeAspect="1"/>
          </p:cNvPicPr>
          <p:nvPr/>
        </p:nvPicPr>
        <p:blipFill>
          <a:blip r:embed="rId2"/>
          <a:stretch>
            <a:fillRect/>
          </a:stretch>
        </p:blipFill>
        <p:spPr>
          <a:xfrm>
            <a:off x="3971925" y="3860249"/>
            <a:ext cx="929165" cy="36340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Sequential File Organization</a:t>
            </a:r>
            <a:endParaRPr lang="en-US" altLang="en-US">
              <a:effectLst>
                <a:outerShdw blurRad="38100" dist="38100" dir="2700000" algn="tl">
                  <a:srgbClr val="C0C0C0"/>
                </a:outerShdw>
              </a:effectLst>
            </a:endParaRPr>
          </a:p>
        </p:txBody>
      </p:sp>
      <p:sp>
        <p:nvSpPr>
          <p:cNvPr id="94211" name="Rectangle 3"/>
          <p:cNvSpPr>
            <a:spLocks noGrp="1" noChangeArrowheads="1"/>
          </p:cNvSpPr>
          <p:nvPr>
            <p:ph type="body" idx="1"/>
          </p:nvPr>
        </p:nvSpPr>
        <p:spPr>
          <a:xfrm>
            <a:off x="1753791" y="820341"/>
            <a:ext cx="5043488" cy="1000125"/>
          </a:xfrm>
        </p:spPr>
        <p:txBody>
          <a:bodyPr/>
          <a:lstStyle/>
          <a:p>
            <a:r>
              <a:rPr lang="en-US" altLang="en-US" sz="1400" dirty="0"/>
              <a:t>Suitable for applications that require sequential processing of the entire file </a:t>
            </a:r>
            <a:endParaRPr lang="en-US" altLang="en-US" sz="1400" dirty="0"/>
          </a:p>
          <a:p>
            <a:r>
              <a:rPr lang="en-US" altLang="en-US" sz="1400" dirty="0"/>
              <a:t>The records in the file are ordered by a </a:t>
            </a:r>
            <a:r>
              <a:rPr lang="en-US" altLang="en-US" sz="1400" dirty="0">
                <a:solidFill>
                  <a:srgbClr val="002060"/>
                </a:solidFill>
              </a:rPr>
              <a:t>search-key</a:t>
            </a:r>
            <a:endParaRPr lang="en-US" altLang="en-US" sz="1400" dirty="0">
              <a:solidFill>
                <a:srgbClr val="002060"/>
              </a:solidFill>
            </a:endParaRPr>
          </a:p>
        </p:txBody>
      </p:sp>
      <p:pic>
        <p:nvPicPr>
          <p:cNvPr id="94212"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9752" y="2067694"/>
            <a:ext cx="4069556" cy="270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Sequential File Organization (Cont.)</a:t>
            </a:r>
            <a:endParaRPr lang="en-US" altLang="en-US">
              <a:effectLst>
                <a:outerShdw blurRad="38100" dist="38100" dir="2700000" algn="tl">
                  <a:srgbClr val="C0C0C0"/>
                </a:outerShdw>
              </a:effectLst>
            </a:endParaRPr>
          </a:p>
        </p:txBody>
      </p:sp>
      <p:sp>
        <p:nvSpPr>
          <p:cNvPr id="96259" name="Rectangle 3"/>
          <p:cNvSpPr>
            <a:spLocks noGrp="1" noChangeArrowheads="1"/>
          </p:cNvSpPr>
          <p:nvPr>
            <p:ph type="body" idx="1"/>
          </p:nvPr>
        </p:nvSpPr>
        <p:spPr>
          <a:xfrm>
            <a:off x="465169" y="843558"/>
            <a:ext cx="4250848" cy="2982515"/>
          </a:xfrm>
        </p:spPr>
        <p:txBody>
          <a:bodyPr/>
          <a:lstStyle/>
          <a:p>
            <a:r>
              <a:rPr lang="en-US" altLang="en-US" sz="1400" dirty="0"/>
              <a:t>Deletion – use pointer chains</a:t>
            </a:r>
            <a:endParaRPr lang="en-US" altLang="en-US" sz="1400" dirty="0"/>
          </a:p>
          <a:p>
            <a:r>
              <a:rPr lang="en-US" altLang="en-US" sz="1400" dirty="0"/>
              <a:t>Insertion –locate the position where the record is to be inserted</a:t>
            </a:r>
            <a:endParaRPr lang="en-US" altLang="en-US" sz="1400" dirty="0"/>
          </a:p>
          <a:p>
            <a:pPr lvl="1"/>
            <a:r>
              <a:rPr lang="en-US" altLang="en-US" sz="1400" dirty="0"/>
              <a:t>if there is free space insert there </a:t>
            </a:r>
            <a:endParaRPr lang="en-US" altLang="en-US" sz="1400" dirty="0"/>
          </a:p>
          <a:p>
            <a:pPr lvl="1"/>
            <a:r>
              <a:rPr lang="en-US" altLang="en-US" sz="1400" dirty="0"/>
              <a:t>if no free space, insert the record in an </a:t>
            </a:r>
            <a:r>
              <a:rPr lang="en-US" altLang="en-US" sz="1400" dirty="0">
                <a:solidFill>
                  <a:srgbClr val="002060"/>
                </a:solidFill>
              </a:rPr>
              <a:t>overflow block</a:t>
            </a:r>
            <a:endParaRPr lang="en-US" altLang="en-US" sz="1400" dirty="0">
              <a:solidFill>
                <a:srgbClr val="002060"/>
              </a:solidFill>
            </a:endParaRPr>
          </a:p>
          <a:p>
            <a:pPr lvl="1"/>
            <a:r>
              <a:rPr lang="en-US" altLang="en-US" sz="1400" dirty="0"/>
              <a:t>In either case, pointer chain must be updated</a:t>
            </a:r>
            <a:endParaRPr lang="en-US" altLang="en-US" sz="1400" dirty="0"/>
          </a:p>
          <a:p>
            <a:r>
              <a:rPr lang="en-US" altLang="en-US" sz="1400" dirty="0"/>
              <a:t>Need to reorganize the file</a:t>
            </a:r>
            <a:br>
              <a:rPr lang="en-US" altLang="en-US" sz="1400" dirty="0"/>
            </a:br>
            <a:r>
              <a:rPr lang="en-US" altLang="en-US" sz="1400" dirty="0"/>
              <a:t> from time to time to restore</a:t>
            </a:r>
            <a:br>
              <a:rPr lang="en-US" altLang="en-US" sz="1400" dirty="0"/>
            </a:br>
            <a:r>
              <a:rPr lang="en-US" altLang="en-US" sz="1400" dirty="0"/>
              <a:t> sequential order</a:t>
            </a:r>
            <a:endParaRPr lang="en-US" altLang="en-US" sz="1400" dirty="0"/>
          </a:p>
        </p:txBody>
      </p:sp>
      <p:pic>
        <p:nvPicPr>
          <p:cNvPr id="96260"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64088" y="1231852"/>
            <a:ext cx="3531394" cy="259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Unspanned</a:t>
            </a:r>
            <a:r>
              <a:rPr lang="en-US" altLang="zh-CN" dirty="0"/>
              <a:t> Organization in Databases</a:t>
            </a:r>
            <a:endParaRPr lang="zh-CN" altLang="en-US" dirty="0"/>
          </a:p>
        </p:txBody>
      </p:sp>
      <p:sp>
        <p:nvSpPr>
          <p:cNvPr id="3" name="内容占位符 2"/>
          <p:cNvSpPr>
            <a:spLocks noGrp="1"/>
          </p:cNvSpPr>
          <p:nvPr>
            <p:ph idx="1"/>
          </p:nvPr>
        </p:nvSpPr>
        <p:spPr>
          <a:xfrm>
            <a:off x="347663" y="719138"/>
            <a:ext cx="8447087" cy="1924620"/>
          </a:xfrm>
        </p:spPr>
        <p:txBody>
          <a:bodyPr/>
          <a:lstStyle/>
          <a:p>
            <a:pPr algn="l">
              <a:buFont typeface="Arial" panose="020B0604020202020204" pitchFamily="34" charset="0"/>
              <a:buChar char="•"/>
            </a:pPr>
            <a:r>
              <a:rPr lang="en-US" altLang="zh-CN" sz="1600" i="0" dirty="0">
                <a:solidFill>
                  <a:srgbClr val="0F1115"/>
                </a:solidFill>
                <a:effectLst/>
                <a:latin typeface="quote-cjk-patch"/>
              </a:rPr>
              <a:t>In </a:t>
            </a:r>
            <a:r>
              <a:rPr lang="en-US" altLang="zh-CN" sz="1600" i="0" dirty="0" err="1">
                <a:solidFill>
                  <a:srgbClr val="0F1115"/>
                </a:solidFill>
                <a:effectLst/>
                <a:latin typeface="quote-cjk-patch"/>
              </a:rPr>
              <a:t>unspanned</a:t>
            </a:r>
            <a:r>
              <a:rPr lang="en-US" altLang="zh-CN" sz="1600" i="0" dirty="0">
                <a:solidFill>
                  <a:srgbClr val="0F1115"/>
                </a:solidFill>
                <a:effectLst/>
                <a:latin typeface="quote-cjk-patch"/>
              </a:rPr>
              <a:t> organization, a database record must fit entirely within a single database page.</a:t>
            </a:r>
            <a:endParaRPr lang="en-US" altLang="zh-CN" sz="1600" i="0" dirty="0">
              <a:solidFill>
                <a:srgbClr val="0F1115"/>
              </a:solidFill>
              <a:effectLst/>
              <a:latin typeface="quote-cjk-patch"/>
            </a:endParaRPr>
          </a:p>
          <a:p>
            <a:pPr algn="l">
              <a:buFont typeface="Arial" panose="020B0604020202020204" pitchFamily="34" charset="0"/>
              <a:buChar char="•"/>
            </a:pPr>
            <a:r>
              <a:rPr lang="en-US" altLang="zh-CN" sz="1600" i="0" dirty="0">
                <a:solidFill>
                  <a:srgbClr val="0F1115"/>
                </a:solidFill>
                <a:effectLst/>
                <a:latin typeface="quote-cjk-patch"/>
              </a:rPr>
              <a:t>If a record is too large for the current page's free space, it is placed entirely in a new, different page.</a:t>
            </a:r>
            <a:endParaRPr lang="en-US" altLang="zh-CN" sz="1600" i="0" dirty="0">
              <a:solidFill>
                <a:srgbClr val="0F1115"/>
              </a:solidFill>
              <a:effectLst/>
              <a:latin typeface="quote-cjk-patch"/>
            </a:endParaRPr>
          </a:p>
          <a:p>
            <a:pPr algn="l">
              <a:buFont typeface="Arial" panose="020B0604020202020204" pitchFamily="34" charset="0"/>
              <a:buChar char="•"/>
            </a:pPr>
            <a:r>
              <a:rPr lang="en-US" altLang="zh-CN" sz="1600" i="0" dirty="0">
                <a:solidFill>
                  <a:srgbClr val="0F1115"/>
                </a:solidFill>
                <a:effectLst/>
                <a:latin typeface="quote-cjk-patch"/>
              </a:rPr>
              <a:t>No record is ever split or fragmented across multiple pages.</a:t>
            </a:r>
            <a:br>
              <a:rPr lang="en-US" altLang="zh-CN" sz="1600" i="0" dirty="0">
                <a:solidFill>
                  <a:srgbClr val="0F1115"/>
                </a:solidFill>
                <a:effectLst/>
                <a:latin typeface="Menlo"/>
              </a:rPr>
            </a:br>
            <a:endParaRPr lang="zh-CN" altLang="en-US" sz="1600" dirty="0"/>
          </a:p>
        </p:txBody>
      </p:sp>
      <p:sp>
        <p:nvSpPr>
          <p:cNvPr id="9" name="AutoShape 6" descr="PPT - Disk Storage and File Structures: Organizational Techniques and ..."/>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2" name="图片 11"/>
          <p:cNvPicPr>
            <a:picLocks noChangeAspect="1"/>
          </p:cNvPicPr>
          <p:nvPr/>
        </p:nvPicPr>
        <p:blipFill>
          <a:blip r:embed="rId1"/>
          <a:stretch>
            <a:fillRect/>
          </a:stretch>
        </p:blipFill>
        <p:spPr>
          <a:xfrm>
            <a:off x="1691680" y="2499742"/>
            <a:ext cx="4499992" cy="22798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Contrast: Spanned Organization</a:t>
            </a:r>
            <a:endParaRPr lang="zh-CN" altLang="en-US" dirty="0"/>
          </a:p>
        </p:txBody>
      </p:sp>
      <p:sp>
        <p:nvSpPr>
          <p:cNvPr id="3" name="内容占位符 2"/>
          <p:cNvSpPr>
            <a:spLocks noGrp="1"/>
          </p:cNvSpPr>
          <p:nvPr>
            <p:ph idx="1"/>
          </p:nvPr>
        </p:nvSpPr>
        <p:spPr/>
        <p:txBody>
          <a:bodyPr/>
          <a:lstStyle/>
          <a:p>
            <a:pPr algn="l">
              <a:buFont typeface="Arial" panose="020B0604020202020204" pitchFamily="34" charset="0"/>
              <a:buChar char="•"/>
            </a:pPr>
            <a:r>
              <a:rPr lang="en-US" altLang="zh-CN" sz="1600" b="1" i="0" dirty="0">
                <a:solidFill>
                  <a:srgbClr val="0F1115"/>
                </a:solidFill>
                <a:effectLst/>
                <a:latin typeface="quote-cjk-patch"/>
              </a:rPr>
              <a:t>Spanned Organization</a:t>
            </a:r>
            <a:r>
              <a:rPr lang="en-US" altLang="zh-CN" sz="1600" b="0" i="0" dirty="0">
                <a:solidFill>
                  <a:srgbClr val="0F1115"/>
                </a:solidFill>
                <a:effectLst/>
                <a:latin typeface="quote-cjk-patch"/>
              </a:rPr>
              <a:t> allows a single record to be split across multiple pages if it doesn't fit in one.</a:t>
            </a:r>
            <a:endParaRPr lang="en-US" altLang="zh-CN" sz="1600" b="0" i="0" dirty="0">
              <a:solidFill>
                <a:srgbClr val="0F1115"/>
              </a:solidFill>
              <a:effectLst/>
              <a:latin typeface="quote-cjk-patch"/>
            </a:endParaRPr>
          </a:p>
          <a:p>
            <a:pPr algn="l">
              <a:buFont typeface="Arial" panose="020B0604020202020204" pitchFamily="34" charset="0"/>
              <a:buChar char="•"/>
            </a:pPr>
            <a:r>
              <a:rPr lang="en-US" altLang="zh-CN" sz="1600" b="0" i="0" dirty="0">
                <a:solidFill>
                  <a:srgbClr val="0F1115"/>
                </a:solidFill>
                <a:effectLst/>
                <a:latin typeface="quote-cjk-patch"/>
              </a:rPr>
              <a:t>This is more space-efficient but adds complexity, as the DBMS must manage pointers to all the record's fragments.</a:t>
            </a:r>
            <a:endParaRPr lang="en-US" altLang="zh-CN" sz="1600" b="0" i="0" dirty="0">
              <a:solidFill>
                <a:srgbClr val="0F1115"/>
              </a:solidFill>
              <a:effectLst/>
              <a:latin typeface="quote-cjk-patch"/>
            </a:endParaRPr>
          </a:p>
          <a:p>
            <a:pPr algn="l"/>
            <a:r>
              <a:rPr lang="en-US" altLang="zh-CN" sz="1600" b="1" i="0" dirty="0">
                <a:solidFill>
                  <a:srgbClr val="0F1115"/>
                </a:solidFill>
                <a:effectLst/>
                <a:latin typeface="quote-cjk-patch"/>
              </a:rPr>
              <a:t>Conclusion: </a:t>
            </a:r>
            <a:r>
              <a:rPr lang="en-US" altLang="zh-CN" sz="1600" b="1" i="0" dirty="0" err="1">
                <a:solidFill>
                  <a:srgbClr val="0F1115"/>
                </a:solidFill>
                <a:effectLst/>
                <a:latin typeface="quote-cjk-patch"/>
              </a:rPr>
              <a:t>Unspanned</a:t>
            </a:r>
            <a:r>
              <a:rPr lang="en-US" altLang="zh-CN" sz="1600" b="1" i="0" dirty="0">
                <a:solidFill>
                  <a:srgbClr val="0F1115"/>
                </a:solidFill>
                <a:effectLst/>
                <a:latin typeface="quote-cjk-patch"/>
              </a:rPr>
              <a:t> organization prioritizes read performance and simplicity at the cost of potential space inefficiency.</a:t>
            </a:r>
            <a:r>
              <a:rPr lang="en-US" altLang="zh-CN" sz="1600" b="0" i="0" dirty="0">
                <a:solidFill>
                  <a:srgbClr val="0F1115"/>
                </a:solidFill>
                <a:effectLst/>
                <a:latin typeface="quote-cjk-patch"/>
              </a:rPr>
              <a:t> It is the most common default for storing regular table data.</a:t>
            </a:r>
            <a:endParaRPr lang="en-US" altLang="zh-CN" sz="1600" b="0" i="0" dirty="0">
              <a:solidFill>
                <a:srgbClr val="0F1115"/>
              </a:solidFill>
              <a:effectLst/>
              <a:latin typeface="quote-cjk-patch"/>
            </a:endParaRPr>
          </a:p>
          <a:p>
            <a:endParaRPr lang="zh-CN" alt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Storage Access</a:t>
            </a:r>
            <a:endParaRPr lang="en-US" altLang="en-US">
              <a:effectLst>
                <a:outerShdw blurRad="38100" dist="38100" dir="2700000" algn="tl">
                  <a:srgbClr val="C0C0C0"/>
                </a:outerShdw>
              </a:effectLst>
            </a:endParaRPr>
          </a:p>
        </p:txBody>
      </p:sp>
      <p:sp>
        <p:nvSpPr>
          <p:cNvPr id="105475" name="Rectangle 3"/>
          <p:cNvSpPr>
            <a:spLocks noGrp="1" noChangeArrowheads="1"/>
          </p:cNvSpPr>
          <p:nvPr>
            <p:ph idx="1"/>
          </p:nvPr>
        </p:nvSpPr>
        <p:spPr>
          <a:xfrm>
            <a:off x="1753791" y="820342"/>
            <a:ext cx="5745956" cy="1648539"/>
          </a:xfrm>
        </p:spPr>
        <p:txBody>
          <a:bodyPr/>
          <a:lstStyle/>
          <a:p>
            <a:r>
              <a:rPr lang="en-US" altLang="en-US" sz="1200" dirty="0"/>
              <a:t>Blocks are units of both storage allocation and data transfer.</a:t>
            </a:r>
            <a:endParaRPr lang="en-US" altLang="en-US" sz="1200" dirty="0"/>
          </a:p>
          <a:p>
            <a:r>
              <a:rPr lang="en-US" altLang="en-US" sz="1200" dirty="0"/>
              <a:t>Database system seeks to minimize the number of block transfers between the disk and memory.  We can reduce the number of disk accesses by keeping as many blocks as possible in main memory.</a:t>
            </a:r>
            <a:endParaRPr lang="en-US" altLang="en-US" sz="1200" dirty="0"/>
          </a:p>
          <a:p>
            <a:r>
              <a:rPr lang="en-US" altLang="en-US" sz="1200" b="1" dirty="0">
                <a:solidFill>
                  <a:srgbClr val="002060"/>
                </a:solidFill>
              </a:rPr>
              <a:t>Buffer</a:t>
            </a:r>
            <a:r>
              <a:rPr lang="en-US" altLang="en-US" sz="1200" b="1" dirty="0"/>
              <a:t> </a:t>
            </a:r>
            <a:r>
              <a:rPr lang="en-US" altLang="en-US" sz="1200" dirty="0"/>
              <a:t>– portion of main memory available to store copies of disk blocks.</a:t>
            </a:r>
            <a:endParaRPr lang="en-US" altLang="en-US" sz="1200" dirty="0"/>
          </a:p>
          <a:p>
            <a:r>
              <a:rPr lang="en-US" altLang="en-US" sz="1200" b="1" dirty="0">
                <a:solidFill>
                  <a:srgbClr val="002060"/>
                </a:solidFill>
              </a:rPr>
              <a:t>Buffer manager</a:t>
            </a:r>
            <a:r>
              <a:rPr lang="en-US" altLang="en-US" sz="1200" dirty="0">
                <a:solidFill>
                  <a:srgbClr val="002060"/>
                </a:solidFill>
              </a:rPr>
              <a:t> </a:t>
            </a:r>
            <a:r>
              <a:rPr lang="en-US" altLang="en-US" sz="1200" dirty="0"/>
              <a:t>– subsystem responsible for allocating buffer space in main memory.</a:t>
            </a:r>
            <a:endParaRPr lang="en-US" altLang="en-US" sz="1200" dirty="0"/>
          </a:p>
        </p:txBody>
      </p:sp>
      <p:pic>
        <p:nvPicPr>
          <p:cNvPr id="3" name="Picture 2"/>
          <p:cNvPicPr>
            <a:picLocks noChangeAspect="1"/>
          </p:cNvPicPr>
          <p:nvPr/>
        </p:nvPicPr>
        <p:blipFill>
          <a:blip r:embed="rId1"/>
          <a:stretch>
            <a:fillRect/>
          </a:stretch>
        </p:blipFill>
        <p:spPr>
          <a:xfrm>
            <a:off x="3059832" y="3097995"/>
            <a:ext cx="2950655" cy="122516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 Manager</a:t>
            </a:r>
            <a:endParaRPr lang="en-US" altLang="en-US">
              <a:effectLst>
                <a:outerShdw blurRad="38100" dist="38100" dir="2700000" algn="tl">
                  <a:srgbClr val="C0C0C0"/>
                </a:outerShdw>
              </a:effectLst>
            </a:endParaRPr>
          </a:p>
        </p:txBody>
      </p:sp>
      <p:sp>
        <p:nvSpPr>
          <p:cNvPr id="107523" name="Rectangle 3"/>
          <p:cNvSpPr>
            <a:spLocks noGrp="1" noChangeArrowheads="1"/>
          </p:cNvSpPr>
          <p:nvPr>
            <p:ph idx="1"/>
          </p:nvPr>
        </p:nvSpPr>
        <p:spPr>
          <a:xfrm>
            <a:off x="348456" y="699542"/>
            <a:ext cx="8447087" cy="4049712"/>
          </a:xfrm>
        </p:spPr>
        <p:txBody>
          <a:bodyPr/>
          <a:lstStyle/>
          <a:p>
            <a:pPr marL="381000" indent="-381000"/>
            <a:r>
              <a:rPr lang="en-US" altLang="en-US" sz="1400" dirty="0"/>
              <a:t>Programs call on the buffer manager when they need a block from disk.</a:t>
            </a:r>
            <a:endParaRPr lang="en-US" altLang="en-US" sz="1400" dirty="0"/>
          </a:p>
          <a:p>
            <a:pPr lvl="1">
              <a:buSzPct val="100000"/>
            </a:pPr>
            <a:r>
              <a:rPr lang="en-US" altLang="en-US" sz="1400" dirty="0"/>
              <a:t>If the block is already in the buffer, buffer manager returns the address of the block in main memory</a:t>
            </a:r>
            <a:endParaRPr lang="en-US" altLang="en-US" sz="1400" dirty="0"/>
          </a:p>
          <a:p>
            <a:pPr lvl="1">
              <a:buSzPct val="100000"/>
            </a:pPr>
            <a:r>
              <a:rPr lang="en-US" altLang="en-US" sz="1400" dirty="0"/>
              <a:t>If the block is not in the buffer, the buffer manager</a:t>
            </a:r>
            <a:endParaRPr lang="en-US" altLang="en-US" sz="1400" dirty="0"/>
          </a:p>
          <a:p>
            <a:pPr lvl="2"/>
            <a:r>
              <a:rPr lang="en-US" altLang="en-US" sz="1400" dirty="0"/>
              <a:t>Allocates space in the buffer for the block</a:t>
            </a:r>
            <a:endParaRPr lang="en-US" altLang="en-US" sz="1400" dirty="0"/>
          </a:p>
          <a:p>
            <a:pPr lvl="3"/>
            <a:r>
              <a:rPr lang="en-US" altLang="en-US" sz="1400" dirty="0"/>
              <a:t>Replacing (throwing out) some other block, if required, to make space for the new block.</a:t>
            </a:r>
            <a:endParaRPr lang="en-US" altLang="en-US" sz="1400" dirty="0"/>
          </a:p>
          <a:p>
            <a:pPr lvl="3"/>
            <a:r>
              <a:rPr lang="en-US" altLang="en-US" sz="1400" dirty="0"/>
              <a:t>Replaced block written back to disk only if it was modified since the most recent time that it was written to/fetched from the disk.</a:t>
            </a:r>
            <a:endParaRPr lang="en-US" altLang="en-US" sz="1400" dirty="0"/>
          </a:p>
          <a:p>
            <a:pPr lvl="2"/>
            <a:r>
              <a:rPr lang="en-US" altLang="en-US" sz="1400" dirty="0"/>
              <a:t>Reads the block from the disk to the buffer, and returns the address of the block in main memory to requester. </a:t>
            </a:r>
            <a:endParaRPr lang="en-US" altLang="en-US" sz="1400" dirty="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en-US" altLang="zh-CN" dirty="0">
                <a:ea typeface="宋体" panose="02010600030101010101" pitchFamily="2" charset="-122"/>
              </a:rPr>
              <a:t>Cache</a:t>
            </a:r>
            <a:r>
              <a:rPr lang="zh-CN" altLang="en-US" dirty="0">
                <a:ea typeface="宋体" panose="02010600030101010101" pitchFamily="2" charset="-122"/>
              </a:rPr>
              <a:t> </a:t>
            </a:r>
            <a:r>
              <a:rPr lang="en-US" altLang="zh-CN" dirty="0">
                <a:ea typeface="宋体" panose="02010600030101010101" pitchFamily="2" charset="-122"/>
              </a:rPr>
              <a:t>Policy</a:t>
            </a:r>
            <a:endParaRPr lang="en-US" altLang="en-US" dirty="0"/>
          </a:p>
        </p:txBody>
      </p:sp>
      <p:sp>
        <p:nvSpPr>
          <p:cNvPr id="4" name="矩形 3"/>
          <p:cNvSpPr/>
          <p:nvPr/>
        </p:nvSpPr>
        <p:spPr bwMode="auto">
          <a:xfrm>
            <a:off x="3408364" y="928688"/>
            <a:ext cx="2074862" cy="314325"/>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31886" tIns="31886" rIns="31886" bIns="31886" anchor="ctr"/>
          <a:lstStyle/>
          <a:p>
            <a:pPr algn="ctr" defTabSz="816610" eaLnBrk="1">
              <a:lnSpc>
                <a:spcPct val="90000"/>
              </a:lnSpc>
              <a:defRPr/>
            </a:pPr>
            <a:r>
              <a:rPr lang="en-US" sz="1200" dirty="0">
                <a:solidFill>
                  <a:srgbClr val="000000"/>
                </a:solidFill>
                <a:latin typeface="Calibri Light" panose="020F0302020204030204" charset="0"/>
                <a:ea typeface="Canela Text Regular" charset="0"/>
                <a:cs typeface="Calibri Light" panose="020F0302020204030204" charset="0"/>
              </a:rPr>
              <a:t>Cache</a:t>
            </a:r>
            <a:endParaRPr lang="en-US" sz="1200" dirty="0">
              <a:solidFill>
                <a:srgbClr val="000000"/>
              </a:solidFill>
              <a:latin typeface="Calibri Light" panose="020F0302020204030204" charset="0"/>
              <a:ea typeface="Canela Text Regular" charset="0"/>
              <a:cs typeface="Calibri Light" panose="020F0302020204030204" charset="0"/>
            </a:endParaRPr>
          </a:p>
        </p:txBody>
      </p:sp>
      <p:sp>
        <p:nvSpPr>
          <p:cNvPr id="5" name="矩形 4"/>
          <p:cNvSpPr/>
          <p:nvPr/>
        </p:nvSpPr>
        <p:spPr bwMode="auto">
          <a:xfrm>
            <a:off x="3408364" y="1660525"/>
            <a:ext cx="2074862" cy="684213"/>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lIns="31886" tIns="31886" rIns="31886" bIns="31886" anchor="ctr"/>
          <a:lstStyle/>
          <a:p>
            <a:pPr algn="ctr" defTabSz="816610" eaLnBrk="1">
              <a:lnSpc>
                <a:spcPct val="90000"/>
              </a:lnSpc>
              <a:defRPr/>
            </a:pPr>
            <a:r>
              <a:rPr lang="en-US" sz="1600" dirty="0">
                <a:solidFill>
                  <a:srgbClr val="000000"/>
                </a:solidFill>
                <a:latin typeface="Calibri Light" panose="020F0302020204030204" charset="0"/>
                <a:ea typeface="Canela Text Regular" charset="0"/>
                <a:cs typeface="Calibri Light" panose="020F0302020204030204" charset="0"/>
              </a:rPr>
              <a:t>Memory</a:t>
            </a:r>
            <a:endParaRPr lang="en-US" sz="1600" dirty="0">
              <a:solidFill>
                <a:srgbClr val="000000"/>
              </a:solidFill>
              <a:latin typeface="Calibri Light" panose="020F0302020204030204" charset="0"/>
              <a:ea typeface="Canela Text Regular" charset="0"/>
              <a:cs typeface="Calibri Light" panose="020F0302020204030204" charset="0"/>
            </a:endParaRPr>
          </a:p>
        </p:txBody>
      </p:sp>
      <p:cxnSp>
        <p:nvCxnSpPr>
          <p:cNvPr id="33797" name="直接箭头连接符 6"/>
          <p:cNvCxnSpPr>
            <a:cxnSpLocks noChangeShapeType="1"/>
            <a:stCxn id="5" idx="0"/>
            <a:endCxn id="4" idx="2"/>
          </p:cNvCxnSpPr>
          <p:nvPr/>
        </p:nvCxnSpPr>
        <p:spPr bwMode="auto">
          <a:xfrm flipV="1">
            <a:off x="4446588" y="1243014"/>
            <a:ext cx="0" cy="417512"/>
          </a:xfrm>
          <a:prstGeom prst="straightConnector1">
            <a:avLst/>
          </a:prstGeom>
          <a:noFill/>
          <a:ln w="25400" algn="ctr">
            <a:solidFill>
              <a:srgbClr val="000000"/>
            </a:solidFill>
            <a:miter lim="400000"/>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798" name="Content Placeholder 2"/>
          <p:cNvSpPr>
            <a:spLocks noGrp="1"/>
          </p:cNvSpPr>
          <p:nvPr>
            <p:ph idx="1"/>
          </p:nvPr>
        </p:nvSpPr>
        <p:spPr>
          <a:xfrm>
            <a:off x="347664" y="2495551"/>
            <a:ext cx="8447087" cy="2273300"/>
          </a:xfrm>
        </p:spPr>
        <p:txBody>
          <a:bodyPr/>
          <a:lstStyle/>
          <a:p>
            <a:pPr>
              <a:spcBef>
                <a:spcPts val="225"/>
              </a:spcBef>
            </a:pPr>
            <a:r>
              <a:rPr lang="en-US" altLang="zh-CN" sz="1400" dirty="0">
                <a:ea typeface="宋体" panose="02010600030101010101" pitchFamily="2" charset="-122"/>
              </a:rPr>
              <a:t>A </a:t>
            </a:r>
            <a:r>
              <a:rPr lang="en-US" altLang="zh-CN" sz="1600" b="1" dirty="0">
                <a:ea typeface="宋体" panose="02010600030101010101" pitchFamily="2" charset="-122"/>
              </a:rPr>
              <a:t>Policy</a:t>
            </a:r>
            <a:r>
              <a:rPr lang="en-US" altLang="zh-CN" sz="1400" dirty="0">
                <a:ea typeface="宋体" panose="02010600030101010101" pitchFamily="2" charset="-122"/>
              </a:rPr>
              <a:t> needs to be defined to keep the access to Memory in the cache as much as possible</a:t>
            </a:r>
            <a:endParaRPr lang="en-US" altLang="zh-CN" sz="1400" dirty="0">
              <a:ea typeface="宋体" panose="02010600030101010101" pitchFamily="2" charset="-122"/>
            </a:endParaRPr>
          </a:p>
          <a:p>
            <a:pPr>
              <a:spcBef>
                <a:spcPts val="225"/>
              </a:spcBef>
            </a:pPr>
            <a:endParaRPr lang="en-US" altLang="en-US" sz="1400" dirty="0">
              <a:ea typeface="宋体" panose="02010600030101010101" pitchFamily="2" charset="-122"/>
            </a:endParaRPr>
          </a:p>
          <a:p>
            <a:pPr>
              <a:spcBef>
                <a:spcPts val="225"/>
              </a:spcBef>
            </a:pPr>
            <a:r>
              <a:rPr lang="en-US" altLang="zh-CN" sz="1400" dirty="0">
                <a:ea typeface="宋体" panose="02010600030101010101" pitchFamily="2" charset="-122"/>
              </a:rPr>
              <a:t>m</a:t>
            </a:r>
            <a:r>
              <a:rPr lang="zh-CN" altLang="en-US" sz="1400" dirty="0">
                <a:ea typeface="宋体" panose="02010600030101010101" pitchFamily="2" charset="-122"/>
              </a:rPr>
              <a:t>：</a:t>
            </a:r>
            <a:r>
              <a:rPr lang="en-US" altLang="zh-CN" sz="1400" dirty="0">
                <a:ea typeface="宋体" panose="02010600030101010101" pitchFamily="2" charset="-122"/>
              </a:rPr>
              <a:t>cache miss rate</a:t>
            </a:r>
            <a:endParaRPr lang="en-US" altLang="zh-CN" sz="1400" dirty="0">
              <a:ea typeface="宋体" panose="02010600030101010101" pitchFamily="2" charset="-122"/>
            </a:endParaRPr>
          </a:p>
          <a:p>
            <a:pPr>
              <a:spcBef>
                <a:spcPts val="225"/>
              </a:spcBef>
            </a:pPr>
            <a:r>
              <a:rPr lang="en-US" altLang="en-US" sz="1400" dirty="0">
                <a:ea typeface="宋体" panose="02010600030101010101" pitchFamily="2" charset="-122"/>
              </a:rPr>
              <a:t>T</a:t>
            </a:r>
            <a:r>
              <a:rPr lang="en-US" altLang="en-US" sz="1400" baseline="-25000" dirty="0">
                <a:ea typeface="宋体" panose="02010600030101010101" pitchFamily="2" charset="-122"/>
              </a:rPr>
              <a:t>m</a:t>
            </a:r>
            <a:r>
              <a:rPr lang="en-US" altLang="en-US" sz="1400" dirty="0">
                <a:ea typeface="宋体" panose="02010600030101010101" pitchFamily="2" charset="-122"/>
              </a:rPr>
              <a:t>: memory access time</a:t>
            </a:r>
            <a:endParaRPr lang="en-US" altLang="en-US" sz="1400" dirty="0">
              <a:ea typeface="宋体" panose="02010600030101010101" pitchFamily="2" charset="-122"/>
            </a:endParaRPr>
          </a:p>
          <a:p>
            <a:pPr>
              <a:spcBef>
                <a:spcPts val="225"/>
              </a:spcBef>
            </a:pPr>
            <a:r>
              <a:rPr lang="en-US" altLang="en-US" sz="1400" dirty="0">
                <a:ea typeface="宋体" panose="02010600030101010101" pitchFamily="2" charset="-122"/>
              </a:rPr>
              <a:t>T</a:t>
            </a:r>
            <a:r>
              <a:rPr lang="en-US" altLang="en-US" sz="1400" baseline="-25000" dirty="0">
                <a:ea typeface="宋体" panose="02010600030101010101" pitchFamily="2" charset="-122"/>
              </a:rPr>
              <a:t>h</a:t>
            </a:r>
            <a:r>
              <a:rPr lang="en-US" altLang="en-US" sz="1400" dirty="0">
                <a:ea typeface="宋体" panose="02010600030101010101" pitchFamily="2" charset="-122"/>
              </a:rPr>
              <a:t>: cache access time</a:t>
            </a:r>
            <a:endParaRPr lang="en-US" altLang="en-US" sz="1400" dirty="0">
              <a:ea typeface="宋体" panose="02010600030101010101" pitchFamily="2" charset="-122"/>
            </a:endParaRPr>
          </a:p>
          <a:p>
            <a:pPr>
              <a:spcBef>
                <a:spcPts val="225"/>
              </a:spcBef>
            </a:pPr>
            <a:endParaRPr lang="en-US" altLang="en-US" sz="1400" dirty="0">
              <a:ea typeface="宋体" panose="02010600030101010101" pitchFamily="2" charset="-122"/>
            </a:endParaRPr>
          </a:p>
          <a:p>
            <a:pPr>
              <a:spcBef>
                <a:spcPts val="225"/>
              </a:spcBef>
            </a:pPr>
            <a:r>
              <a:rPr lang="en-US" altLang="zh-CN" sz="1400" dirty="0">
                <a:ea typeface="宋体" panose="02010600030101010101" pitchFamily="2" charset="-122"/>
                <a:sym typeface="Wingdings" panose="05000000000000000000" pitchFamily="2" charset="2"/>
              </a:rPr>
              <a:t> </a:t>
            </a:r>
            <a:r>
              <a:rPr lang="en-US" altLang="zh-CN" sz="1400" dirty="0">
                <a:ea typeface="宋体" panose="02010600030101010101" pitchFamily="2" charset="-122"/>
              </a:rPr>
              <a:t>the lower m the better</a:t>
            </a:r>
            <a:endParaRPr lang="en-US" altLang="en-US" sz="1400" dirty="0">
              <a:ea typeface="宋体" panose="02010600030101010101" pitchFamily="2" charset="-122"/>
            </a:endParaRPr>
          </a:p>
        </p:txBody>
      </p:sp>
      <p:pic>
        <p:nvPicPr>
          <p:cNvPr id="33799"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59113" y="2787650"/>
            <a:ext cx="2271712" cy="3714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miter lim="4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椭圆 11"/>
          <p:cNvSpPr/>
          <p:nvPr/>
        </p:nvSpPr>
        <p:spPr bwMode="auto">
          <a:xfrm>
            <a:off x="1889125" y="831850"/>
            <a:ext cx="679450" cy="508000"/>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lIns="31886" tIns="31886" rIns="31886" bIns="31886" anchor="ctr"/>
          <a:lstStyle>
            <a:lvl1pPr>
              <a:defRPr sz="1600">
                <a:solidFill>
                  <a:srgbClr val="000000"/>
                </a:solidFill>
                <a:latin typeface="Canela Text Regular" charset="0"/>
                <a:ea typeface="Canela Text Regular" charset="0"/>
                <a:cs typeface="Canela Text Regular" charset="0"/>
                <a:sym typeface="Canela Text Regular" charset="0"/>
              </a:defRPr>
            </a:lvl1pPr>
            <a:lvl2pPr marL="742950" indent="-285750">
              <a:defRPr sz="1600">
                <a:solidFill>
                  <a:srgbClr val="000000"/>
                </a:solidFill>
                <a:latin typeface="Canela Text Regular" charset="0"/>
                <a:ea typeface="Canela Text Regular" charset="0"/>
                <a:cs typeface="Canela Text Regular" charset="0"/>
                <a:sym typeface="Canela Text Regular" charset="0"/>
              </a:defRPr>
            </a:lvl2pPr>
            <a:lvl3pPr marL="1143000" indent="-228600">
              <a:defRPr sz="1600">
                <a:solidFill>
                  <a:srgbClr val="000000"/>
                </a:solidFill>
                <a:latin typeface="Canela Text Regular" charset="0"/>
                <a:ea typeface="Canela Text Regular" charset="0"/>
                <a:cs typeface="Canela Text Regular" charset="0"/>
                <a:sym typeface="Canela Text Regular" charset="0"/>
              </a:defRPr>
            </a:lvl3pPr>
            <a:lvl4pPr marL="1600200" indent="-228600">
              <a:defRPr sz="1600">
                <a:solidFill>
                  <a:srgbClr val="000000"/>
                </a:solidFill>
                <a:latin typeface="Canela Text Regular" charset="0"/>
                <a:ea typeface="Canela Text Regular" charset="0"/>
                <a:cs typeface="Canela Text Regular" charset="0"/>
                <a:sym typeface="Canela Text Regular" charset="0"/>
              </a:defRPr>
            </a:lvl4pPr>
            <a:lvl5pPr marL="2057400" indent="-228600">
              <a:defRPr sz="1600">
                <a:solidFill>
                  <a:srgbClr val="000000"/>
                </a:solidFill>
                <a:latin typeface="Canela Text Regular" charset="0"/>
                <a:ea typeface="Canela Text Regular" charset="0"/>
                <a:cs typeface="Canela Text Regular" charset="0"/>
                <a:sym typeface="Canela Text Regular" charset="0"/>
              </a:defRPr>
            </a:lvl5pPr>
            <a:lvl6pPr marL="2514600" indent="-228600" defTabSz="1733550"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6pPr>
            <a:lvl7pPr marL="2971800" indent="-228600" defTabSz="1733550"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7pPr>
            <a:lvl8pPr marL="3429000" indent="-228600" defTabSz="1733550"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8pPr>
            <a:lvl9pPr marL="3886200" indent="-228600" defTabSz="1733550"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9pPr>
          </a:lstStyle>
          <a:p>
            <a:pPr algn="ctr" defTabSz="816610" eaLnBrk="1">
              <a:lnSpc>
                <a:spcPct val="90000"/>
              </a:lnSpc>
              <a:defRPr/>
            </a:pPr>
            <a:r>
              <a:rPr lang="en-US" altLang="zh-CN" sz="1200">
                <a:latin typeface="Calibri Light" panose="020F0302020204030204" charset="0"/>
                <a:ea typeface="宋体" panose="02010600030101010101" pitchFamily="2" charset="-122"/>
                <a:cs typeface="Calibri Light" panose="020F0302020204030204" charset="0"/>
              </a:rPr>
              <a:t>CPU</a:t>
            </a:r>
            <a:endParaRPr lang="en-US" altLang="zh-CN" sz="1200">
              <a:latin typeface="Calibri Light" panose="020F0302020204030204" charset="0"/>
              <a:ea typeface="宋体" panose="02010600030101010101" pitchFamily="2" charset="-122"/>
              <a:cs typeface="Calibri Light" panose="020F0302020204030204" charset="0"/>
            </a:endParaRPr>
          </a:p>
        </p:txBody>
      </p:sp>
      <p:cxnSp>
        <p:nvCxnSpPr>
          <p:cNvPr id="33801" name="直接箭头连接符 13"/>
          <p:cNvCxnSpPr>
            <a:cxnSpLocks noChangeShapeType="1"/>
            <a:stCxn id="12" idx="6"/>
            <a:endCxn id="4" idx="1"/>
          </p:cNvCxnSpPr>
          <p:nvPr/>
        </p:nvCxnSpPr>
        <p:spPr bwMode="auto">
          <a:xfrm>
            <a:off x="2568576" y="1085850"/>
            <a:ext cx="839788" cy="0"/>
          </a:xfrm>
          <a:prstGeom prst="straightConnector1">
            <a:avLst/>
          </a:prstGeom>
          <a:noFill/>
          <a:ln w="25400" algn="ctr">
            <a:solidFill>
              <a:srgbClr val="000000"/>
            </a:solidFill>
            <a:miter lim="400000"/>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Freeform: Shape 14"/>
          <p:cNvSpPr/>
          <p:nvPr/>
        </p:nvSpPr>
        <p:spPr bwMode="auto">
          <a:xfrm>
            <a:off x="2496766" y="577143"/>
            <a:ext cx="1601834" cy="324320"/>
          </a:xfrm>
          <a:custGeom>
            <a:avLst/>
            <a:gdLst>
              <a:gd name="connsiteX0" fmla="*/ 0 w 1601834"/>
              <a:gd name="connsiteY0" fmla="*/ 194554 h 220494"/>
              <a:gd name="connsiteX1" fmla="*/ 32425 w 1601834"/>
              <a:gd name="connsiteY1" fmla="*/ 181583 h 220494"/>
              <a:gd name="connsiteX2" fmla="*/ 214008 w 1601834"/>
              <a:gd name="connsiteY2" fmla="*/ 77822 h 220494"/>
              <a:gd name="connsiteX3" fmla="*/ 551234 w 1601834"/>
              <a:gd name="connsiteY3" fmla="*/ 0 h 220494"/>
              <a:gd name="connsiteX4" fmla="*/ 1076528 w 1601834"/>
              <a:gd name="connsiteY4" fmla="*/ 6485 h 220494"/>
              <a:gd name="connsiteX5" fmla="*/ 1173804 w 1601834"/>
              <a:gd name="connsiteY5" fmla="*/ 25941 h 220494"/>
              <a:gd name="connsiteX6" fmla="*/ 1433208 w 1601834"/>
              <a:gd name="connsiteY6" fmla="*/ 129702 h 220494"/>
              <a:gd name="connsiteX7" fmla="*/ 1569396 w 1601834"/>
              <a:gd name="connsiteY7" fmla="*/ 188068 h 220494"/>
              <a:gd name="connsiteX8" fmla="*/ 1601821 w 1601834"/>
              <a:gd name="connsiteY8" fmla="*/ 220494 h 22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834" h="220494">
                <a:moveTo>
                  <a:pt x="0" y="194554"/>
                </a:moveTo>
                <a:cubicBezTo>
                  <a:pt x="10808" y="190230"/>
                  <a:pt x="22205" y="187157"/>
                  <a:pt x="32425" y="181583"/>
                </a:cubicBezTo>
                <a:cubicBezTo>
                  <a:pt x="93625" y="148201"/>
                  <a:pt x="146377" y="94730"/>
                  <a:pt x="214008" y="77822"/>
                </a:cubicBezTo>
                <a:cubicBezTo>
                  <a:pt x="447004" y="19573"/>
                  <a:pt x="334512" y="45151"/>
                  <a:pt x="551234" y="0"/>
                </a:cubicBezTo>
                <a:cubicBezTo>
                  <a:pt x="726332" y="2162"/>
                  <a:pt x="901568" y="-805"/>
                  <a:pt x="1076528" y="6485"/>
                </a:cubicBezTo>
                <a:cubicBezTo>
                  <a:pt x="1109567" y="7862"/>
                  <a:pt x="1142549" y="15144"/>
                  <a:pt x="1173804" y="25941"/>
                </a:cubicBezTo>
                <a:cubicBezTo>
                  <a:pt x="1261828" y="56350"/>
                  <a:pt x="1348427" y="91165"/>
                  <a:pt x="1433208" y="129702"/>
                </a:cubicBezTo>
                <a:cubicBezTo>
                  <a:pt x="1525740" y="171762"/>
                  <a:pt x="1480293" y="152427"/>
                  <a:pt x="1569396" y="188068"/>
                </a:cubicBezTo>
                <a:cubicBezTo>
                  <a:pt x="1603509" y="215359"/>
                  <a:pt x="1601821" y="200167"/>
                  <a:pt x="1601821" y="220494"/>
                </a:cubicBezTo>
              </a:path>
            </a:pathLst>
          </a:custGeom>
          <a:noFill/>
          <a:ln w="25400" cap="flat" cmpd="sng" algn="ctr">
            <a:solidFill>
              <a:schemeClr val="accent2"/>
            </a:solidFill>
            <a:prstDash val="sysDash"/>
            <a:miter lim="400000"/>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0800" tIns="50800" rIns="50800" bIns="50800" numCol="1" rtlCol="0" anchor="ctr" anchorCtr="0" compatLnSpc="1">
            <a:spAutoFit/>
          </a:bodyPr>
          <a:lstStyle/>
          <a:p>
            <a:pPr algn="ctr" defTabSz="1300480" eaLnBrk="1">
              <a:lnSpc>
                <a:spcPct val="90000"/>
              </a:lnSpc>
            </a:pPr>
            <a:endParaRPr lang="en-US" sz="1600"/>
          </a:p>
        </p:txBody>
      </p:sp>
      <p:sp>
        <p:nvSpPr>
          <p:cNvPr id="16" name="Freeform: Shape 15"/>
          <p:cNvSpPr/>
          <p:nvPr/>
        </p:nvSpPr>
        <p:spPr bwMode="auto">
          <a:xfrm>
            <a:off x="2507693" y="1288068"/>
            <a:ext cx="1704267" cy="324320"/>
          </a:xfrm>
          <a:custGeom>
            <a:avLst/>
            <a:gdLst>
              <a:gd name="connsiteX0" fmla="*/ 0 w 1841770"/>
              <a:gd name="connsiteY0" fmla="*/ 382621 h 1175417"/>
              <a:gd name="connsiteX1" fmla="*/ 19455 w 1841770"/>
              <a:gd name="connsiteY1" fmla="*/ 428017 h 1175417"/>
              <a:gd name="connsiteX2" fmla="*/ 51881 w 1841770"/>
              <a:gd name="connsiteY2" fmla="*/ 512324 h 1175417"/>
              <a:gd name="connsiteX3" fmla="*/ 220493 w 1841770"/>
              <a:gd name="connsiteY3" fmla="*/ 797668 h 1175417"/>
              <a:gd name="connsiteX4" fmla="*/ 350196 w 1841770"/>
              <a:gd name="connsiteY4" fmla="*/ 901430 h 1175417"/>
              <a:gd name="connsiteX5" fmla="*/ 544749 w 1841770"/>
              <a:gd name="connsiteY5" fmla="*/ 998707 h 1175417"/>
              <a:gd name="connsiteX6" fmla="*/ 726332 w 1841770"/>
              <a:gd name="connsiteY6" fmla="*/ 1063558 h 1175417"/>
              <a:gd name="connsiteX7" fmla="*/ 946825 w 1841770"/>
              <a:gd name="connsiteY7" fmla="*/ 1108953 h 1175417"/>
              <a:gd name="connsiteX8" fmla="*/ 1238655 w 1841770"/>
              <a:gd name="connsiteY8" fmla="*/ 1173804 h 1175417"/>
              <a:gd name="connsiteX9" fmla="*/ 1666672 w 1841770"/>
              <a:gd name="connsiteY9" fmla="*/ 1115438 h 1175417"/>
              <a:gd name="connsiteX10" fmla="*/ 1725038 w 1841770"/>
              <a:gd name="connsiteY10" fmla="*/ 1070043 h 1175417"/>
              <a:gd name="connsiteX11" fmla="*/ 1744493 w 1841770"/>
              <a:gd name="connsiteY11" fmla="*/ 1031132 h 1175417"/>
              <a:gd name="connsiteX12" fmla="*/ 1828800 w 1841770"/>
              <a:gd name="connsiteY12" fmla="*/ 843064 h 1175417"/>
              <a:gd name="connsiteX13" fmla="*/ 1835285 w 1841770"/>
              <a:gd name="connsiteY13" fmla="*/ 778213 h 1175417"/>
              <a:gd name="connsiteX14" fmla="*/ 1841770 w 1841770"/>
              <a:gd name="connsiteY14" fmla="*/ 739302 h 1175417"/>
              <a:gd name="connsiteX15" fmla="*/ 1835285 w 1841770"/>
              <a:gd name="connsiteY15" fmla="*/ 434502 h 1175417"/>
              <a:gd name="connsiteX16" fmla="*/ 1802859 w 1841770"/>
              <a:gd name="connsiteY16" fmla="*/ 330741 h 1175417"/>
              <a:gd name="connsiteX17" fmla="*/ 1673157 w 1841770"/>
              <a:gd name="connsiteY17" fmla="*/ 175098 h 1175417"/>
              <a:gd name="connsiteX18" fmla="*/ 1595336 w 1841770"/>
              <a:gd name="connsiteY18" fmla="*/ 129702 h 1175417"/>
              <a:gd name="connsiteX19" fmla="*/ 1368357 w 1841770"/>
              <a:gd name="connsiteY19" fmla="*/ 25941 h 1175417"/>
              <a:gd name="connsiteX20" fmla="*/ 1115438 w 1841770"/>
              <a:gd name="connsiteY20" fmla="*/ 0 h 1175417"/>
              <a:gd name="connsiteX21" fmla="*/ 291830 w 1841770"/>
              <a:gd name="connsiteY21" fmla="*/ 25941 h 1175417"/>
              <a:gd name="connsiteX22" fmla="*/ 226979 w 1841770"/>
              <a:gd name="connsiteY22" fmla="*/ 71336 h 1175417"/>
              <a:gd name="connsiteX23" fmla="*/ 226979 w 1841770"/>
              <a:gd name="connsiteY23" fmla="*/ 77821 h 117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41770" h="1175417">
                <a:moveTo>
                  <a:pt x="0" y="382621"/>
                </a:moveTo>
                <a:cubicBezTo>
                  <a:pt x="6485" y="397753"/>
                  <a:pt x="13341" y="412731"/>
                  <a:pt x="19455" y="428017"/>
                </a:cubicBezTo>
                <a:cubicBezTo>
                  <a:pt x="30637" y="455973"/>
                  <a:pt x="39813" y="484739"/>
                  <a:pt x="51881" y="512324"/>
                </a:cubicBezTo>
                <a:cubicBezTo>
                  <a:pt x="96353" y="613973"/>
                  <a:pt x="144903" y="713906"/>
                  <a:pt x="220493" y="797668"/>
                </a:cubicBezTo>
                <a:cubicBezTo>
                  <a:pt x="257587" y="838772"/>
                  <a:pt x="304719" y="869849"/>
                  <a:pt x="350196" y="901430"/>
                </a:cubicBezTo>
                <a:cubicBezTo>
                  <a:pt x="403607" y="938521"/>
                  <a:pt x="483070" y="975210"/>
                  <a:pt x="544749" y="998707"/>
                </a:cubicBezTo>
                <a:cubicBezTo>
                  <a:pt x="604810" y="1021588"/>
                  <a:pt x="663979" y="1047970"/>
                  <a:pt x="726332" y="1063558"/>
                </a:cubicBezTo>
                <a:cubicBezTo>
                  <a:pt x="1141118" y="1167253"/>
                  <a:pt x="636697" y="1045876"/>
                  <a:pt x="946825" y="1108953"/>
                </a:cubicBezTo>
                <a:cubicBezTo>
                  <a:pt x="1044475" y="1128814"/>
                  <a:pt x="1238655" y="1173804"/>
                  <a:pt x="1238655" y="1173804"/>
                </a:cubicBezTo>
                <a:cubicBezTo>
                  <a:pt x="1474746" y="1164546"/>
                  <a:pt x="1511708" y="1205834"/>
                  <a:pt x="1666672" y="1115438"/>
                </a:cubicBezTo>
                <a:cubicBezTo>
                  <a:pt x="1687962" y="1103019"/>
                  <a:pt x="1705583" y="1085175"/>
                  <a:pt x="1725038" y="1070043"/>
                </a:cubicBezTo>
                <a:cubicBezTo>
                  <a:pt x="1731523" y="1057073"/>
                  <a:pt x="1738464" y="1044320"/>
                  <a:pt x="1744493" y="1031132"/>
                </a:cubicBezTo>
                <a:cubicBezTo>
                  <a:pt x="1773056" y="968651"/>
                  <a:pt x="1828800" y="843064"/>
                  <a:pt x="1828800" y="843064"/>
                </a:cubicBezTo>
                <a:cubicBezTo>
                  <a:pt x="1830962" y="821447"/>
                  <a:pt x="1832590" y="799770"/>
                  <a:pt x="1835285" y="778213"/>
                </a:cubicBezTo>
                <a:cubicBezTo>
                  <a:pt x="1836916" y="765165"/>
                  <a:pt x="1841770" y="752451"/>
                  <a:pt x="1841770" y="739302"/>
                </a:cubicBezTo>
                <a:cubicBezTo>
                  <a:pt x="1841770" y="637679"/>
                  <a:pt x="1840820" y="535974"/>
                  <a:pt x="1835285" y="434502"/>
                </a:cubicBezTo>
                <a:cubicBezTo>
                  <a:pt x="1834271" y="415914"/>
                  <a:pt x="1811546" y="346253"/>
                  <a:pt x="1802859" y="330741"/>
                </a:cubicBezTo>
                <a:cubicBezTo>
                  <a:pt x="1752707" y="241184"/>
                  <a:pt x="1746606" y="224064"/>
                  <a:pt x="1673157" y="175098"/>
                </a:cubicBezTo>
                <a:cubicBezTo>
                  <a:pt x="1648170" y="158440"/>
                  <a:pt x="1622311" y="142902"/>
                  <a:pt x="1595336" y="129702"/>
                </a:cubicBezTo>
                <a:cubicBezTo>
                  <a:pt x="1520613" y="93136"/>
                  <a:pt x="1450905" y="36260"/>
                  <a:pt x="1368357" y="25941"/>
                </a:cubicBezTo>
                <a:cubicBezTo>
                  <a:pt x="1180468" y="2454"/>
                  <a:pt x="1264884" y="9963"/>
                  <a:pt x="1115438" y="0"/>
                </a:cubicBezTo>
                <a:lnTo>
                  <a:pt x="291830" y="25941"/>
                </a:lnTo>
                <a:cubicBezTo>
                  <a:pt x="255950" y="27560"/>
                  <a:pt x="245097" y="44158"/>
                  <a:pt x="226979" y="71336"/>
                </a:cubicBezTo>
                <a:cubicBezTo>
                  <a:pt x="225780" y="73135"/>
                  <a:pt x="226979" y="75659"/>
                  <a:pt x="226979" y="77821"/>
                </a:cubicBezTo>
              </a:path>
            </a:pathLst>
          </a:custGeom>
          <a:noFill/>
          <a:ln w="25400" cap="flat" cmpd="sng" algn="ctr">
            <a:solidFill>
              <a:srgbClr val="C00000"/>
            </a:solidFill>
            <a:prstDash val="sysDash"/>
            <a:miter lim="400000"/>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0800" tIns="50800" rIns="50800" bIns="50800" numCol="1" rtlCol="0" anchor="ctr" anchorCtr="0" compatLnSpc="1">
            <a:spAutoFit/>
          </a:bodyPr>
          <a:lstStyle/>
          <a:p>
            <a:pPr algn="ctr" defTabSz="1300480" eaLnBrk="1">
              <a:lnSpc>
                <a:spcPct val="90000"/>
              </a:lnSpc>
            </a:pPr>
            <a:endParaRPr lang="en-US" sz="1600">
              <a:latin typeface="Calibri Light" panose="020F0302020204030204" charset="0"/>
              <a:cs typeface="Calibri Light" panose="020F030202020403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en-US" altLang="zh-CN">
                <a:ea typeface="宋体" panose="02010600030101010101" pitchFamily="2" charset="-122"/>
              </a:rPr>
              <a:t>First In First Out (FIFO)</a:t>
            </a:r>
            <a:endParaRPr lang="en-US" altLang="en-US"/>
          </a:p>
        </p:txBody>
      </p:sp>
      <p:sp>
        <p:nvSpPr>
          <p:cNvPr id="34819" name="内容占位符 6"/>
          <p:cNvSpPr>
            <a:spLocks noGrp="1"/>
          </p:cNvSpPr>
          <p:nvPr>
            <p:ph idx="1"/>
          </p:nvPr>
        </p:nvSpPr>
        <p:spPr>
          <a:xfrm>
            <a:off x="347664" y="3217864"/>
            <a:ext cx="8447087" cy="1550987"/>
          </a:xfrm>
        </p:spPr>
        <p:txBody>
          <a:bodyPr/>
          <a:lstStyle/>
          <a:p>
            <a:pPr>
              <a:spcBef>
                <a:spcPts val="225"/>
              </a:spcBef>
            </a:pPr>
            <a:r>
              <a:rPr lang="en-US" altLang="en-US" dirty="0"/>
              <a:t>Missing rate = 4/9</a:t>
            </a:r>
            <a:endParaRPr lang="en-US" altLang="en-US" dirty="0"/>
          </a:p>
          <a:p>
            <a:pPr>
              <a:spcBef>
                <a:spcPts val="225"/>
              </a:spcBef>
            </a:pPr>
            <a:r>
              <a:rPr lang="en-US" altLang="zh-CN" dirty="0">
                <a:ea typeface="宋体" panose="02010600030101010101" pitchFamily="2" charset="-122"/>
              </a:rPr>
              <a:t>Always replace the earliest entry in the cache</a:t>
            </a:r>
            <a:endParaRPr lang="en-US" altLang="zh-CN" dirty="0">
              <a:ea typeface="宋体" panose="02010600030101010101" pitchFamily="2" charset="-122"/>
            </a:endParaRPr>
          </a:p>
          <a:p>
            <a:pPr>
              <a:spcBef>
                <a:spcPts val="225"/>
              </a:spcBef>
            </a:pPr>
            <a:r>
              <a:rPr lang="en-US" altLang="en-US" dirty="0">
                <a:ea typeface="宋体" panose="02010600030101010101" pitchFamily="2" charset="-122"/>
              </a:rPr>
              <a:t>This part will be Lab 1</a:t>
            </a:r>
            <a:endParaRPr lang="en-US" altLang="en-US" dirty="0"/>
          </a:p>
        </p:txBody>
      </p:sp>
      <p:graphicFrame>
        <p:nvGraphicFramePr>
          <p:cNvPr id="8" name="表格 7"/>
          <p:cNvGraphicFramePr>
            <a:graphicFrameLocks noGrp="1"/>
          </p:cNvGraphicFramePr>
          <p:nvPr/>
        </p:nvGraphicFramePr>
        <p:xfrm>
          <a:off x="1433513" y="1090613"/>
          <a:ext cx="5932170" cy="1447800"/>
        </p:xfrm>
        <a:graphic>
          <a:graphicData uri="http://schemas.openxmlformats.org/drawingml/2006/table">
            <a:tbl>
              <a:tblPr/>
              <a:tblGrid>
                <a:gridCol w="658654"/>
                <a:gridCol w="659606"/>
                <a:gridCol w="658654"/>
                <a:gridCol w="659606"/>
                <a:gridCol w="659606"/>
                <a:gridCol w="658654"/>
                <a:gridCol w="659606"/>
                <a:gridCol w="658654"/>
                <a:gridCol w="659130"/>
              </a:tblGrid>
              <a:tr h="289560">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A</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rPr>
                        <a:t>E</a:t>
                      </a:r>
                      <a:endParaRPr kumimoji="0" lang="en-US" altLang="en-US" sz="1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endParaRPr>
                    </a:p>
                  </a:txBody>
                  <a:tcPr marL="64292" marR="64292" marT="24101" marB="241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89560">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100" b="1" i="0" u="none" strike="noStrike" cap="none" normalizeH="0" baseline="0">
                          <a:ln>
                            <a:noFill/>
                          </a:ln>
                          <a:solidFill>
                            <a:srgbClr val="00B050"/>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rPr>
                        <a:t>A</a:t>
                      </a:r>
                      <a:endParaRPr kumimoji="0" lang="en-US" altLang="en-US" sz="1100" b="1" i="0" u="none" strike="noStrike" cap="none" normalizeH="0" baseline="0">
                        <a:ln>
                          <a:noFill/>
                        </a:ln>
                        <a:solidFill>
                          <a:srgbClr val="00B050"/>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A</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A</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1" i="0" u="none" strike="noStrike" cap="none" normalizeH="0" baseline="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rPr>
                        <a:t>E</a:t>
                      </a:r>
                      <a:endParaRPr kumimoji="0" lang="en-US" altLang="en-US" sz="1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1" i="0" u="none" strike="noStrike" cap="none" normalizeH="0" baseline="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9560">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1" i="0" u="none" strike="noStrike" cap="none" normalizeH="0" baseline="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1" i="0" u="none" strike="noStrike" cap="none" normalizeH="0" baseline="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1" i="0" u="none" strike="noStrike" cap="none" normalizeH="0" baseline="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9560">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1" i="0" u="none" strike="noStrike" cap="none" normalizeH="0" baseline="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1" i="0" u="none" strike="noStrike" cap="none" normalizeH="0" baseline="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9560">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D</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D</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D</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D</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D</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D</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1" i="0" u="none" strike="noStrike" cap="none" normalizeH="0" baseline="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2000"/>
                        </a:spcBef>
                        <a:buSzPct val="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2000"/>
                        </a:spcBef>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2000"/>
                        </a:spcBef>
                        <a:spcAft>
                          <a:spcPct val="0"/>
                        </a:spcAft>
                        <a:buSzPct val="175000"/>
                        <a:defRPr sz="26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2" marR="64292" marT="24101" marB="241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TextBox 1"/>
          <p:cNvSpPr txBox="1"/>
          <p:nvPr/>
        </p:nvSpPr>
        <p:spPr>
          <a:xfrm>
            <a:off x="611560" y="1086004"/>
            <a:ext cx="813043" cy="261482"/>
          </a:xfrm>
          <a:prstGeom prst="rect">
            <a:avLst/>
          </a:prstGeom>
          <a:noFill/>
        </p:spPr>
        <p:txBody>
          <a:bodyPr wrap="none" rtlCol="0">
            <a:spAutoFit/>
          </a:bodyPr>
          <a:lstStyle/>
          <a:p>
            <a:r>
              <a:rPr lang="en-US" sz="1100" b="1" dirty="0">
                <a:solidFill>
                  <a:schemeClr val="accent1"/>
                </a:solidFill>
              </a:rPr>
              <a:t>Data </a:t>
            </a:r>
            <a:r>
              <a:rPr lang="en-US" sz="1100" b="1" dirty="0" err="1">
                <a:solidFill>
                  <a:schemeClr val="accent1"/>
                </a:solidFill>
              </a:rPr>
              <a:t>Addr</a:t>
            </a:r>
            <a:r>
              <a:rPr lang="en-US" sz="1100" b="1" dirty="0">
                <a:solidFill>
                  <a:schemeClr val="accent1"/>
                </a:solidFill>
              </a:rPr>
              <a:t>.</a:t>
            </a:r>
            <a:endParaRPr lang="en-US" sz="1100" b="1" dirty="0">
              <a:solidFill>
                <a:schemeClr val="accent1"/>
              </a:solidFill>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en-US" altLang="zh-CN">
                <a:ea typeface="宋体" panose="02010600030101010101" pitchFamily="2" charset="-122"/>
              </a:rPr>
              <a:t>Least recently used (LRU)</a:t>
            </a:r>
            <a:endParaRPr lang="en-US" altLang="en-US"/>
          </a:p>
        </p:txBody>
      </p:sp>
      <p:graphicFrame>
        <p:nvGraphicFramePr>
          <p:cNvPr id="4" name="表格 3"/>
          <p:cNvGraphicFramePr>
            <a:graphicFrameLocks noGrp="1"/>
          </p:cNvGraphicFramePr>
          <p:nvPr/>
        </p:nvGraphicFramePr>
        <p:xfrm>
          <a:off x="1533525" y="1090614"/>
          <a:ext cx="5934077" cy="1445420"/>
        </p:xfrm>
        <a:graphic>
          <a:graphicData uri="http://schemas.openxmlformats.org/drawingml/2006/table">
            <a:tbl>
              <a:tblPr/>
              <a:tblGrid>
                <a:gridCol w="660559"/>
                <a:gridCol w="659130"/>
                <a:gridCol w="658178"/>
                <a:gridCol w="660559"/>
                <a:gridCol w="657225"/>
                <a:gridCol w="660559"/>
                <a:gridCol w="660083"/>
                <a:gridCol w="657225"/>
                <a:gridCol w="660559"/>
              </a:tblGrid>
              <a:tr h="289084">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A</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rPr>
                        <a:t>E</a:t>
                      </a:r>
                      <a:endParaRPr kumimoji="0" lang="en-US" altLang="en-US" sz="1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endParaRPr>
                    </a:p>
                  </a:txBody>
                  <a:tcPr marL="64294" marR="64294" marT="24109" marB="24109"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89084">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100" b="1" i="0" u="none" strike="noStrike" cap="none" normalizeH="0" baseline="0" dirty="0">
                          <a:ln>
                            <a:noFill/>
                          </a:ln>
                          <a:solidFill>
                            <a:srgbClr val="00B050"/>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rPr>
                        <a:t>A(0)</a:t>
                      </a:r>
                      <a:endParaRPr kumimoji="0" lang="en-US" altLang="en-US" sz="1100" b="1" i="0" u="none" strike="noStrike" cap="none" normalizeH="0" baseline="0" dirty="0">
                        <a:ln>
                          <a:noFill/>
                        </a:ln>
                        <a:solidFill>
                          <a:srgbClr val="00B050"/>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A</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A</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kern="1200"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A</a:t>
                      </a:r>
                      <a:endParaRPr kumimoji="0" lang="en-US" altLang="en-US" sz="1100" b="0" i="0" u="none" strike="noStrike" kern="1200"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rPr>
                        <a:t>A</a:t>
                      </a:r>
                      <a:endParaRPr kumimoji="0" lang="en-US" altLang="en-US" sz="1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A</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dirty="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C(7)</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kern="1200"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kern="1200"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9084">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r>
                        <a:rPr kumimoji="0" lang="en-US" altLang="zh-CN" sz="1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rPr>
                        <a:t>(-3)</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dirty="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B(2)</a:t>
                      </a:r>
                      <a:endParaRPr kumimoji="0" lang="en-US" altLang="en-US" sz="1100" b="1" i="0" u="none" strike="noStrike" cap="none" normalizeH="0" baseline="0" dirty="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B(3)</a:t>
                      </a:r>
                      <a:endParaRPr kumimoji="0" lang="en-US" altLang="en-US" sz="1100" b="1" i="0" u="none" strike="noStrike" cap="none" normalizeH="0" baseline="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dirty="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B(6)</a:t>
                      </a:r>
                      <a:endParaRPr kumimoji="0" lang="en-US" altLang="en-US" sz="1100" b="1" i="0" u="none" strike="noStrike" cap="none" normalizeH="0" baseline="0" dirty="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dirty="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B(8)</a:t>
                      </a:r>
                      <a:endParaRPr kumimoji="0" lang="en-US" altLang="en-US" sz="1100" b="1" i="0" u="none" strike="noStrike" cap="none" normalizeH="0" baseline="0" dirty="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B</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9084">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r>
                        <a:rPr kumimoji="0" lang="en-US" altLang="zh-CN" sz="1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rPr>
                        <a:t>(-2)</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C</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dirty="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E(4)</a:t>
                      </a:r>
                      <a:endParaRPr kumimoji="0" lang="en-US" altLang="en-US" sz="1100" b="1" i="0" u="none" strike="noStrike" cap="none" normalizeH="0" baseline="0" dirty="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kern="1200"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0" i="0" u="none" strike="noStrike" kern="1200"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100" b="1" i="0" u="none" strike="noStrike" cap="none" normalizeH="0" baseline="0" dirty="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E(9)</a:t>
                      </a:r>
                      <a:endParaRPr kumimoji="0" lang="en-US" altLang="en-US" sz="1100" b="1" i="0" u="none" strike="noStrike" cap="none" normalizeH="0" baseline="0" dirty="0">
                        <a:ln>
                          <a:noFill/>
                        </a:ln>
                        <a:solidFill>
                          <a:srgbClr val="00B05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9084">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D</a:t>
                      </a:r>
                      <a:r>
                        <a:rPr kumimoji="0" lang="en-US" altLang="zh-CN" sz="1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Helvetica" panose="020B0604020202020204" pitchFamily="34" charset="0"/>
                          <a:sym typeface="Canela Text Regular" charset="0"/>
                        </a:rPr>
                        <a:t>(-1)</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D</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D</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D</a:t>
                      </a:r>
                      <a:endParaRPr kumimoji="0" lang="en-US" altLang="en-US" sz="1100" b="0" i="0" u="none" strike="noStrike" cap="none" normalizeH="0" baseline="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1" i="0" u="none" strike="noStrike" cap="none" normalizeH="0" baseline="0" dirty="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F(5)</a:t>
                      </a:r>
                      <a:endParaRPr kumimoji="0" lang="en-US" altLang="en-US" sz="1100" b="1" i="0" u="none" strike="noStrike" cap="none" normalizeH="0" baseline="0" dirty="0">
                        <a:ln>
                          <a:noFill/>
                        </a:ln>
                        <a:solidFill>
                          <a:srgbClr val="FF0000"/>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250"/>
                        </a:spcBef>
                        <a:buSzPct val="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1pPr>
                      <a:lvl2pPr marL="742950" indent="-28575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marL="11430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marL="16002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marL="2057400" indent="-228600">
                        <a:spcBef>
                          <a:spcPts val="1250"/>
                        </a:spcBef>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5146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29718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34290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3886200" indent="-228600" eaLnBrk="0" fontAlgn="base" hangingPunct="0">
                        <a:spcBef>
                          <a:spcPts val="1250"/>
                        </a:spcBef>
                        <a:spcAft>
                          <a:spcPct val="0"/>
                        </a:spcAft>
                        <a:buSzPct val="175000"/>
                        <a:defRPr sz="1700">
                          <a:solidFill>
                            <a:srgbClr val="000000"/>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rPr>
                        <a:t>F</a:t>
                      </a:r>
                      <a:endParaRPr kumimoji="0" lang="en-US" altLang="en-US" sz="1100" b="0" i="0" u="none" strike="noStrike" cap="none" normalizeH="0" baseline="0" dirty="0">
                        <a:ln>
                          <a:noFill/>
                        </a:ln>
                        <a:solidFill>
                          <a:schemeClr val="tx1"/>
                        </a:solidFill>
                        <a:effectLst/>
                        <a:latin typeface="Helvetica" panose="020B0604020202020204" pitchFamily="34" charset="0"/>
                        <a:ea typeface="Helvetica" panose="020B0604020202020204" pitchFamily="34" charset="0"/>
                        <a:cs typeface="Helvetica" panose="020B0604020202020204" pitchFamily="34" charset="0"/>
                        <a:sym typeface="Canela Text Regular" charset="0"/>
                      </a:endParaRPr>
                    </a:p>
                  </a:txBody>
                  <a:tcPr marL="64294" marR="64294" marT="24109" marB="241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5904" name="内容占位符 6"/>
          <p:cNvSpPr>
            <a:spLocks noGrp="1"/>
          </p:cNvSpPr>
          <p:nvPr>
            <p:ph idx="1"/>
          </p:nvPr>
        </p:nvSpPr>
        <p:spPr>
          <a:xfrm>
            <a:off x="347664" y="3217864"/>
            <a:ext cx="8447087" cy="1550987"/>
          </a:xfrm>
        </p:spPr>
        <p:txBody>
          <a:bodyPr/>
          <a:lstStyle/>
          <a:p>
            <a:pPr>
              <a:spcBef>
                <a:spcPts val="225"/>
              </a:spcBef>
            </a:pPr>
            <a:r>
              <a:rPr lang="en-US" altLang="en-US" dirty="0"/>
              <a:t>Missing rate = 3/9</a:t>
            </a:r>
            <a:endParaRPr lang="en-US" altLang="en-US" dirty="0"/>
          </a:p>
          <a:p>
            <a:pPr>
              <a:spcBef>
                <a:spcPts val="225"/>
              </a:spcBef>
            </a:pPr>
            <a:r>
              <a:rPr lang="en-US" altLang="zh-CN" dirty="0">
                <a:ea typeface="宋体" panose="02010600030101010101" pitchFamily="2" charset="-122"/>
              </a:rPr>
              <a:t>This strategy requires keeping a "date of birth" for cache lines and tracking the "least recently used" (oldest) cache line based on it</a:t>
            </a:r>
            <a:endParaRPr lang="en-US" altLang="zh-CN" dirty="0">
              <a:ea typeface="宋体" panose="02010600030101010101" pitchFamily="2" charset="-122"/>
            </a:endParaRPr>
          </a:p>
          <a:p>
            <a:pPr>
              <a:spcBef>
                <a:spcPts val="225"/>
              </a:spcBef>
            </a:pPr>
            <a:r>
              <a:rPr lang="en-US" altLang="zh-CN" dirty="0">
                <a:ea typeface="宋体" panose="02010600030101010101" pitchFamily="2" charset="-122"/>
              </a:rPr>
              <a:t>The difference between LRU and FIFO is that Processor's access to a record will update its "date of birth", while FIFO does not</a:t>
            </a:r>
            <a:endParaRPr lang="en-US" altLang="en-US" dirty="0"/>
          </a:p>
        </p:txBody>
      </p:sp>
      <p:sp>
        <p:nvSpPr>
          <p:cNvPr id="2" name="TextBox 1"/>
          <p:cNvSpPr txBox="1"/>
          <p:nvPr/>
        </p:nvSpPr>
        <p:spPr>
          <a:xfrm>
            <a:off x="611560" y="1086004"/>
            <a:ext cx="813043" cy="261482"/>
          </a:xfrm>
          <a:prstGeom prst="rect">
            <a:avLst/>
          </a:prstGeom>
          <a:noFill/>
        </p:spPr>
        <p:txBody>
          <a:bodyPr wrap="none" rtlCol="0">
            <a:spAutoFit/>
          </a:bodyPr>
          <a:lstStyle/>
          <a:p>
            <a:r>
              <a:rPr lang="en-US" sz="1100" b="1" dirty="0">
                <a:solidFill>
                  <a:schemeClr val="accent1"/>
                </a:solidFill>
              </a:rPr>
              <a:t>Data </a:t>
            </a:r>
            <a:r>
              <a:rPr lang="en-US" sz="1100" b="1" dirty="0" err="1">
                <a:solidFill>
                  <a:schemeClr val="accent1"/>
                </a:solidFill>
              </a:rPr>
              <a:t>Addr</a:t>
            </a:r>
            <a:r>
              <a:rPr lang="en-US" sz="1100" b="1" dirty="0">
                <a:solidFill>
                  <a:schemeClr val="accent1"/>
                </a:solidFill>
              </a:rPr>
              <a:t>.</a:t>
            </a:r>
            <a:endParaRPr lang="en-US" sz="1100" b="1" dirty="0">
              <a:solidFill>
                <a:schemeClr val="accent1"/>
              </a:solidFill>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en-US" altLang="zh-CN">
                <a:ea typeface="宋体" panose="02010600030101010101" pitchFamily="2" charset="-122"/>
              </a:rPr>
              <a:t>Random Replacement</a:t>
            </a:r>
            <a:r>
              <a:rPr lang="zh-CN" altLang="en-US">
                <a:ea typeface="宋体" panose="02010600030101010101" pitchFamily="2" charset="-122"/>
              </a:rPr>
              <a:t> </a:t>
            </a:r>
            <a:r>
              <a:rPr lang="en-US" altLang="zh-CN">
                <a:ea typeface="宋体" panose="02010600030101010101" pitchFamily="2" charset="-122"/>
              </a:rPr>
              <a:t>Policy</a:t>
            </a:r>
            <a:endParaRPr lang="en-US" altLang="en-US"/>
          </a:p>
        </p:txBody>
      </p:sp>
      <p:sp>
        <p:nvSpPr>
          <p:cNvPr id="36867" name="内容占位符 2"/>
          <p:cNvSpPr>
            <a:spLocks noGrp="1"/>
          </p:cNvSpPr>
          <p:nvPr>
            <p:ph idx="1"/>
          </p:nvPr>
        </p:nvSpPr>
        <p:spPr/>
        <p:txBody>
          <a:bodyPr/>
          <a:lstStyle/>
          <a:p>
            <a:pPr>
              <a:spcBef>
                <a:spcPts val="225"/>
              </a:spcBef>
            </a:pPr>
            <a:r>
              <a:rPr lang="en-US" altLang="zh-CN" dirty="0">
                <a:ea typeface="宋体" panose="02010600030101010101" pitchFamily="2" charset="-122"/>
              </a:rPr>
              <a:t>Steps:</a:t>
            </a:r>
            <a:endParaRPr lang="en-US" altLang="zh-CN" dirty="0">
              <a:ea typeface="宋体" panose="02010600030101010101" pitchFamily="2" charset="-122"/>
            </a:endParaRPr>
          </a:p>
          <a:p>
            <a:pPr lvl="1">
              <a:spcBef>
                <a:spcPts val="225"/>
              </a:spcBef>
            </a:pPr>
            <a:r>
              <a:rPr lang="en-US" altLang="zh-CN" dirty="0">
                <a:ea typeface="宋体" panose="02010600030101010101" pitchFamily="2" charset="-122"/>
              </a:rPr>
              <a:t>If the cache is not full, save the most recently accessed data in the cache</a:t>
            </a:r>
            <a:endParaRPr lang="en-US" altLang="zh-CN" dirty="0">
              <a:ea typeface="宋体" panose="02010600030101010101" pitchFamily="2" charset="-122"/>
            </a:endParaRPr>
          </a:p>
          <a:p>
            <a:pPr lvl="1">
              <a:spcBef>
                <a:spcPts val="225"/>
              </a:spcBef>
            </a:pPr>
            <a:r>
              <a:rPr lang="en-US" altLang="zh-CN" dirty="0">
                <a:ea typeface="宋体" panose="02010600030101010101" pitchFamily="2" charset="-122"/>
              </a:rPr>
              <a:t>If it is full, replace one of them at random.</a:t>
            </a:r>
            <a:endParaRPr lang="en-US" altLang="zh-CN" dirty="0">
              <a:ea typeface="宋体" panose="02010600030101010101" pitchFamily="2" charset="-122"/>
            </a:endParaRPr>
          </a:p>
          <a:p>
            <a:pPr lvl="1">
              <a:spcBef>
                <a:spcPts val="225"/>
              </a:spcBef>
            </a:pPr>
            <a:endParaRPr lang="en-US" altLang="en-US" dirty="0"/>
          </a:p>
          <a:p>
            <a:pPr lvl="1">
              <a:spcBef>
                <a:spcPts val="225"/>
              </a:spcBef>
            </a:pPr>
            <a:r>
              <a:rPr lang="en-US" altLang="zh-CN" dirty="0">
                <a:ea typeface="宋体" panose="02010600030101010101" pitchFamily="2" charset="-122"/>
              </a:rPr>
              <a:t>Simple and stable, once used in ARM processors</a:t>
            </a:r>
            <a:endParaRPr lang="en-US" altLang="en-US" dirty="0"/>
          </a:p>
        </p:txBody>
      </p:sp>
      <p:sp>
        <p:nvSpPr>
          <p:cNvPr id="36868" name="AutoShape 2" descr="What is an ARM Processor?"/>
          <p:cNvSpPr>
            <a:spLocks noChangeAspect="1" noChangeArrowheads="1"/>
          </p:cNvSpPr>
          <p:nvPr/>
        </p:nvSpPr>
        <p:spPr bwMode="auto">
          <a:xfrm>
            <a:off x="76201" y="-76200"/>
            <a:ext cx="214313"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7396" tIns="28697" rIns="57396" bIns="28697"/>
          <a:lstStyle>
            <a:lvl1pPr>
              <a:defRPr sz="1100">
                <a:solidFill>
                  <a:srgbClr val="000000"/>
                </a:solidFill>
                <a:latin typeface="Canela Text Regular" charset="0"/>
                <a:ea typeface="Canela Text Regular" charset="0"/>
                <a:cs typeface="Canela Text Regular" charset="0"/>
                <a:sym typeface="Canela Text Regular" charset="0"/>
              </a:defRPr>
            </a:lvl1pPr>
            <a:lvl2pPr marL="742950" indent="-285750">
              <a:defRPr sz="1100">
                <a:solidFill>
                  <a:srgbClr val="000000"/>
                </a:solidFill>
                <a:latin typeface="Canela Text Regular" charset="0"/>
                <a:ea typeface="Canela Text Regular" charset="0"/>
                <a:cs typeface="Canela Text Regular" charset="0"/>
                <a:sym typeface="Canela Text Regular" charset="0"/>
              </a:defRPr>
            </a:lvl2pPr>
            <a:lvl3pPr marL="1143000" indent="-228600">
              <a:defRPr sz="1100">
                <a:solidFill>
                  <a:srgbClr val="000000"/>
                </a:solidFill>
                <a:latin typeface="Canela Text Regular" charset="0"/>
                <a:ea typeface="Canela Text Regular" charset="0"/>
                <a:cs typeface="Canela Text Regular" charset="0"/>
                <a:sym typeface="Canela Text Regular" charset="0"/>
              </a:defRPr>
            </a:lvl3pPr>
            <a:lvl4pPr marL="1600200" indent="-228600">
              <a:defRPr sz="1100">
                <a:solidFill>
                  <a:srgbClr val="000000"/>
                </a:solidFill>
                <a:latin typeface="Canela Text Regular" charset="0"/>
                <a:ea typeface="Canela Text Regular" charset="0"/>
                <a:cs typeface="Canela Text Regular" charset="0"/>
                <a:sym typeface="Canela Text Regular" charset="0"/>
              </a:defRPr>
            </a:lvl4pPr>
            <a:lvl5pPr marL="2057400" indent="-228600">
              <a:defRPr sz="1100">
                <a:solidFill>
                  <a:srgbClr val="000000"/>
                </a:solidFill>
                <a:latin typeface="Canela Text Regular" charset="0"/>
                <a:ea typeface="Canela Text Regular" charset="0"/>
                <a:cs typeface="Canela Text Regular" charset="0"/>
                <a:sym typeface="Canela Text Regular" charset="0"/>
              </a:defRPr>
            </a:lvl5pPr>
            <a:lvl6pPr marL="2514600" indent="-228600" defTabSz="108775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6pPr>
            <a:lvl7pPr marL="2971800" indent="-228600" defTabSz="108775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7pPr>
            <a:lvl8pPr marL="3429000" indent="-228600" defTabSz="108775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8pPr>
            <a:lvl9pPr marL="3886200" indent="-228600" defTabSz="108775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9pPr>
          </a:lstStyle>
          <a:p>
            <a:endParaRPr lang="en-US" altLang="en-US" sz="1100"/>
          </a:p>
        </p:txBody>
      </p:sp>
      <p:sp>
        <p:nvSpPr>
          <p:cNvPr id="36869" name="AutoShape 4" descr="What is an ARM Processor?"/>
          <p:cNvSpPr>
            <a:spLocks noChangeAspect="1" noChangeArrowheads="1"/>
          </p:cNvSpPr>
          <p:nvPr/>
        </p:nvSpPr>
        <p:spPr bwMode="auto">
          <a:xfrm>
            <a:off x="182563" y="4764"/>
            <a:ext cx="214312"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7396" tIns="28697" rIns="57396" bIns="28697"/>
          <a:lstStyle>
            <a:lvl1pPr>
              <a:defRPr sz="1100">
                <a:solidFill>
                  <a:srgbClr val="000000"/>
                </a:solidFill>
                <a:latin typeface="Canela Text Regular" charset="0"/>
                <a:ea typeface="Canela Text Regular" charset="0"/>
                <a:cs typeface="Canela Text Regular" charset="0"/>
                <a:sym typeface="Canela Text Regular" charset="0"/>
              </a:defRPr>
            </a:lvl1pPr>
            <a:lvl2pPr marL="742950" indent="-285750">
              <a:defRPr sz="1100">
                <a:solidFill>
                  <a:srgbClr val="000000"/>
                </a:solidFill>
                <a:latin typeface="Canela Text Regular" charset="0"/>
                <a:ea typeface="Canela Text Regular" charset="0"/>
                <a:cs typeface="Canela Text Regular" charset="0"/>
                <a:sym typeface="Canela Text Regular" charset="0"/>
              </a:defRPr>
            </a:lvl2pPr>
            <a:lvl3pPr marL="1143000" indent="-228600">
              <a:defRPr sz="1100">
                <a:solidFill>
                  <a:srgbClr val="000000"/>
                </a:solidFill>
                <a:latin typeface="Canela Text Regular" charset="0"/>
                <a:ea typeface="Canela Text Regular" charset="0"/>
                <a:cs typeface="Canela Text Regular" charset="0"/>
                <a:sym typeface="Canela Text Regular" charset="0"/>
              </a:defRPr>
            </a:lvl3pPr>
            <a:lvl4pPr marL="1600200" indent="-228600">
              <a:defRPr sz="1100">
                <a:solidFill>
                  <a:srgbClr val="000000"/>
                </a:solidFill>
                <a:latin typeface="Canela Text Regular" charset="0"/>
                <a:ea typeface="Canela Text Regular" charset="0"/>
                <a:cs typeface="Canela Text Regular" charset="0"/>
                <a:sym typeface="Canela Text Regular" charset="0"/>
              </a:defRPr>
            </a:lvl4pPr>
            <a:lvl5pPr marL="2057400" indent="-228600">
              <a:defRPr sz="1100">
                <a:solidFill>
                  <a:srgbClr val="000000"/>
                </a:solidFill>
                <a:latin typeface="Canela Text Regular" charset="0"/>
                <a:ea typeface="Canela Text Regular" charset="0"/>
                <a:cs typeface="Canela Text Regular" charset="0"/>
                <a:sym typeface="Canela Text Regular" charset="0"/>
              </a:defRPr>
            </a:lvl5pPr>
            <a:lvl6pPr marL="2514600" indent="-228600" defTabSz="108775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6pPr>
            <a:lvl7pPr marL="2971800" indent="-228600" defTabSz="108775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7pPr>
            <a:lvl8pPr marL="3429000" indent="-228600" defTabSz="108775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8pPr>
            <a:lvl9pPr marL="3886200" indent="-228600" defTabSz="108775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9pPr>
          </a:lstStyle>
          <a:p>
            <a:endParaRPr lang="en-US" altLang="en-US" sz="1100"/>
          </a:p>
        </p:txBody>
      </p:sp>
      <p:pic>
        <p:nvPicPr>
          <p:cNvPr id="36870" name="Picture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168650" y="3076575"/>
            <a:ext cx="2571750" cy="19081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miter lim="4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Other Policies</a:t>
            </a:r>
            <a:endParaRPr lang="en-US"/>
          </a:p>
        </p:txBody>
      </p:sp>
      <p:sp>
        <p:nvSpPr>
          <p:cNvPr id="3" name="Content Placeholder 2"/>
          <p:cNvSpPr>
            <a:spLocks noGrp="1"/>
          </p:cNvSpPr>
          <p:nvPr>
            <p:ph idx="1"/>
          </p:nvPr>
        </p:nvSpPr>
        <p:spPr/>
        <p:txBody>
          <a:bodyPr/>
          <a:lstStyle/>
          <a:p>
            <a:pPr>
              <a:spcBef>
                <a:spcPts val="225"/>
              </a:spcBef>
            </a:pPr>
            <a:r>
              <a:rPr lang="en-US" dirty="0"/>
              <a:t>More policies can be found:</a:t>
            </a:r>
            <a:endParaRPr lang="en-US" dirty="0"/>
          </a:p>
          <a:p>
            <a:pPr>
              <a:spcBef>
                <a:spcPts val="225"/>
              </a:spcBef>
            </a:pPr>
            <a:r>
              <a:rPr lang="en-US" dirty="0">
                <a:hlinkClick r:id="rId1"/>
              </a:rPr>
              <a:t>https://en.wikipedia.org/wiki/Cache_replacement_policies</a:t>
            </a:r>
            <a:endParaRPr lang="en-US" dirty="0"/>
          </a:p>
          <a:p>
            <a:pPr>
              <a:spcBef>
                <a:spcPts val="225"/>
              </a:spcBef>
            </a:pPr>
            <a:endParaRPr lang="en-US" dirty="0"/>
          </a:p>
          <a:p>
            <a:pPr>
              <a:spcBef>
                <a:spcPts val="225"/>
              </a:spcBef>
            </a:pPr>
            <a:r>
              <a:rPr lang="en-US" altLang="zh-CN" dirty="0">
                <a:highlight>
                  <a:srgbClr val="FFFF00"/>
                </a:highlight>
              </a:rPr>
              <a:t>Find or design a suitable policy for Q6 in CW2!</a:t>
            </a:r>
            <a:endParaRPr lang="en-US" dirty="0">
              <a:highlight>
                <a:srgbClr val="FFFF0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zh-CN" dirty="0">
                <a:ea typeface="宋体" panose="02010600030101010101" pitchFamily="2" charset="-122"/>
              </a:rPr>
              <a:t>Further Reading*</a:t>
            </a:r>
            <a:endParaRPr lang="en-US" altLang="en-US" dirty="0"/>
          </a:p>
        </p:txBody>
      </p:sp>
      <p:sp>
        <p:nvSpPr>
          <p:cNvPr id="37891" name="Content Placeholder 2"/>
          <p:cNvSpPr>
            <a:spLocks noGrp="1"/>
          </p:cNvSpPr>
          <p:nvPr>
            <p:ph idx="1"/>
          </p:nvPr>
        </p:nvSpPr>
        <p:spPr/>
        <p:txBody>
          <a:bodyPr/>
          <a:lstStyle/>
          <a:p>
            <a:pPr>
              <a:spcBef>
                <a:spcPts val="225"/>
              </a:spcBef>
            </a:pPr>
            <a:r>
              <a:rPr lang="en-US" altLang="zh-CN" sz="1400" dirty="0">
                <a:ea typeface="宋体" panose="02010600030101010101" pitchFamily="2" charset="-122"/>
              </a:rPr>
              <a:t>Cache is everywhere</a:t>
            </a:r>
            <a:endParaRPr lang="en-US" altLang="zh-CN" sz="1400" dirty="0">
              <a:ea typeface="宋体" panose="02010600030101010101" pitchFamily="2" charset="-122"/>
            </a:endParaRPr>
          </a:p>
          <a:p>
            <a:pPr lvl="1">
              <a:spcBef>
                <a:spcPts val="225"/>
              </a:spcBef>
            </a:pPr>
            <a:r>
              <a:rPr lang="en-US" altLang="en-US" sz="1400" dirty="0"/>
              <a:t>Web Content</a:t>
            </a:r>
            <a:endParaRPr lang="en-US" altLang="en-US" sz="1400" dirty="0"/>
          </a:p>
          <a:p>
            <a:pPr lvl="1">
              <a:spcBef>
                <a:spcPts val="225"/>
              </a:spcBef>
            </a:pPr>
            <a:r>
              <a:rPr lang="en-US" altLang="en-US" sz="1400" dirty="0"/>
              <a:t>Video Broadcast</a:t>
            </a:r>
            <a:endParaRPr lang="en-US" altLang="en-US" sz="1400" dirty="0"/>
          </a:p>
          <a:p>
            <a:pPr lvl="1">
              <a:spcBef>
                <a:spcPts val="225"/>
              </a:spcBef>
            </a:pPr>
            <a:r>
              <a:rPr lang="en-US" altLang="en-US" sz="1400" dirty="0"/>
              <a:t>Logistic/warehousing</a:t>
            </a:r>
            <a:endParaRPr lang="en-US" altLang="en-US" sz="1400" dirty="0"/>
          </a:p>
          <a:p>
            <a:pPr lvl="1">
              <a:spcBef>
                <a:spcPts val="225"/>
              </a:spcBef>
            </a:pPr>
            <a:endParaRPr lang="en-US" altLang="en-US" sz="1400" dirty="0"/>
          </a:p>
          <a:p>
            <a:pPr>
              <a:spcBef>
                <a:spcPts val="225"/>
              </a:spcBef>
            </a:pPr>
            <a:r>
              <a:rPr lang="en-US" altLang="en-US" sz="1400" dirty="0"/>
              <a:t>Can it be solved by ML? Yes. </a:t>
            </a:r>
            <a:endParaRPr lang="en-US" altLang="en-US" sz="1400" dirty="0"/>
          </a:p>
          <a:p>
            <a:pPr lvl="1"/>
            <a:endParaRPr lang="en-US" altLang="en-US" sz="1400" dirty="0"/>
          </a:p>
        </p:txBody>
      </p:sp>
      <p:pic>
        <p:nvPicPr>
          <p:cNvPr id="3789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028700" y="2989264"/>
            <a:ext cx="6343650" cy="174942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miter lim="4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Group 2"/>
          <p:cNvGrpSpPr/>
          <p:nvPr/>
        </p:nvGrpSpPr>
        <p:grpSpPr>
          <a:xfrm>
            <a:off x="5940152" y="719139"/>
            <a:ext cx="2376264" cy="1907935"/>
            <a:chOff x="5940152" y="719138"/>
            <a:chExt cx="2376264" cy="1907935"/>
          </a:xfrm>
        </p:grpSpPr>
        <p:pic>
          <p:nvPicPr>
            <p:cNvPr id="3074" name="Picture 2" descr="Off-Policy Estimation for Infinite-Horizon Reinforcement Learning – Google  AI Blo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152" y="719138"/>
              <a:ext cx="2376264" cy="154600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156176" y="2365591"/>
              <a:ext cx="2079415" cy="261482"/>
            </a:xfrm>
            <a:prstGeom prst="rect">
              <a:avLst/>
            </a:prstGeom>
            <a:noFill/>
          </p:spPr>
          <p:txBody>
            <a:bodyPr wrap="none" rtlCol="0">
              <a:spAutoFit/>
            </a:bodyPr>
            <a:lstStyle/>
            <a:p>
              <a:r>
                <a:rPr lang="en-US" sz="1100" b="1" dirty="0">
                  <a:solidFill>
                    <a:schemeClr val="accent1"/>
                  </a:solidFill>
                </a:rPr>
                <a:t>Policy</a:t>
              </a:r>
              <a:r>
                <a:rPr lang="en-US" sz="1100" dirty="0">
                  <a:solidFill>
                    <a:schemeClr val="accent1"/>
                  </a:solidFill>
                </a:rPr>
                <a:t> in Reinforcement Learning</a:t>
              </a:r>
              <a:endParaRPr lang="en-US" sz="1100" dirty="0">
                <a:solidFill>
                  <a:schemeClr val="accent1"/>
                </a:solidFill>
              </a:endParaRPr>
            </a:p>
          </p:txBody>
        </p:sp>
      </p:grpSp>
      <p:grpSp>
        <p:nvGrpSpPr>
          <p:cNvPr id="5" name="Group 4"/>
          <p:cNvGrpSpPr/>
          <p:nvPr/>
        </p:nvGrpSpPr>
        <p:grpSpPr>
          <a:xfrm>
            <a:off x="3563888" y="789285"/>
            <a:ext cx="2258184" cy="1827924"/>
            <a:chOff x="3563888" y="789284"/>
            <a:chExt cx="2258184" cy="1827924"/>
          </a:xfrm>
        </p:grpSpPr>
        <p:pic>
          <p:nvPicPr>
            <p:cNvPr id="3076" name="Picture 4" descr="Is Logistics About To Get Amazon'ed? | TechCrunc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3888" y="789284"/>
              <a:ext cx="2258184" cy="15054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139952" y="2355726"/>
              <a:ext cx="1159292" cy="261482"/>
            </a:xfrm>
            <a:prstGeom prst="rect">
              <a:avLst/>
            </a:prstGeom>
            <a:noFill/>
          </p:spPr>
          <p:txBody>
            <a:bodyPr wrap="none" rtlCol="0">
              <a:spAutoFit/>
            </a:bodyPr>
            <a:lstStyle/>
            <a:p>
              <a:r>
                <a:rPr lang="en-US" sz="1100" dirty="0">
                  <a:solidFill>
                    <a:schemeClr val="accent1"/>
                  </a:solidFill>
                </a:rPr>
                <a:t>Amazon Logistics</a:t>
              </a:r>
              <a:endParaRPr lang="en-US" sz="1100" dirty="0">
                <a:solidFill>
                  <a:schemeClr val="accent1"/>
                </a:solidFill>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defRPr/>
            </a:pPr>
            <a:r>
              <a:rPr lang="en-IN" dirty="0"/>
              <a:t>Column-Oriented Storage</a:t>
            </a:r>
            <a:endParaRPr lang="en-IN" dirty="0"/>
          </a:p>
        </p:txBody>
      </p:sp>
      <p:sp>
        <p:nvSpPr>
          <p:cNvPr id="2" name="Content Placeholder 1"/>
          <p:cNvSpPr>
            <a:spLocks noGrp="1"/>
          </p:cNvSpPr>
          <p:nvPr>
            <p:ph idx="1"/>
          </p:nvPr>
        </p:nvSpPr>
        <p:spPr/>
        <p:txBody>
          <a:bodyPr/>
          <a:lstStyle/>
          <a:p>
            <a:r>
              <a:rPr lang="en-IN" dirty="0"/>
              <a:t>Also known as </a:t>
            </a:r>
            <a:r>
              <a:rPr lang="en-IN" b="1" dirty="0">
                <a:solidFill>
                  <a:srgbClr val="002060"/>
                </a:solidFill>
              </a:rPr>
              <a:t>columnar</a:t>
            </a:r>
            <a:r>
              <a:rPr lang="en-IN" b="1" dirty="0"/>
              <a:t> </a:t>
            </a:r>
            <a:r>
              <a:rPr lang="en-IN" b="1" dirty="0">
                <a:solidFill>
                  <a:srgbClr val="002060"/>
                </a:solidFill>
              </a:rPr>
              <a:t>representation</a:t>
            </a:r>
            <a:endParaRPr lang="en-IN" b="1" dirty="0">
              <a:solidFill>
                <a:srgbClr val="002060"/>
              </a:solidFill>
            </a:endParaRPr>
          </a:p>
          <a:p>
            <a:r>
              <a:rPr lang="en-IN" dirty="0"/>
              <a:t>Store each attribute of a relation separately</a:t>
            </a:r>
            <a:endParaRPr lang="en-IN" dirty="0"/>
          </a:p>
          <a:p>
            <a:r>
              <a:rPr lang="en-IN" dirty="0"/>
              <a:t>Example</a:t>
            </a:r>
            <a:endParaRPr lang="en-IN" dirty="0"/>
          </a:p>
        </p:txBody>
      </p:sp>
      <p:pic>
        <p:nvPicPr>
          <p:cNvPr id="3" name="Picture 2"/>
          <p:cNvPicPr>
            <a:picLocks noChangeAspect="1"/>
          </p:cNvPicPr>
          <p:nvPr/>
        </p:nvPicPr>
        <p:blipFill>
          <a:blip r:embed="rId1"/>
          <a:stretch>
            <a:fillRect/>
          </a:stretch>
        </p:blipFill>
        <p:spPr>
          <a:xfrm>
            <a:off x="2364580" y="1662015"/>
            <a:ext cx="4290309" cy="224919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Columnar Representation</a:t>
            </a:r>
            <a:endParaRPr lang="en-IN" dirty="0"/>
          </a:p>
        </p:txBody>
      </p:sp>
      <p:sp>
        <p:nvSpPr>
          <p:cNvPr id="3" name="Content Placeholder 2"/>
          <p:cNvSpPr>
            <a:spLocks noGrp="1"/>
          </p:cNvSpPr>
          <p:nvPr>
            <p:ph idx="1"/>
          </p:nvPr>
        </p:nvSpPr>
        <p:spPr>
          <a:xfrm>
            <a:off x="1753791" y="820341"/>
            <a:ext cx="6023372" cy="3755231"/>
          </a:xfrm>
        </p:spPr>
        <p:txBody>
          <a:bodyPr/>
          <a:lstStyle/>
          <a:p>
            <a:r>
              <a:rPr lang="en-IN" dirty="0"/>
              <a:t>Benefits:</a:t>
            </a:r>
            <a:endParaRPr lang="en-IN" dirty="0"/>
          </a:p>
          <a:p>
            <a:pPr lvl="1"/>
            <a:r>
              <a:rPr lang="en-IN" dirty="0"/>
              <a:t>Reduced IO if only some attributes are accessed</a:t>
            </a:r>
            <a:endParaRPr lang="en-IN" dirty="0"/>
          </a:p>
          <a:p>
            <a:pPr lvl="1"/>
            <a:r>
              <a:rPr lang="en-IN" dirty="0"/>
              <a:t>Improved CPU cache performance </a:t>
            </a:r>
            <a:endParaRPr lang="en-IN" dirty="0"/>
          </a:p>
          <a:p>
            <a:pPr lvl="1"/>
            <a:r>
              <a:rPr lang="en-IN" dirty="0"/>
              <a:t>Improved compression</a:t>
            </a:r>
            <a:endParaRPr lang="en-IN" dirty="0"/>
          </a:p>
          <a:p>
            <a:pPr lvl="1"/>
            <a:r>
              <a:rPr lang="en-IN" b="1" dirty="0">
                <a:solidFill>
                  <a:srgbClr val="002060"/>
                </a:solidFill>
              </a:rPr>
              <a:t>Vector processing </a:t>
            </a:r>
            <a:r>
              <a:rPr lang="en-IN" dirty="0"/>
              <a:t>on modern CPU architectures</a:t>
            </a:r>
            <a:endParaRPr lang="en-IN" dirty="0"/>
          </a:p>
          <a:p>
            <a:r>
              <a:rPr lang="en-IN" dirty="0"/>
              <a:t>Drawbacks</a:t>
            </a:r>
            <a:endParaRPr lang="en-IN" dirty="0"/>
          </a:p>
          <a:p>
            <a:pPr lvl="1"/>
            <a:r>
              <a:rPr lang="en-IN" dirty="0"/>
              <a:t>Cost of tuple reconstruction from columnar representation</a:t>
            </a:r>
            <a:endParaRPr lang="en-IN" dirty="0"/>
          </a:p>
          <a:p>
            <a:pPr lvl="1"/>
            <a:r>
              <a:rPr lang="en-IN" dirty="0"/>
              <a:t>Cost of tuple deletion and update</a:t>
            </a:r>
            <a:endParaRPr lang="en-IN" dirty="0"/>
          </a:p>
          <a:p>
            <a:pPr lvl="1"/>
            <a:r>
              <a:rPr lang="en-IN" dirty="0"/>
              <a:t>Cost of decompression</a:t>
            </a:r>
            <a:endParaRPr lang="en-IN" dirty="0"/>
          </a:p>
          <a:p>
            <a:r>
              <a:rPr lang="en-IN" dirty="0"/>
              <a:t>Columnar representation found to be more efficient for decision support than row-oriented representation</a:t>
            </a:r>
            <a:endParaRPr lang="en-IN" dirty="0"/>
          </a:p>
          <a:p>
            <a:r>
              <a:rPr lang="en-IN" dirty="0"/>
              <a:t>Traditional row-oriented representation preferable for transaction processing</a:t>
            </a:r>
            <a:endParaRPr lang="en-IN" dirty="0"/>
          </a:p>
          <a:p>
            <a:r>
              <a:rPr lang="en-IN" dirty="0"/>
              <a:t>Some databases support both representations</a:t>
            </a:r>
            <a:endParaRPr lang="en-IN" dirty="0"/>
          </a:p>
          <a:p>
            <a:pPr lvl="1"/>
            <a:r>
              <a:rPr lang="en-IN" dirty="0"/>
              <a:t>Called </a:t>
            </a:r>
            <a:r>
              <a:rPr lang="en-IN" b="1" dirty="0">
                <a:solidFill>
                  <a:srgbClr val="002060"/>
                </a:solidFill>
              </a:rPr>
              <a:t>hybrid row/column stores</a:t>
            </a:r>
            <a:endParaRPr lang="en-IN" b="1" dirty="0">
              <a:solidFill>
                <a:srgbClr val="00206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0" y="639722"/>
            <a:ext cx="2807670" cy="4246363"/>
          </a:xfrm>
          <a:prstGeom prst="rect">
            <a:avLst/>
          </a:prstGeom>
        </p:spPr>
      </p:pic>
      <p:sp>
        <p:nvSpPr>
          <p:cNvPr id="4" name="Title 3"/>
          <p:cNvSpPr>
            <a:spLocks noGrp="1"/>
          </p:cNvSpPr>
          <p:nvPr>
            <p:ph type="title"/>
          </p:nvPr>
        </p:nvSpPr>
        <p:spPr/>
        <p:txBody>
          <a:bodyPr/>
          <a:lstStyle/>
          <a:p>
            <a:r>
              <a:rPr lang="en-IN" dirty="0"/>
              <a:t>Columnar File Representation</a:t>
            </a:r>
            <a:endParaRPr lang="en-IN" dirty="0"/>
          </a:p>
        </p:txBody>
      </p:sp>
      <p:sp>
        <p:nvSpPr>
          <p:cNvPr id="5" name="Content Placeholder 4"/>
          <p:cNvSpPr>
            <a:spLocks noGrp="1"/>
          </p:cNvSpPr>
          <p:nvPr>
            <p:ph idx="1"/>
          </p:nvPr>
        </p:nvSpPr>
        <p:spPr>
          <a:xfrm>
            <a:off x="1753792" y="820341"/>
            <a:ext cx="2377853" cy="3677840"/>
          </a:xfrm>
        </p:spPr>
        <p:txBody>
          <a:bodyPr/>
          <a:lstStyle/>
          <a:p>
            <a:r>
              <a:rPr lang="en-IN" dirty="0"/>
              <a:t>ORC and Parquet: file formats with columnar storage inside file</a:t>
            </a:r>
            <a:endParaRPr lang="en-IN" dirty="0"/>
          </a:p>
          <a:p>
            <a:r>
              <a:rPr lang="en-IN" dirty="0"/>
              <a:t>Very popular for big-data applications</a:t>
            </a:r>
            <a:endParaRPr lang="en-IN" dirty="0"/>
          </a:p>
          <a:p>
            <a:r>
              <a:rPr lang="en-IN" dirty="0"/>
              <a:t>Orc file format shown on right:</a:t>
            </a:r>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991" y="75002"/>
            <a:ext cx="6057900" cy="514347"/>
          </a:xfrm>
        </p:spPr>
        <p:txBody>
          <a:bodyPr/>
          <a:lstStyle/>
          <a:p>
            <a:r>
              <a:rPr lang="en-IN" sz="1950" dirty="0"/>
              <a:t>Storage Organization in Main-Memory Databases</a:t>
            </a:r>
            <a:endParaRPr lang="en-IN" dirty="0"/>
          </a:p>
        </p:txBody>
      </p:sp>
      <p:sp>
        <p:nvSpPr>
          <p:cNvPr id="3" name="Content Placeholder 2"/>
          <p:cNvSpPr>
            <a:spLocks noGrp="1"/>
          </p:cNvSpPr>
          <p:nvPr>
            <p:ph idx="1"/>
          </p:nvPr>
        </p:nvSpPr>
        <p:spPr>
          <a:xfrm>
            <a:off x="1719263" y="925076"/>
            <a:ext cx="2852737" cy="3690593"/>
          </a:xfrm>
        </p:spPr>
        <p:txBody>
          <a:bodyPr/>
          <a:lstStyle/>
          <a:p>
            <a:r>
              <a:rPr lang="en-IN" dirty="0"/>
              <a:t>Can store records directly in memory without a buffer manager</a:t>
            </a:r>
            <a:endParaRPr lang="en-IN" dirty="0"/>
          </a:p>
          <a:p>
            <a:r>
              <a:rPr lang="en-IN" dirty="0"/>
              <a:t>Column-oriented storage can be used in-memory for decision support applications</a:t>
            </a:r>
            <a:endParaRPr lang="en-IN" dirty="0"/>
          </a:p>
          <a:p>
            <a:pPr lvl="1"/>
            <a:r>
              <a:rPr lang="en-IN" dirty="0"/>
              <a:t>Compression reduces memory requirement</a:t>
            </a:r>
            <a:endParaRPr lang="en-IN" dirty="0"/>
          </a:p>
        </p:txBody>
      </p:sp>
      <p:pic>
        <p:nvPicPr>
          <p:cNvPr id="4" name="Graphic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25615" y="996551"/>
            <a:ext cx="2311948" cy="377094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Case</a:t>
            </a:r>
            <a:endParaRPr lang="en-US"/>
          </a:p>
        </p:txBody>
      </p:sp>
      <p:pic>
        <p:nvPicPr>
          <p:cNvPr id="7" name="内容占位符 6"/>
          <p:cNvPicPr>
            <a:picLocks noGrp="1" noChangeAspect="1"/>
          </p:cNvPicPr>
          <p:nvPr>
            <p:ph idx="1"/>
          </p:nvPr>
        </p:nvPicPr>
        <p:blipFill>
          <a:blip r:embed="rId1"/>
          <a:stretch>
            <a:fillRect/>
          </a:stretch>
        </p:blipFill>
        <p:spPr>
          <a:xfrm>
            <a:off x="1786255" y="719455"/>
            <a:ext cx="5569585" cy="4049395"/>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619*230"/>
  <p:tag name="TABLE_ENDDRAG_RECT" val="40*66*619*230"/>
</p:tagLst>
</file>

<file path=ppt/tags/tag6.xml><?xml version="1.0" encoding="utf-8"?>
<p:tagLst xmlns:p="http://schemas.openxmlformats.org/presentationml/2006/main">
  <p:tag name="COMMONDATA" val="eyJoZGlkIjoiNTdiYTc4YjQwNjJlY2Q3MjUyYzQxMGNmZGE3NjA0ZDIifQ=="/>
  <p:tag name="RESOURCE_RECORD_KEY" val="{&quot;29&quot;:[50000049]}"/>
</p:tagLst>
</file>

<file path=ppt/theme/theme1.xml><?xml version="1.0" encoding="utf-8"?>
<a:theme xmlns:a="http://schemas.openxmlformats.org/drawingml/2006/main" name="23_ClassicWhit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23_ClassicWhite">
      <a:majorFont>
        <a:latin typeface="Helvetica"/>
        <a:ea typeface="Helvetica"/>
        <a:cs typeface="Helvetica"/>
      </a:majorFont>
      <a:minorFont>
        <a:latin typeface="Helvetica"/>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spDef>
    <a:ln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12671</Words>
  <Application>WPS 演示</Application>
  <PresentationFormat>全屏显示(16:9)</PresentationFormat>
  <Paragraphs>549</Paragraphs>
  <Slides>37</Slides>
  <Notes>16</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37</vt:i4>
      </vt:variant>
    </vt:vector>
  </HeadingPairs>
  <TitlesOfParts>
    <vt:vector size="65" baseType="lpstr">
      <vt:lpstr>Arial</vt:lpstr>
      <vt:lpstr>宋体</vt:lpstr>
      <vt:lpstr>Wingdings</vt:lpstr>
      <vt:lpstr>Canela Text Regular</vt:lpstr>
      <vt:lpstr>Segoe Print</vt:lpstr>
      <vt:lpstr>Helvetica</vt:lpstr>
      <vt:lpstr>Graphik</vt:lpstr>
      <vt:lpstr>Helvetica Neue</vt:lpstr>
      <vt:lpstr>Bradley Hand ITC</vt:lpstr>
      <vt:lpstr>quote-cjk-patch</vt:lpstr>
      <vt:lpstr>微软雅黑</vt:lpstr>
      <vt:lpstr>Arial Unicode MS</vt:lpstr>
      <vt:lpstr>Monotype Sorts</vt:lpstr>
      <vt:lpstr>Wingdings</vt:lpstr>
      <vt:lpstr>MS PGothic</vt:lpstr>
      <vt:lpstr>Times New Roman</vt:lpstr>
      <vt:lpstr>Greek Symbols</vt:lpstr>
      <vt:lpstr>Symbol</vt:lpstr>
      <vt:lpstr>Menlo</vt:lpstr>
      <vt:lpstr>Calibri Light</vt:lpstr>
      <vt:lpstr>Saturday Sans Regular</vt:lpstr>
      <vt:lpstr>Miss Sweetie</vt:lpstr>
      <vt:lpstr>Garamond</vt:lpstr>
      <vt:lpstr>Yu Gothic UI Light</vt:lpstr>
      <vt:lpstr>Toots Regular</vt:lpstr>
      <vt:lpstr>Bookshelf Symbol 7</vt:lpstr>
      <vt:lpstr>MV Boli</vt:lpstr>
      <vt:lpstr>23_ClassicWhite</vt:lpstr>
      <vt:lpstr>DTS207TC Database Development and Design</vt:lpstr>
      <vt:lpstr>Outline</vt:lpstr>
      <vt:lpstr>What is a File System?</vt:lpstr>
      <vt:lpstr>What It Provides:  </vt:lpstr>
      <vt:lpstr>The Magic Trick: Mapping</vt:lpstr>
      <vt:lpstr>Database Systems vs. File Systems: A Layered Partnership</vt:lpstr>
      <vt:lpstr>The Crucial Relationship</vt:lpstr>
      <vt:lpstr>How Programs Control Data Layout Within Files </vt:lpstr>
      <vt:lpstr>The Abstraction of Storage</vt:lpstr>
      <vt:lpstr>The Crucial Relationship: The Block-to-Sector Map</vt:lpstr>
      <vt:lpstr>File Organization</vt:lpstr>
      <vt:lpstr>Fixed-Length Records</vt:lpstr>
      <vt:lpstr>Fixed-Length Records</vt:lpstr>
      <vt:lpstr>Fixed-Length Records</vt:lpstr>
      <vt:lpstr>Fixed-Length Records</vt:lpstr>
      <vt:lpstr>Variable-Length Records</vt:lpstr>
      <vt:lpstr>Variable-Length Records: Slotted Page Structure</vt:lpstr>
      <vt:lpstr>Storing Large Objects</vt:lpstr>
      <vt:lpstr>Organization of Records in Files</vt:lpstr>
      <vt:lpstr>Heap File Organization</vt:lpstr>
      <vt:lpstr>Sequential File Organization</vt:lpstr>
      <vt:lpstr>Sequential File Organization (Cont.)</vt:lpstr>
      <vt:lpstr>Unspanned Organization in Databases</vt:lpstr>
      <vt:lpstr>Contrast: Spanned Organization</vt:lpstr>
      <vt:lpstr>Storage Access</vt:lpstr>
      <vt:lpstr>Buffer Manager</vt:lpstr>
      <vt:lpstr>Cache Policy</vt:lpstr>
      <vt:lpstr>First In First Out (FIFO)</vt:lpstr>
      <vt:lpstr>Least recently used (LRU)</vt:lpstr>
      <vt:lpstr>Random Replacement Policy</vt:lpstr>
      <vt:lpstr>Other Policies</vt:lpstr>
      <vt:lpstr>Further Reading*</vt:lpstr>
      <vt:lpstr>Column-Oriented Storage</vt:lpstr>
      <vt:lpstr>Columnar Representation</vt:lpstr>
      <vt:lpstr>Columnar File Representation</vt:lpstr>
      <vt:lpstr>Storage Organization in Main-Memory Databases</vt:lpstr>
      <vt:lpstr>Case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DTS205TC High Performance Computing</dc:title>
  <dc:creator>andyz</dc:creator>
  <cp:lastModifiedBy>ZD</cp:lastModifiedBy>
  <cp:revision>3122</cp:revision>
  <dcterms:created xsi:type="dcterms:W3CDTF">2023-04-15T13:38:00Z</dcterms:created>
  <dcterms:modified xsi:type="dcterms:W3CDTF">2025-11-11T04:42:52Z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DF1EBEBD9B944AFB9BE2DA128EB57B57_13</vt:lpwstr>
  </property>
  <property fmtid="{D5CDD505-2E9C-101B-9397-08002B2CF9AE}" pid="3" name="KSOProductBuildVer">
    <vt:lpwstr>2052-12.1.0.23542</vt:lpwstr>
  </property>
</Properties>
</file>