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>
  <p:sldMasterIdLst>
    <p:sldMasterId id="2147483648" r:id="rId1"/>
  </p:sldMasterIdLst>
  <p:notesMasterIdLst>
    <p:notesMasterId r:id="rId4"/>
  </p:notesMasterIdLst>
  <p:sldIdLst>
    <p:sldId id="256" r:id="rId3"/>
    <p:sldId id="1081" r:id="rId5"/>
    <p:sldId id="991" r:id="rId6"/>
    <p:sldId id="1016" r:id="rId7"/>
    <p:sldId id="1017" r:id="rId8"/>
    <p:sldId id="1018" r:id="rId9"/>
    <p:sldId id="1019" r:id="rId10"/>
    <p:sldId id="1020" r:id="rId11"/>
    <p:sldId id="1021" r:id="rId12"/>
    <p:sldId id="1022" r:id="rId13"/>
    <p:sldId id="1024" r:id="rId14"/>
    <p:sldId id="1025" r:id="rId15"/>
    <p:sldId id="1026" r:id="rId16"/>
    <p:sldId id="1027" r:id="rId17"/>
    <p:sldId id="1028" r:id="rId18"/>
    <p:sldId id="1029" r:id="rId19"/>
    <p:sldId id="1030" r:id="rId20"/>
    <p:sldId id="1031" r:id="rId21"/>
    <p:sldId id="1032" r:id="rId22"/>
    <p:sldId id="1033" r:id="rId23"/>
    <p:sldId id="1034" r:id="rId24"/>
    <p:sldId id="1035" r:id="rId25"/>
    <p:sldId id="1036" r:id="rId26"/>
    <p:sldId id="1037" r:id="rId27"/>
    <p:sldId id="1038" r:id="rId28"/>
    <p:sldId id="1039" r:id="rId29"/>
    <p:sldId id="1040" r:id="rId30"/>
    <p:sldId id="1041" r:id="rId31"/>
    <p:sldId id="1042" r:id="rId32"/>
    <p:sldId id="1043" r:id="rId33"/>
    <p:sldId id="1044" r:id="rId34"/>
    <p:sldId id="1045" r:id="rId35"/>
    <p:sldId id="1046" r:id="rId36"/>
    <p:sldId id="1047" r:id="rId37"/>
    <p:sldId id="1048" r:id="rId38"/>
    <p:sldId id="1049" r:id="rId39"/>
    <p:sldId id="1050" r:id="rId40"/>
    <p:sldId id="1051" r:id="rId41"/>
    <p:sldId id="1052" r:id="rId42"/>
    <p:sldId id="1053" r:id="rId43"/>
    <p:sldId id="1054" r:id="rId44"/>
    <p:sldId id="1055" r:id="rId45"/>
    <p:sldId id="1056" r:id="rId46"/>
    <p:sldId id="1059" r:id="rId47"/>
    <p:sldId id="1060" r:id="rId48"/>
    <p:sldId id="1061" r:id="rId49"/>
    <p:sldId id="1062" r:id="rId50"/>
    <p:sldId id="1063" r:id="rId51"/>
    <p:sldId id="1064" r:id="rId52"/>
    <p:sldId id="1065" r:id="rId53"/>
    <p:sldId id="1066" r:id="rId54"/>
    <p:sldId id="1067" r:id="rId55"/>
    <p:sldId id="1068" r:id="rId56"/>
    <p:sldId id="1069" r:id="rId57"/>
    <p:sldId id="1070" r:id="rId58"/>
    <p:sldId id="1071" r:id="rId59"/>
    <p:sldId id="1080" r:id="rId60"/>
  </p:sldIdLst>
  <p:sldSz cx="9144000" cy="5143500" type="screen16x9"/>
  <p:notesSz cx="6858000" cy="9144000"/>
  <p:custDataLst>
    <p:tags r:id="rId65"/>
  </p:custDataLst>
  <p:defaultTextStyle>
    <a:defPPr>
      <a:defRPr lang="en-US"/>
    </a:defPPr>
    <a:lvl1pPr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1pPr>
    <a:lvl2pPr marL="285750" indent="171450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2pPr>
    <a:lvl3pPr marL="573405" indent="341630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3pPr>
    <a:lvl4pPr marL="860425" indent="511175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4pPr>
    <a:lvl5pPr marL="1148080" indent="681355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5pPr>
    <a:lvl6pPr marL="22860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6pPr>
    <a:lvl7pPr marL="27432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7pPr>
    <a:lvl8pPr marL="32004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8pPr>
    <a:lvl9pPr marL="36576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9pPr>
  </p:defaultTextStyle>
  <p:extLst>
    <p:ext uri="{521415D9-36F7-43E2-AB2F-B90AF26B5E84}">
      <p14:sectionLst xmlns:p14="http://schemas.microsoft.com/office/powerpoint/2010/main">
        <p14:section name="默认节" id="{f9b09f28-63aa-4953-b668-2d441ddb8634}">
          <p14:sldIdLst>
            <p14:sldId id="256"/>
            <p14:sldId id="1081"/>
            <p14:sldId id="991"/>
          </p14:sldIdLst>
        </p14:section>
        <p14:section name="Semi-Structured" id="{f454f599-ad9a-4174-a505-6fe4271c4643}">
          <p14:sldIdLst>
            <p14:sldId id="1016"/>
            <p14:sldId id="1017"/>
            <p14:sldId id="1018"/>
          </p14:sldIdLst>
        </p14:section>
        <p14:section name="Intro. to XML" id="{70c9e41f-a4f5-4fc6-9b1b-2c1a47acf971}">
          <p14:sldIdLst>
            <p14:sldId id="1019"/>
            <p14:sldId id="1020"/>
            <p14:sldId id="1021"/>
            <p14:sldId id="1022"/>
          </p14:sldIdLst>
        </p14:section>
        <p14:section name="Structure of XML" id="{f832f0ae-8200-4a8f-a0c3-4c22dc90f4c5}">
          <p14:sldIdLst>
            <p14:sldId id="1024"/>
            <p14:sldId id="1025"/>
            <p14:sldId id="1026"/>
            <p14:sldId id="1027"/>
            <p14:sldId id="1028"/>
            <p14:sldId id="1029"/>
            <p14:sldId id="1030"/>
            <p14:sldId id="1031"/>
          </p14:sldIdLst>
        </p14:section>
        <p14:section name="XML DTD" id="{a09faab3-eb9c-44c1-9a0f-e20ab29b1a42}">
          <p14:sldIdLst>
            <p14:sldId id="1032"/>
            <p14:sldId id="1033"/>
            <p14:sldId id="1034"/>
            <p14:sldId id="1035"/>
            <p14:sldId id="1036"/>
            <p14:sldId id="1037"/>
            <p14:sldId id="1038"/>
            <p14:sldId id="1039"/>
            <p14:sldId id="1040"/>
          </p14:sldIdLst>
        </p14:section>
        <p14:section name="XML Schema" id="{3e7a78a5-b568-44a0-8507-f3047c40edc4}">
          <p14:sldIdLst>
            <p14:sldId id="1041"/>
            <p14:sldId id="1042"/>
            <p14:sldId id="1043"/>
            <p14:sldId id="1044"/>
          </p14:sldIdLst>
        </p14:section>
        <p14:section name="Query XML" id="{1acfbb02-22ba-4dea-938c-04aeaf24a04d}">
          <p14:sldIdLst>
            <p14:sldId id="1045"/>
            <p14:sldId id="1046"/>
            <p14:sldId id="1047"/>
            <p14:sldId id="1048"/>
            <p14:sldId id="1049"/>
            <p14:sldId id="1050"/>
            <p14:sldId id="1051"/>
            <p14:sldId id="1052"/>
            <p14:sldId id="1053"/>
            <p14:sldId id="1054"/>
            <p14:sldId id="1055"/>
            <p14:sldId id="1056"/>
          </p14:sldIdLst>
        </p14:section>
        <p14:section name="API" id="{d02cbedf-dd36-4472-a02a-2a6808875d35}">
          <p14:sldIdLst>
            <p14:sldId id="1059"/>
          </p14:sldIdLst>
        </p14:section>
        <p14:section name="Storage of XML" id="{c295f75d-d172-4b4d-93a0-78fb3d52b2cd}">
          <p14:sldIdLst>
            <p14:sldId id="1060"/>
            <p14:sldId id="1061"/>
            <p14:sldId id="1062"/>
            <p14:sldId id="1063"/>
            <p14:sldId id="1064"/>
            <p14:sldId id="1065"/>
            <p14:sldId id="1066"/>
            <p14:sldId id="1067"/>
            <p14:sldId id="1068"/>
            <p14:sldId id="1069"/>
          </p14:sldIdLst>
        </p14:section>
        <p14:section name="Application" id="{01d193fa-d9a8-42af-aab4-e6bfc6669120}">
          <p14:sldIdLst>
            <p14:sldId id="1070"/>
            <p14:sldId id="1071"/>
          </p14:sldIdLst>
        </p14:section>
        <p14:section name="Extension" id="{8f264c87-5bff-40bf-8e04-e033d249b603}">
          <p14:sldIdLst>
            <p14:sldId id="10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01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2926" autoAdjust="0"/>
  </p:normalViewPr>
  <p:slideViewPr>
    <p:cSldViewPr showGuides="1">
      <p:cViewPr varScale="1">
        <p:scale>
          <a:sx n="147" d="100"/>
          <a:sy n="147" d="100"/>
        </p:scale>
        <p:origin x="564" y="138"/>
      </p:cViewPr>
      <p:guideLst>
        <p:guide orient="horz" pos="1601"/>
        <p:guide pos="290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5" Type="http://schemas.openxmlformats.org/officeDocument/2006/relationships/tags" Target="tags/tag23.xml"/><Relationship Id="rId64" Type="http://schemas.openxmlformats.org/officeDocument/2006/relationships/commentAuthors" Target="commentAuthors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" name="Rectangle 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noProof="0">
                <a:sym typeface="Helvetica Neue" charset="0"/>
              </a:rPr>
              <a:t>Click to edit Template text styles</a:t>
            </a:r>
            <a:endParaRPr lang="en-US" altLang="en-US" noProof="0">
              <a:sym typeface="Helvetica Neue" charset="0"/>
            </a:endParaRPr>
          </a:p>
          <a:p>
            <a:pPr lvl="1"/>
            <a:r>
              <a:rPr lang="en-US" altLang="en-US" noProof="0">
                <a:sym typeface="Helvetica Neue" charset="0"/>
              </a:rPr>
              <a:t>Second level</a:t>
            </a:r>
            <a:endParaRPr lang="en-US" altLang="en-US" noProof="0">
              <a:sym typeface="Helvetica Neue" charset="0"/>
            </a:endParaRPr>
          </a:p>
          <a:p>
            <a:pPr lvl="2"/>
            <a:r>
              <a:rPr lang="en-US" altLang="en-US" noProof="0">
                <a:sym typeface="Helvetica Neue" charset="0"/>
              </a:rPr>
              <a:t>Third level</a:t>
            </a:r>
            <a:endParaRPr lang="en-US" altLang="en-US" noProof="0">
              <a:sym typeface="Helvetica Neue" charset="0"/>
            </a:endParaRPr>
          </a:p>
          <a:p>
            <a:pPr lvl="3"/>
            <a:r>
              <a:rPr lang="en-US" altLang="en-US" noProof="0">
                <a:sym typeface="Helvetica Neue" charset="0"/>
              </a:rPr>
              <a:t>Fourth level</a:t>
            </a:r>
            <a:endParaRPr lang="en-US" altLang="en-US" noProof="0">
              <a:sym typeface="Helvetica Neue" charset="0"/>
            </a:endParaRPr>
          </a:p>
          <a:p>
            <a:pPr lvl="4"/>
            <a:r>
              <a:rPr lang="en-US" altLang="en-US" noProof="0">
                <a:sym typeface="Helvetica Neue" charset="0"/>
              </a:rPr>
              <a:t>Fifth level</a:t>
            </a:r>
            <a:endParaRPr lang="en-US" altLang="en-US" noProof="0">
              <a:sym typeface="Helvetica Neue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indent="142875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indent="285750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indent="430530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indent="573405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1435100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6pPr>
    <a:lvl7pPr marL="1722120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7pPr>
    <a:lvl8pPr marL="2009140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8pPr>
    <a:lvl9pPr marL="2295525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I am very happy to have the opportunity to meet with you all in this course.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3438" cy="3481388"/>
          </a:xfrm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0088" y="4410075"/>
            <a:ext cx="5599112" cy="417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5EEFFDA-EDCA-4C12-992D-691413BD75FA}" type="slidenum">
              <a:rPr lang="en-US"/>
            </a:fld>
            <a:endParaRPr lang="en-US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AD3F36-E03F-4DBF-B5C7-7A8100FDD159}" type="slidenum">
              <a:rPr lang="en-US"/>
            </a:fld>
            <a:endParaRPr lang="en-US"/>
          </a:p>
        </p:txBody>
      </p:sp>
      <p:sp>
        <p:nvSpPr>
          <p:cNvPr id="20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2B7B74D-7756-4C08-94D6-180A846680FC}" type="slidenum">
              <a:rPr lang="en-US"/>
            </a:fld>
            <a:endParaRPr lang="en-US"/>
          </a:p>
        </p:txBody>
      </p:sp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A8E9F2B-DA9D-4CF7-9F46-AD1506C5AD91}" type="slidenum">
              <a:rPr lang="en-US"/>
            </a:fld>
            <a:endParaRPr lang="en-US"/>
          </a:p>
        </p:txBody>
      </p:sp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A03B803-B5FA-47D0-9E0D-DF817265AC04}" type="slidenum">
              <a:rPr lang="en-US"/>
            </a:fld>
            <a:endParaRPr lang="en-US"/>
          </a:p>
        </p:txBody>
      </p:sp>
      <p:sp>
        <p:nvSpPr>
          <p:cNvPr id="205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C6A3DBF-6852-41E1-A102-EA52D6C29DCA}" type="slidenum">
              <a:rPr lang="en-US"/>
            </a:fld>
            <a:endParaRPr lang="en-US"/>
          </a:p>
        </p:txBody>
      </p:sp>
      <p:sp>
        <p:nvSpPr>
          <p:cNvPr id="20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AA1791D-4C79-45FF-A2B6-62FFD51BB133}" type="slidenum">
              <a:rPr lang="en-US"/>
            </a:fld>
            <a:endParaRPr lang="en-US"/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5A6761E-D838-49C3-8B19-6D7F27B8F10C}" type="slidenum">
              <a:rPr lang="en-US"/>
            </a:fld>
            <a:endParaRPr lang="en-US"/>
          </a:p>
        </p:txBody>
      </p:sp>
      <p:sp>
        <p:nvSpPr>
          <p:cNvPr id="20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2910851-0CC8-490A-8A63-3AEF14A60B95}" type="slidenum">
              <a:rPr lang="en-US"/>
            </a:fld>
            <a:endParaRPr lang="en-US"/>
          </a:p>
        </p:txBody>
      </p:sp>
      <p:sp>
        <p:nvSpPr>
          <p:cNvPr id="20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7201E8B-5825-4C08-9395-AE5B159AFECF}" type="slidenum">
              <a:rPr lang="en-US"/>
            </a:fld>
            <a:endParaRPr lang="en-US"/>
          </a:p>
        </p:txBody>
      </p:sp>
      <p:sp>
        <p:nvSpPr>
          <p:cNvPr id="210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107E57E-8246-49BD-A35D-9DB71F16B7F4}" type="slidenum">
              <a:rPr lang="en-US"/>
            </a:fld>
            <a:endParaRPr lang="en-US"/>
          </a:p>
        </p:txBody>
      </p:sp>
      <p:sp>
        <p:nvSpPr>
          <p:cNvPr id="211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59F8D68-789A-490C-9FE4-BD9CA8286E3B}" type="slidenum">
              <a:rPr lang="en-US"/>
            </a:fld>
            <a:endParaRPr lang="en-US"/>
          </a:p>
        </p:txBody>
      </p:sp>
      <p:sp>
        <p:nvSpPr>
          <p:cNvPr id="212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87DD55A-A52E-4D94-968E-7F8AF46ED8BA}" type="slidenum">
              <a:rPr lang="en-US"/>
            </a:fld>
            <a:endParaRPr lang="en-US"/>
          </a:p>
        </p:txBody>
      </p:sp>
      <p:sp>
        <p:nvSpPr>
          <p:cNvPr id="21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A33F6E7-0C49-4B3E-BB04-D0B7F525F725}" type="slidenum">
              <a:rPr lang="en-US"/>
            </a:fld>
            <a:endParaRPr lang="en-US"/>
          </a:p>
        </p:txBody>
      </p:sp>
      <p:sp>
        <p:nvSpPr>
          <p:cNvPr id="215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13013B5-3BDE-4AD8-90D0-319CD0814E65}" type="slidenum">
              <a:rPr lang="en-US"/>
            </a:fld>
            <a:endParaRPr lang="en-US"/>
          </a:p>
        </p:txBody>
      </p:sp>
      <p:sp>
        <p:nvSpPr>
          <p:cNvPr id="216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AAB1CFF-0090-4B7D-A905-5A7B3078933B}" type="slidenum">
              <a:rPr lang="en-US"/>
            </a:fld>
            <a:endParaRPr lang="en-US"/>
          </a:p>
        </p:txBody>
      </p:sp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96C7F82-8FB2-4D90-8B60-680CF803B6CB}" type="slidenum">
              <a:rPr lang="en-US"/>
            </a:fld>
            <a:endParaRPr lang="en-US"/>
          </a:p>
        </p:txBody>
      </p:sp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B234300-7479-4DF9-BF6E-8FA3CC344FB8}" type="slidenum">
              <a:rPr lang="en-US"/>
            </a:fld>
            <a:endParaRPr lang="en-US"/>
          </a:p>
        </p:txBody>
      </p:sp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9DBB917-F206-4A27-AB03-53A1EF66A8BE}" type="slidenum">
              <a:rPr lang="en-US"/>
            </a:fld>
            <a:endParaRPr lang="en-US"/>
          </a:p>
        </p:txBody>
      </p:sp>
      <p:sp>
        <p:nvSpPr>
          <p:cNvPr id="220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F64F5CB-FDE1-474B-8469-4C73C9AD7B89}" type="slidenum">
              <a:rPr lang="en-US"/>
            </a:fld>
            <a:endParaRPr lang="en-US"/>
          </a:p>
        </p:txBody>
      </p:sp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9FCBEB7-0493-4466-A4F6-6A5308A0A6DA}" type="slidenum">
              <a:rPr lang="en-US"/>
            </a:fld>
            <a:endParaRPr lang="en-US"/>
          </a:p>
        </p:txBody>
      </p:sp>
      <p:sp>
        <p:nvSpPr>
          <p:cNvPr id="222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F9122AE-6CA6-41CA-BBE2-DD5EC2DE15E1}" type="slidenum">
              <a:rPr lang="en-US"/>
            </a:fld>
            <a:endParaRPr lang="en-US"/>
          </a:p>
        </p:txBody>
      </p:sp>
      <p:sp>
        <p:nvSpPr>
          <p:cNvPr id="22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3520446-7755-45EC-A4FF-74377E64BAB0}" type="slidenum">
              <a:rPr lang="en-US"/>
            </a:fld>
            <a:endParaRPr lang="en-US"/>
          </a:p>
        </p:txBody>
      </p:sp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8FC8FBC-83FE-4CDB-ACB7-6B0A1E5C4494}" type="slidenum">
              <a:rPr lang="en-US"/>
            </a:fld>
            <a:endParaRPr lang="en-US"/>
          </a:p>
        </p:txBody>
      </p:sp>
      <p:sp>
        <p:nvSpPr>
          <p:cNvPr id="272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BDFEC80-6CD3-497D-9096-8372348E2FED}" type="slidenum">
              <a:rPr lang="en-US"/>
            </a:fld>
            <a:endParaRPr lang="en-US"/>
          </a:p>
        </p:txBody>
      </p:sp>
      <p:sp>
        <p:nvSpPr>
          <p:cNvPr id="226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7219246-3865-4B15-834F-D5FF83FDD09A}" type="slidenum">
              <a:rPr lang="en-US"/>
            </a:fld>
            <a:endParaRPr lang="en-US"/>
          </a:p>
        </p:txBody>
      </p:sp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119290B-5261-4808-ABF5-9F41E759B259}" type="slidenum">
              <a:rPr lang="en-US"/>
            </a:fld>
            <a:endParaRPr lang="en-US"/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0166AAB-F72D-499C-8953-F98D5D6AAFE0}" type="slidenum">
              <a:rPr lang="en-US"/>
            </a:fld>
            <a:endParaRPr lang="en-US"/>
          </a:p>
        </p:txBody>
      </p:sp>
      <p:sp>
        <p:nvSpPr>
          <p:cNvPr id="22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3D2E2BC-209A-4F88-8954-F0DEA9E25F58}" type="slidenum">
              <a:rPr lang="en-US"/>
            </a:fld>
            <a:endParaRPr lang="en-US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C6D57EE-E0AD-4118-A260-E75230C0C396}" type="slidenum">
              <a:rPr lang="en-US"/>
            </a:fld>
            <a:endParaRPr lang="en-US"/>
          </a:p>
        </p:txBody>
      </p:sp>
      <p:sp>
        <p:nvSpPr>
          <p:cNvPr id="23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0497A4B-7768-4857-9D26-A03B64628815}" type="slidenum">
              <a:rPr lang="en-US"/>
            </a:fld>
            <a:endParaRPr lang="en-US"/>
          </a:p>
        </p:txBody>
      </p:sp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4C7B140-26D7-4B4A-9303-E50BC1B12CBB}" type="slidenum">
              <a:rPr lang="en-US"/>
            </a:fld>
            <a:endParaRPr lang="en-US"/>
          </a:p>
        </p:txBody>
      </p:sp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0F57F59-2618-4091-8659-8C127A6879C3}" type="slidenum">
              <a:rPr lang="en-US"/>
            </a:fld>
            <a:endParaRPr lang="en-US"/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412CA7A-C954-4A66-BD27-114FAAB86082}" type="slidenum">
              <a:rPr lang="en-US"/>
            </a:fld>
            <a:endParaRPr lang="en-US"/>
          </a:p>
        </p:txBody>
      </p:sp>
      <p:sp>
        <p:nvSpPr>
          <p:cNvPr id="23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D65F138-D59C-4FEE-B061-0A1407463F17}" type="slidenum">
              <a:rPr lang="en-US"/>
            </a:fld>
            <a:endParaRPr lang="en-US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FDCE634-E020-4483-A64F-E42F6D13DEBF}" type="slidenum">
              <a:rPr lang="en-US"/>
            </a:fld>
            <a:endParaRPr lang="en-US"/>
          </a:p>
        </p:txBody>
      </p:sp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01C0C4A-7D3A-42AF-96D2-69657EE5904E}" type="slidenum">
              <a:rPr lang="en-US"/>
            </a:fld>
            <a:endParaRPr lang="en-US"/>
          </a:p>
        </p:txBody>
      </p:sp>
      <p:sp>
        <p:nvSpPr>
          <p:cNvPr id="237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EA3B77F-223F-43CE-A881-3835A6E9E7F6}" type="slidenum">
              <a:rPr lang="en-US"/>
            </a:fld>
            <a:endParaRPr lang="en-US"/>
          </a:p>
        </p:txBody>
      </p:sp>
      <p:sp>
        <p:nvSpPr>
          <p:cNvPr id="2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4722843-03FD-4F6A-8E1A-1ABF4BA68FDC}" type="slidenum">
              <a:rPr lang="en-US"/>
            </a:fld>
            <a:endParaRPr lang="en-US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5F6A0C9-598B-44EC-A00E-B77B8AB609DA}" type="slidenum">
              <a:rPr lang="en-US"/>
            </a:fld>
            <a:endParaRPr lang="en-US"/>
          </a:p>
        </p:txBody>
      </p:sp>
      <p:sp>
        <p:nvSpPr>
          <p:cNvPr id="248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D152C44-A80D-432C-8C25-6BC33BF15DF4}" type="slidenum">
              <a:rPr lang="en-US"/>
            </a:fld>
            <a:endParaRPr lang="en-US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4E785DB-95D0-4715-AC84-D500035E43CC}" type="slidenum">
              <a:rPr lang="en-US"/>
            </a:fld>
            <a:endParaRPr lang="en-US"/>
          </a:p>
        </p:txBody>
      </p:sp>
      <p:sp>
        <p:nvSpPr>
          <p:cNvPr id="250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885328C-28AF-4FB4-B0FC-F1B5E6B940A8}" type="slidenum">
              <a:rPr lang="en-US"/>
            </a:fld>
            <a:endParaRPr lang="en-US"/>
          </a:p>
        </p:txBody>
      </p:sp>
      <p:sp>
        <p:nvSpPr>
          <p:cNvPr id="251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C1FCED5-2790-4CAB-954E-466B97797478}" type="slidenum">
              <a:rPr lang="en-US"/>
            </a:fld>
            <a:endParaRPr lang="en-US"/>
          </a:p>
        </p:txBody>
      </p:sp>
      <p:sp>
        <p:nvSpPr>
          <p:cNvPr id="252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0BDB0FE-180F-4339-90B1-FC8CBD396EBC}" type="slidenum">
              <a:rPr lang="en-US"/>
            </a:fld>
            <a:endParaRPr lang="en-US"/>
          </a:p>
        </p:txBody>
      </p:sp>
      <p:sp>
        <p:nvSpPr>
          <p:cNvPr id="253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1461A1F-5428-4881-AC6D-0AB0A5A577F7}" type="slidenum">
              <a:rPr lang="en-US"/>
            </a:fld>
            <a:endParaRPr lang="en-US"/>
          </a:p>
        </p:txBody>
      </p:sp>
      <p:sp>
        <p:nvSpPr>
          <p:cNvPr id="254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5BC6D63-0054-431E-B524-2D208B9B26AB}" type="slidenum">
              <a:rPr lang="en-US"/>
            </a:fld>
            <a:endParaRPr lang="en-US"/>
          </a:p>
        </p:txBody>
      </p:sp>
      <p:sp>
        <p:nvSpPr>
          <p:cNvPr id="256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8DE6733-9FF1-4CD1-BAC7-91EF60B53453}" type="slidenum">
              <a:rPr lang="en-US"/>
            </a:fld>
            <a:endParaRPr lang="en-US"/>
          </a:p>
        </p:txBody>
      </p:sp>
      <p:sp>
        <p:nvSpPr>
          <p:cNvPr id="257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6E0946C-A996-4967-84D6-078F64B15B33}" type="slidenum">
              <a:rPr lang="en-US"/>
            </a:fld>
            <a:endParaRPr lang="en-US"/>
          </a:p>
        </p:txBody>
      </p:sp>
      <p:sp>
        <p:nvSpPr>
          <p:cNvPr id="288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8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IN"/>
              <a:t>docx</a:t>
            </a:r>
            <a:endParaRPr lang="en-US" altLang="en-I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2810468-A1CF-48B5-9BC8-B47B39239565}" type="slidenum">
              <a:rPr lang="en-US"/>
            </a:fld>
            <a:endParaRPr lang="en-US"/>
          </a:p>
        </p:txBody>
      </p:sp>
      <p:sp>
        <p:nvSpPr>
          <p:cNvPr id="258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8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183"/>
            <a:ext cx="6858000" cy="1790680"/>
          </a:xfrm>
        </p:spPr>
        <p:txBody>
          <a:bodyPr anchor="b"/>
          <a:lstStyle>
            <a:lvl1pPr algn="ctr">
              <a:defRPr sz="3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08"/>
            <a:ext cx="6858000" cy="1241505"/>
          </a:xfrm>
        </p:spPr>
        <p:txBody>
          <a:bodyPr/>
          <a:lstStyle>
            <a:lvl1pPr marL="0" indent="0" algn="ctr">
              <a:buNone/>
              <a:defRPr sz="1600"/>
            </a:lvl1pPr>
            <a:lvl2pPr marL="287020" indent="0" algn="ctr">
              <a:buNone/>
              <a:defRPr sz="1200"/>
            </a:lvl2pPr>
            <a:lvl3pPr marL="574040" indent="0" algn="ctr">
              <a:buNone/>
              <a:defRPr sz="1200"/>
            </a:lvl3pPr>
            <a:lvl4pPr marL="861060" indent="0" algn="ctr">
              <a:buNone/>
              <a:defRPr sz="1100"/>
            </a:lvl4pPr>
            <a:lvl5pPr marL="1148080" indent="0" algn="ctr">
              <a:buNone/>
              <a:defRPr sz="1100"/>
            </a:lvl5pPr>
            <a:lvl6pPr marL="1435100" indent="0" algn="ctr">
              <a:buNone/>
              <a:defRPr sz="1100"/>
            </a:lvl6pPr>
            <a:lvl7pPr marL="1722120" indent="0" algn="ctr">
              <a:buNone/>
              <a:defRPr sz="1100"/>
            </a:lvl7pPr>
            <a:lvl8pPr marL="2009140" indent="0" algn="ctr">
              <a:buNone/>
              <a:defRPr sz="1100"/>
            </a:lvl8pPr>
            <a:lvl9pPr marL="2295525" indent="0" algn="ctr">
              <a:buNone/>
              <a:defRPr sz="11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6C9A41-D864-428D-9C31-5294F3735FA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4BFCE12-62F8-4935-B4B3-E8FB1AC9A4A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964" y="1282528"/>
            <a:ext cx="7887146" cy="2138940"/>
          </a:xfrm>
        </p:spPr>
        <p:txBody>
          <a:bodyPr anchor="b"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964" y="3442396"/>
            <a:ext cx="7887146" cy="1125141"/>
          </a:xfrm>
        </p:spPr>
        <p:txBody>
          <a:bodyPr/>
          <a:lstStyle>
            <a:lvl1pPr marL="0" indent="0">
              <a:buNone/>
              <a:defRPr sz="1600"/>
            </a:lvl1pPr>
            <a:lvl2pPr marL="287020" indent="0">
              <a:buNone/>
              <a:defRPr sz="1200"/>
            </a:lvl2pPr>
            <a:lvl3pPr marL="574040" indent="0">
              <a:buNone/>
              <a:defRPr sz="1200"/>
            </a:lvl3pPr>
            <a:lvl4pPr marL="861060" indent="0">
              <a:buNone/>
              <a:defRPr sz="1100"/>
            </a:lvl4pPr>
            <a:lvl5pPr marL="1148080" indent="0">
              <a:buNone/>
              <a:defRPr sz="1100"/>
            </a:lvl5pPr>
            <a:lvl6pPr marL="1435100" indent="0">
              <a:buNone/>
              <a:defRPr sz="1100"/>
            </a:lvl6pPr>
            <a:lvl7pPr marL="1722120" indent="0">
              <a:buNone/>
              <a:defRPr sz="1100"/>
            </a:lvl7pPr>
            <a:lvl8pPr marL="2009140" indent="0">
              <a:buNone/>
              <a:defRPr sz="1100"/>
            </a:lvl8pPr>
            <a:lvl9pPr marL="2295525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EB6FB98-0011-4161-BE35-0A73E2FACDA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8258" y="719117"/>
            <a:ext cx="4169049" cy="40493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4463" y="719117"/>
            <a:ext cx="4170164" cy="40493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2BF4A6C-FF74-409E-AF94-9AA6BEC52E2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545" y="273752"/>
            <a:ext cx="7887146" cy="9945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544" y="1260762"/>
            <a:ext cx="3868788" cy="617822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287020" indent="0">
              <a:buNone/>
              <a:defRPr sz="1200" b="1"/>
            </a:lvl2pPr>
            <a:lvl3pPr marL="574040" indent="0">
              <a:buNone/>
              <a:defRPr sz="1200" b="1"/>
            </a:lvl3pPr>
            <a:lvl4pPr marL="861060" indent="0">
              <a:buNone/>
              <a:defRPr sz="1100" b="1"/>
            </a:lvl4pPr>
            <a:lvl5pPr marL="1148080" indent="0">
              <a:buNone/>
              <a:defRPr sz="1100" b="1"/>
            </a:lvl5pPr>
            <a:lvl6pPr marL="1435100" indent="0">
              <a:buNone/>
              <a:defRPr sz="1100" b="1"/>
            </a:lvl6pPr>
            <a:lvl7pPr marL="1722120" indent="0">
              <a:buNone/>
              <a:defRPr sz="1100" b="1"/>
            </a:lvl7pPr>
            <a:lvl8pPr marL="2009140" indent="0">
              <a:buNone/>
              <a:defRPr sz="1100" b="1"/>
            </a:lvl8pPr>
            <a:lvl9pPr marL="2295525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544" y="1878582"/>
            <a:ext cx="3868788" cy="2763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8928" y="1260762"/>
            <a:ext cx="3887762" cy="617822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287020" indent="0">
              <a:buNone/>
              <a:defRPr sz="1200" b="1"/>
            </a:lvl2pPr>
            <a:lvl3pPr marL="574040" indent="0">
              <a:buNone/>
              <a:defRPr sz="1200" b="1"/>
            </a:lvl3pPr>
            <a:lvl4pPr marL="861060" indent="0">
              <a:buNone/>
              <a:defRPr sz="1100" b="1"/>
            </a:lvl4pPr>
            <a:lvl5pPr marL="1148080" indent="0">
              <a:buNone/>
              <a:defRPr sz="1100" b="1"/>
            </a:lvl5pPr>
            <a:lvl6pPr marL="1435100" indent="0">
              <a:buNone/>
              <a:defRPr sz="1100" b="1"/>
            </a:lvl6pPr>
            <a:lvl7pPr marL="1722120" indent="0">
              <a:buNone/>
              <a:defRPr sz="1100" b="1"/>
            </a:lvl7pPr>
            <a:lvl8pPr marL="2009140" indent="0">
              <a:buNone/>
              <a:defRPr sz="1100" b="1"/>
            </a:lvl8pPr>
            <a:lvl9pPr marL="2295525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8928" y="1878582"/>
            <a:ext cx="3887762" cy="2763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2642A5-B4C1-490D-823B-6F62026E5D0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B72306-FD3C-4756-B3FD-766F3400AAC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6FCE69C-6874-463F-8672-A48ADE6CA40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544" y="343235"/>
            <a:ext cx="2949029" cy="1199650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65" y="740886"/>
            <a:ext cx="4628926" cy="365503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544" y="1542881"/>
            <a:ext cx="2949029" cy="2858895"/>
          </a:xfrm>
        </p:spPr>
        <p:txBody>
          <a:bodyPr/>
          <a:lstStyle>
            <a:lvl1pPr marL="0" indent="0">
              <a:buNone/>
              <a:defRPr sz="1100"/>
            </a:lvl1pPr>
            <a:lvl2pPr marL="287020" indent="0">
              <a:buNone/>
              <a:defRPr sz="900"/>
            </a:lvl2pPr>
            <a:lvl3pPr marL="574040" indent="0">
              <a:buNone/>
              <a:defRPr sz="700"/>
            </a:lvl3pPr>
            <a:lvl4pPr marL="861060" indent="0">
              <a:buNone/>
              <a:defRPr sz="700"/>
            </a:lvl4pPr>
            <a:lvl5pPr marL="1148080" indent="0">
              <a:buNone/>
              <a:defRPr sz="700"/>
            </a:lvl5pPr>
            <a:lvl6pPr marL="1435100" indent="0">
              <a:buNone/>
              <a:defRPr sz="700"/>
            </a:lvl6pPr>
            <a:lvl7pPr marL="1722120" indent="0">
              <a:buNone/>
              <a:defRPr sz="700"/>
            </a:lvl7pPr>
            <a:lvl8pPr marL="2009140" indent="0">
              <a:buNone/>
              <a:defRPr sz="700"/>
            </a:lvl8pPr>
            <a:lvl9pPr marL="2295525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EA9E2C9-38C0-4E05-A9A0-7FD9158DBDA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544" y="343235"/>
            <a:ext cx="2949029" cy="1199650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65" y="740886"/>
            <a:ext cx="4628926" cy="3655035"/>
          </a:xfrm>
        </p:spPr>
        <p:txBody>
          <a:bodyPr/>
          <a:lstStyle>
            <a:lvl1pPr marL="0" indent="0">
              <a:buNone/>
              <a:defRPr sz="2100"/>
            </a:lvl1pPr>
            <a:lvl2pPr marL="287020" indent="0">
              <a:buNone/>
              <a:defRPr sz="1800"/>
            </a:lvl2pPr>
            <a:lvl3pPr marL="574040" indent="0">
              <a:buNone/>
              <a:defRPr sz="1600"/>
            </a:lvl3pPr>
            <a:lvl4pPr marL="861060" indent="0">
              <a:buNone/>
              <a:defRPr sz="1200"/>
            </a:lvl4pPr>
            <a:lvl5pPr marL="1148080" indent="0">
              <a:buNone/>
              <a:defRPr sz="1200"/>
            </a:lvl5pPr>
            <a:lvl6pPr marL="1435100" indent="0">
              <a:buNone/>
              <a:defRPr sz="1200"/>
            </a:lvl6pPr>
            <a:lvl7pPr marL="1722120" indent="0">
              <a:buNone/>
              <a:defRPr sz="1200"/>
            </a:lvl7pPr>
            <a:lvl8pPr marL="2009140" indent="0">
              <a:buNone/>
              <a:defRPr sz="1200"/>
            </a:lvl8pPr>
            <a:lvl9pPr marL="2295525" indent="0">
              <a:buNone/>
              <a:defRPr sz="1200"/>
            </a:lvl9pPr>
          </a:lstStyle>
          <a:p>
            <a:pPr lvl="0"/>
            <a:endParaRPr lang="en-US" noProof="0">
              <a:sym typeface="Helvetica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544" y="1542881"/>
            <a:ext cx="2949029" cy="2858895"/>
          </a:xfrm>
        </p:spPr>
        <p:txBody>
          <a:bodyPr/>
          <a:lstStyle>
            <a:lvl1pPr marL="0" indent="0">
              <a:buNone/>
              <a:defRPr sz="1100"/>
            </a:lvl1pPr>
            <a:lvl2pPr marL="287020" indent="0">
              <a:buNone/>
              <a:defRPr sz="900"/>
            </a:lvl2pPr>
            <a:lvl3pPr marL="574040" indent="0">
              <a:buNone/>
              <a:defRPr sz="700"/>
            </a:lvl3pPr>
            <a:lvl4pPr marL="861060" indent="0">
              <a:buNone/>
              <a:defRPr sz="700"/>
            </a:lvl4pPr>
            <a:lvl5pPr marL="1148080" indent="0">
              <a:buNone/>
              <a:defRPr sz="700"/>
            </a:lvl5pPr>
            <a:lvl6pPr marL="1435100" indent="0">
              <a:buNone/>
              <a:defRPr sz="700"/>
            </a:lvl6pPr>
            <a:lvl7pPr marL="1722120" indent="0">
              <a:buNone/>
              <a:defRPr sz="700"/>
            </a:lvl7pPr>
            <a:lvl8pPr marL="2009140" indent="0">
              <a:buNone/>
              <a:defRPr sz="700"/>
            </a:lvl8pPr>
            <a:lvl9pPr marL="2295525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B709096-912F-4774-8F9C-D173966EA40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D661447-7998-46BF-B95E-D71DBFFC4D6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3872" y="92928"/>
            <a:ext cx="2110755" cy="4675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8257" y="92928"/>
            <a:ext cx="6228458" cy="4675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C14C122-CBE5-46C5-AE21-5F2E3318462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21970" y="4767263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body" idx="1"/>
          </p:nvPr>
        </p:nvSpPr>
        <p:spPr bwMode="auto">
          <a:xfrm>
            <a:off x="347663" y="719138"/>
            <a:ext cx="8447087" cy="404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31886" tIns="31886" rIns="31886" bIns="31886" numCol="1" anchor="t" anchorCtr="0" compatLnSpc="1"/>
          <a:lstStyle/>
          <a:p>
            <a:pPr lvl="0"/>
            <a:r>
              <a:rPr lang="en-US" altLang="en-US">
                <a:sym typeface="Helvetica" panose="020B0604020202020204" pitchFamily="34" charset="0"/>
              </a:rPr>
              <a:t>Click to edit Template text styles</a:t>
            </a:r>
            <a:endParaRPr lang="en-US" altLang="en-US">
              <a:sym typeface="Helvetica" panose="020B0604020202020204" pitchFamily="34" charset="0"/>
            </a:endParaRPr>
          </a:p>
          <a:p>
            <a:pPr lvl="1"/>
            <a:r>
              <a:rPr lang="en-US" altLang="en-US">
                <a:sym typeface="Helvetica" panose="020B0604020202020204" pitchFamily="34" charset="0"/>
              </a:rPr>
              <a:t>Second level</a:t>
            </a:r>
            <a:endParaRPr lang="en-US" altLang="en-US">
              <a:sym typeface="Helvetica" panose="020B0604020202020204" pitchFamily="34" charset="0"/>
            </a:endParaRPr>
          </a:p>
          <a:p>
            <a:pPr lvl="2"/>
            <a:r>
              <a:rPr lang="en-US" altLang="en-US">
                <a:sym typeface="Helvetica" panose="020B0604020202020204" pitchFamily="34" charset="0"/>
              </a:rPr>
              <a:t>Third level</a:t>
            </a:r>
            <a:endParaRPr lang="en-US" altLang="en-US">
              <a:sym typeface="Helvetica" panose="020B0604020202020204" pitchFamily="34" charset="0"/>
            </a:endParaRPr>
          </a:p>
          <a:p>
            <a:pPr lvl="3"/>
            <a:r>
              <a:rPr lang="en-US" altLang="en-US">
                <a:sym typeface="Helvetica" panose="020B0604020202020204" pitchFamily="34" charset="0"/>
              </a:rPr>
              <a:t>Fourth level</a:t>
            </a:r>
            <a:endParaRPr lang="en-US" altLang="en-US">
              <a:sym typeface="Helvetica" panose="020B0604020202020204" pitchFamily="34" charset="0"/>
            </a:endParaRPr>
          </a:p>
          <a:p>
            <a:pPr lvl="4"/>
            <a:r>
              <a:rPr lang="en-US" altLang="en-US">
                <a:sym typeface="Helvetica" panose="020B0604020202020204" pitchFamily="34" charset="0"/>
              </a:rPr>
              <a:t>Fifth level</a:t>
            </a:r>
            <a:endParaRPr lang="en-US" altLang="en-US">
              <a:sym typeface="Helvetica" panose="020B0604020202020204" pitchFamily="34" charset="0"/>
            </a:endParaRPr>
          </a:p>
        </p:txBody>
      </p:sp>
      <p:sp>
        <p:nvSpPr>
          <p:cNvPr id="1027" name="Rectangle 2"/>
          <p:cNvSpPr>
            <a:spLocks noGrp="1"/>
          </p:cNvSpPr>
          <p:nvPr>
            <p:ph type="title"/>
          </p:nvPr>
        </p:nvSpPr>
        <p:spPr bwMode="auto">
          <a:xfrm>
            <a:off x="500063" y="93663"/>
            <a:ext cx="8143875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31886" tIns="31886" rIns="31886" bIns="31886" numCol="1" anchor="t" anchorCtr="0" compatLnSpc="1"/>
          <a:lstStyle/>
          <a:p>
            <a:pPr lvl="0"/>
            <a:r>
              <a:rPr lang="en-US" altLang="en-US">
                <a:sym typeface="Helvetica" panose="020B0604020202020204" pitchFamily="34" charset="0"/>
              </a:rPr>
              <a:t>Click to edit Template title style</a:t>
            </a:r>
            <a:endParaRPr lang="en-US" altLang="en-US">
              <a:sym typeface="Helvetica" panose="020B0604020202020204" pitchFamily="34" charset="0"/>
            </a:endParaRPr>
          </a:p>
        </p:txBody>
      </p:sp>
      <p:pic>
        <p:nvPicPr>
          <p:cNvPr id="1028" name="Picture 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638" y="69850"/>
            <a:ext cx="185102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9" name="Line 4"/>
          <p:cNvSpPr>
            <a:spLocks noChangeShapeType="1"/>
          </p:cNvSpPr>
          <p:nvPr/>
        </p:nvSpPr>
        <p:spPr bwMode="auto">
          <a:xfrm>
            <a:off x="341313" y="588963"/>
            <a:ext cx="84597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1886" tIns="31886" rIns="31886" bIns="31886" anchor="ctr"/>
          <a:lstStyle/>
          <a:p>
            <a:endParaRPr lang="en-US"/>
          </a:p>
        </p:txBody>
      </p:sp>
      <p:sp>
        <p:nvSpPr>
          <p:cNvPr id="2" name="Rectangle 5"/>
          <p:cNvSpPr>
            <a:spLocks noGrp="1"/>
          </p:cNvSpPr>
          <p:nvPr>
            <p:ph type="sldNum" sz="quarter" idx="2"/>
          </p:nvPr>
        </p:nvSpPr>
        <p:spPr bwMode="auto">
          <a:xfrm>
            <a:off x="4460875" y="4808538"/>
            <a:ext cx="215900" cy="1730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31886" tIns="31886" rIns="31886" bIns="31886" numCol="1" anchor="b" anchorCtr="0" compatLnSpc="1"/>
          <a:lstStyle>
            <a:lvl1pPr algn="ctr" defTabSz="1090930" eaLnBrk="1">
              <a:defRPr sz="900">
                <a:solidFill>
                  <a:srgbClr val="5E5E5E"/>
                </a:solidFill>
                <a:latin typeface="Graphik" charset="0"/>
                <a:ea typeface="Graphik" charset="0"/>
                <a:cs typeface="Graphik" charset="0"/>
                <a:sym typeface="Graphik" charset="0"/>
              </a:defRPr>
            </a:lvl1pPr>
          </a:lstStyle>
          <a:p>
            <a:fld id="{B78101D5-FE84-44C9-AB30-8CA2B182F501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 kern="1200">
          <a:solidFill>
            <a:srgbClr val="AE0428"/>
          </a:solidFill>
          <a:latin typeface="+mj-lt"/>
          <a:ea typeface="+mj-ea"/>
          <a:cs typeface="+mj-cs"/>
          <a:sym typeface="Helvetica" panose="020B0604020202020204" pitchFamily="34" charset="0"/>
        </a:defRPr>
      </a:lvl1pPr>
      <a:lvl2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2pPr>
      <a:lvl3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3pPr>
      <a:lvl4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4pPr>
      <a:lvl5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5pPr>
      <a:lvl6pPr marL="28702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6pPr>
      <a:lvl7pPr marL="57404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7pPr>
      <a:lvl8pPr marL="86106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8pPr>
      <a:lvl9pPr marL="114808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9pPr>
    </p:titleStyle>
    <p:bodyStyle>
      <a:lvl1pPr marL="263525" indent="-263525" algn="l" defTabSz="1090930" rtl="0" eaLnBrk="0" fontAlgn="base" hangingPunct="0">
        <a:spcBef>
          <a:spcPts val="1250"/>
        </a:spcBef>
        <a:spcAft>
          <a:spcPct val="0"/>
        </a:spcAft>
        <a:buSzPct val="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1pPr>
      <a:lvl2pPr marL="494030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2pPr>
      <a:lvl3pPr marL="739775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3pPr>
      <a:lvl4pPr marL="987425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4pPr>
      <a:lvl5pPr marL="1235075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5pPr>
      <a:lvl6pPr marL="1578610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65630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52015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9035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8702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404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6106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808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3510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2212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00914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95525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hyperlink" Target="https://tech.meituan.com/feed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yale.edu/" TargetMode="Externa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hyperlink" Target="https://www.globalnerdy.com/2011/07/03/org-charts-of-the-big-tech-companies-plus-an-enhancement/" TargetMode="Externa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0" Type="http://schemas.openxmlformats.org/officeDocument/2006/relationships/notesSlide" Target="../notesSlides/notesSlide45.xml"/><Relationship Id="rId2" Type="http://schemas.openxmlformats.org/officeDocument/2006/relationships/tags" Target="../tags/tag6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22.xml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/>
          </p:cNvSpPr>
          <p:nvPr>
            <p:ph type="ctrTitle"/>
          </p:nvPr>
        </p:nvSpPr>
        <p:spPr>
          <a:xfrm>
            <a:off x="500063" y="1158875"/>
            <a:ext cx="8143875" cy="568325"/>
          </a:xfrm>
        </p:spPr>
        <p:txBody>
          <a:bodyPr/>
          <a:lstStyle/>
          <a:p>
            <a:pPr eaLnBrk="1">
              <a:lnSpc>
                <a:spcPct val="80000"/>
              </a:lnSpc>
            </a:pPr>
            <a:r>
              <a:rPr lang="en-US" altLang="en-US" sz="2800" dirty="0"/>
              <a:t>DTS207TC Database Development and Design</a:t>
            </a:r>
            <a:endParaRPr lang="en-US" altLang="en-US" sz="2800" dirty="0"/>
          </a:p>
        </p:txBody>
      </p:sp>
      <p:sp>
        <p:nvSpPr>
          <p:cNvPr id="2051" name="Rectangle 2"/>
          <p:cNvSpPr>
            <a:spLocks noGrp="1"/>
          </p:cNvSpPr>
          <p:nvPr>
            <p:ph type="subTitle" sz="quarter" idx="1"/>
          </p:nvPr>
        </p:nvSpPr>
        <p:spPr>
          <a:xfrm>
            <a:off x="500063" y="2428240"/>
            <a:ext cx="8143875" cy="385763"/>
          </a:xfrm>
        </p:spPr>
        <p:txBody>
          <a:bodyPr/>
          <a:lstStyle/>
          <a:p>
            <a:pPr defTabSz="365125" eaLnBrk="1">
              <a:spcBef>
                <a:spcPct val="0"/>
              </a:spcBef>
              <a:buSzTx/>
            </a:pPr>
            <a:r>
              <a:rPr lang="en-US" altLang="zh-CN" sz="2800" b="1" dirty="0">
                <a:solidFill>
                  <a:srgbClr val="AE0428"/>
                </a:solidFill>
                <a:ea typeface="宋体" panose="02010600030101010101" pitchFamily="2" charset="-122"/>
                <a:sym typeface="+mn-ea"/>
              </a:rPr>
              <a:t>Lecture 4 XML</a:t>
            </a:r>
            <a:endParaRPr lang="en-US" altLang="zh-CN" sz="2800" b="1" dirty="0">
              <a:solidFill>
                <a:srgbClr val="AE0428"/>
              </a:solidFill>
              <a:ea typeface="宋体" panose="02010600030101010101" pitchFamily="2" charset="-122"/>
            </a:endParaRPr>
          </a:p>
          <a:p>
            <a:pPr algn="ctr" defTabSz="365125" eaLnBrk="1">
              <a:buClrTx/>
              <a:buSzTx/>
              <a:buFontTx/>
            </a:pPr>
            <a:r>
              <a:rPr lang="en-US" altLang="zh-CN" b="1" dirty="0">
                <a:solidFill>
                  <a:srgbClr val="AE0428"/>
                </a:solidFill>
                <a:ea typeface="宋体" panose="02010600030101010101" pitchFamily="2" charset="-122"/>
                <a:sym typeface="+mn-ea"/>
              </a:rPr>
              <a:t>Chap 30 textbook</a:t>
            </a:r>
            <a:endParaRPr lang="en-US" altLang="zh-CN" b="1" dirty="0">
              <a:solidFill>
                <a:srgbClr val="AE0428"/>
              </a:solidFill>
              <a:ea typeface="宋体" panose="02010600030101010101" pitchFamily="2" charset="-122"/>
              <a:sym typeface="+mn-ea"/>
            </a:endParaRPr>
          </a:p>
        </p:txBody>
      </p:sp>
      <p:sp>
        <p:nvSpPr>
          <p:cNvPr id="2052" name="Text Box 3"/>
          <p:cNvSpPr txBox="1"/>
          <p:nvPr/>
        </p:nvSpPr>
        <p:spPr bwMode="auto">
          <a:xfrm>
            <a:off x="500063" y="4435475"/>
            <a:ext cx="8143875" cy="22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1886" tIns="31886" rIns="31886" bIns="31886"/>
          <a:lstStyle>
            <a:lvl1pPr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1pPr>
            <a:lvl2pPr marL="742950" indent="-28575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2pPr>
            <a:lvl3pPr marL="1143000" indent="-22860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3pPr>
            <a:lvl4pPr marL="1600200" indent="-22860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4pPr>
            <a:lvl5pPr marL="2057400" indent="-22860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5pPr>
            <a:lvl6pPr marL="25146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6pPr>
            <a:lvl7pPr marL="29718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7pPr>
            <a:lvl8pPr marL="34290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8pPr>
            <a:lvl9pPr marL="38862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9pPr>
          </a:lstStyle>
          <a:p>
            <a:pPr algn="ctr" eaLnBrk="1"/>
            <a:r>
              <a:rPr lang="en-US" altLang="zh-CN" sz="1200">
                <a:latin typeface="Helvetica" panose="020B0604020202020204" pitchFamily="34" charset="0"/>
                <a:ea typeface="宋体" panose="02010600030101010101" pitchFamily="2" charset="-122"/>
                <a:sym typeface="Helvetica" panose="020B0604020202020204" pitchFamily="34" charset="0"/>
              </a:rPr>
              <a:t>Di Zhang</a:t>
            </a:r>
            <a:r>
              <a:rPr lang="en-US" altLang="en-US" sz="1200"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rPr>
              <a:t>, Autumn 2025</a:t>
            </a:r>
            <a:endParaRPr lang="en-US" altLang="en-US" sz="1200">
              <a:latin typeface="Helvetica" panose="020B0604020202020204" pitchFamily="34" charset="0"/>
              <a:ea typeface="Helvetica" panose="020B0604020202020204" pitchFamily="34" charset="0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79140" y="4832350"/>
            <a:ext cx="304800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>
                <a:solidFill>
                  <a:srgbClr val="AE0428"/>
                </a:solidFill>
                <a:ea typeface="宋体" panose="02010600030101010101" pitchFamily="2" charset="-122"/>
                <a:sym typeface="+mn-ea"/>
              </a:rPr>
              <a:t>Page titles with * will not be assessed</a:t>
            </a:r>
            <a:endParaRPr lang="zh-CN" altLang="en-US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*Analog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7980" y="4639310"/>
            <a:ext cx="8446770" cy="488315"/>
          </a:xfrm>
        </p:spPr>
        <p:txBody>
          <a:bodyPr/>
          <a:p>
            <a:r>
              <a:rPr lang="en-US" altLang="zh-CN"/>
              <a:t>Possible patterns: Array</a:t>
            </a:r>
            <a:r>
              <a:rPr lang="en-US">
                <a:ea typeface="宋体" panose="02010600030101010101" pitchFamily="2" charset="-122"/>
              </a:rPr>
              <a:t>, </a:t>
            </a:r>
            <a:r>
              <a:rPr lang="en-US" altLang="zh-CN">
                <a:ea typeface="宋体" panose="02010600030101010101" pitchFamily="2" charset="-122"/>
              </a:rPr>
              <a:t>Tree, Graph. Nothing else!</a:t>
            </a:r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rcRect b="9889"/>
          <a:stretch>
            <a:fillRect/>
          </a:stretch>
        </p:blipFill>
        <p:spPr>
          <a:xfrm>
            <a:off x="1190625" y="771525"/>
            <a:ext cx="6673215" cy="36645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Outline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dirty="0">
                <a:sym typeface="+mn-ea"/>
              </a:rPr>
              <a:t>Semi-Structured Data</a:t>
            </a:r>
            <a:endParaRPr lang="en-US" altLang="en-US" dirty="0"/>
          </a:p>
          <a:p>
            <a:r>
              <a:rPr lang="en-US" altLang="en-US" dirty="0"/>
              <a:t>XML</a:t>
            </a:r>
            <a:endParaRPr lang="en-US" altLang="en-US" dirty="0"/>
          </a:p>
          <a:p>
            <a:pPr lvl="1"/>
            <a:r>
              <a:rPr lang="en-US" altLang="en-US" dirty="0"/>
              <a:t>Introduction</a:t>
            </a:r>
            <a:endParaRPr lang="en-US" altLang="en-US" dirty="0"/>
          </a:p>
          <a:p>
            <a:pPr lvl="1"/>
            <a:r>
              <a:rPr lang="en-US" altLang="en-US" dirty="0"/>
              <a:t>Structure</a:t>
            </a:r>
            <a:endParaRPr lang="en-US" altLang="en-US" dirty="0"/>
          </a:p>
          <a:p>
            <a:pPr lvl="1"/>
            <a:r>
              <a:rPr lang="en-US" altLang="en-US" dirty="0"/>
              <a:t>Schema</a:t>
            </a:r>
            <a:endParaRPr lang="en-US" altLang="en-US" dirty="0"/>
          </a:p>
          <a:p>
            <a:pPr lvl="1"/>
            <a:r>
              <a:rPr lang="en-US" altLang="en-US" dirty="0"/>
              <a:t>Query</a:t>
            </a:r>
            <a:endParaRPr lang="en-US" altLang="en-US" dirty="0"/>
          </a:p>
          <a:p>
            <a:pPr lvl="1"/>
            <a:r>
              <a:rPr lang="en-US" altLang="en-US" dirty="0"/>
              <a:t>API</a:t>
            </a:r>
            <a:endParaRPr lang="en-US" altLang="en-US" dirty="0"/>
          </a:p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3131820" y="915670"/>
            <a:ext cx="5420995" cy="3571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Semi-Structured Data</a:t>
            </a:r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642369" y="826873"/>
            <a:ext cx="5307072" cy="3315359"/>
          </a:xfrm>
        </p:spPr>
        <p:txBody>
          <a:bodyPr/>
          <a:lstStyle/>
          <a:p>
            <a:r>
              <a:rPr lang="en-US" altLang="en-US" sz="1400" dirty="0"/>
              <a:t>Many applications require storage of complex data, whose schema changes often</a:t>
            </a:r>
            <a:endParaRPr lang="en-US" altLang="en-US" sz="1400" dirty="0"/>
          </a:p>
          <a:p>
            <a:r>
              <a:rPr lang="en-US" altLang="en-US" sz="1400" dirty="0"/>
              <a:t>The relational model’s requirement of atomic data types may be an overkill</a:t>
            </a:r>
            <a:endParaRPr lang="en-US" altLang="en-US" sz="1400" dirty="0"/>
          </a:p>
          <a:p>
            <a:pPr lvl="1"/>
            <a:r>
              <a:rPr lang="en-US" altLang="en-US" sz="1400" dirty="0"/>
              <a:t>E.g., storing set of interests as a set-valued attribute of a user profile may be simpler than normalizing it</a:t>
            </a:r>
            <a:endParaRPr lang="en-US" altLang="en-US" sz="1400" dirty="0"/>
          </a:p>
          <a:p>
            <a:r>
              <a:rPr lang="en-US" altLang="en-US" sz="1400" dirty="0"/>
              <a:t> Data exchange can benefit greatly from semi-structured data</a:t>
            </a:r>
            <a:endParaRPr lang="en-US" altLang="en-US" sz="1400" dirty="0"/>
          </a:p>
          <a:p>
            <a:pPr lvl="1"/>
            <a:r>
              <a:rPr lang="en-US" altLang="en-US" sz="1400" dirty="0"/>
              <a:t>Exchange can be between applications, or between back-end and front-end of an application</a:t>
            </a:r>
            <a:endParaRPr lang="en-US" altLang="en-US" sz="1400" dirty="0"/>
          </a:p>
          <a:p>
            <a:pPr lvl="1"/>
            <a:r>
              <a:rPr lang="en-US" altLang="en-US" sz="1400" dirty="0"/>
              <a:t>Web-services are widely used today, with complex data fetched to the front-end and displayed using a mobile app or JavaScript</a:t>
            </a:r>
            <a:endParaRPr lang="en-US" altLang="en-US" sz="1400" dirty="0"/>
          </a:p>
          <a:p>
            <a:endParaRPr lang="en-US" alt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673" y="164592"/>
            <a:ext cx="6229557" cy="402335"/>
          </a:xfrm>
        </p:spPr>
        <p:txBody>
          <a:bodyPr/>
          <a:lstStyle/>
          <a:p>
            <a:r>
              <a:rPr lang="en-IN" sz="2400" dirty="0"/>
              <a:t>Features of Semi-Structured Data Models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57" y="826873"/>
            <a:ext cx="5864055" cy="3955439"/>
          </a:xfrm>
        </p:spPr>
        <p:txBody>
          <a:bodyPr/>
          <a:lstStyle/>
          <a:p>
            <a:r>
              <a:rPr lang="en-IN" sz="1000" b="1" dirty="0">
                <a:solidFill>
                  <a:srgbClr val="002060"/>
                </a:solidFill>
              </a:rPr>
              <a:t>Flexible schema</a:t>
            </a:r>
            <a:endParaRPr lang="en-IN" sz="1000" b="1" dirty="0">
              <a:solidFill>
                <a:srgbClr val="002060"/>
              </a:solidFill>
            </a:endParaRPr>
          </a:p>
          <a:p>
            <a:pPr lvl="1"/>
            <a:r>
              <a:rPr lang="en-IN" sz="1000" b="1" dirty="0">
                <a:solidFill>
                  <a:srgbClr val="002060"/>
                </a:solidFill>
              </a:rPr>
              <a:t>Wide column</a:t>
            </a:r>
            <a:r>
              <a:rPr lang="en-IN" sz="1000" dirty="0"/>
              <a:t> representation: allow each tuple to have a different set of attributes, can add new attributes at any time</a:t>
            </a:r>
            <a:endParaRPr lang="en-IN" sz="1000" dirty="0"/>
          </a:p>
          <a:p>
            <a:pPr lvl="1"/>
            <a:r>
              <a:rPr lang="en-IN" sz="1000" b="1" dirty="0">
                <a:solidFill>
                  <a:srgbClr val="002060"/>
                </a:solidFill>
              </a:rPr>
              <a:t>Sparse column </a:t>
            </a:r>
            <a:r>
              <a:rPr lang="en-IN" sz="1000" dirty="0"/>
              <a:t>representation: schema has a fixed but large set of attributes, by each tuple may store only a subset</a:t>
            </a:r>
            <a:endParaRPr lang="en-IN" sz="1000" dirty="0"/>
          </a:p>
          <a:p>
            <a:r>
              <a:rPr lang="en-IN" sz="1000" b="1" dirty="0">
                <a:solidFill>
                  <a:srgbClr val="002060"/>
                </a:solidFill>
              </a:rPr>
              <a:t>Multivalued data types</a:t>
            </a:r>
            <a:endParaRPr lang="en-IN" sz="1000" b="1" dirty="0">
              <a:solidFill>
                <a:srgbClr val="002060"/>
              </a:solidFill>
            </a:endParaRPr>
          </a:p>
          <a:p>
            <a:pPr lvl="1"/>
            <a:r>
              <a:rPr lang="en-IN" sz="1000" b="1" dirty="0">
                <a:solidFill>
                  <a:srgbClr val="002060"/>
                </a:solidFill>
              </a:rPr>
              <a:t>Sets</a:t>
            </a:r>
            <a:r>
              <a:rPr lang="en-IN" sz="1000" dirty="0">
                <a:solidFill>
                  <a:srgbClr val="002060"/>
                </a:solidFill>
              </a:rPr>
              <a:t>, </a:t>
            </a:r>
            <a:r>
              <a:rPr lang="en-IN" sz="1000" b="1" dirty="0">
                <a:solidFill>
                  <a:srgbClr val="002060"/>
                </a:solidFill>
              </a:rPr>
              <a:t>multisets</a:t>
            </a:r>
            <a:endParaRPr lang="en-IN" sz="1000" b="1" dirty="0">
              <a:solidFill>
                <a:srgbClr val="002060"/>
              </a:solidFill>
            </a:endParaRPr>
          </a:p>
          <a:p>
            <a:pPr lvl="2"/>
            <a:r>
              <a:rPr lang="en-IN" sz="1000" dirty="0"/>
              <a:t>E.g</a:t>
            </a:r>
            <a:r>
              <a:rPr lang="en-IN" sz="1000" dirty="0" smtClean="0"/>
              <a:t>.,: </a:t>
            </a:r>
            <a:r>
              <a:rPr lang="en-IN" sz="1000" dirty="0"/>
              <a:t>set of interests {‘basketball, ‘La Liga’, ‘cooking’, ‘anime’, ‘jazz’}</a:t>
            </a:r>
            <a:endParaRPr lang="en-IN" sz="1000" dirty="0"/>
          </a:p>
          <a:p>
            <a:pPr lvl="1"/>
            <a:r>
              <a:rPr lang="en-IN" sz="1000" b="1" dirty="0">
                <a:solidFill>
                  <a:srgbClr val="002060"/>
                </a:solidFill>
              </a:rPr>
              <a:t>Key-value map</a:t>
            </a:r>
            <a:r>
              <a:rPr lang="en-IN" sz="1000" dirty="0"/>
              <a:t> (or just </a:t>
            </a:r>
            <a:r>
              <a:rPr lang="en-IN" sz="1000" b="1" dirty="0">
                <a:solidFill>
                  <a:srgbClr val="002060"/>
                </a:solidFill>
              </a:rPr>
              <a:t>map</a:t>
            </a:r>
            <a:r>
              <a:rPr lang="en-IN" sz="1000" dirty="0"/>
              <a:t> for short)</a:t>
            </a:r>
            <a:endParaRPr lang="en-IN" sz="1000" dirty="0"/>
          </a:p>
          <a:p>
            <a:pPr lvl="2"/>
            <a:r>
              <a:rPr lang="en-IN" sz="1000" dirty="0"/>
              <a:t>Store a set of key-value pairs</a:t>
            </a:r>
            <a:endParaRPr lang="en-IN" sz="1000" dirty="0"/>
          </a:p>
          <a:p>
            <a:pPr lvl="2"/>
            <a:r>
              <a:rPr lang="en-IN" sz="1000" dirty="0"/>
              <a:t>E.g</a:t>
            </a:r>
            <a:r>
              <a:rPr lang="en-IN" sz="1000" dirty="0" smtClean="0"/>
              <a:t>., </a:t>
            </a:r>
            <a:r>
              <a:rPr lang="en-IN" sz="1000" dirty="0"/>
              <a:t>{(brand, Apple), (ID, MacBook Air), (size, 13), (</a:t>
            </a:r>
            <a:r>
              <a:rPr lang="en-IN" sz="1000" dirty="0" err="1"/>
              <a:t>color</a:t>
            </a:r>
            <a:r>
              <a:rPr lang="en-IN" sz="1000" dirty="0"/>
              <a:t>, silver)}</a:t>
            </a:r>
            <a:endParaRPr lang="en-IN" sz="1000" dirty="0"/>
          </a:p>
          <a:p>
            <a:pPr lvl="2"/>
            <a:r>
              <a:rPr lang="en-IN" sz="1000" dirty="0"/>
              <a:t>Operations on maps:  </a:t>
            </a:r>
            <a:r>
              <a:rPr lang="en-IN" sz="1000" i="1" dirty="0"/>
              <a:t>put</a:t>
            </a:r>
            <a:r>
              <a:rPr lang="en-IN" sz="1000" dirty="0"/>
              <a:t>(key, value), </a:t>
            </a:r>
            <a:r>
              <a:rPr lang="en-IN" sz="1000" i="1" dirty="0"/>
              <a:t>get</a:t>
            </a:r>
            <a:r>
              <a:rPr lang="en-IN" sz="1000" dirty="0"/>
              <a:t>(key), </a:t>
            </a:r>
            <a:r>
              <a:rPr lang="en-IN" sz="1000" i="1" dirty="0"/>
              <a:t>delete</a:t>
            </a:r>
            <a:r>
              <a:rPr lang="en-IN" sz="1000" dirty="0"/>
              <a:t>(key)</a:t>
            </a:r>
            <a:endParaRPr lang="en-IN" sz="1000" dirty="0"/>
          </a:p>
          <a:p>
            <a:pPr lvl="1"/>
            <a:r>
              <a:rPr lang="en-IN" sz="1000" dirty="0">
                <a:solidFill>
                  <a:srgbClr val="002060"/>
                </a:solidFill>
              </a:rPr>
              <a:t>, </a:t>
            </a:r>
            <a:r>
              <a:rPr lang="en-IN" sz="1000" b="1" dirty="0">
                <a:solidFill>
                  <a:srgbClr val="002060"/>
                </a:solidFill>
              </a:rPr>
              <a:t>Arrays </a:t>
            </a:r>
            <a:endParaRPr lang="en-IN" sz="1000" b="1" dirty="0">
              <a:solidFill>
                <a:srgbClr val="002060"/>
              </a:solidFill>
            </a:endParaRPr>
          </a:p>
          <a:p>
            <a:pPr lvl="2"/>
            <a:r>
              <a:rPr lang="en-IN" sz="1000" dirty="0"/>
              <a:t>Widely used for scientific and monitoring applications</a:t>
            </a:r>
            <a:endParaRPr lang="en-IN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428" y="82296"/>
            <a:ext cx="6229557" cy="448055"/>
          </a:xfrm>
        </p:spPr>
        <p:txBody>
          <a:bodyPr/>
          <a:lstStyle/>
          <a:p>
            <a:r>
              <a:rPr lang="en-IN" sz="2400" dirty="0"/>
              <a:t>Features of Semi-Structured Data Models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411" y="826873"/>
            <a:ext cx="6161426" cy="3022751"/>
          </a:xfrm>
        </p:spPr>
        <p:txBody>
          <a:bodyPr/>
          <a:lstStyle/>
          <a:p>
            <a:r>
              <a:rPr lang="en-IN" sz="1400" b="1" dirty="0">
                <a:solidFill>
                  <a:srgbClr val="002060"/>
                </a:solidFill>
              </a:rPr>
              <a:t>Arrays </a:t>
            </a:r>
            <a:endParaRPr lang="en-IN" sz="1400" b="1" dirty="0">
              <a:solidFill>
                <a:srgbClr val="002060"/>
              </a:solidFill>
            </a:endParaRPr>
          </a:p>
          <a:p>
            <a:pPr lvl="1"/>
            <a:r>
              <a:rPr lang="en-IN" sz="1400" dirty="0"/>
              <a:t>Widely used for scientific and monitoring applications</a:t>
            </a:r>
            <a:endParaRPr lang="en-IN" sz="1400" dirty="0"/>
          </a:p>
          <a:p>
            <a:pPr lvl="1"/>
            <a:r>
              <a:rPr lang="en-IN" sz="1400" dirty="0"/>
              <a:t>E.g</a:t>
            </a:r>
            <a:r>
              <a:rPr lang="en-IN" sz="1400" dirty="0" smtClean="0"/>
              <a:t>., </a:t>
            </a:r>
            <a:r>
              <a:rPr lang="en-IN" sz="1400" dirty="0"/>
              <a:t>readings taken at regular intervals can be represented as array of values instead of (time, value) pairs</a:t>
            </a:r>
            <a:endParaRPr lang="en-IN" sz="1400" dirty="0"/>
          </a:p>
          <a:p>
            <a:pPr lvl="2"/>
            <a:r>
              <a:rPr lang="en-IN" sz="1400" dirty="0"/>
              <a:t>[5, 8, 9, 11] instead of {(1,5), (2, 8), (3, 9), (4, 11)}</a:t>
            </a:r>
            <a:endParaRPr lang="en-IN" sz="1400" dirty="0"/>
          </a:p>
          <a:p>
            <a:r>
              <a:rPr lang="en-IN" sz="1400" dirty="0"/>
              <a:t>Multi-valued attribute types </a:t>
            </a:r>
            <a:endParaRPr lang="en-IN" sz="1400" dirty="0"/>
          </a:p>
          <a:p>
            <a:pPr lvl="1"/>
            <a:r>
              <a:rPr lang="en-IN" sz="1400" dirty="0"/>
              <a:t>Modeled using </a:t>
            </a:r>
            <a:r>
              <a:rPr lang="en-IN" sz="1400" i="1" dirty="0"/>
              <a:t>non first-normal-form </a:t>
            </a:r>
            <a:r>
              <a:rPr lang="en-IN" sz="1400" dirty="0"/>
              <a:t>(</a:t>
            </a:r>
            <a:r>
              <a:rPr lang="en-IN" sz="1400" i="1" dirty="0"/>
              <a:t>NFNF</a:t>
            </a:r>
            <a:r>
              <a:rPr lang="en-IN" sz="1400" dirty="0"/>
              <a:t>) data model</a:t>
            </a:r>
            <a:endParaRPr lang="en-IN" sz="1400" dirty="0"/>
          </a:p>
          <a:p>
            <a:pPr lvl="1"/>
            <a:endParaRPr lang="en-IN" sz="1400" dirty="0"/>
          </a:p>
          <a:p>
            <a:pPr lvl="1"/>
            <a:r>
              <a:rPr lang="en-US" altLang="en-IN" sz="1400" dirty="0"/>
              <a:t>Json</a:t>
            </a:r>
            <a:endParaRPr lang="en-IN" sz="1400" dirty="0"/>
          </a:p>
          <a:p>
            <a:pPr lvl="1"/>
            <a:endParaRPr lang="en-IN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  <a:endParaRPr lang="en-US"/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8" y="857250"/>
            <a:ext cx="5669178" cy="3907631"/>
          </a:xfrm>
        </p:spPr>
        <p:txBody>
          <a:bodyPr/>
          <a:lstStyle/>
          <a:p>
            <a:r>
              <a:rPr lang="en-US" sz="1600" dirty="0"/>
              <a:t>XML:  Extensible Markup Language</a:t>
            </a:r>
            <a:endParaRPr lang="en-US" sz="1600" dirty="0"/>
          </a:p>
          <a:p>
            <a:r>
              <a:rPr lang="en-US" sz="1600" dirty="0"/>
              <a:t>Defined by the WWW Consortium (W3C)</a:t>
            </a:r>
            <a:endParaRPr lang="en-US" sz="1600" dirty="0"/>
          </a:p>
          <a:p>
            <a:r>
              <a:rPr lang="en-US" sz="1600" dirty="0"/>
              <a:t>Derived from SGML (Standard Generalized Markup Language), but simpler to use than SGML </a:t>
            </a:r>
            <a:endParaRPr lang="en-US" sz="1600" dirty="0"/>
          </a:p>
          <a:p>
            <a:r>
              <a:rPr lang="en-US" sz="1600" dirty="0"/>
              <a:t>Documents have tags giving extra information about sections of the document</a:t>
            </a:r>
            <a:endParaRPr lang="en-US" sz="1600" dirty="0"/>
          </a:p>
          <a:p>
            <a:pPr lvl="1"/>
            <a:r>
              <a:rPr lang="en-US" sz="1600" dirty="0"/>
              <a:t>E.g.,  </a:t>
            </a:r>
            <a:r>
              <a:rPr lang="en-US" sz="1600" dirty="0">
                <a:solidFill>
                  <a:srgbClr val="993300"/>
                </a:solidFill>
              </a:rPr>
              <a:t>&lt;title&gt; XML &lt;/title&gt;  &lt;slide&gt; Introduction …&lt;/slide&gt;</a:t>
            </a:r>
            <a:endParaRPr lang="en-US" sz="1600" dirty="0">
              <a:solidFill>
                <a:srgbClr val="993300"/>
              </a:solidFill>
            </a:endParaRPr>
          </a:p>
          <a:p>
            <a:r>
              <a:rPr lang="en-US" sz="1600" b="1" dirty="0"/>
              <a:t>Extensible</a:t>
            </a:r>
            <a:r>
              <a:rPr lang="en-US" sz="1600" dirty="0"/>
              <a:t>, unlike HTML</a:t>
            </a:r>
            <a:endParaRPr lang="en-US" sz="1600" dirty="0"/>
          </a:p>
          <a:p>
            <a:pPr lvl="1"/>
            <a:r>
              <a:rPr lang="en-US" sz="1600" dirty="0"/>
              <a:t>Users can add new tags, and </a:t>
            </a:r>
            <a:r>
              <a:rPr lang="en-US" sz="1600" i="1" dirty="0"/>
              <a:t>separately</a:t>
            </a:r>
            <a:r>
              <a:rPr lang="en-US" sz="1600" dirty="0"/>
              <a:t> specify how the tag should be handled for display</a:t>
            </a:r>
            <a:endParaRPr lang="en-US" sz="1600" dirty="0"/>
          </a:p>
          <a:p>
            <a:pPr>
              <a:buFont typeface="Monotype Sorts" pitchFamily="-65" charset="2"/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XML Introduction (Cont.)</a:t>
            </a:r>
            <a:endParaRPr lang="en-US"/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8" y="857250"/>
            <a:ext cx="5629229" cy="3907631"/>
          </a:xfrm>
        </p:spPr>
        <p:txBody>
          <a:bodyPr/>
          <a:lstStyle/>
          <a:p>
            <a:r>
              <a:rPr lang="en-US" sz="1200" dirty="0"/>
              <a:t>The ability to specify new tags, and to create nested tag structures make XML a great way to exchange </a:t>
            </a:r>
            <a:r>
              <a:rPr lang="en-US" sz="1200" b="1" dirty="0"/>
              <a:t>data</a:t>
            </a:r>
            <a:r>
              <a:rPr lang="en-US" sz="1200" dirty="0"/>
              <a:t>, not just documents.</a:t>
            </a:r>
            <a:endParaRPr lang="en-US" sz="1200" dirty="0"/>
          </a:p>
          <a:p>
            <a:pPr lvl="1"/>
            <a:r>
              <a:rPr lang="en-US" sz="1200" dirty="0"/>
              <a:t>Much of the use of XML has been in data exchange applications, not as a replacement for HTML</a:t>
            </a:r>
            <a:endParaRPr lang="en-US" sz="1200" dirty="0"/>
          </a:p>
          <a:p>
            <a:r>
              <a:rPr lang="en-US" sz="1200" dirty="0"/>
              <a:t>Tags make data (relatively) self-documenting </a:t>
            </a:r>
            <a:endParaRPr lang="en-US" sz="1200" dirty="0"/>
          </a:p>
          <a:p>
            <a:pPr lvl="1"/>
            <a:r>
              <a:rPr lang="en-US" sz="1200" dirty="0"/>
              <a:t>E.g.,</a:t>
            </a:r>
            <a:br>
              <a:rPr lang="en-US" sz="1200" dirty="0"/>
            </a:br>
            <a:r>
              <a:rPr lang="en-US" sz="1200" dirty="0"/>
              <a:t>     </a:t>
            </a:r>
            <a:r>
              <a:rPr lang="en-US" sz="1200" dirty="0">
                <a:solidFill>
                  <a:srgbClr val="993300"/>
                </a:solidFill>
              </a:rPr>
              <a:t>&lt;university&gt;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       &lt;department&gt;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          &lt;</a:t>
            </a:r>
            <a:r>
              <a:rPr lang="en-US" sz="1200" dirty="0" err="1">
                <a:solidFill>
                  <a:srgbClr val="993300"/>
                </a:solidFill>
              </a:rPr>
              <a:t>dept_name</a:t>
            </a:r>
            <a:r>
              <a:rPr lang="en-US" sz="1200" dirty="0">
                <a:solidFill>
                  <a:srgbClr val="993300"/>
                </a:solidFill>
              </a:rPr>
              <a:t>&gt; Comp. Sci. &lt;/</a:t>
            </a:r>
            <a:r>
              <a:rPr lang="en-US" sz="1200" dirty="0" err="1">
                <a:solidFill>
                  <a:srgbClr val="993300"/>
                </a:solidFill>
              </a:rPr>
              <a:t>dept_name</a:t>
            </a:r>
            <a:r>
              <a:rPr lang="en-US" sz="1200" dirty="0">
                <a:solidFill>
                  <a:srgbClr val="993300"/>
                </a:solidFill>
              </a:rPr>
              <a:t>&gt;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          &lt;building&gt; Taylor &lt;/building&gt;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          &lt;budget&gt; 100000 &lt;/budget&gt;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      &lt;/department&gt;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      &lt;course&gt;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           &lt;</a:t>
            </a:r>
            <a:r>
              <a:rPr lang="en-US" sz="1200" dirty="0" err="1">
                <a:solidFill>
                  <a:srgbClr val="993300"/>
                </a:solidFill>
              </a:rPr>
              <a:t>course_id</a:t>
            </a:r>
            <a:r>
              <a:rPr lang="en-US" sz="1200" dirty="0">
                <a:solidFill>
                  <a:srgbClr val="993300"/>
                </a:solidFill>
              </a:rPr>
              <a:t>&gt; CS-101 &lt;/</a:t>
            </a:r>
            <a:r>
              <a:rPr lang="en-US" sz="1200" dirty="0" err="1">
                <a:solidFill>
                  <a:srgbClr val="993300"/>
                </a:solidFill>
              </a:rPr>
              <a:t>course_id</a:t>
            </a:r>
            <a:r>
              <a:rPr lang="en-US" sz="1200" dirty="0">
                <a:solidFill>
                  <a:srgbClr val="993300"/>
                </a:solidFill>
              </a:rPr>
              <a:t>&gt;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           &lt;title&gt; Intro. to Computer Science &lt;/title&gt;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           &lt;</a:t>
            </a:r>
            <a:r>
              <a:rPr lang="en-US" sz="1200" dirty="0" err="1">
                <a:solidFill>
                  <a:srgbClr val="993300"/>
                </a:solidFill>
              </a:rPr>
              <a:t>dept_name</a:t>
            </a:r>
            <a:r>
              <a:rPr lang="en-US" sz="1200" dirty="0">
                <a:solidFill>
                  <a:srgbClr val="993300"/>
                </a:solidFill>
              </a:rPr>
              <a:t>&gt; Comp. Sci &lt;/</a:t>
            </a:r>
            <a:r>
              <a:rPr lang="en-US" sz="1200" dirty="0" err="1">
                <a:solidFill>
                  <a:srgbClr val="993300"/>
                </a:solidFill>
              </a:rPr>
              <a:t>dept_name</a:t>
            </a:r>
            <a:r>
              <a:rPr lang="en-US" sz="1200" dirty="0">
                <a:solidFill>
                  <a:srgbClr val="993300"/>
                </a:solidFill>
              </a:rPr>
              <a:t>&gt;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           &lt;credits&gt; 4 &lt;/credits&gt;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       &lt;/course&gt;</a:t>
            </a:r>
            <a:endParaRPr lang="en-US" sz="1200" dirty="0">
              <a:solidFill>
                <a:srgbClr val="993300"/>
              </a:solidFill>
            </a:endParaRPr>
          </a:p>
          <a:p>
            <a:pPr lvl="1">
              <a:buFont typeface="Monotype Sorts" pitchFamily="-65" charset="2"/>
              <a:buNone/>
            </a:pPr>
            <a:r>
              <a:rPr lang="en-US" sz="1200" dirty="0">
                <a:solidFill>
                  <a:srgbClr val="993300"/>
                </a:solidFill>
              </a:rPr>
              <a:t>          &lt;/university&gt;</a:t>
            </a:r>
            <a:endParaRPr lang="en-US" sz="1200" dirty="0">
              <a:solidFill>
                <a:srgbClr val="993300"/>
              </a:solidFill>
            </a:endParaRPr>
          </a:p>
          <a:p>
            <a:pPr>
              <a:lnSpc>
                <a:spcPct val="70000"/>
              </a:lnSpc>
              <a:buFont typeface="Monotype Sorts" pitchFamily="-65" charset="2"/>
              <a:buNone/>
            </a:pPr>
            <a:endParaRPr lang="en-US" sz="1200" dirty="0">
              <a:solidFill>
                <a:srgbClr val="9933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XML: Motivation</a:t>
            </a:r>
            <a:endParaRPr lang="en-US"/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183" y="857250"/>
            <a:ext cx="5815660" cy="3850481"/>
          </a:xfrm>
        </p:spPr>
        <p:txBody>
          <a:bodyPr/>
          <a:lstStyle/>
          <a:p>
            <a:r>
              <a:rPr lang="en-US" sz="1400" dirty="0"/>
              <a:t>Data interchange is critical in today’s networked world</a:t>
            </a:r>
            <a:endParaRPr lang="en-US" sz="1400" dirty="0"/>
          </a:p>
          <a:p>
            <a:pPr lvl="1"/>
            <a:r>
              <a:rPr lang="en-US" sz="1400" dirty="0"/>
              <a:t>Examples:</a:t>
            </a:r>
            <a:endParaRPr lang="en-US" sz="1400" dirty="0"/>
          </a:p>
          <a:p>
            <a:pPr lvl="2"/>
            <a:r>
              <a:rPr lang="en-US" sz="1400" dirty="0"/>
              <a:t>Banking:  funds transfer</a:t>
            </a:r>
            <a:endParaRPr lang="en-US" sz="1400" dirty="0"/>
          </a:p>
          <a:p>
            <a:pPr lvl="2"/>
            <a:r>
              <a:rPr lang="en-US" sz="1400" dirty="0"/>
              <a:t>Order processing (especially inter-company orders)</a:t>
            </a:r>
            <a:endParaRPr lang="en-US" sz="1400" dirty="0"/>
          </a:p>
          <a:p>
            <a:pPr lvl="2"/>
            <a:r>
              <a:rPr lang="en-US" sz="1400" dirty="0"/>
              <a:t>Scientific data</a:t>
            </a:r>
            <a:endParaRPr lang="en-US" sz="1400" dirty="0"/>
          </a:p>
          <a:p>
            <a:pPr lvl="3"/>
            <a:r>
              <a:rPr lang="en-US" sz="1400" dirty="0"/>
              <a:t>Chemistry:  </a:t>
            </a:r>
            <a:r>
              <a:rPr lang="en-US" sz="1400" dirty="0" err="1"/>
              <a:t>ChemML</a:t>
            </a:r>
            <a:r>
              <a:rPr lang="en-US" sz="1400" dirty="0"/>
              <a:t>, …</a:t>
            </a:r>
            <a:endParaRPr lang="en-US" sz="1400" dirty="0"/>
          </a:p>
          <a:p>
            <a:pPr lvl="3"/>
            <a:r>
              <a:rPr lang="en-US" sz="1400" dirty="0"/>
              <a:t>Genetics:    BSML (Bio-Sequence Markup Language), …</a:t>
            </a:r>
            <a:endParaRPr lang="en-US" sz="1400" dirty="0"/>
          </a:p>
          <a:p>
            <a:pPr lvl="1"/>
            <a:r>
              <a:rPr lang="en-US" sz="1400" dirty="0"/>
              <a:t>Paper flow of information between organizations is being replaced by electronic flow of information</a:t>
            </a:r>
            <a:endParaRPr lang="en-US" sz="1400" dirty="0"/>
          </a:p>
          <a:p>
            <a:r>
              <a:rPr lang="en-US" sz="1400" dirty="0"/>
              <a:t>Each application area has its own set of standards for representing information</a:t>
            </a:r>
            <a:endParaRPr lang="en-US" sz="1400" dirty="0"/>
          </a:p>
          <a:p>
            <a:r>
              <a:rPr lang="en-US" sz="1400" dirty="0"/>
              <a:t>XML has become the basis for all new generation data interchange formats</a:t>
            </a:r>
            <a:endParaRPr lang="en-US" sz="1400" dirty="0"/>
          </a:p>
        </p:txBody>
      </p:sp>
      <p:pic>
        <p:nvPicPr>
          <p:cNvPr id="3" name="图片 2">
            <a:hlinkClick r:id="rId1" action="ppaction://hlinkfile"/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588125" y="2067560"/>
            <a:ext cx="871855" cy="8718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XML Motivation (Cont.)</a:t>
            </a:r>
            <a:endParaRPr lang="en-US"/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183" y="857250"/>
            <a:ext cx="5709128" cy="3943350"/>
          </a:xfrm>
        </p:spPr>
        <p:txBody>
          <a:bodyPr/>
          <a:lstStyle/>
          <a:p>
            <a:r>
              <a:rPr lang="en-US" sz="1000" dirty="0"/>
              <a:t>Earlier generation formats were based on plain text with line headers indicating the meaning of fields</a:t>
            </a:r>
            <a:endParaRPr lang="en-US" sz="1000" dirty="0"/>
          </a:p>
          <a:p>
            <a:pPr lvl="1"/>
            <a:r>
              <a:rPr lang="en-US" sz="1000" dirty="0"/>
              <a:t>Similar in concept to email headers</a:t>
            </a:r>
            <a:endParaRPr lang="en-US" sz="1000" dirty="0"/>
          </a:p>
          <a:p>
            <a:pPr lvl="1"/>
            <a:r>
              <a:rPr lang="en-US" sz="1000" dirty="0"/>
              <a:t>Does not allow for nested structures, no standard “type” language</a:t>
            </a:r>
            <a:endParaRPr lang="en-US" sz="1000" dirty="0"/>
          </a:p>
          <a:p>
            <a:pPr lvl="1"/>
            <a:r>
              <a:rPr lang="en-US" sz="1000" dirty="0"/>
              <a:t>Tied too closely to low level document structure (lines, spaces, </a:t>
            </a:r>
            <a:r>
              <a:rPr lang="en-US" sz="1000" dirty="0" err="1"/>
              <a:t>etc</a:t>
            </a:r>
            <a:r>
              <a:rPr lang="en-US" sz="1000" dirty="0"/>
              <a:t>)</a:t>
            </a:r>
            <a:endParaRPr lang="en-US" sz="1000" dirty="0"/>
          </a:p>
          <a:p>
            <a:r>
              <a:rPr lang="en-US" sz="1000" dirty="0"/>
              <a:t>Each XML based standard defines what are valid elements, using</a:t>
            </a:r>
            <a:endParaRPr lang="en-US" sz="1000" dirty="0"/>
          </a:p>
          <a:p>
            <a:pPr lvl="1"/>
            <a:r>
              <a:rPr lang="en-US" sz="1000" dirty="0"/>
              <a:t> XML type specification languages to specify the syntax</a:t>
            </a:r>
            <a:endParaRPr lang="en-US" sz="1000" dirty="0"/>
          </a:p>
          <a:p>
            <a:pPr lvl="2"/>
            <a:r>
              <a:rPr lang="en-US" sz="1000" dirty="0"/>
              <a:t>DTD (Document Type Descriptors)</a:t>
            </a:r>
            <a:endParaRPr lang="en-US" sz="1000" dirty="0"/>
          </a:p>
          <a:p>
            <a:pPr lvl="2"/>
            <a:r>
              <a:rPr lang="en-US" sz="1000" dirty="0"/>
              <a:t>XML Schema</a:t>
            </a:r>
            <a:endParaRPr lang="en-US" sz="1000" dirty="0"/>
          </a:p>
          <a:p>
            <a:pPr lvl="1"/>
            <a:r>
              <a:rPr lang="en-US" sz="1000" dirty="0"/>
              <a:t>Plus textual descriptions of the semantics</a:t>
            </a:r>
            <a:endParaRPr lang="en-US" sz="1000" dirty="0"/>
          </a:p>
          <a:p>
            <a:r>
              <a:rPr lang="en-US" sz="1000" dirty="0"/>
              <a:t>XML allows new tags to be defined as required</a:t>
            </a:r>
            <a:endParaRPr lang="en-US" sz="1000" dirty="0"/>
          </a:p>
          <a:p>
            <a:pPr lvl="1"/>
            <a:r>
              <a:rPr lang="en-US" sz="1000" dirty="0"/>
              <a:t>However, this may be constrained by DTDs</a:t>
            </a:r>
            <a:endParaRPr lang="en-US" sz="1000" dirty="0"/>
          </a:p>
          <a:p>
            <a:r>
              <a:rPr lang="en-US" sz="1000" dirty="0"/>
              <a:t>A wide variety of tools is available for parsing, browsing and querying XML documents/data</a:t>
            </a:r>
            <a:endParaRPr lang="en-US" sz="1000" dirty="0"/>
          </a:p>
          <a:p>
            <a:pPr lvl="2"/>
            <a:endParaRPr lang="en-US" sz="1000" dirty="0"/>
          </a:p>
          <a:p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Structure of XML Data</a:t>
            </a:r>
            <a:endParaRPr lang="en-US"/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22813" y="853634"/>
            <a:ext cx="5776934" cy="3677840"/>
          </a:xfrm>
        </p:spPr>
        <p:txBody>
          <a:bodyPr/>
          <a:lstStyle/>
          <a:p>
            <a:r>
              <a:rPr lang="en-US" sz="1400" b="1" dirty="0">
                <a:solidFill>
                  <a:srgbClr val="0033CC"/>
                </a:solidFill>
              </a:rPr>
              <a:t>Tag</a:t>
            </a:r>
            <a:r>
              <a:rPr lang="en-US" sz="1400" dirty="0"/>
              <a:t>:  label for a section of data</a:t>
            </a:r>
            <a:endParaRPr lang="en-US" sz="1400" dirty="0"/>
          </a:p>
          <a:p>
            <a:r>
              <a:rPr lang="en-US" sz="1400" b="1" dirty="0">
                <a:solidFill>
                  <a:srgbClr val="0033CC"/>
                </a:solidFill>
              </a:rPr>
              <a:t>Element</a:t>
            </a:r>
            <a:r>
              <a:rPr lang="en-US" sz="1400" dirty="0"/>
              <a:t>: section of data beginning with &lt;</a:t>
            </a:r>
            <a:r>
              <a:rPr lang="en-US" sz="1400" i="1" dirty="0" err="1"/>
              <a:t>tagname</a:t>
            </a:r>
            <a:r>
              <a:rPr lang="en-US" sz="1400" dirty="0"/>
              <a:t>&gt; and ending with matching &lt;/</a:t>
            </a:r>
            <a:r>
              <a:rPr lang="en-US" sz="1400" i="1" dirty="0" err="1"/>
              <a:t>tagname</a:t>
            </a:r>
            <a:r>
              <a:rPr lang="en-US" sz="1400" dirty="0"/>
              <a:t>&gt;</a:t>
            </a:r>
            <a:endParaRPr lang="en-US" sz="1400" dirty="0"/>
          </a:p>
          <a:p>
            <a:r>
              <a:rPr lang="en-US" sz="1400" dirty="0"/>
              <a:t>Elements must be properly </a:t>
            </a:r>
            <a:r>
              <a:rPr lang="en-US" sz="1400" dirty="0">
                <a:solidFill>
                  <a:srgbClr val="0033CC"/>
                </a:solidFill>
              </a:rPr>
              <a:t>nested</a:t>
            </a:r>
            <a:endParaRPr lang="en-US" sz="1400" dirty="0">
              <a:solidFill>
                <a:srgbClr val="0033CC"/>
              </a:solidFill>
            </a:endParaRPr>
          </a:p>
          <a:p>
            <a:pPr lvl="1"/>
            <a:r>
              <a:rPr lang="en-US" sz="1400" dirty="0"/>
              <a:t>Proper nesting</a:t>
            </a:r>
            <a:endParaRPr lang="en-US" sz="1400" dirty="0"/>
          </a:p>
          <a:p>
            <a:pPr lvl="2"/>
            <a:r>
              <a:rPr lang="en-US" sz="1400" dirty="0"/>
              <a:t> </a:t>
            </a:r>
            <a:r>
              <a:rPr lang="en-US" sz="1400" dirty="0">
                <a:solidFill>
                  <a:srgbClr val="993300"/>
                </a:solidFill>
              </a:rPr>
              <a:t>&lt;course&gt; … &lt;title&gt;  …. &lt;/title&gt; &lt;/course&gt; </a:t>
            </a:r>
            <a:endParaRPr lang="en-US" sz="1400" dirty="0">
              <a:solidFill>
                <a:srgbClr val="993300"/>
              </a:solidFill>
            </a:endParaRPr>
          </a:p>
          <a:p>
            <a:pPr lvl="1"/>
            <a:r>
              <a:rPr lang="en-US" sz="1400" dirty="0"/>
              <a:t>Improper nesting </a:t>
            </a:r>
            <a:endParaRPr lang="en-US" sz="1400" dirty="0"/>
          </a:p>
          <a:p>
            <a:pPr lvl="2"/>
            <a:r>
              <a:rPr lang="en-US" sz="1400" dirty="0"/>
              <a:t> </a:t>
            </a:r>
            <a:r>
              <a:rPr lang="en-US" sz="1400" dirty="0">
                <a:solidFill>
                  <a:srgbClr val="993300"/>
                </a:solidFill>
              </a:rPr>
              <a:t>&lt;course&gt; … &lt;title&gt;  …. &lt;/course&gt; &lt;/title&gt; </a:t>
            </a:r>
            <a:endParaRPr lang="en-US" sz="1400" dirty="0">
              <a:solidFill>
                <a:srgbClr val="993300"/>
              </a:solidFill>
            </a:endParaRPr>
          </a:p>
          <a:p>
            <a:pPr lvl="1"/>
            <a:r>
              <a:rPr lang="en-US" sz="1400" dirty="0"/>
              <a:t>Formally:  every start tag must have a unique matching end tag, that is in the context of the same parent element.</a:t>
            </a:r>
            <a:endParaRPr lang="en-US" sz="1400" dirty="0"/>
          </a:p>
          <a:p>
            <a:r>
              <a:rPr lang="en-US" sz="1400" dirty="0"/>
              <a:t>Every document must have a single top-level element</a:t>
            </a:r>
            <a:endParaRPr lang="en-US" sz="1400" dirty="0"/>
          </a:p>
          <a:p>
            <a:pPr lvl="1"/>
            <a:endParaRPr lang="en-US" sz="1400" dirty="0"/>
          </a:p>
          <a:p>
            <a:pPr lvl="2">
              <a:buFont typeface="Webdings" panose="05030102010509060703" pitchFamily="18" charset="2"/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Nested Elements</a:t>
            </a:r>
            <a:endParaRPr lang="en-US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72310" y="857250"/>
            <a:ext cx="6000750" cy="3886200"/>
          </a:xfrm>
        </p:spPr>
        <p:txBody>
          <a:bodyPr/>
          <a:lstStyle/>
          <a:p>
            <a:pPr>
              <a:buFont typeface="Monotype Sorts" pitchFamily="-65" charset="2"/>
              <a:buNone/>
            </a:pPr>
            <a:r>
              <a:rPr lang="en-US" sz="1400" dirty="0">
                <a:solidFill>
                  <a:srgbClr val="993300"/>
                </a:solidFill>
              </a:rPr>
              <a:t>   &lt;</a:t>
            </a:r>
            <a:r>
              <a:rPr lang="en-US" sz="1400" dirty="0" err="1">
                <a:solidFill>
                  <a:srgbClr val="993300"/>
                </a:solidFill>
              </a:rPr>
              <a:t>purchase_order</a:t>
            </a:r>
            <a:r>
              <a:rPr lang="en-US" sz="1400" dirty="0">
                <a:solidFill>
                  <a:srgbClr val="993300"/>
                </a:solidFill>
              </a:rPr>
              <a:t>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&lt;identifier&gt; P-101 &lt;/identifier&gt;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&lt;purchaser&gt;  …. &lt;/purchaser&gt;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&lt;</a:t>
            </a:r>
            <a:r>
              <a:rPr lang="en-US" sz="1400" dirty="0" err="1">
                <a:solidFill>
                  <a:srgbClr val="993300"/>
                </a:solidFill>
              </a:rPr>
              <a:t>itemlist</a:t>
            </a:r>
            <a:r>
              <a:rPr lang="en-US" sz="1400" dirty="0">
                <a:solidFill>
                  <a:srgbClr val="993300"/>
                </a:solidFill>
              </a:rPr>
              <a:t>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&lt;item&gt;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     &lt;identifier&gt; RS1 &lt;/identifier&gt;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     &lt;description&gt; Atom powered rocket sled &lt;/description&gt;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     &lt;quantity&gt; 2 &lt;/quantity&gt;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     &lt;price&gt; 199.95 &lt;/price&gt;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&lt;/item&gt;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&lt;item&gt;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     &lt;identifier&gt; SG2 &lt;/identifier&gt;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     &lt;description&gt; Superb glue &lt;/description&gt;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     &lt;quantity&gt; 1 &lt;/quantity&gt;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     &lt;unit-of-measure&gt; liter &lt;/unit-of-measure&gt;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     &lt;price&gt; 29.95 &lt;/price&gt;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&lt;/item&gt;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&lt;/</a:t>
            </a:r>
            <a:r>
              <a:rPr lang="en-US" sz="1400" dirty="0" err="1">
                <a:solidFill>
                  <a:srgbClr val="993300"/>
                </a:solidFill>
              </a:rPr>
              <a:t>itemlist</a:t>
            </a:r>
            <a:r>
              <a:rPr lang="en-US" sz="1400" dirty="0">
                <a:solidFill>
                  <a:srgbClr val="993300"/>
                </a:solidFill>
              </a:rPr>
              <a:t>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&lt;/</a:t>
            </a:r>
            <a:r>
              <a:rPr lang="en-US" sz="1400" dirty="0" err="1">
                <a:solidFill>
                  <a:srgbClr val="993300"/>
                </a:solidFill>
              </a:rPr>
              <a:t>purchase_order</a:t>
            </a:r>
            <a:r>
              <a:rPr lang="en-US" sz="1400" dirty="0">
                <a:solidFill>
                  <a:srgbClr val="993300"/>
                </a:solidFill>
              </a:rPr>
              <a:t>&gt;</a:t>
            </a:r>
            <a:br>
              <a:rPr lang="en-US" sz="1400" dirty="0">
                <a:solidFill>
                  <a:srgbClr val="993300"/>
                </a:solidFill>
              </a:rPr>
            </a:br>
            <a:endParaRPr lang="en-US" sz="1400" dirty="0">
              <a:solidFill>
                <a:srgbClr val="993300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00380" y="843915"/>
            <a:ext cx="722630" cy="954405"/>
            <a:chOff x="737" y="4617"/>
            <a:chExt cx="1138" cy="1503"/>
          </a:xfrm>
        </p:grpSpPr>
        <p:pic>
          <p:nvPicPr>
            <p:cNvPr id="2" name="Picture 101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737" y="4617"/>
              <a:ext cx="1139" cy="113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文本框 2"/>
            <p:cNvSpPr txBox="1"/>
            <p:nvPr/>
          </p:nvSpPr>
          <p:spPr>
            <a:xfrm>
              <a:off x="1077" y="5638"/>
              <a:ext cx="45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1</a:t>
              </a:r>
              <a:endParaRPr lang="en-US" altLang="zh-CN" sz="140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 for Nesting</a:t>
            </a:r>
            <a:endParaRPr lang="en-US"/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57250"/>
            <a:ext cx="5635887" cy="3850481"/>
          </a:xfrm>
        </p:spPr>
        <p:txBody>
          <a:bodyPr/>
          <a:lstStyle/>
          <a:p>
            <a:r>
              <a:rPr lang="en-US" sz="1400" dirty="0"/>
              <a:t>Nesting of data is useful in data transfer</a:t>
            </a:r>
            <a:endParaRPr lang="en-US" sz="1400" dirty="0"/>
          </a:p>
          <a:p>
            <a:pPr lvl="1"/>
            <a:r>
              <a:rPr lang="en-US" sz="1400" dirty="0"/>
              <a:t>Example:  elements representing </a:t>
            </a:r>
            <a:r>
              <a:rPr lang="en-US" sz="1400" i="1" dirty="0"/>
              <a:t>item</a:t>
            </a:r>
            <a:r>
              <a:rPr lang="en-US" sz="1400" dirty="0"/>
              <a:t> nested within an </a:t>
            </a:r>
            <a:r>
              <a:rPr lang="en-US" sz="1400" i="1" dirty="0" err="1"/>
              <a:t>itemlist</a:t>
            </a:r>
            <a:r>
              <a:rPr lang="en-US" sz="1400" dirty="0"/>
              <a:t> element</a:t>
            </a:r>
            <a:endParaRPr lang="en-US" sz="1400" dirty="0"/>
          </a:p>
          <a:p>
            <a:r>
              <a:rPr lang="en-US" sz="1400" dirty="0"/>
              <a:t>Nesting is not supported, or discouraged, in relational databases</a:t>
            </a:r>
            <a:endParaRPr lang="en-US" sz="1400" dirty="0"/>
          </a:p>
          <a:p>
            <a:pPr lvl="1"/>
            <a:r>
              <a:rPr lang="en-US" sz="1400" dirty="0"/>
              <a:t>With multiple orders, customer name and address are stored redundantly</a:t>
            </a:r>
            <a:endParaRPr lang="en-US" sz="1400" dirty="0"/>
          </a:p>
          <a:p>
            <a:pPr lvl="1"/>
            <a:r>
              <a:rPr lang="en-US" sz="1400" dirty="0"/>
              <a:t>normalization replaces nested structures in each order by foreign key into table storing customer name and address information</a:t>
            </a:r>
            <a:endParaRPr lang="en-US" sz="1400" dirty="0"/>
          </a:p>
          <a:p>
            <a:pPr lvl="1"/>
            <a:r>
              <a:rPr lang="en-US" sz="1400" dirty="0"/>
              <a:t>Nesting is supported in object-relational databases</a:t>
            </a:r>
            <a:endParaRPr lang="en-US" sz="1400" dirty="0"/>
          </a:p>
          <a:p>
            <a:r>
              <a:rPr lang="en-US" sz="1400" dirty="0"/>
              <a:t>But nesting is appropriate when transferring data</a:t>
            </a:r>
            <a:endParaRPr lang="en-US" sz="1400" dirty="0"/>
          </a:p>
          <a:p>
            <a:pPr lvl="1"/>
            <a:r>
              <a:rPr lang="en-US" sz="1400" dirty="0"/>
              <a:t>External application does not have direct access to data referenced by a foreign key</a:t>
            </a:r>
            <a:endParaRPr lang="en-US" sz="1400" dirty="0"/>
          </a:p>
          <a:p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Structure of XML Data (Cont.)</a:t>
            </a:r>
            <a:endParaRPr lang="en-US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19263" y="857250"/>
            <a:ext cx="5709128" cy="3564731"/>
          </a:xfrm>
        </p:spPr>
        <p:txBody>
          <a:bodyPr/>
          <a:lstStyle/>
          <a:p>
            <a:pPr>
              <a:lnSpc>
                <a:spcPct val="90000"/>
              </a:lnSpc>
              <a:buSzPct val="110000"/>
              <a:buFont typeface="Wingdings" panose="05000000000000000000" pitchFamily="2" charset="2"/>
              <a:buChar char="§"/>
            </a:pPr>
            <a:r>
              <a:rPr lang="en-US" sz="1600" dirty="0"/>
              <a:t>Mixture of text with sub-elements is legal in XML. </a:t>
            </a:r>
            <a:endParaRPr lang="en-US" sz="1600" dirty="0"/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sz="1600" dirty="0"/>
              <a:t>Example:</a:t>
            </a:r>
            <a:endParaRPr lang="en-US" sz="1600" dirty="0"/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sz="1600" dirty="0">
                <a:solidFill>
                  <a:srgbClr val="993300"/>
                </a:solidFill>
              </a:rPr>
              <a:t>     &lt;course&gt;</a:t>
            </a:r>
            <a:br>
              <a:rPr lang="en-US" sz="1600" dirty="0">
                <a:solidFill>
                  <a:srgbClr val="993300"/>
                </a:solidFill>
              </a:rPr>
            </a:br>
            <a:r>
              <a:rPr lang="en-US" sz="1600" dirty="0">
                <a:solidFill>
                  <a:srgbClr val="993300"/>
                </a:solidFill>
              </a:rPr>
              <a:t>     This course is being offered for the first time in 2009.</a:t>
            </a:r>
            <a:br>
              <a:rPr lang="en-US" sz="1600" dirty="0">
                <a:solidFill>
                  <a:srgbClr val="993300"/>
                </a:solidFill>
              </a:rPr>
            </a:br>
            <a:r>
              <a:rPr lang="en-US" sz="1600" dirty="0">
                <a:solidFill>
                  <a:srgbClr val="993300"/>
                </a:solidFill>
              </a:rPr>
              <a:t>     &lt;course id&gt; BIO-399 &lt;/course id&gt;</a:t>
            </a:r>
            <a:br>
              <a:rPr lang="en-US" sz="1600" dirty="0">
                <a:solidFill>
                  <a:srgbClr val="993300"/>
                </a:solidFill>
              </a:rPr>
            </a:br>
            <a:r>
              <a:rPr lang="en-US" sz="1600" dirty="0">
                <a:solidFill>
                  <a:srgbClr val="993300"/>
                </a:solidFill>
              </a:rPr>
              <a:t>     &lt;title&gt; Computational Biology &lt;/title&gt;</a:t>
            </a:r>
            <a:br>
              <a:rPr lang="en-US" sz="1600" dirty="0">
                <a:solidFill>
                  <a:srgbClr val="993300"/>
                </a:solidFill>
              </a:rPr>
            </a:br>
            <a:r>
              <a:rPr lang="en-US" sz="1600" dirty="0">
                <a:solidFill>
                  <a:srgbClr val="993300"/>
                </a:solidFill>
              </a:rPr>
              <a:t>     &lt;dept name&gt; Biology &lt;/dept name&gt;</a:t>
            </a:r>
            <a:br>
              <a:rPr lang="en-US" sz="1600" dirty="0">
                <a:solidFill>
                  <a:srgbClr val="993300"/>
                </a:solidFill>
              </a:rPr>
            </a:br>
            <a:r>
              <a:rPr lang="en-US" sz="1600" dirty="0">
                <a:solidFill>
                  <a:srgbClr val="993300"/>
                </a:solidFill>
              </a:rPr>
              <a:t>     &lt;credits&gt; 3 &lt;/credits&gt;</a:t>
            </a:r>
            <a:br>
              <a:rPr lang="en-US" sz="1600" dirty="0">
                <a:solidFill>
                  <a:srgbClr val="993300"/>
                </a:solidFill>
              </a:rPr>
            </a:br>
            <a:r>
              <a:rPr lang="en-US" sz="1600" dirty="0">
                <a:solidFill>
                  <a:srgbClr val="993300"/>
                </a:solidFill>
              </a:rPr>
              <a:t>&lt;/course&gt;</a:t>
            </a:r>
            <a:endParaRPr lang="en-US" sz="1600" dirty="0">
              <a:solidFill>
                <a:srgbClr val="993300"/>
              </a:solidFill>
            </a:endParaRPr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sz="1600" dirty="0"/>
              <a:t>Useful for document markup, but discouraged for data representation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Attributes</a:t>
            </a:r>
            <a:endParaRPr lang="en-US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19263" y="857250"/>
            <a:ext cx="5695811" cy="3771900"/>
          </a:xfrm>
        </p:spPr>
        <p:txBody>
          <a:bodyPr/>
          <a:lstStyle/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dirty="0"/>
              <a:t>Elements can have </a:t>
            </a:r>
            <a:r>
              <a:rPr lang="en-US" b="1" dirty="0">
                <a:solidFill>
                  <a:srgbClr val="0033CC"/>
                </a:solidFill>
              </a:rPr>
              <a:t>attributes</a:t>
            </a:r>
            <a:br>
              <a:rPr lang="en-US" b="1" dirty="0">
                <a:solidFill>
                  <a:schemeClr val="tx2"/>
                </a:solidFill>
              </a:rPr>
            </a:br>
            <a:r>
              <a:rPr lang="en-US" b="1" dirty="0">
                <a:solidFill>
                  <a:schemeClr val="tx2"/>
                </a:solidFill>
              </a:rPr>
              <a:t>      </a:t>
            </a:r>
            <a:r>
              <a:rPr lang="en-US" dirty="0">
                <a:solidFill>
                  <a:srgbClr val="993300"/>
                </a:solidFill>
              </a:rPr>
              <a:t>&lt;course </a:t>
            </a:r>
            <a:r>
              <a:rPr lang="en-US" dirty="0" err="1"/>
              <a:t>course_id</a:t>
            </a:r>
            <a:r>
              <a:rPr lang="en-US" dirty="0"/>
              <a:t>= “CS-101”</a:t>
            </a:r>
            <a:r>
              <a:rPr lang="en-US" dirty="0">
                <a:solidFill>
                  <a:srgbClr val="993300"/>
                </a:solidFill>
              </a:rPr>
              <a:t>&gt;</a:t>
            </a:r>
            <a:br>
              <a:rPr lang="en-US" dirty="0">
                <a:solidFill>
                  <a:srgbClr val="993300"/>
                </a:solidFill>
              </a:rPr>
            </a:br>
            <a:r>
              <a:rPr lang="en-US" dirty="0">
                <a:solidFill>
                  <a:srgbClr val="993300"/>
                </a:solidFill>
              </a:rPr>
              <a:t>            &lt;title&gt; Intro. to Computer Science&lt;/title&gt;</a:t>
            </a:r>
            <a:br>
              <a:rPr lang="en-US" dirty="0">
                <a:solidFill>
                  <a:srgbClr val="993300"/>
                </a:solidFill>
              </a:rPr>
            </a:br>
            <a:r>
              <a:rPr lang="en-US" dirty="0">
                <a:solidFill>
                  <a:srgbClr val="993300"/>
                </a:solidFill>
              </a:rPr>
              <a:t>            &lt;dept name&gt; Comp. Sci. &lt;/dept name&gt;</a:t>
            </a:r>
            <a:br>
              <a:rPr lang="en-US" dirty="0">
                <a:solidFill>
                  <a:srgbClr val="993300"/>
                </a:solidFill>
              </a:rPr>
            </a:br>
            <a:r>
              <a:rPr lang="en-US" dirty="0">
                <a:solidFill>
                  <a:srgbClr val="993300"/>
                </a:solidFill>
              </a:rPr>
              <a:t>            &lt;credits&gt; 4 &lt;/credits&gt;</a:t>
            </a:r>
            <a:br>
              <a:rPr lang="en-US" dirty="0">
                <a:solidFill>
                  <a:srgbClr val="993300"/>
                </a:solidFill>
              </a:rPr>
            </a:br>
            <a:r>
              <a:rPr lang="en-US" dirty="0">
                <a:solidFill>
                  <a:srgbClr val="993300"/>
                </a:solidFill>
              </a:rPr>
              <a:t>       &lt;/course&gt;</a:t>
            </a:r>
            <a:endParaRPr lang="en-US" dirty="0">
              <a:solidFill>
                <a:srgbClr val="99330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dirty="0"/>
              <a:t>Attributes are specified by  </a:t>
            </a:r>
            <a:r>
              <a:rPr lang="en-US" i="1" dirty="0"/>
              <a:t>name=value</a:t>
            </a:r>
            <a:r>
              <a:rPr lang="en-US" dirty="0"/>
              <a:t> pairs inside the starting tag of an element</a:t>
            </a:r>
            <a:endParaRPr lang="en-US" dirty="0"/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dirty="0"/>
              <a:t>An element may have several attributes, but each attribute name can only occur once</a:t>
            </a:r>
            <a:endParaRPr lang="en-US" dirty="0"/>
          </a:p>
          <a:p>
            <a:pPr lvl="2">
              <a:buFont typeface="Webdings" panose="05030102010509060703" pitchFamily="18" charset="2"/>
              <a:buNone/>
            </a:pPr>
            <a:r>
              <a:rPr lang="en-US" dirty="0">
                <a:solidFill>
                  <a:srgbClr val="993300"/>
                </a:solidFill>
              </a:rPr>
              <a:t>	&lt;course  </a:t>
            </a:r>
            <a:r>
              <a:rPr lang="en-US" dirty="0" err="1"/>
              <a:t>course_id</a:t>
            </a:r>
            <a:r>
              <a:rPr lang="en-US" dirty="0"/>
              <a:t> = “CS-101”  credits=“4”</a:t>
            </a:r>
            <a:r>
              <a:rPr lang="en-US" dirty="0">
                <a:solidFill>
                  <a:srgbClr val="993300"/>
                </a:solidFill>
              </a:rPr>
              <a:t>&gt;</a:t>
            </a:r>
            <a:endParaRPr lang="en-US" dirty="0">
              <a:solidFill>
                <a:srgbClr val="9933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Attributes vs. Subelements</a:t>
            </a:r>
            <a:endParaRPr lang="en-US"/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20341"/>
            <a:ext cx="5789027" cy="3677840"/>
          </a:xfrm>
        </p:spPr>
        <p:txBody>
          <a:bodyPr/>
          <a:lstStyle/>
          <a:p>
            <a:r>
              <a:rPr lang="en-US" sz="1400" dirty="0"/>
              <a:t>Distinction between </a:t>
            </a:r>
            <a:r>
              <a:rPr lang="en-US" sz="1400" dirty="0" err="1"/>
              <a:t>subelement</a:t>
            </a:r>
            <a:r>
              <a:rPr lang="en-US" sz="1400" dirty="0"/>
              <a:t> and attribute</a:t>
            </a:r>
            <a:endParaRPr lang="en-US" sz="1400" dirty="0"/>
          </a:p>
          <a:p>
            <a:pPr lvl="1"/>
            <a:r>
              <a:rPr lang="en-US" sz="1400" dirty="0"/>
              <a:t>In the context of documents, attributes are part of markup, while </a:t>
            </a:r>
            <a:r>
              <a:rPr lang="en-US" sz="1400" dirty="0" err="1"/>
              <a:t>subelement</a:t>
            </a:r>
            <a:r>
              <a:rPr lang="en-US" sz="1400" dirty="0"/>
              <a:t> contents are part of the basic document contents</a:t>
            </a:r>
            <a:endParaRPr lang="en-US" sz="1400" dirty="0"/>
          </a:p>
          <a:p>
            <a:pPr lvl="1"/>
            <a:r>
              <a:rPr lang="en-US" sz="1400" dirty="0"/>
              <a:t>In the context of data representation, the difference is unclear and may be confusing</a:t>
            </a:r>
            <a:endParaRPr lang="en-US" sz="1400" dirty="0"/>
          </a:p>
          <a:p>
            <a:pPr lvl="2"/>
            <a:r>
              <a:rPr lang="en-US" sz="1400" dirty="0"/>
              <a:t>Same information can be represented in two ways</a:t>
            </a:r>
            <a:endParaRPr lang="en-US" sz="1400" dirty="0"/>
          </a:p>
          <a:p>
            <a:pPr lvl="3"/>
            <a:r>
              <a:rPr lang="en-US" sz="1400" dirty="0">
                <a:solidFill>
                  <a:srgbClr val="993300"/>
                </a:solidFill>
              </a:rPr>
              <a:t>&lt;course </a:t>
            </a:r>
            <a:r>
              <a:rPr lang="en-US" sz="1400" dirty="0" err="1"/>
              <a:t>course_id</a:t>
            </a:r>
            <a:r>
              <a:rPr lang="en-US" sz="1400" dirty="0"/>
              <a:t>= “CS-101”</a:t>
            </a:r>
            <a:r>
              <a:rPr lang="en-US" sz="1400" dirty="0">
                <a:solidFill>
                  <a:srgbClr val="993300"/>
                </a:solidFill>
              </a:rPr>
              <a:t>&gt; … &lt;/course&gt;</a:t>
            </a:r>
            <a:endParaRPr lang="en-US" sz="1400" dirty="0">
              <a:solidFill>
                <a:srgbClr val="993300"/>
              </a:solidFill>
            </a:endParaRPr>
          </a:p>
          <a:p>
            <a:pPr lvl="3"/>
            <a:r>
              <a:rPr lang="en-US" sz="1400" dirty="0">
                <a:solidFill>
                  <a:srgbClr val="993300"/>
                </a:solidFill>
              </a:rPr>
              <a:t>&lt;course&gt; 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&lt;</a:t>
            </a:r>
            <a:r>
              <a:rPr lang="en-US" sz="1400" dirty="0" err="1">
                <a:solidFill>
                  <a:srgbClr val="993300"/>
                </a:solidFill>
              </a:rPr>
              <a:t>course_id</a:t>
            </a:r>
            <a:r>
              <a:rPr lang="en-US" sz="1400" dirty="0">
                <a:solidFill>
                  <a:srgbClr val="993300"/>
                </a:solidFill>
              </a:rPr>
              <a:t>&gt;CS-101&lt;/</a:t>
            </a:r>
            <a:r>
              <a:rPr lang="en-US" sz="1400" dirty="0" err="1">
                <a:solidFill>
                  <a:srgbClr val="993300"/>
                </a:solidFill>
              </a:rPr>
              <a:t>course_id</a:t>
            </a:r>
            <a:r>
              <a:rPr lang="en-US" sz="1400" dirty="0">
                <a:solidFill>
                  <a:srgbClr val="993300"/>
                </a:solidFill>
              </a:rPr>
              <a:t>&gt; …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&lt;/course&gt;</a:t>
            </a:r>
            <a:endParaRPr lang="en-US" sz="1400" dirty="0">
              <a:solidFill>
                <a:srgbClr val="993300"/>
              </a:solidFill>
            </a:endParaRPr>
          </a:p>
          <a:p>
            <a:pPr lvl="1"/>
            <a:r>
              <a:rPr lang="en-US" sz="1400" dirty="0"/>
              <a:t>Suggestion: use attributes for identifiers of elements, and use </a:t>
            </a:r>
            <a:r>
              <a:rPr lang="en-US" sz="1400" dirty="0" err="1"/>
              <a:t>subelements</a:t>
            </a:r>
            <a:r>
              <a:rPr lang="en-US" sz="1400" dirty="0"/>
              <a:t> for contents</a:t>
            </a:r>
            <a:endParaRPr lang="en-US" sz="1400" dirty="0"/>
          </a:p>
          <a:p>
            <a:pPr lvl="1">
              <a:buFont typeface="Monotype Sorts" pitchFamily="-65" charset="2"/>
              <a:buNone/>
            </a:pPr>
            <a:endParaRPr lang="en-US" sz="800" dirty="0"/>
          </a:p>
          <a:p>
            <a:endParaRPr lang="en-US" sz="800" dirty="0"/>
          </a:p>
        </p:txBody>
      </p:sp>
      <p:grpSp>
        <p:nvGrpSpPr>
          <p:cNvPr id="4" name="组合 3"/>
          <p:cNvGrpSpPr/>
          <p:nvPr/>
        </p:nvGrpSpPr>
        <p:grpSpPr>
          <a:xfrm>
            <a:off x="500380" y="843915"/>
            <a:ext cx="723265" cy="955040"/>
            <a:chOff x="737" y="4617"/>
            <a:chExt cx="1139" cy="1504"/>
          </a:xfrm>
        </p:grpSpPr>
        <p:pic>
          <p:nvPicPr>
            <p:cNvPr id="2" name="Picture 101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737" y="4617"/>
              <a:ext cx="1139" cy="113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文本框 2"/>
            <p:cNvSpPr txBox="1"/>
            <p:nvPr/>
          </p:nvSpPr>
          <p:spPr>
            <a:xfrm>
              <a:off x="1077" y="5638"/>
              <a:ext cx="45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2</a:t>
              </a:r>
              <a:endParaRPr lang="en-US" altLang="zh-CN" sz="140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Namespaces</a:t>
            </a:r>
            <a:endParaRPr lang="en-US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792333"/>
            <a:ext cx="5622571" cy="3972549"/>
          </a:xfrm>
        </p:spPr>
        <p:txBody>
          <a:bodyPr/>
          <a:lstStyle/>
          <a:p>
            <a:r>
              <a:rPr lang="en-US" sz="1000" dirty="0"/>
              <a:t>XML data has to be exchanged between organizations</a:t>
            </a:r>
            <a:endParaRPr lang="en-US" sz="1000" dirty="0"/>
          </a:p>
          <a:p>
            <a:r>
              <a:rPr lang="en-US" sz="1000" dirty="0"/>
              <a:t>Same tag name may have different meaning in different organizations, causing confusion on exchanged documents</a:t>
            </a:r>
            <a:endParaRPr lang="en-US" sz="1000" dirty="0"/>
          </a:p>
          <a:p>
            <a:r>
              <a:rPr lang="en-US" sz="1000" dirty="0"/>
              <a:t>Specifying a unique string as an element name avoids confusion</a:t>
            </a:r>
            <a:endParaRPr lang="en-US" sz="1000" dirty="0"/>
          </a:p>
          <a:p>
            <a:r>
              <a:rPr lang="en-US" sz="1000" dirty="0"/>
              <a:t>Better solution: use  </a:t>
            </a:r>
            <a:r>
              <a:rPr lang="en-US" sz="1000" dirty="0" err="1">
                <a:solidFill>
                  <a:srgbClr val="008000"/>
                </a:solidFill>
              </a:rPr>
              <a:t>unique-name:element-name</a:t>
            </a:r>
            <a:endParaRPr lang="en-US" sz="1000" dirty="0">
              <a:solidFill>
                <a:srgbClr val="008000"/>
              </a:solidFill>
            </a:endParaRPr>
          </a:p>
          <a:p>
            <a:r>
              <a:rPr lang="en-US" sz="1000" dirty="0"/>
              <a:t>Avoid using long unique names all over document by using XML Namespaces</a:t>
            </a:r>
            <a:endParaRPr lang="en-US" sz="1000" dirty="0"/>
          </a:p>
          <a:p>
            <a:pPr>
              <a:buFont typeface="Monotype Sorts" pitchFamily="-65" charset="2"/>
              <a:buNone/>
            </a:pPr>
            <a:r>
              <a:rPr lang="en-US" sz="1000" dirty="0"/>
              <a:t>     </a:t>
            </a:r>
            <a:r>
              <a:rPr lang="en-US" sz="1000" dirty="0">
                <a:solidFill>
                  <a:srgbClr val="993300"/>
                </a:solidFill>
              </a:rPr>
              <a:t>&lt;university </a:t>
            </a:r>
            <a:r>
              <a:rPr lang="en-US" sz="1000" dirty="0" err="1">
                <a:solidFill>
                  <a:srgbClr val="993300"/>
                </a:solidFill>
              </a:rPr>
              <a:t>xmlns:yale</a:t>
            </a:r>
            <a:r>
              <a:rPr lang="en-US" sz="1000" dirty="0">
                <a:solidFill>
                  <a:srgbClr val="993300"/>
                </a:solidFill>
              </a:rPr>
              <a:t>=“</a:t>
            </a:r>
            <a:r>
              <a:rPr lang="en-US" sz="1000" dirty="0">
                <a:solidFill>
                  <a:srgbClr val="993300"/>
                </a:solidFill>
                <a:hlinkClick r:id="rId1"/>
              </a:rPr>
              <a:t>http://www.yale.edu</a:t>
            </a:r>
            <a:r>
              <a:rPr lang="en-US" sz="1000" dirty="0">
                <a:solidFill>
                  <a:srgbClr val="993300"/>
                </a:solidFill>
              </a:rPr>
              <a:t>”&gt;</a:t>
            </a:r>
            <a:br>
              <a:rPr lang="en-US" sz="1000" dirty="0">
                <a:solidFill>
                  <a:srgbClr val="993300"/>
                </a:solidFill>
              </a:rPr>
            </a:br>
            <a:r>
              <a:rPr lang="en-US" sz="1000" dirty="0">
                <a:solidFill>
                  <a:srgbClr val="993300"/>
                </a:solidFill>
              </a:rPr>
              <a:t>      …</a:t>
            </a:r>
            <a:endParaRPr lang="en-US" sz="1000" dirty="0">
              <a:solidFill>
                <a:srgbClr val="993300"/>
              </a:solidFill>
            </a:endParaRPr>
          </a:p>
          <a:p>
            <a:pPr lvl="1">
              <a:lnSpc>
                <a:spcPct val="50000"/>
              </a:lnSpc>
              <a:buFont typeface="Monotype Sorts" pitchFamily="-65" charset="2"/>
              <a:buNone/>
            </a:pPr>
            <a:r>
              <a:rPr lang="en-US" sz="1000" dirty="0">
                <a:solidFill>
                  <a:srgbClr val="993300"/>
                </a:solidFill>
              </a:rPr>
              <a:t>	 &lt;</a:t>
            </a:r>
            <a:r>
              <a:rPr lang="en-US" sz="1000" dirty="0" err="1">
                <a:solidFill>
                  <a:srgbClr val="993300"/>
                </a:solidFill>
              </a:rPr>
              <a:t>yale:course</a:t>
            </a:r>
            <a:r>
              <a:rPr lang="en-US" sz="1000" dirty="0">
                <a:solidFill>
                  <a:srgbClr val="993300"/>
                </a:solidFill>
              </a:rPr>
              <a:t>&gt;</a:t>
            </a:r>
            <a:endParaRPr lang="en-US" sz="1000" dirty="0">
              <a:solidFill>
                <a:srgbClr val="993300"/>
              </a:solidFill>
            </a:endParaRPr>
          </a:p>
          <a:p>
            <a:pPr lvl="1">
              <a:lnSpc>
                <a:spcPct val="50000"/>
              </a:lnSpc>
              <a:buFont typeface="Monotype Sorts" pitchFamily="-65" charset="2"/>
              <a:buNone/>
            </a:pPr>
            <a:r>
              <a:rPr lang="en-US" sz="1000" dirty="0">
                <a:solidFill>
                  <a:srgbClr val="993300"/>
                </a:solidFill>
              </a:rPr>
              <a:t>          &lt;</a:t>
            </a:r>
            <a:r>
              <a:rPr lang="en-US" sz="1000" dirty="0" err="1">
                <a:solidFill>
                  <a:srgbClr val="993300"/>
                </a:solidFill>
              </a:rPr>
              <a:t>yale:course_id</a:t>
            </a:r>
            <a:r>
              <a:rPr lang="en-US" sz="1000" dirty="0">
                <a:solidFill>
                  <a:srgbClr val="993300"/>
                </a:solidFill>
              </a:rPr>
              <a:t>&gt; CS-101 &lt;/</a:t>
            </a:r>
            <a:r>
              <a:rPr lang="en-US" sz="1000" dirty="0" err="1">
                <a:solidFill>
                  <a:srgbClr val="993300"/>
                </a:solidFill>
              </a:rPr>
              <a:t>yale:course_id</a:t>
            </a:r>
            <a:r>
              <a:rPr lang="en-US" sz="1000" dirty="0">
                <a:solidFill>
                  <a:srgbClr val="993300"/>
                </a:solidFill>
              </a:rPr>
              <a:t>&gt;</a:t>
            </a:r>
            <a:endParaRPr lang="en-US" sz="1000" dirty="0">
              <a:solidFill>
                <a:srgbClr val="993300"/>
              </a:solidFill>
            </a:endParaRPr>
          </a:p>
          <a:p>
            <a:pPr lvl="1">
              <a:lnSpc>
                <a:spcPct val="50000"/>
              </a:lnSpc>
              <a:buFont typeface="Monotype Sorts" pitchFamily="-65" charset="2"/>
              <a:buNone/>
            </a:pPr>
            <a:r>
              <a:rPr lang="en-US" sz="1000" dirty="0">
                <a:solidFill>
                  <a:srgbClr val="993300"/>
                </a:solidFill>
              </a:rPr>
              <a:t>          &lt;</a:t>
            </a:r>
            <a:r>
              <a:rPr lang="en-US" sz="1000" dirty="0" err="1">
                <a:solidFill>
                  <a:srgbClr val="993300"/>
                </a:solidFill>
              </a:rPr>
              <a:t>yale:title</a:t>
            </a:r>
            <a:r>
              <a:rPr lang="en-US" sz="1000" dirty="0">
                <a:solidFill>
                  <a:srgbClr val="993300"/>
                </a:solidFill>
              </a:rPr>
              <a:t>&gt; Intro. to Computer Science&lt;/</a:t>
            </a:r>
            <a:r>
              <a:rPr lang="en-US" sz="1000" dirty="0" err="1">
                <a:solidFill>
                  <a:srgbClr val="993300"/>
                </a:solidFill>
              </a:rPr>
              <a:t>yale:title</a:t>
            </a:r>
            <a:r>
              <a:rPr lang="en-US" sz="1000" dirty="0">
                <a:solidFill>
                  <a:srgbClr val="993300"/>
                </a:solidFill>
              </a:rPr>
              <a:t>&gt;</a:t>
            </a:r>
            <a:endParaRPr lang="en-US" sz="1000" dirty="0">
              <a:solidFill>
                <a:srgbClr val="993300"/>
              </a:solidFill>
            </a:endParaRPr>
          </a:p>
          <a:p>
            <a:pPr lvl="1">
              <a:lnSpc>
                <a:spcPct val="50000"/>
              </a:lnSpc>
              <a:buFont typeface="Monotype Sorts" pitchFamily="-65" charset="2"/>
              <a:buNone/>
            </a:pPr>
            <a:r>
              <a:rPr lang="en-US" sz="1000" dirty="0">
                <a:solidFill>
                  <a:srgbClr val="993300"/>
                </a:solidFill>
              </a:rPr>
              <a:t>          &lt;</a:t>
            </a:r>
            <a:r>
              <a:rPr lang="en-US" sz="1000" dirty="0" err="1">
                <a:solidFill>
                  <a:srgbClr val="993300"/>
                </a:solidFill>
              </a:rPr>
              <a:t>yale:dept_name</a:t>
            </a:r>
            <a:r>
              <a:rPr lang="en-US" sz="1000" dirty="0">
                <a:solidFill>
                  <a:srgbClr val="993300"/>
                </a:solidFill>
              </a:rPr>
              <a:t>&gt; Comp. Sci. &lt;/</a:t>
            </a:r>
            <a:r>
              <a:rPr lang="en-US" sz="1000" dirty="0" err="1">
                <a:solidFill>
                  <a:srgbClr val="993300"/>
                </a:solidFill>
              </a:rPr>
              <a:t>yale:dept_name</a:t>
            </a:r>
            <a:r>
              <a:rPr lang="en-US" sz="1000" dirty="0">
                <a:solidFill>
                  <a:srgbClr val="993300"/>
                </a:solidFill>
              </a:rPr>
              <a:t>&gt;</a:t>
            </a:r>
            <a:endParaRPr lang="en-US" sz="1000" dirty="0">
              <a:solidFill>
                <a:srgbClr val="993300"/>
              </a:solidFill>
            </a:endParaRPr>
          </a:p>
          <a:p>
            <a:pPr lvl="1">
              <a:lnSpc>
                <a:spcPct val="50000"/>
              </a:lnSpc>
              <a:buFont typeface="Monotype Sorts" pitchFamily="-65" charset="2"/>
              <a:buNone/>
            </a:pPr>
            <a:r>
              <a:rPr lang="en-US" sz="1000" dirty="0">
                <a:solidFill>
                  <a:srgbClr val="993300"/>
                </a:solidFill>
              </a:rPr>
              <a:t>          &lt;</a:t>
            </a:r>
            <a:r>
              <a:rPr lang="en-US" sz="1000" dirty="0" err="1">
                <a:solidFill>
                  <a:srgbClr val="993300"/>
                </a:solidFill>
              </a:rPr>
              <a:t>yale:credits</a:t>
            </a:r>
            <a:r>
              <a:rPr lang="en-US" sz="1000" dirty="0">
                <a:solidFill>
                  <a:srgbClr val="993300"/>
                </a:solidFill>
              </a:rPr>
              <a:t>&gt; 4 &lt;/</a:t>
            </a:r>
            <a:r>
              <a:rPr lang="en-US" sz="1000" dirty="0" err="1">
                <a:solidFill>
                  <a:srgbClr val="993300"/>
                </a:solidFill>
              </a:rPr>
              <a:t>yale:credits</a:t>
            </a:r>
            <a:r>
              <a:rPr lang="en-US" sz="1000" dirty="0">
                <a:solidFill>
                  <a:srgbClr val="993300"/>
                </a:solidFill>
              </a:rPr>
              <a:t>&gt;</a:t>
            </a:r>
            <a:endParaRPr lang="en-US" sz="1000" dirty="0">
              <a:solidFill>
                <a:srgbClr val="993300"/>
              </a:solidFill>
            </a:endParaRPr>
          </a:p>
          <a:p>
            <a:pPr lvl="1">
              <a:lnSpc>
                <a:spcPct val="80000"/>
              </a:lnSpc>
              <a:buFont typeface="Monotype Sorts" pitchFamily="-65" charset="2"/>
              <a:buNone/>
            </a:pPr>
            <a:r>
              <a:rPr lang="en-US" sz="1000" dirty="0">
                <a:solidFill>
                  <a:srgbClr val="993300"/>
                </a:solidFill>
              </a:rPr>
              <a:t>	 &lt;/</a:t>
            </a:r>
            <a:r>
              <a:rPr lang="en-US" sz="1000" dirty="0" err="1">
                <a:solidFill>
                  <a:srgbClr val="993300"/>
                </a:solidFill>
              </a:rPr>
              <a:t>yale:course</a:t>
            </a:r>
            <a:r>
              <a:rPr lang="en-US" sz="1000" dirty="0">
                <a:solidFill>
                  <a:srgbClr val="993300"/>
                </a:solidFill>
              </a:rPr>
              <a:t>&gt;</a:t>
            </a:r>
            <a:br>
              <a:rPr lang="en-US" sz="1000" dirty="0">
                <a:solidFill>
                  <a:srgbClr val="993300"/>
                </a:solidFill>
              </a:rPr>
            </a:br>
            <a:r>
              <a:rPr lang="en-US" sz="1000" dirty="0">
                <a:solidFill>
                  <a:srgbClr val="993300"/>
                </a:solidFill>
              </a:rPr>
              <a:t>…</a:t>
            </a:r>
            <a:endParaRPr lang="en-US" sz="1000" dirty="0">
              <a:solidFill>
                <a:srgbClr val="993300"/>
              </a:solidFill>
            </a:endParaRPr>
          </a:p>
          <a:p>
            <a:pPr>
              <a:lnSpc>
                <a:spcPct val="50000"/>
              </a:lnSpc>
              <a:buFont typeface="Monotype Sorts" pitchFamily="-65" charset="2"/>
              <a:buNone/>
            </a:pPr>
            <a:r>
              <a:rPr lang="en-US" sz="1000" dirty="0">
                <a:solidFill>
                  <a:srgbClr val="993300"/>
                </a:solidFill>
              </a:rPr>
              <a:t>	&lt;/university&gt;</a:t>
            </a:r>
            <a:endParaRPr lang="en-US" sz="1000" dirty="0">
              <a:solidFill>
                <a:srgbClr val="993300"/>
              </a:solidFill>
            </a:endParaRPr>
          </a:p>
          <a:p>
            <a:endParaRPr lang="en-US" sz="1000" dirty="0">
              <a:solidFill>
                <a:srgbClr val="9933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on XML Syntax</a:t>
            </a:r>
            <a:endParaRPr lang="en-US"/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57250"/>
            <a:ext cx="5662520" cy="3657600"/>
          </a:xfrm>
        </p:spPr>
        <p:txBody>
          <a:bodyPr/>
          <a:lstStyle/>
          <a:p>
            <a:r>
              <a:rPr lang="en-US" sz="1400" dirty="0"/>
              <a:t>Elements without </a:t>
            </a:r>
            <a:r>
              <a:rPr lang="en-US" sz="1400" dirty="0" err="1"/>
              <a:t>subelements</a:t>
            </a:r>
            <a:r>
              <a:rPr lang="en-US" sz="1400" dirty="0"/>
              <a:t> or text content can be abbreviated by ending the start tag with a  /&gt;  and deleting the end tag</a:t>
            </a:r>
            <a:endParaRPr lang="en-US" sz="1400" dirty="0"/>
          </a:p>
          <a:p>
            <a:pPr lvl="1"/>
            <a:r>
              <a:rPr lang="en-US" sz="1400" dirty="0">
                <a:solidFill>
                  <a:srgbClr val="993300"/>
                </a:solidFill>
              </a:rPr>
              <a:t>&lt;course  </a:t>
            </a:r>
            <a:r>
              <a:rPr lang="en-US" sz="1400" dirty="0" err="1">
                <a:solidFill>
                  <a:srgbClr val="993300"/>
                </a:solidFill>
              </a:rPr>
              <a:t>course_id</a:t>
            </a:r>
            <a:r>
              <a:rPr lang="en-US" sz="1400" dirty="0">
                <a:solidFill>
                  <a:srgbClr val="993300"/>
                </a:solidFill>
              </a:rPr>
              <a:t>=“CS-101” Title=“Intro. To Computer Science”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        </a:t>
            </a:r>
            <a:r>
              <a:rPr lang="en-US" sz="1400" dirty="0" err="1">
                <a:solidFill>
                  <a:srgbClr val="993300"/>
                </a:solidFill>
              </a:rPr>
              <a:t>dept_name</a:t>
            </a:r>
            <a:r>
              <a:rPr lang="en-US" sz="1400" dirty="0">
                <a:solidFill>
                  <a:srgbClr val="993300"/>
                </a:solidFill>
              </a:rPr>
              <a:t> = “Comp. Sci.” credits=“4”  /&gt;</a:t>
            </a:r>
            <a:endParaRPr lang="en-US" sz="1400" dirty="0">
              <a:solidFill>
                <a:srgbClr val="993300"/>
              </a:solidFill>
            </a:endParaRPr>
          </a:p>
          <a:p>
            <a:r>
              <a:rPr lang="en-US" sz="1400" dirty="0"/>
              <a:t>To store string data that may contain tags, without the tags being interpreted as </a:t>
            </a:r>
            <a:r>
              <a:rPr lang="en-US" sz="1400" dirty="0" err="1"/>
              <a:t>subelements</a:t>
            </a:r>
            <a:r>
              <a:rPr lang="en-US" sz="1400" dirty="0"/>
              <a:t>, use CDATA as below</a:t>
            </a:r>
            <a:endParaRPr lang="en-US" sz="1400" dirty="0"/>
          </a:p>
          <a:p>
            <a:pPr lvl="1"/>
            <a:r>
              <a:rPr lang="en-US" sz="1400" dirty="0">
                <a:solidFill>
                  <a:srgbClr val="993300"/>
                </a:solidFill>
              </a:rPr>
              <a:t>&lt;![CDATA[&lt;course&gt; … &lt;/course&gt;]]&gt;</a:t>
            </a:r>
            <a:endParaRPr lang="en-US" sz="1400" dirty="0">
              <a:solidFill>
                <a:srgbClr val="993300"/>
              </a:solidFill>
            </a:endParaRPr>
          </a:p>
          <a:p>
            <a:pPr lvl="1">
              <a:buFont typeface="Monotype Sorts" pitchFamily="-65" charset="2"/>
              <a:buNone/>
            </a:pPr>
            <a:r>
              <a:rPr lang="en-US" sz="1400" dirty="0"/>
              <a:t>Here, &lt;course&gt; and &lt;/course&gt; are treated as just strings</a:t>
            </a:r>
            <a:endParaRPr lang="en-US" sz="1400" dirty="0"/>
          </a:p>
          <a:p>
            <a:pPr lvl="1">
              <a:buFont typeface="Monotype Sorts" pitchFamily="-65" charset="2"/>
              <a:buNone/>
            </a:pPr>
            <a:r>
              <a:rPr lang="en-US" sz="1400" dirty="0"/>
              <a:t>CDATA stands for “character data”</a:t>
            </a:r>
            <a:endParaRPr lang="en-US" sz="1400" dirty="0"/>
          </a:p>
          <a:p>
            <a:pPr>
              <a:buFont typeface="Monotype Sorts" pitchFamily="-65" charset="2"/>
              <a:buNone/>
            </a:pPr>
            <a:endParaRPr lang="en-US" sz="1400" dirty="0"/>
          </a:p>
          <a:p>
            <a:pPr>
              <a:lnSpc>
                <a:spcPct val="80000"/>
              </a:lnSpc>
              <a:buFont typeface="Monotype Sorts" pitchFamily="-65" charset="2"/>
              <a:buNone/>
            </a:pPr>
            <a:endParaRPr lang="en-US" sz="1000" dirty="0"/>
          </a:p>
          <a:p>
            <a:endParaRPr lang="en-US" sz="1000" dirty="0"/>
          </a:p>
        </p:txBody>
      </p:sp>
      <p:grpSp>
        <p:nvGrpSpPr>
          <p:cNvPr id="4" name="组合 3"/>
          <p:cNvGrpSpPr/>
          <p:nvPr/>
        </p:nvGrpSpPr>
        <p:grpSpPr>
          <a:xfrm>
            <a:off x="500380" y="843915"/>
            <a:ext cx="723265" cy="955040"/>
            <a:chOff x="737" y="4617"/>
            <a:chExt cx="1139" cy="1504"/>
          </a:xfrm>
        </p:grpSpPr>
        <p:pic>
          <p:nvPicPr>
            <p:cNvPr id="2" name="Picture 101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737" y="4617"/>
              <a:ext cx="1139" cy="113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文本框 2"/>
            <p:cNvSpPr txBox="1"/>
            <p:nvPr/>
          </p:nvSpPr>
          <p:spPr>
            <a:xfrm>
              <a:off x="1077" y="5638"/>
              <a:ext cx="45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3</a:t>
              </a:r>
              <a:endParaRPr lang="en-US" altLang="zh-CN" sz="1400"/>
            </a:p>
          </p:txBody>
        </p:sp>
      </p:grpSp>
      <p:pic>
        <p:nvPicPr>
          <p:cNvPr id="5" name="图片 4">
            <a:hlinkClick r:id="rId2" action="ppaction://hlinkfile"/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67995" y="3867785"/>
            <a:ext cx="871855" cy="8718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XML Document Schema</a:t>
            </a:r>
            <a:endParaRPr lang="en-US"/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/>
              <a:t>Database schemas constrain what information can be stored, and the data types of stored values</a:t>
            </a:r>
            <a:endParaRPr lang="en-US" sz="1600" dirty="0"/>
          </a:p>
          <a:p>
            <a:r>
              <a:rPr lang="en-US" sz="1600" dirty="0"/>
              <a:t>XML documents are not required to have an associated schema</a:t>
            </a:r>
            <a:endParaRPr lang="en-US" sz="1600" dirty="0"/>
          </a:p>
          <a:p>
            <a:r>
              <a:rPr lang="en-US" sz="1600" dirty="0"/>
              <a:t>However, schemas are very important for XML data exchange</a:t>
            </a:r>
            <a:endParaRPr lang="en-US" sz="1600" dirty="0"/>
          </a:p>
          <a:p>
            <a:pPr lvl="1"/>
            <a:r>
              <a:rPr lang="en-US" sz="1600" dirty="0"/>
              <a:t>Otherwise, a site cannot automatically interpret data received from another site</a:t>
            </a:r>
            <a:endParaRPr lang="en-US" sz="1600" dirty="0"/>
          </a:p>
          <a:p>
            <a:r>
              <a:rPr lang="en-US" sz="1600" dirty="0"/>
              <a:t>Two mechanisms for specifying XML schema</a:t>
            </a:r>
            <a:endParaRPr lang="en-US" sz="1600" dirty="0"/>
          </a:p>
          <a:p>
            <a:pPr lvl="1"/>
            <a:r>
              <a:rPr lang="en-US" sz="1600" b="1" dirty="0">
                <a:solidFill>
                  <a:srgbClr val="0033CC"/>
                </a:solidFill>
              </a:rPr>
              <a:t>Document Type Definition (DTD)</a:t>
            </a:r>
            <a:endParaRPr lang="en-US" sz="1600" b="1" dirty="0">
              <a:solidFill>
                <a:srgbClr val="0033CC"/>
              </a:solidFill>
            </a:endParaRPr>
          </a:p>
          <a:p>
            <a:pPr lvl="2"/>
            <a:r>
              <a:rPr lang="en-US" sz="1600" dirty="0"/>
              <a:t>Widely used</a:t>
            </a:r>
            <a:endParaRPr lang="en-US" sz="1600" dirty="0"/>
          </a:p>
          <a:p>
            <a:pPr lvl="1"/>
            <a:r>
              <a:rPr lang="en-US" sz="1600" b="1" dirty="0">
                <a:solidFill>
                  <a:srgbClr val="0033CC"/>
                </a:solidFill>
              </a:rPr>
              <a:t>XML Schema</a:t>
            </a:r>
            <a:r>
              <a:rPr lang="en-US" sz="1600" b="1" dirty="0">
                <a:solidFill>
                  <a:schemeClr val="tx2"/>
                </a:solidFill>
              </a:rPr>
              <a:t> </a:t>
            </a:r>
            <a:endParaRPr lang="en-US" sz="1600" b="1" dirty="0">
              <a:solidFill>
                <a:schemeClr val="tx2"/>
              </a:solidFill>
            </a:endParaRPr>
          </a:p>
          <a:p>
            <a:pPr lvl="2"/>
            <a:r>
              <a:rPr lang="en-US" sz="1600" dirty="0"/>
              <a:t>Newer, increasing use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Document Type Definition (DTD)</a:t>
            </a:r>
            <a:endParaRPr lang="en-US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/>
              <a:t>The type of an XML document can be specified using a DTD</a:t>
            </a:r>
            <a:endParaRPr lang="en-US" sz="1600" dirty="0"/>
          </a:p>
          <a:p>
            <a:r>
              <a:rPr lang="en-US" sz="1600" dirty="0"/>
              <a:t>DTD constraints structure of XML data</a:t>
            </a:r>
            <a:endParaRPr lang="en-US" sz="1600" dirty="0"/>
          </a:p>
          <a:p>
            <a:pPr lvl="1"/>
            <a:r>
              <a:rPr lang="en-US" sz="1600" dirty="0"/>
              <a:t>What elements can occur</a:t>
            </a:r>
            <a:endParaRPr lang="en-US" sz="1600" dirty="0"/>
          </a:p>
          <a:p>
            <a:pPr lvl="1"/>
            <a:r>
              <a:rPr lang="en-US" sz="1600" dirty="0"/>
              <a:t>What attributes can/must an element have</a:t>
            </a:r>
            <a:endParaRPr lang="en-US" sz="1600" dirty="0"/>
          </a:p>
          <a:p>
            <a:pPr lvl="1"/>
            <a:r>
              <a:rPr lang="en-US" sz="1600" dirty="0"/>
              <a:t>What </a:t>
            </a:r>
            <a:r>
              <a:rPr lang="en-US" sz="1600" dirty="0" err="1"/>
              <a:t>subelements</a:t>
            </a:r>
            <a:r>
              <a:rPr lang="en-US" sz="1600" dirty="0"/>
              <a:t> can/must occur inside each element, and how many times.</a:t>
            </a:r>
            <a:endParaRPr lang="en-US" sz="1600" dirty="0"/>
          </a:p>
          <a:p>
            <a:r>
              <a:rPr lang="en-US" sz="1600" dirty="0"/>
              <a:t>DTD does not constrain data types</a:t>
            </a:r>
            <a:endParaRPr lang="en-US" sz="1600" dirty="0"/>
          </a:p>
          <a:p>
            <a:pPr lvl="1"/>
            <a:r>
              <a:rPr lang="en-US" sz="1600" dirty="0"/>
              <a:t>All values represented as strings in XML</a:t>
            </a:r>
            <a:endParaRPr lang="en-US" sz="1600" dirty="0"/>
          </a:p>
          <a:p>
            <a:r>
              <a:rPr lang="en-US" sz="1600" dirty="0"/>
              <a:t>DTD syntax</a:t>
            </a:r>
            <a:endParaRPr lang="en-US" sz="1600" dirty="0"/>
          </a:p>
          <a:p>
            <a:pPr lvl="1"/>
            <a:r>
              <a:rPr lang="en-US" sz="1600" dirty="0"/>
              <a:t>&lt;!ELEMENT </a:t>
            </a:r>
            <a:r>
              <a:rPr lang="en-US" sz="1600" dirty="0" err="1"/>
              <a:t>element</a:t>
            </a:r>
            <a:r>
              <a:rPr lang="en-US" sz="1600" dirty="0"/>
              <a:t> (</a:t>
            </a:r>
            <a:r>
              <a:rPr lang="en-US" sz="1600" dirty="0" err="1"/>
              <a:t>subelements</a:t>
            </a:r>
            <a:r>
              <a:rPr lang="en-US" sz="1600" dirty="0"/>
              <a:t>-specification) &gt;</a:t>
            </a:r>
            <a:endParaRPr lang="en-US" sz="1600" dirty="0"/>
          </a:p>
          <a:p>
            <a:pPr lvl="1"/>
            <a:r>
              <a:rPr lang="en-US" sz="1600" dirty="0"/>
              <a:t>&lt;!ATTLIST   element (attributes)  &gt;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Element Specification in DTD</a:t>
            </a:r>
            <a:endParaRPr lang="en-US"/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dirty="0" err="1"/>
              <a:t>Subelements</a:t>
            </a:r>
            <a:r>
              <a:rPr lang="en-US" sz="1000" dirty="0"/>
              <a:t> can be specified as</a:t>
            </a:r>
            <a:endParaRPr lang="en-US" sz="1000" dirty="0"/>
          </a:p>
          <a:p>
            <a:pPr lvl="1"/>
            <a:r>
              <a:rPr lang="en-US" sz="1000" dirty="0"/>
              <a:t>names of elements, or</a:t>
            </a:r>
            <a:endParaRPr lang="en-US" sz="1000" dirty="0"/>
          </a:p>
          <a:p>
            <a:pPr lvl="1"/>
            <a:r>
              <a:rPr lang="en-US" sz="1000" dirty="0"/>
              <a:t>#PCDATA (parsed character data), i.e., character strings</a:t>
            </a:r>
            <a:endParaRPr lang="en-US" sz="1000" dirty="0"/>
          </a:p>
          <a:p>
            <a:pPr lvl="1"/>
            <a:r>
              <a:rPr lang="en-US" sz="1000" dirty="0"/>
              <a:t>EMPTY (no </a:t>
            </a:r>
            <a:r>
              <a:rPr lang="en-US" sz="1000" dirty="0" err="1"/>
              <a:t>subelements</a:t>
            </a:r>
            <a:r>
              <a:rPr lang="en-US" sz="1000" dirty="0"/>
              <a:t>) or ANY (anything can be a </a:t>
            </a:r>
            <a:r>
              <a:rPr lang="en-US" sz="1000" dirty="0" err="1"/>
              <a:t>subelement</a:t>
            </a:r>
            <a:r>
              <a:rPr lang="en-US" sz="1000" dirty="0"/>
              <a:t>)</a:t>
            </a:r>
            <a:endParaRPr lang="en-US" sz="1000" dirty="0"/>
          </a:p>
          <a:p>
            <a:r>
              <a:rPr lang="en-US" sz="1000" dirty="0"/>
              <a:t>Example</a:t>
            </a:r>
            <a:endParaRPr lang="en-US" sz="1000" dirty="0"/>
          </a:p>
          <a:p>
            <a:pPr lvl="1">
              <a:lnSpc>
                <a:spcPct val="70000"/>
              </a:lnSpc>
              <a:buFont typeface="Monotype Sorts" pitchFamily="-65" charset="2"/>
              <a:buNone/>
            </a:pPr>
            <a:r>
              <a:rPr lang="en-US" sz="1000" dirty="0"/>
              <a:t>	</a:t>
            </a:r>
            <a:r>
              <a:rPr lang="en-US" sz="1000" dirty="0">
                <a:solidFill>
                  <a:srgbClr val="993300"/>
                </a:solidFill>
              </a:rPr>
              <a:t>&lt;! ELEMENT department (</a:t>
            </a:r>
            <a:r>
              <a:rPr lang="en-US" sz="1000" dirty="0" err="1">
                <a:solidFill>
                  <a:srgbClr val="993300"/>
                </a:solidFill>
              </a:rPr>
              <a:t>dept_name</a:t>
            </a:r>
            <a:r>
              <a:rPr lang="en-US" sz="1000" dirty="0">
                <a:solidFill>
                  <a:srgbClr val="993300"/>
                </a:solidFill>
              </a:rPr>
              <a:t>  building, budget)&gt;</a:t>
            </a:r>
            <a:endParaRPr lang="en-US" sz="1000" dirty="0">
              <a:solidFill>
                <a:srgbClr val="993300"/>
              </a:solidFill>
            </a:endParaRPr>
          </a:p>
          <a:p>
            <a:pPr lvl="1">
              <a:lnSpc>
                <a:spcPct val="70000"/>
              </a:lnSpc>
              <a:buFont typeface="Monotype Sorts" pitchFamily="-65" charset="2"/>
              <a:buNone/>
            </a:pPr>
            <a:r>
              <a:rPr lang="en-US" sz="1000" dirty="0">
                <a:solidFill>
                  <a:srgbClr val="993300"/>
                </a:solidFill>
              </a:rPr>
              <a:t>   	&lt;! ELEMENT </a:t>
            </a:r>
            <a:r>
              <a:rPr lang="en-US" sz="1000" dirty="0" err="1">
                <a:solidFill>
                  <a:srgbClr val="993300"/>
                </a:solidFill>
              </a:rPr>
              <a:t>dept_name</a:t>
            </a:r>
            <a:r>
              <a:rPr lang="en-US" sz="1000" dirty="0">
                <a:solidFill>
                  <a:srgbClr val="993300"/>
                </a:solidFill>
              </a:rPr>
              <a:t> (#PCDATA)&gt;</a:t>
            </a:r>
            <a:endParaRPr lang="en-US" sz="1000" dirty="0">
              <a:solidFill>
                <a:srgbClr val="993300"/>
              </a:solidFill>
            </a:endParaRPr>
          </a:p>
          <a:p>
            <a:pPr lvl="1">
              <a:lnSpc>
                <a:spcPct val="70000"/>
              </a:lnSpc>
              <a:buFont typeface="Monotype Sorts" pitchFamily="-65" charset="2"/>
              <a:buNone/>
            </a:pPr>
            <a:r>
              <a:rPr lang="en-US" sz="1000" dirty="0">
                <a:solidFill>
                  <a:srgbClr val="993300"/>
                </a:solidFill>
              </a:rPr>
              <a:t>	&lt;! ELEMENT budget (#PCDATA)&gt;</a:t>
            </a:r>
            <a:endParaRPr lang="en-US" sz="1000" dirty="0">
              <a:solidFill>
                <a:srgbClr val="993300"/>
              </a:solidFill>
            </a:endParaRPr>
          </a:p>
          <a:p>
            <a:r>
              <a:rPr lang="en-US" sz="1000" dirty="0" err="1"/>
              <a:t>Subelement</a:t>
            </a:r>
            <a:r>
              <a:rPr lang="en-US" sz="1000" dirty="0"/>
              <a:t> specification may have regular expressions</a:t>
            </a:r>
            <a:endParaRPr lang="en-US" sz="1000" dirty="0"/>
          </a:p>
          <a:p>
            <a:pPr lvl="1">
              <a:lnSpc>
                <a:spcPct val="70000"/>
              </a:lnSpc>
              <a:buFont typeface="Monotype Sorts" pitchFamily="-65" charset="2"/>
              <a:buNone/>
            </a:pPr>
            <a:r>
              <a:rPr lang="en-US" sz="1000" dirty="0"/>
              <a:t>  &lt;!ELEMENT university ( ( department | course | instructor | teaches )+)&gt;</a:t>
            </a:r>
            <a:endParaRPr lang="en-US" sz="1000" dirty="0"/>
          </a:p>
          <a:p>
            <a:pPr lvl="2"/>
            <a:r>
              <a:rPr lang="en-US" sz="1000" dirty="0"/>
              <a:t>Notation: </a:t>
            </a:r>
            <a:endParaRPr lang="en-US" sz="1000" dirty="0"/>
          </a:p>
          <a:p>
            <a:pPr lvl="3"/>
            <a:r>
              <a:rPr lang="en-US" sz="1000" dirty="0"/>
              <a:t> “|”   -  alternatives</a:t>
            </a:r>
            <a:endParaRPr lang="en-US" sz="1000" dirty="0"/>
          </a:p>
          <a:p>
            <a:pPr lvl="3"/>
            <a:r>
              <a:rPr lang="en-US" sz="1000" dirty="0"/>
              <a:t> “+”  -  1 or more occurrences</a:t>
            </a:r>
            <a:endParaRPr lang="en-US" sz="1000" dirty="0"/>
          </a:p>
          <a:p>
            <a:pPr lvl="3"/>
            <a:r>
              <a:rPr lang="en-US" sz="1000" dirty="0"/>
              <a:t> “*”   -  0 or more occurrences</a:t>
            </a:r>
            <a:endParaRPr lang="en-US" sz="1000" dirty="0"/>
          </a:p>
          <a:p>
            <a:pPr lvl="1">
              <a:buFont typeface="Monotype Sorts" pitchFamily="-65" charset="2"/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University DTD</a:t>
            </a:r>
            <a:endParaRPr lang="en-US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828800" y="857250"/>
            <a:ext cx="5829300" cy="3336131"/>
          </a:xfrm>
        </p:spPr>
        <p:txBody>
          <a:bodyPr/>
          <a:lstStyle/>
          <a:p>
            <a:pPr>
              <a:buFont typeface="Monotype Sorts" pitchFamily="-65" charset="2"/>
              <a:buNone/>
            </a:pPr>
            <a:r>
              <a:rPr lang="en-US" sz="1400" dirty="0">
                <a:solidFill>
                  <a:srgbClr val="993300"/>
                </a:solidFill>
              </a:rPr>
              <a:t>&lt;!DOCTYPE  university [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&lt;!ELEMENT university ( (</a:t>
            </a:r>
            <a:r>
              <a:rPr lang="en-US" sz="1400" dirty="0" err="1">
                <a:solidFill>
                  <a:srgbClr val="993300"/>
                </a:solidFill>
              </a:rPr>
              <a:t>department|course|instructor|teaches</a:t>
            </a:r>
            <a:r>
              <a:rPr lang="en-US" sz="1400" dirty="0">
                <a:solidFill>
                  <a:srgbClr val="993300"/>
                </a:solidFill>
              </a:rPr>
              <a:t>)+)&gt;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&lt;!ELEMENT department ( dept name, building, budget)&gt;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&lt;!ELEMENT course ( course id, title, dept name, credits)&gt;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&lt;!ELEMENT instructor (IID, name, dept name, salary)&gt;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&lt;!ELEMENT teaches (IID, course id)&gt;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&lt;!ELEMENT dept name( #PCDATA )&gt;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&lt;!ELEMENT building( #PCDATA )&gt;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&lt;!ELEMENT budget( #PCDATA )&gt;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&lt;!ELEMENT course id ( #PCDATA )&gt;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&lt;!ELEMENT title ( #PCDATA )&gt;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&lt;!ELEMENT credits( #PCDATA )&gt;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&lt;!ELEMENT IID( #PCDATA )&gt;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&lt;!ELEMENT name( #PCDATA )&gt;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&lt;!ELEMENT salary( #PCDATA )&gt;</a:t>
            </a:r>
            <a:endParaRPr lang="en-US" sz="1400" dirty="0">
              <a:solidFill>
                <a:srgbClr val="993300"/>
              </a:solidFill>
            </a:endParaRPr>
          </a:p>
          <a:p>
            <a:pPr>
              <a:buFont typeface="Monotype Sorts" pitchFamily="-65" charset="2"/>
              <a:buNone/>
            </a:pPr>
            <a:r>
              <a:rPr lang="en-US" sz="1400" dirty="0">
                <a:solidFill>
                  <a:srgbClr val="993300"/>
                </a:solidFill>
              </a:rPr>
              <a:t>]&gt;</a:t>
            </a:r>
            <a:endParaRPr lang="en-US" sz="1400" dirty="0">
              <a:solidFill>
                <a:srgbClr val="993300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00380" y="843915"/>
            <a:ext cx="723265" cy="955040"/>
            <a:chOff x="737" y="4617"/>
            <a:chExt cx="1139" cy="1504"/>
          </a:xfrm>
        </p:grpSpPr>
        <p:pic>
          <p:nvPicPr>
            <p:cNvPr id="2" name="Picture 101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737" y="4617"/>
              <a:ext cx="1139" cy="113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文本框 2"/>
            <p:cNvSpPr txBox="1"/>
            <p:nvPr/>
          </p:nvSpPr>
          <p:spPr>
            <a:xfrm>
              <a:off x="1077" y="5638"/>
              <a:ext cx="45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4</a:t>
              </a:r>
              <a:endParaRPr lang="en-US" altLang="zh-CN" sz="1400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Attribute Specification in DTD</a:t>
            </a:r>
            <a:endParaRPr lang="en-US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19263" y="745724"/>
            <a:ext cx="5749077" cy="4169176"/>
          </a:xfrm>
        </p:spPr>
        <p:txBody>
          <a:bodyPr/>
          <a:lstStyle/>
          <a:p>
            <a:pPr>
              <a:lnSpc>
                <a:spcPct val="90000"/>
              </a:lnSpc>
              <a:buSzPct val="110000"/>
              <a:buFont typeface="Wingdings" panose="05000000000000000000" pitchFamily="2" charset="2"/>
              <a:buChar char="§"/>
            </a:pPr>
            <a:r>
              <a:rPr lang="en-US" sz="800" dirty="0"/>
              <a:t>Attribute specification : for each attribute  </a:t>
            </a:r>
            <a:endParaRPr lang="en-US" sz="800" dirty="0"/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sz="800" dirty="0"/>
              <a:t>Name</a:t>
            </a:r>
            <a:endParaRPr lang="en-US" sz="800" dirty="0"/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sz="800" dirty="0"/>
              <a:t>Type of attribute </a:t>
            </a:r>
            <a:endParaRPr lang="en-US" sz="800" dirty="0"/>
          </a:p>
          <a:p>
            <a:pPr lvl="2">
              <a:lnSpc>
                <a:spcPct val="90000"/>
              </a:lnSpc>
            </a:pPr>
            <a:r>
              <a:rPr lang="en-US" sz="800" dirty="0"/>
              <a:t>CDATA</a:t>
            </a:r>
            <a:endParaRPr lang="en-US" sz="800" dirty="0"/>
          </a:p>
          <a:p>
            <a:pPr lvl="2">
              <a:lnSpc>
                <a:spcPct val="90000"/>
              </a:lnSpc>
            </a:pPr>
            <a:r>
              <a:rPr lang="en-US" sz="800" dirty="0"/>
              <a:t>ID (identifier) or IDREF (ID reference) or IDREFS (multiple IDREFs) </a:t>
            </a:r>
            <a:endParaRPr lang="en-US" sz="800" dirty="0"/>
          </a:p>
          <a:p>
            <a:pPr lvl="3">
              <a:lnSpc>
                <a:spcPct val="90000"/>
              </a:lnSpc>
            </a:pPr>
            <a:r>
              <a:rPr lang="en-US" sz="800" dirty="0"/>
              <a:t>  more on this later </a:t>
            </a:r>
            <a:endParaRPr lang="en-US" sz="800" dirty="0"/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sz="800" dirty="0"/>
              <a:t>Whether  </a:t>
            </a:r>
            <a:endParaRPr lang="en-US" sz="800" dirty="0"/>
          </a:p>
          <a:p>
            <a:pPr lvl="2">
              <a:lnSpc>
                <a:spcPct val="90000"/>
              </a:lnSpc>
            </a:pPr>
            <a:r>
              <a:rPr lang="en-US" sz="800" dirty="0"/>
              <a:t>mandatory (#REQUIRED)</a:t>
            </a:r>
            <a:endParaRPr lang="en-US" sz="800" dirty="0"/>
          </a:p>
          <a:p>
            <a:pPr lvl="2">
              <a:lnSpc>
                <a:spcPct val="90000"/>
              </a:lnSpc>
            </a:pPr>
            <a:r>
              <a:rPr lang="en-US" sz="800" dirty="0"/>
              <a:t>has a default value (value), </a:t>
            </a:r>
            <a:endParaRPr lang="en-US" sz="800" dirty="0"/>
          </a:p>
          <a:p>
            <a:pPr lvl="2">
              <a:lnSpc>
                <a:spcPct val="90000"/>
              </a:lnSpc>
            </a:pPr>
            <a:r>
              <a:rPr lang="en-US" sz="800" dirty="0"/>
              <a:t>or neither (#IMPLIED)</a:t>
            </a:r>
            <a:endParaRPr lang="en-US" sz="800" dirty="0"/>
          </a:p>
          <a:p>
            <a:pPr>
              <a:lnSpc>
                <a:spcPct val="90000"/>
              </a:lnSpc>
              <a:buSzPct val="110000"/>
              <a:buFont typeface="Wingdings" panose="05000000000000000000" pitchFamily="2" charset="2"/>
              <a:buChar char="§"/>
            </a:pPr>
            <a:r>
              <a:rPr lang="en-US" sz="800" dirty="0"/>
              <a:t>Examples</a:t>
            </a:r>
            <a:endParaRPr lang="en-US" sz="800" dirty="0"/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sz="800" dirty="0"/>
              <a:t>&lt;!ATTLIST course </a:t>
            </a:r>
            <a:r>
              <a:rPr lang="en-US" sz="800" dirty="0" err="1"/>
              <a:t>course_id</a:t>
            </a:r>
            <a:r>
              <a:rPr lang="en-US" sz="800" dirty="0"/>
              <a:t> CDATA #REQUIRED&gt;, or</a:t>
            </a:r>
            <a:endParaRPr lang="en-US" sz="800" dirty="0"/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sz="800" dirty="0"/>
              <a:t>&lt;!ATTLIST course</a:t>
            </a:r>
            <a:endParaRPr lang="en-US" sz="800" dirty="0"/>
          </a:p>
          <a:p>
            <a:pPr lvl="2">
              <a:lnSpc>
                <a:spcPct val="70000"/>
              </a:lnSpc>
              <a:buFont typeface="Webdings" panose="05030102010509060703" pitchFamily="18" charset="2"/>
              <a:buNone/>
            </a:pPr>
            <a:r>
              <a:rPr lang="en-US" sz="800" dirty="0"/>
              <a:t>	</a:t>
            </a:r>
            <a:r>
              <a:rPr lang="en-US" sz="800" dirty="0" err="1"/>
              <a:t>course_id</a:t>
            </a:r>
            <a:r>
              <a:rPr lang="en-US" sz="800" dirty="0"/>
              <a:t>     ID          #REQUIRED</a:t>
            </a:r>
            <a:endParaRPr lang="en-US" sz="800" dirty="0"/>
          </a:p>
          <a:p>
            <a:pPr lvl="2">
              <a:lnSpc>
                <a:spcPct val="70000"/>
              </a:lnSpc>
              <a:buFont typeface="Webdings" panose="05030102010509060703" pitchFamily="18" charset="2"/>
              <a:buNone/>
            </a:pPr>
            <a:r>
              <a:rPr lang="en-US" sz="800" dirty="0"/>
              <a:t>    </a:t>
            </a:r>
            <a:r>
              <a:rPr lang="en-US" sz="800" dirty="0" err="1"/>
              <a:t>dept_name</a:t>
            </a:r>
            <a:r>
              <a:rPr lang="en-US" sz="800" dirty="0"/>
              <a:t>  IDREF   #REQUIRED</a:t>
            </a:r>
            <a:endParaRPr lang="en-US" sz="800" dirty="0"/>
          </a:p>
          <a:p>
            <a:pPr lvl="2">
              <a:lnSpc>
                <a:spcPct val="70000"/>
              </a:lnSpc>
              <a:buFont typeface="Webdings" panose="05030102010509060703" pitchFamily="18" charset="2"/>
              <a:buNone/>
            </a:pPr>
            <a:r>
              <a:rPr lang="en-US" sz="800" dirty="0"/>
              <a:t>	instructors    IDREFS #IMPLIED   &gt;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IDs and IDREFs</a:t>
            </a:r>
            <a:endParaRPr lang="en-US"/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20341"/>
            <a:ext cx="5780485" cy="3677840"/>
          </a:xfrm>
        </p:spPr>
        <p:txBody>
          <a:bodyPr/>
          <a:lstStyle/>
          <a:p>
            <a:r>
              <a:rPr lang="en-US" sz="1400" dirty="0"/>
              <a:t>An element can have at most one attribute of type ID</a:t>
            </a:r>
            <a:endParaRPr lang="en-US" sz="1400" dirty="0"/>
          </a:p>
          <a:p>
            <a:r>
              <a:rPr lang="en-US" sz="1400" dirty="0"/>
              <a:t>The ID attribute value of each element in an XML document must be distinct</a:t>
            </a:r>
            <a:endParaRPr lang="en-US" sz="1400" dirty="0"/>
          </a:p>
          <a:p>
            <a:pPr lvl="1"/>
            <a:r>
              <a:rPr lang="en-US" sz="1400" dirty="0"/>
              <a:t>Thus the ID attribute value is an object identifier</a:t>
            </a:r>
            <a:endParaRPr lang="en-US" sz="1400" dirty="0"/>
          </a:p>
          <a:p>
            <a:r>
              <a:rPr lang="en-US" sz="1400" dirty="0"/>
              <a:t>An attribute of type IDREF must contain the ID value of an element in the same document</a:t>
            </a:r>
            <a:endParaRPr lang="en-US" sz="1400" dirty="0"/>
          </a:p>
          <a:p>
            <a:r>
              <a:rPr lang="en-US" sz="1400" dirty="0"/>
              <a:t>An attribute of type IDREFS contains a set of (0 or more) ID values.  Each ID value must contain the ID value of an element in the same document</a:t>
            </a:r>
            <a:endParaRPr lang="en-US" sz="1400" dirty="0"/>
          </a:p>
          <a:p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University DTD with Attributes</a:t>
            </a:r>
            <a:endParaRPr lang="en-US"/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University DTD with ID and IDREF attribute types.</a:t>
            </a:r>
            <a:br>
              <a:rPr lang="en-US" sz="1400" dirty="0"/>
            </a:br>
            <a:r>
              <a:rPr lang="en-US" sz="1400" dirty="0">
                <a:solidFill>
                  <a:srgbClr val="993300"/>
                </a:solidFill>
              </a:rPr>
              <a:t>&lt;!DOCTYPE </a:t>
            </a:r>
            <a:r>
              <a:rPr lang="en-US" sz="1400" dirty="0"/>
              <a:t>university-3 [</a:t>
            </a:r>
            <a:br>
              <a:rPr lang="en-US" sz="1400" dirty="0"/>
            </a:br>
            <a:r>
              <a:rPr lang="en-US" sz="1400" dirty="0"/>
              <a:t>     &lt;!ELEMENT university ( (</a:t>
            </a:r>
            <a:r>
              <a:rPr lang="en-US" sz="1400" dirty="0" err="1"/>
              <a:t>department|course|instructor</a:t>
            </a:r>
            <a:r>
              <a:rPr lang="en-US" sz="1400" dirty="0"/>
              <a:t>)+)&gt;</a:t>
            </a:r>
            <a:br>
              <a:rPr lang="en-US" sz="1400" dirty="0"/>
            </a:br>
            <a:r>
              <a:rPr lang="en-US" sz="1400" dirty="0"/>
              <a:t>     &lt;!ELEMENT department ( building, budget )&gt;</a:t>
            </a:r>
            <a:br>
              <a:rPr lang="en-US" sz="1400" dirty="0"/>
            </a:br>
            <a:r>
              <a:rPr lang="en-US" sz="1400" dirty="0"/>
              <a:t>     &lt;!ATTLIST department</a:t>
            </a:r>
            <a:br>
              <a:rPr lang="en-US" sz="1400" dirty="0"/>
            </a:br>
            <a:r>
              <a:rPr lang="en-US" sz="1400" dirty="0"/>
              <a:t>            </a:t>
            </a:r>
            <a:r>
              <a:rPr lang="en-US" sz="1400" dirty="0" err="1"/>
              <a:t>dept_name</a:t>
            </a:r>
            <a:r>
              <a:rPr lang="en-US" sz="1400" dirty="0"/>
              <a:t> ID #REQUIRED &gt;</a:t>
            </a:r>
            <a:br>
              <a:rPr lang="en-US" sz="1400" dirty="0"/>
            </a:br>
            <a:r>
              <a:rPr lang="en-US" sz="1400" dirty="0"/>
              <a:t>     &lt;!ELEMENT course (title, credits )&gt;</a:t>
            </a:r>
            <a:br>
              <a:rPr lang="en-US" sz="1400" dirty="0"/>
            </a:br>
            <a:r>
              <a:rPr lang="en-US" sz="1400" dirty="0"/>
              <a:t>     &lt;!ATTLIST course</a:t>
            </a:r>
            <a:br>
              <a:rPr lang="en-US" sz="1400" dirty="0"/>
            </a:br>
            <a:r>
              <a:rPr lang="en-US" sz="1400" dirty="0"/>
              <a:t>            </a:t>
            </a:r>
            <a:r>
              <a:rPr lang="en-US" sz="1400" dirty="0" err="1"/>
              <a:t>course_id</a:t>
            </a:r>
            <a:r>
              <a:rPr lang="en-US" sz="1400" dirty="0"/>
              <a:t> ID #REQUIRED</a:t>
            </a:r>
            <a:br>
              <a:rPr lang="en-US" sz="1400" dirty="0"/>
            </a:br>
            <a:r>
              <a:rPr lang="en-US" sz="1400" dirty="0"/>
              <a:t>            </a:t>
            </a:r>
            <a:r>
              <a:rPr lang="en-US" sz="1400" dirty="0" err="1"/>
              <a:t>dept_name</a:t>
            </a:r>
            <a:r>
              <a:rPr lang="en-US" sz="1400" dirty="0"/>
              <a:t> IDREF #REQUIRED</a:t>
            </a:r>
            <a:br>
              <a:rPr lang="en-US" sz="1400" dirty="0"/>
            </a:br>
            <a:r>
              <a:rPr lang="en-US" sz="1400" dirty="0"/>
              <a:t>            instructors IDREFS #IMPLIED &gt;</a:t>
            </a:r>
            <a:br>
              <a:rPr lang="en-US" sz="1400" dirty="0"/>
            </a:br>
            <a:r>
              <a:rPr lang="en-US" sz="1400" dirty="0"/>
              <a:t>     &lt;!ELEMENT instructor ( name, salary )&gt;</a:t>
            </a:r>
            <a:br>
              <a:rPr lang="en-US" sz="1400" dirty="0"/>
            </a:br>
            <a:r>
              <a:rPr lang="en-US" sz="1400" dirty="0"/>
              <a:t>     &lt;!ATTLIST instructor</a:t>
            </a:r>
            <a:br>
              <a:rPr lang="en-US" sz="1400" dirty="0"/>
            </a:br>
            <a:r>
              <a:rPr lang="en-US" sz="1400" dirty="0"/>
              <a:t>            IID ID #REQUIRED </a:t>
            </a:r>
            <a:br>
              <a:rPr lang="en-US" sz="1400" dirty="0"/>
            </a:br>
            <a:r>
              <a:rPr lang="en-US" sz="1400" dirty="0"/>
              <a:t>            </a:t>
            </a:r>
            <a:r>
              <a:rPr lang="en-US" sz="1400" dirty="0" err="1"/>
              <a:t>dept_name</a:t>
            </a:r>
            <a:r>
              <a:rPr lang="en-US" sz="1400" dirty="0"/>
              <a:t> IDREF #REQUIRED &gt;</a:t>
            </a:r>
            <a:br>
              <a:rPr lang="en-US" sz="1400" dirty="0"/>
            </a:br>
            <a:r>
              <a:rPr lang="en-US" sz="1400" dirty="0"/>
              <a:t>     · · · declarations for title, credits, building,</a:t>
            </a:r>
            <a:br>
              <a:rPr lang="en-US" sz="1400" dirty="0"/>
            </a:br>
            <a:r>
              <a:rPr lang="en-US" sz="1400" dirty="0"/>
              <a:t>            budget, name and salary · · ·</a:t>
            </a:r>
            <a:br>
              <a:rPr lang="en-US" sz="1400" dirty="0"/>
            </a:br>
            <a:r>
              <a:rPr lang="en-US" sz="1400" dirty="0">
                <a:solidFill>
                  <a:srgbClr val="993300"/>
                </a:solidFill>
              </a:rPr>
              <a:t>]&gt;</a:t>
            </a:r>
            <a:endParaRPr lang="en-US" sz="1400" dirty="0">
              <a:solidFill>
                <a:srgbClr val="993300"/>
              </a:solidFill>
            </a:endParaRPr>
          </a:p>
          <a:p>
            <a:endParaRPr lang="en-US" sz="1400" dirty="0">
              <a:solidFill>
                <a:srgbClr val="993300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156325" y="1347470"/>
            <a:ext cx="723265" cy="955040"/>
            <a:chOff x="737" y="4617"/>
            <a:chExt cx="1139" cy="1504"/>
          </a:xfrm>
        </p:grpSpPr>
        <p:pic>
          <p:nvPicPr>
            <p:cNvPr id="2" name="Picture 101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737" y="4617"/>
              <a:ext cx="1139" cy="113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文本框 2"/>
            <p:cNvSpPr txBox="1"/>
            <p:nvPr/>
          </p:nvSpPr>
          <p:spPr>
            <a:xfrm>
              <a:off x="1077" y="5638"/>
              <a:ext cx="45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5</a:t>
              </a:r>
              <a:endParaRPr lang="en-US" altLang="zh-CN" sz="1400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0" y="114300"/>
            <a:ext cx="6057900" cy="457200"/>
          </a:xfrm>
        </p:spPr>
        <p:txBody>
          <a:bodyPr/>
          <a:lstStyle/>
          <a:p>
            <a:r>
              <a:rPr lang="en-US" sz="2100"/>
              <a:t>XML data with ID and IDREF attributes</a:t>
            </a:r>
            <a:endParaRPr lang="en-US" sz="2100"/>
          </a:p>
        </p:txBody>
      </p:sp>
      <p:sp>
        <p:nvSpPr>
          <p:cNvPr id="108548" name="Text Box 4"/>
          <p:cNvSpPr txBox="1">
            <a:spLocks noChangeArrowheads="1"/>
          </p:cNvSpPr>
          <p:nvPr/>
        </p:nvSpPr>
        <p:spPr bwMode="auto">
          <a:xfrm>
            <a:off x="1885950" y="628650"/>
            <a:ext cx="5257800" cy="42252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IN" sz="1275" dirty="0"/>
              <a:t>&lt;university-3&gt;</a:t>
            </a:r>
            <a:endParaRPr lang="en-IN" sz="1275" dirty="0"/>
          </a:p>
          <a:p>
            <a:r>
              <a:rPr lang="en-IN" sz="1275" dirty="0"/>
              <a:t>       </a:t>
            </a:r>
            <a:r>
              <a:rPr lang="en-IN" sz="1275" dirty="0">
                <a:solidFill>
                  <a:srgbClr val="993300"/>
                </a:solidFill>
              </a:rPr>
              <a:t>&lt;department dept name=“Comp. Sci.”&gt;</a:t>
            </a:r>
            <a:endParaRPr lang="en-IN" sz="1275" dirty="0">
              <a:solidFill>
                <a:srgbClr val="993300"/>
              </a:solidFill>
            </a:endParaRPr>
          </a:p>
          <a:p>
            <a:r>
              <a:rPr lang="en-IN" sz="1275" dirty="0">
                <a:solidFill>
                  <a:srgbClr val="993300"/>
                </a:solidFill>
              </a:rPr>
              <a:t>               &lt;building&gt; Taylor &lt;/building&gt;</a:t>
            </a:r>
            <a:endParaRPr lang="en-IN" sz="1275" dirty="0">
              <a:solidFill>
                <a:srgbClr val="993300"/>
              </a:solidFill>
            </a:endParaRPr>
          </a:p>
          <a:p>
            <a:r>
              <a:rPr lang="en-IN" sz="1275" dirty="0">
                <a:solidFill>
                  <a:srgbClr val="993300"/>
                </a:solidFill>
              </a:rPr>
              <a:t>               &lt;budget&gt; 100000 &lt;/budget&gt;</a:t>
            </a:r>
            <a:endParaRPr lang="en-IN" sz="1275" dirty="0">
              <a:solidFill>
                <a:srgbClr val="993300"/>
              </a:solidFill>
            </a:endParaRPr>
          </a:p>
          <a:p>
            <a:r>
              <a:rPr lang="en-IN" sz="1275" dirty="0">
                <a:solidFill>
                  <a:srgbClr val="993300"/>
                </a:solidFill>
              </a:rPr>
              <a:t>       &lt;/department&gt;</a:t>
            </a:r>
            <a:endParaRPr lang="en-IN" sz="1275" dirty="0">
              <a:solidFill>
                <a:srgbClr val="993300"/>
              </a:solidFill>
            </a:endParaRPr>
          </a:p>
          <a:p>
            <a:r>
              <a:rPr lang="en-IN" sz="1275" dirty="0">
                <a:solidFill>
                  <a:srgbClr val="993300"/>
                </a:solidFill>
              </a:rPr>
              <a:t>       &lt;department dept name=“Biology”&gt;</a:t>
            </a:r>
            <a:endParaRPr lang="en-IN" sz="1275" dirty="0">
              <a:solidFill>
                <a:srgbClr val="993300"/>
              </a:solidFill>
            </a:endParaRPr>
          </a:p>
          <a:p>
            <a:r>
              <a:rPr lang="en-IN" sz="1275" dirty="0">
                <a:solidFill>
                  <a:srgbClr val="993300"/>
                </a:solidFill>
              </a:rPr>
              <a:t>               &lt;building&gt; Watson &lt;/building&gt;</a:t>
            </a:r>
            <a:endParaRPr lang="en-IN" sz="1275" dirty="0">
              <a:solidFill>
                <a:srgbClr val="993300"/>
              </a:solidFill>
            </a:endParaRPr>
          </a:p>
          <a:p>
            <a:r>
              <a:rPr lang="en-IN" sz="1275" dirty="0">
                <a:solidFill>
                  <a:srgbClr val="993300"/>
                </a:solidFill>
              </a:rPr>
              <a:t>               &lt;budget&gt; 90000 &lt;/budget&gt;</a:t>
            </a:r>
            <a:endParaRPr lang="en-IN" sz="1275" dirty="0">
              <a:solidFill>
                <a:srgbClr val="993300"/>
              </a:solidFill>
            </a:endParaRPr>
          </a:p>
          <a:p>
            <a:r>
              <a:rPr lang="en-IN" sz="1275" dirty="0">
                <a:solidFill>
                  <a:srgbClr val="993300"/>
                </a:solidFill>
              </a:rPr>
              <a:t>       &lt;/department&gt;</a:t>
            </a:r>
            <a:endParaRPr lang="en-IN" sz="1275" dirty="0">
              <a:solidFill>
                <a:srgbClr val="993300"/>
              </a:solidFill>
            </a:endParaRPr>
          </a:p>
          <a:p>
            <a:r>
              <a:rPr lang="en-IN" sz="1275" dirty="0"/>
              <a:t>       </a:t>
            </a:r>
            <a:r>
              <a:rPr lang="en-IN" sz="1275" dirty="0">
                <a:solidFill>
                  <a:srgbClr val="008000"/>
                </a:solidFill>
              </a:rPr>
              <a:t>&lt;course </a:t>
            </a:r>
            <a:r>
              <a:rPr lang="en-IN" sz="1275" dirty="0" err="1">
                <a:solidFill>
                  <a:srgbClr val="008000"/>
                </a:solidFill>
              </a:rPr>
              <a:t>course</a:t>
            </a:r>
            <a:r>
              <a:rPr lang="en-IN" sz="1275" dirty="0">
                <a:solidFill>
                  <a:srgbClr val="008000"/>
                </a:solidFill>
              </a:rPr>
              <a:t> id=“CS-101” dept name=“Comp. Sci”</a:t>
            </a:r>
            <a:endParaRPr lang="en-IN" sz="1275" dirty="0">
              <a:solidFill>
                <a:srgbClr val="008000"/>
              </a:solidFill>
            </a:endParaRPr>
          </a:p>
          <a:p>
            <a:r>
              <a:rPr lang="en-IN" sz="1275" dirty="0">
                <a:solidFill>
                  <a:srgbClr val="008000"/>
                </a:solidFill>
              </a:rPr>
              <a:t>                         instructors=“10101 83821”&gt;</a:t>
            </a:r>
            <a:endParaRPr lang="en-IN" sz="1275" dirty="0">
              <a:solidFill>
                <a:srgbClr val="008000"/>
              </a:solidFill>
            </a:endParaRPr>
          </a:p>
          <a:p>
            <a:r>
              <a:rPr lang="en-IN" sz="1275" dirty="0">
                <a:solidFill>
                  <a:srgbClr val="008000"/>
                </a:solidFill>
              </a:rPr>
              <a:t>                &lt;title&gt; Intro. to Computer Science &lt;/title&gt;</a:t>
            </a:r>
            <a:endParaRPr lang="en-IN" sz="1275" dirty="0">
              <a:solidFill>
                <a:srgbClr val="008000"/>
              </a:solidFill>
            </a:endParaRPr>
          </a:p>
          <a:p>
            <a:r>
              <a:rPr lang="en-IN" sz="1275" dirty="0">
                <a:solidFill>
                  <a:srgbClr val="008000"/>
                </a:solidFill>
              </a:rPr>
              <a:t>                &lt;credits&gt; 4 &lt;/credits&gt;</a:t>
            </a:r>
            <a:endParaRPr lang="en-IN" sz="1275" dirty="0">
              <a:solidFill>
                <a:srgbClr val="008000"/>
              </a:solidFill>
            </a:endParaRPr>
          </a:p>
          <a:p>
            <a:r>
              <a:rPr lang="en-IN" sz="1275" dirty="0">
                <a:solidFill>
                  <a:srgbClr val="008000"/>
                </a:solidFill>
              </a:rPr>
              <a:t>       &lt;/course&gt;</a:t>
            </a:r>
            <a:endParaRPr lang="en-IN" sz="1275" dirty="0">
              <a:solidFill>
                <a:srgbClr val="008000"/>
              </a:solidFill>
            </a:endParaRPr>
          </a:p>
          <a:p>
            <a:r>
              <a:rPr lang="en-US" sz="1275" dirty="0"/>
              <a:t>       ….</a:t>
            </a:r>
            <a:endParaRPr lang="en-US" sz="1275" dirty="0"/>
          </a:p>
          <a:p>
            <a:r>
              <a:rPr lang="en-US" sz="1275" dirty="0"/>
              <a:t>       </a:t>
            </a:r>
            <a:r>
              <a:rPr lang="en-IN" sz="1275" dirty="0">
                <a:solidFill>
                  <a:srgbClr val="006666"/>
                </a:solidFill>
              </a:rPr>
              <a:t>&lt;instructor IID=“10101” dept name=“Comp. Sci.”&gt;</a:t>
            </a:r>
            <a:endParaRPr lang="en-IN" sz="1275" dirty="0">
              <a:solidFill>
                <a:srgbClr val="006666"/>
              </a:solidFill>
            </a:endParaRPr>
          </a:p>
          <a:p>
            <a:r>
              <a:rPr lang="en-IN" sz="1275" dirty="0">
                <a:solidFill>
                  <a:srgbClr val="006666"/>
                </a:solidFill>
              </a:rPr>
              <a:t>                &lt;name&gt; Srinivasan &lt;/name&gt;</a:t>
            </a:r>
            <a:endParaRPr lang="en-IN" sz="1275" dirty="0">
              <a:solidFill>
                <a:srgbClr val="006666"/>
              </a:solidFill>
            </a:endParaRPr>
          </a:p>
          <a:p>
            <a:r>
              <a:rPr lang="en-IN" sz="1275" dirty="0">
                <a:solidFill>
                  <a:srgbClr val="006666"/>
                </a:solidFill>
              </a:rPr>
              <a:t>                &lt;salary&gt; 65000 &lt;/salary&gt;</a:t>
            </a:r>
            <a:endParaRPr lang="en-IN" sz="1275" dirty="0">
              <a:solidFill>
                <a:srgbClr val="006666"/>
              </a:solidFill>
            </a:endParaRPr>
          </a:p>
          <a:p>
            <a:r>
              <a:rPr lang="en-IN" sz="1275" dirty="0">
                <a:solidFill>
                  <a:srgbClr val="006666"/>
                </a:solidFill>
              </a:rPr>
              <a:t>       &lt;/instructor&gt;</a:t>
            </a:r>
            <a:endParaRPr lang="en-IN" sz="1275" dirty="0">
              <a:solidFill>
                <a:srgbClr val="006666"/>
              </a:solidFill>
            </a:endParaRPr>
          </a:p>
          <a:p>
            <a:r>
              <a:rPr lang="en-US" sz="1275" dirty="0"/>
              <a:t>       ….</a:t>
            </a:r>
            <a:endParaRPr lang="en-US" sz="1275" dirty="0"/>
          </a:p>
          <a:p>
            <a:r>
              <a:rPr lang="en-US" sz="1275" dirty="0"/>
              <a:t>&lt;/university-3&gt;</a:t>
            </a:r>
            <a:endParaRPr lang="en-IN" sz="1275" dirty="0"/>
          </a:p>
        </p:txBody>
      </p:sp>
      <p:grpSp>
        <p:nvGrpSpPr>
          <p:cNvPr id="4" name="组合 3"/>
          <p:cNvGrpSpPr/>
          <p:nvPr/>
        </p:nvGrpSpPr>
        <p:grpSpPr>
          <a:xfrm>
            <a:off x="539115" y="987425"/>
            <a:ext cx="723265" cy="955040"/>
            <a:chOff x="737" y="4617"/>
            <a:chExt cx="1139" cy="1504"/>
          </a:xfrm>
        </p:grpSpPr>
        <p:pic>
          <p:nvPicPr>
            <p:cNvPr id="3" name="Picture 101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737" y="4617"/>
              <a:ext cx="1139" cy="113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文本框 4"/>
            <p:cNvSpPr txBox="1"/>
            <p:nvPr/>
          </p:nvSpPr>
          <p:spPr>
            <a:xfrm>
              <a:off x="1077" y="5638"/>
              <a:ext cx="45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6</a:t>
              </a:r>
              <a:endParaRPr lang="en-US" altLang="zh-CN" sz="1400"/>
            </a:p>
          </p:txBody>
        </p:sp>
      </p:grpSp>
    </p:spTree>
  </p:cSld>
  <p:clrMapOvr>
    <a:masterClrMapping/>
  </p:clrMapOvr>
  <p:transition advTm="5456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 of DTDs</a:t>
            </a:r>
            <a:endParaRPr lang="en-US"/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20341"/>
            <a:ext cx="5780485" cy="3677840"/>
          </a:xfrm>
        </p:spPr>
        <p:txBody>
          <a:bodyPr/>
          <a:lstStyle/>
          <a:p>
            <a:r>
              <a:rPr lang="en-US" sz="1400" dirty="0"/>
              <a:t>No typing of text elements and attributes</a:t>
            </a:r>
            <a:endParaRPr lang="en-US" sz="1400" dirty="0"/>
          </a:p>
          <a:p>
            <a:pPr lvl="1"/>
            <a:r>
              <a:rPr lang="en-US" sz="1400" dirty="0"/>
              <a:t>All values are strings, no integers, reals, etc.</a:t>
            </a:r>
            <a:endParaRPr lang="en-US" sz="1400" dirty="0"/>
          </a:p>
          <a:p>
            <a:r>
              <a:rPr lang="en-US" sz="1400" dirty="0"/>
              <a:t>Difficult to specify unordered sets of </a:t>
            </a:r>
            <a:r>
              <a:rPr lang="en-US" sz="1400" dirty="0" err="1"/>
              <a:t>subelements</a:t>
            </a:r>
            <a:endParaRPr lang="en-US" sz="1400" dirty="0"/>
          </a:p>
          <a:p>
            <a:pPr lvl="1"/>
            <a:r>
              <a:rPr lang="en-US" sz="1400" dirty="0"/>
              <a:t>Order is usually irrelevant in databases (unlike in the document-layout environment from which XML evolved)</a:t>
            </a:r>
            <a:endParaRPr lang="en-US" sz="1400" dirty="0"/>
          </a:p>
          <a:p>
            <a:pPr lvl="1"/>
            <a:r>
              <a:rPr lang="en-US" sz="1400" dirty="0"/>
              <a:t>(A | B)* allows specification of an unordered set, but</a:t>
            </a:r>
            <a:endParaRPr lang="en-US" sz="1400" dirty="0"/>
          </a:p>
          <a:p>
            <a:pPr lvl="2"/>
            <a:r>
              <a:rPr lang="en-US" sz="1400" dirty="0"/>
              <a:t>Cannot ensure that each of A and B occurs only once</a:t>
            </a:r>
            <a:endParaRPr lang="en-US" sz="1400" dirty="0"/>
          </a:p>
          <a:p>
            <a:r>
              <a:rPr lang="en-US" sz="1400" dirty="0"/>
              <a:t>IDs and IDREFs are untyped</a:t>
            </a:r>
            <a:endParaRPr lang="en-US" sz="1400" dirty="0"/>
          </a:p>
          <a:p>
            <a:pPr lvl="1"/>
            <a:r>
              <a:rPr lang="en-US" sz="1400" dirty="0"/>
              <a:t>The </a:t>
            </a:r>
            <a:r>
              <a:rPr lang="en-US" sz="1400" i="1" dirty="0"/>
              <a:t>instructors</a:t>
            </a:r>
            <a:r>
              <a:rPr lang="en-US" sz="1400" dirty="0"/>
              <a:t> attribute of an course may contain a reference to another course, which is meaningless</a:t>
            </a:r>
            <a:endParaRPr lang="en-US" sz="1400" dirty="0"/>
          </a:p>
          <a:p>
            <a:pPr lvl="2"/>
            <a:r>
              <a:rPr lang="en-US" sz="1400" i="1" dirty="0"/>
              <a:t>instructors</a:t>
            </a:r>
            <a:r>
              <a:rPr lang="en-US" sz="1400" dirty="0"/>
              <a:t> attribute should ideally be constrained to refer to instructor elements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XML Schema</a:t>
            </a:r>
            <a:endParaRPr lang="en-US"/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20341"/>
            <a:ext cx="5780485" cy="3677840"/>
          </a:xfrm>
        </p:spPr>
        <p:txBody>
          <a:bodyPr/>
          <a:lstStyle/>
          <a:p>
            <a:r>
              <a:rPr lang="en-US" sz="1200" dirty="0"/>
              <a:t>XML Schema is a more sophisticated schema language which addresses the drawbacks of DTDs.  Supports</a:t>
            </a:r>
            <a:endParaRPr lang="en-US" sz="1200" dirty="0"/>
          </a:p>
          <a:p>
            <a:pPr lvl="1"/>
            <a:r>
              <a:rPr lang="en-US" sz="1200" dirty="0"/>
              <a:t>Typing of values</a:t>
            </a:r>
            <a:endParaRPr lang="en-US" sz="1200" dirty="0"/>
          </a:p>
          <a:p>
            <a:pPr lvl="2"/>
            <a:r>
              <a:rPr lang="en-US" sz="1200" dirty="0"/>
              <a:t>E.g., integer, string, </a:t>
            </a:r>
            <a:r>
              <a:rPr lang="en-US" sz="1200" dirty="0" err="1"/>
              <a:t>etc</a:t>
            </a:r>
            <a:endParaRPr lang="en-US" sz="1200" dirty="0"/>
          </a:p>
          <a:p>
            <a:pPr lvl="2"/>
            <a:r>
              <a:rPr lang="en-US" sz="1200" dirty="0"/>
              <a:t>Also, constraints on min/max values</a:t>
            </a:r>
            <a:endParaRPr lang="en-US" sz="1200" dirty="0"/>
          </a:p>
          <a:p>
            <a:pPr lvl="1"/>
            <a:r>
              <a:rPr lang="en-US" sz="1200" dirty="0"/>
              <a:t>User-defined, </a:t>
            </a:r>
            <a:r>
              <a:rPr lang="en-US" sz="1200" dirty="0" err="1"/>
              <a:t>comlex</a:t>
            </a:r>
            <a:r>
              <a:rPr lang="en-US" sz="1200" dirty="0"/>
              <a:t> types</a:t>
            </a:r>
            <a:endParaRPr lang="en-US" sz="1200" dirty="0"/>
          </a:p>
          <a:p>
            <a:pPr lvl="1"/>
            <a:r>
              <a:rPr lang="en-US" sz="1200" dirty="0"/>
              <a:t>Many more features, including</a:t>
            </a:r>
            <a:endParaRPr lang="en-US" sz="1200" dirty="0"/>
          </a:p>
          <a:p>
            <a:pPr lvl="2"/>
            <a:r>
              <a:rPr lang="en-US" sz="1200" dirty="0"/>
              <a:t>uniqueness and foreign key constraints, inheritance </a:t>
            </a:r>
            <a:endParaRPr lang="en-US" sz="1200" dirty="0"/>
          </a:p>
          <a:p>
            <a:r>
              <a:rPr lang="en-US" sz="1200" dirty="0"/>
              <a:t>XML Schema is itself specified in XML syntax, unlike DTDs</a:t>
            </a:r>
            <a:endParaRPr lang="en-US" sz="1200" dirty="0"/>
          </a:p>
          <a:p>
            <a:pPr lvl="1"/>
            <a:r>
              <a:rPr lang="en-US" sz="1200" dirty="0"/>
              <a:t>More-standard representation, but verbose</a:t>
            </a:r>
            <a:endParaRPr lang="en-US" sz="1200" dirty="0"/>
          </a:p>
          <a:p>
            <a:r>
              <a:rPr lang="en-US" sz="1200" dirty="0"/>
              <a:t>XML Scheme is integrated with namespaces </a:t>
            </a:r>
            <a:endParaRPr lang="en-US" sz="1200" dirty="0"/>
          </a:p>
          <a:p>
            <a:r>
              <a:rPr lang="en-US" sz="1200" dirty="0"/>
              <a:t>BUT:  XML Schema is significantly more complicated than DTDs.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XML Schema Version of Univ. DTD</a:t>
            </a:r>
            <a:endParaRPr lang="en-US"/>
          </a:p>
        </p:txBody>
      </p:sp>
      <p:sp>
        <p:nvSpPr>
          <p:cNvPr id="110597" name="Text Box 5"/>
          <p:cNvSpPr txBox="1">
            <a:spLocks noChangeArrowheads="1"/>
          </p:cNvSpPr>
          <p:nvPr/>
        </p:nvSpPr>
        <p:spPr bwMode="auto">
          <a:xfrm>
            <a:off x="1719263" y="545306"/>
            <a:ext cx="5881688" cy="43383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IN" sz="1200" dirty="0"/>
              <a:t>&lt;</a:t>
            </a:r>
            <a:r>
              <a:rPr lang="en-IN" sz="1200" dirty="0" err="1"/>
              <a:t>xs:schema</a:t>
            </a:r>
            <a:r>
              <a:rPr lang="en-IN" sz="1200" dirty="0"/>
              <a:t> </a:t>
            </a:r>
            <a:r>
              <a:rPr lang="en-IN" sz="1200" dirty="0" err="1"/>
              <a:t>xmlns:xs</a:t>
            </a:r>
            <a:r>
              <a:rPr lang="en-IN" sz="1200" dirty="0"/>
              <a:t>=“</a:t>
            </a:r>
            <a:r>
              <a:rPr lang="en-IN" sz="1200" dirty="0">
                <a:solidFill>
                  <a:schemeClr val="hlink"/>
                </a:solidFill>
              </a:rPr>
              <a:t>http://www.w3.org/2001/</a:t>
            </a:r>
            <a:r>
              <a:rPr lang="en-IN" sz="1200" dirty="0" err="1">
                <a:solidFill>
                  <a:schemeClr val="hlink"/>
                </a:solidFill>
              </a:rPr>
              <a:t>XMLSchema</a:t>
            </a:r>
            <a:r>
              <a:rPr lang="en-IN" sz="1200" dirty="0"/>
              <a:t>”&gt;</a:t>
            </a:r>
            <a:endParaRPr lang="en-IN" sz="1200" dirty="0"/>
          </a:p>
          <a:p>
            <a:r>
              <a:rPr lang="en-IN" sz="1200" dirty="0"/>
              <a:t>&lt;</a:t>
            </a:r>
            <a:r>
              <a:rPr lang="en-IN" sz="1200" dirty="0" err="1"/>
              <a:t>xs:element</a:t>
            </a:r>
            <a:r>
              <a:rPr lang="en-IN" sz="1200" dirty="0"/>
              <a:t> name=“university” type=“</a:t>
            </a:r>
            <a:r>
              <a:rPr lang="en-IN" sz="1200" dirty="0" err="1"/>
              <a:t>universityType</a:t>
            </a:r>
            <a:r>
              <a:rPr lang="en-IN" sz="1200" dirty="0"/>
              <a:t>” /&gt;</a:t>
            </a:r>
            <a:endParaRPr lang="en-IN" sz="1200" dirty="0"/>
          </a:p>
          <a:p>
            <a:r>
              <a:rPr lang="en-IN" sz="1200" dirty="0">
                <a:solidFill>
                  <a:srgbClr val="993300"/>
                </a:solidFill>
              </a:rPr>
              <a:t>&lt;</a:t>
            </a:r>
            <a:r>
              <a:rPr lang="en-IN" sz="1200" dirty="0" err="1">
                <a:solidFill>
                  <a:srgbClr val="993300"/>
                </a:solidFill>
              </a:rPr>
              <a:t>xs:element</a:t>
            </a:r>
            <a:r>
              <a:rPr lang="en-IN" sz="1200" dirty="0">
                <a:solidFill>
                  <a:srgbClr val="993300"/>
                </a:solidFill>
              </a:rPr>
              <a:t> name=“department”&gt;</a:t>
            </a:r>
            <a:endParaRPr lang="en-IN" sz="1200" dirty="0">
              <a:solidFill>
                <a:srgbClr val="993300"/>
              </a:solidFill>
            </a:endParaRPr>
          </a:p>
          <a:p>
            <a:r>
              <a:rPr lang="en-IN" sz="1200" dirty="0">
                <a:solidFill>
                  <a:srgbClr val="993300"/>
                </a:solidFill>
              </a:rPr>
              <a:t>     &lt;</a:t>
            </a:r>
            <a:r>
              <a:rPr lang="en-IN" sz="1200" dirty="0" err="1">
                <a:solidFill>
                  <a:srgbClr val="993300"/>
                </a:solidFill>
              </a:rPr>
              <a:t>xs:complexType</a:t>
            </a:r>
            <a:r>
              <a:rPr lang="en-IN" sz="1200" dirty="0">
                <a:solidFill>
                  <a:srgbClr val="993300"/>
                </a:solidFill>
              </a:rPr>
              <a:t>&gt;</a:t>
            </a:r>
            <a:endParaRPr lang="en-IN" sz="1200" dirty="0">
              <a:solidFill>
                <a:srgbClr val="993300"/>
              </a:solidFill>
            </a:endParaRPr>
          </a:p>
          <a:p>
            <a:r>
              <a:rPr lang="en-IN" sz="1200" dirty="0">
                <a:solidFill>
                  <a:srgbClr val="993300"/>
                </a:solidFill>
              </a:rPr>
              <a:t>          &lt;</a:t>
            </a:r>
            <a:r>
              <a:rPr lang="en-IN" sz="1200" dirty="0" err="1">
                <a:solidFill>
                  <a:srgbClr val="993300"/>
                </a:solidFill>
              </a:rPr>
              <a:t>xs:sequence</a:t>
            </a:r>
            <a:r>
              <a:rPr lang="en-IN" sz="1200" dirty="0">
                <a:solidFill>
                  <a:srgbClr val="993300"/>
                </a:solidFill>
              </a:rPr>
              <a:t>&gt;</a:t>
            </a:r>
            <a:endParaRPr lang="en-IN" sz="1200" dirty="0">
              <a:solidFill>
                <a:srgbClr val="993300"/>
              </a:solidFill>
            </a:endParaRPr>
          </a:p>
          <a:p>
            <a:r>
              <a:rPr lang="en-IN" sz="1200" dirty="0">
                <a:solidFill>
                  <a:srgbClr val="993300"/>
                </a:solidFill>
              </a:rPr>
              <a:t>              &lt;</a:t>
            </a:r>
            <a:r>
              <a:rPr lang="en-IN" sz="1200" dirty="0" err="1">
                <a:solidFill>
                  <a:srgbClr val="993300"/>
                </a:solidFill>
              </a:rPr>
              <a:t>xs:element</a:t>
            </a:r>
            <a:r>
              <a:rPr lang="en-IN" sz="1200" dirty="0">
                <a:solidFill>
                  <a:srgbClr val="993300"/>
                </a:solidFill>
              </a:rPr>
              <a:t> name=“dept name” type=“</a:t>
            </a:r>
            <a:r>
              <a:rPr lang="en-IN" sz="1200" dirty="0" err="1">
                <a:solidFill>
                  <a:srgbClr val="993300"/>
                </a:solidFill>
              </a:rPr>
              <a:t>xs:string</a:t>
            </a:r>
            <a:r>
              <a:rPr lang="en-IN" sz="1200" dirty="0">
                <a:solidFill>
                  <a:srgbClr val="993300"/>
                </a:solidFill>
              </a:rPr>
              <a:t>”/&gt;</a:t>
            </a:r>
            <a:endParaRPr lang="en-IN" sz="1200" dirty="0">
              <a:solidFill>
                <a:srgbClr val="993300"/>
              </a:solidFill>
            </a:endParaRPr>
          </a:p>
          <a:p>
            <a:r>
              <a:rPr lang="en-IN" sz="1200" dirty="0">
                <a:solidFill>
                  <a:srgbClr val="993300"/>
                </a:solidFill>
              </a:rPr>
              <a:t>              &lt;</a:t>
            </a:r>
            <a:r>
              <a:rPr lang="en-IN" sz="1200" dirty="0" err="1">
                <a:solidFill>
                  <a:srgbClr val="993300"/>
                </a:solidFill>
              </a:rPr>
              <a:t>xs:element</a:t>
            </a:r>
            <a:r>
              <a:rPr lang="en-IN" sz="1200" dirty="0">
                <a:solidFill>
                  <a:srgbClr val="993300"/>
                </a:solidFill>
              </a:rPr>
              <a:t> name=“building” type=“</a:t>
            </a:r>
            <a:r>
              <a:rPr lang="en-IN" sz="1200" dirty="0" err="1">
                <a:solidFill>
                  <a:srgbClr val="993300"/>
                </a:solidFill>
              </a:rPr>
              <a:t>xs:string</a:t>
            </a:r>
            <a:r>
              <a:rPr lang="en-IN" sz="1200" dirty="0">
                <a:solidFill>
                  <a:srgbClr val="993300"/>
                </a:solidFill>
              </a:rPr>
              <a:t>”/&gt;</a:t>
            </a:r>
            <a:endParaRPr lang="en-IN" sz="1200" dirty="0">
              <a:solidFill>
                <a:srgbClr val="993300"/>
              </a:solidFill>
            </a:endParaRPr>
          </a:p>
          <a:p>
            <a:r>
              <a:rPr lang="en-IN" sz="1200" dirty="0">
                <a:solidFill>
                  <a:srgbClr val="993300"/>
                </a:solidFill>
              </a:rPr>
              <a:t>              &lt;</a:t>
            </a:r>
            <a:r>
              <a:rPr lang="en-IN" sz="1200" dirty="0" err="1">
                <a:solidFill>
                  <a:srgbClr val="993300"/>
                </a:solidFill>
              </a:rPr>
              <a:t>xs:element</a:t>
            </a:r>
            <a:r>
              <a:rPr lang="en-IN" sz="1200" dirty="0">
                <a:solidFill>
                  <a:srgbClr val="993300"/>
                </a:solidFill>
              </a:rPr>
              <a:t> name=“budget” type=“</a:t>
            </a:r>
            <a:r>
              <a:rPr lang="en-IN" sz="1200" dirty="0" err="1">
                <a:solidFill>
                  <a:srgbClr val="993300"/>
                </a:solidFill>
              </a:rPr>
              <a:t>xs:decimal</a:t>
            </a:r>
            <a:r>
              <a:rPr lang="en-IN" sz="1200" dirty="0">
                <a:solidFill>
                  <a:srgbClr val="993300"/>
                </a:solidFill>
              </a:rPr>
              <a:t>”/&gt;</a:t>
            </a:r>
            <a:endParaRPr lang="en-IN" sz="1200" dirty="0">
              <a:solidFill>
                <a:srgbClr val="993300"/>
              </a:solidFill>
            </a:endParaRPr>
          </a:p>
          <a:p>
            <a:r>
              <a:rPr lang="en-IN" sz="1200" dirty="0">
                <a:solidFill>
                  <a:srgbClr val="993300"/>
                </a:solidFill>
              </a:rPr>
              <a:t>          &lt;/</a:t>
            </a:r>
            <a:r>
              <a:rPr lang="en-IN" sz="1200" dirty="0" err="1">
                <a:solidFill>
                  <a:srgbClr val="993300"/>
                </a:solidFill>
              </a:rPr>
              <a:t>xs:sequence</a:t>
            </a:r>
            <a:r>
              <a:rPr lang="en-IN" sz="1200" dirty="0">
                <a:solidFill>
                  <a:srgbClr val="993300"/>
                </a:solidFill>
              </a:rPr>
              <a:t>&gt;</a:t>
            </a:r>
            <a:endParaRPr lang="en-IN" sz="1200" dirty="0">
              <a:solidFill>
                <a:srgbClr val="993300"/>
              </a:solidFill>
            </a:endParaRPr>
          </a:p>
          <a:p>
            <a:r>
              <a:rPr lang="en-IN" sz="1200" dirty="0">
                <a:solidFill>
                  <a:srgbClr val="993300"/>
                </a:solidFill>
              </a:rPr>
              <a:t>     &lt;/</a:t>
            </a:r>
            <a:r>
              <a:rPr lang="en-IN" sz="1200" dirty="0" err="1">
                <a:solidFill>
                  <a:srgbClr val="993300"/>
                </a:solidFill>
              </a:rPr>
              <a:t>xs:complexType</a:t>
            </a:r>
            <a:r>
              <a:rPr lang="en-IN" sz="1200" dirty="0">
                <a:solidFill>
                  <a:srgbClr val="993300"/>
                </a:solidFill>
              </a:rPr>
              <a:t>&gt;</a:t>
            </a:r>
            <a:endParaRPr lang="en-IN" sz="1200" dirty="0">
              <a:solidFill>
                <a:srgbClr val="993300"/>
              </a:solidFill>
            </a:endParaRPr>
          </a:p>
          <a:p>
            <a:r>
              <a:rPr lang="en-IN" sz="1200" dirty="0">
                <a:solidFill>
                  <a:srgbClr val="993300"/>
                </a:solidFill>
              </a:rPr>
              <a:t>&lt;/</a:t>
            </a:r>
            <a:r>
              <a:rPr lang="en-IN" sz="1200" dirty="0" err="1">
                <a:solidFill>
                  <a:srgbClr val="993300"/>
                </a:solidFill>
              </a:rPr>
              <a:t>xs:element</a:t>
            </a:r>
            <a:r>
              <a:rPr lang="en-IN" sz="1200" dirty="0">
                <a:solidFill>
                  <a:srgbClr val="993300"/>
                </a:solidFill>
              </a:rPr>
              <a:t>&gt;</a:t>
            </a:r>
            <a:endParaRPr lang="en-IN" sz="1200" dirty="0">
              <a:solidFill>
                <a:srgbClr val="993300"/>
              </a:solidFill>
            </a:endParaRPr>
          </a:p>
          <a:p>
            <a:r>
              <a:rPr lang="en-US" sz="1200" dirty="0"/>
              <a:t>….</a:t>
            </a:r>
            <a:endParaRPr lang="en-US" sz="1200" dirty="0"/>
          </a:p>
          <a:p>
            <a:r>
              <a:rPr lang="en-IN" sz="1200" dirty="0">
                <a:solidFill>
                  <a:srgbClr val="008000"/>
                </a:solidFill>
              </a:rPr>
              <a:t>&lt;</a:t>
            </a:r>
            <a:r>
              <a:rPr lang="en-IN" sz="1200" dirty="0" err="1">
                <a:solidFill>
                  <a:srgbClr val="008000"/>
                </a:solidFill>
              </a:rPr>
              <a:t>xs:element</a:t>
            </a:r>
            <a:r>
              <a:rPr lang="en-IN" sz="1200" dirty="0">
                <a:solidFill>
                  <a:srgbClr val="008000"/>
                </a:solidFill>
              </a:rPr>
              <a:t> name=“instructor”&gt;</a:t>
            </a:r>
            <a:endParaRPr lang="en-IN" sz="1200" dirty="0">
              <a:solidFill>
                <a:srgbClr val="008000"/>
              </a:solidFill>
            </a:endParaRPr>
          </a:p>
          <a:p>
            <a:r>
              <a:rPr lang="en-IN" sz="1200" dirty="0">
                <a:solidFill>
                  <a:srgbClr val="008000"/>
                </a:solidFill>
              </a:rPr>
              <a:t>    &lt;</a:t>
            </a:r>
            <a:r>
              <a:rPr lang="en-IN" sz="1200" dirty="0" err="1">
                <a:solidFill>
                  <a:srgbClr val="008000"/>
                </a:solidFill>
              </a:rPr>
              <a:t>xs:complexType</a:t>
            </a:r>
            <a:r>
              <a:rPr lang="en-IN" sz="1200" dirty="0">
                <a:solidFill>
                  <a:srgbClr val="008000"/>
                </a:solidFill>
              </a:rPr>
              <a:t>&gt;</a:t>
            </a:r>
            <a:endParaRPr lang="en-IN" sz="1200" dirty="0">
              <a:solidFill>
                <a:srgbClr val="008000"/>
              </a:solidFill>
            </a:endParaRPr>
          </a:p>
          <a:p>
            <a:r>
              <a:rPr lang="en-IN" sz="1200" dirty="0">
                <a:solidFill>
                  <a:srgbClr val="008000"/>
                </a:solidFill>
              </a:rPr>
              <a:t>        &lt;</a:t>
            </a:r>
            <a:r>
              <a:rPr lang="en-IN" sz="1200" dirty="0" err="1">
                <a:solidFill>
                  <a:srgbClr val="008000"/>
                </a:solidFill>
              </a:rPr>
              <a:t>xs:sequence</a:t>
            </a:r>
            <a:r>
              <a:rPr lang="en-IN" sz="1200" dirty="0">
                <a:solidFill>
                  <a:srgbClr val="008000"/>
                </a:solidFill>
              </a:rPr>
              <a:t>&gt;</a:t>
            </a:r>
            <a:endParaRPr lang="en-IN" sz="1200" dirty="0">
              <a:solidFill>
                <a:srgbClr val="008000"/>
              </a:solidFill>
            </a:endParaRPr>
          </a:p>
          <a:p>
            <a:r>
              <a:rPr lang="en-IN" sz="1200" dirty="0">
                <a:solidFill>
                  <a:srgbClr val="008000"/>
                </a:solidFill>
              </a:rPr>
              <a:t>            &lt;</a:t>
            </a:r>
            <a:r>
              <a:rPr lang="en-IN" sz="1200" dirty="0" err="1">
                <a:solidFill>
                  <a:srgbClr val="008000"/>
                </a:solidFill>
              </a:rPr>
              <a:t>xs:element</a:t>
            </a:r>
            <a:r>
              <a:rPr lang="en-IN" sz="1200" dirty="0">
                <a:solidFill>
                  <a:srgbClr val="008000"/>
                </a:solidFill>
              </a:rPr>
              <a:t> name=“IID” type=“</a:t>
            </a:r>
            <a:r>
              <a:rPr lang="en-IN" sz="1200" dirty="0" err="1">
                <a:solidFill>
                  <a:srgbClr val="008000"/>
                </a:solidFill>
              </a:rPr>
              <a:t>xs:string</a:t>
            </a:r>
            <a:r>
              <a:rPr lang="en-IN" sz="1200" dirty="0">
                <a:solidFill>
                  <a:srgbClr val="008000"/>
                </a:solidFill>
              </a:rPr>
              <a:t>”/&gt;</a:t>
            </a:r>
            <a:endParaRPr lang="en-IN" sz="1200" dirty="0">
              <a:solidFill>
                <a:srgbClr val="008000"/>
              </a:solidFill>
            </a:endParaRPr>
          </a:p>
          <a:p>
            <a:r>
              <a:rPr lang="en-IN" sz="1200" dirty="0">
                <a:solidFill>
                  <a:srgbClr val="008000"/>
                </a:solidFill>
              </a:rPr>
              <a:t>            &lt;</a:t>
            </a:r>
            <a:r>
              <a:rPr lang="en-IN" sz="1200" dirty="0" err="1">
                <a:solidFill>
                  <a:srgbClr val="008000"/>
                </a:solidFill>
              </a:rPr>
              <a:t>xs:element</a:t>
            </a:r>
            <a:r>
              <a:rPr lang="en-IN" sz="1200" dirty="0">
                <a:solidFill>
                  <a:srgbClr val="008000"/>
                </a:solidFill>
              </a:rPr>
              <a:t> name=“name” type=“</a:t>
            </a:r>
            <a:r>
              <a:rPr lang="en-IN" sz="1200" dirty="0" err="1">
                <a:solidFill>
                  <a:srgbClr val="008000"/>
                </a:solidFill>
              </a:rPr>
              <a:t>xs:string</a:t>
            </a:r>
            <a:r>
              <a:rPr lang="en-IN" sz="1200" dirty="0">
                <a:solidFill>
                  <a:srgbClr val="008000"/>
                </a:solidFill>
              </a:rPr>
              <a:t>”/&gt;</a:t>
            </a:r>
            <a:endParaRPr lang="en-IN" sz="1200" dirty="0">
              <a:solidFill>
                <a:srgbClr val="008000"/>
              </a:solidFill>
            </a:endParaRPr>
          </a:p>
          <a:p>
            <a:r>
              <a:rPr lang="en-IN" sz="1200" dirty="0">
                <a:solidFill>
                  <a:srgbClr val="008000"/>
                </a:solidFill>
              </a:rPr>
              <a:t>            &lt;</a:t>
            </a:r>
            <a:r>
              <a:rPr lang="en-IN" sz="1200" dirty="0" err="1">
                <a:solidFill>
                  <a:srgbClr val="008000"/>
                </a:solidFill>
              </a:rPr>
              <a:t>xs:element</a:t>
            </a:r>
            <a:r>
              <a:rPr lang="en-IN" sz="1200" dirty="0">
                <a:solidFill>
                  <a:srgbClr val="008000"/>
                </a:solidFill>
              </a:rPr>
              <a:t> name=“dept name” type=“</a:t>
            </a:r>
            <a:r>
              <a:rPr lang="en-IN" sz="1200" dirty="0" err="1">
                <a:solidFill>
                  <a:srgbClr val="008000"/>
                </a:solidFill>
              </a:rPr>
              <a:t>xs:string</a:t>
            </a:r>
            <a:r>
              <a:rPr lang="en-IN" sz="1200" dirty="0">
                <a:solidFill>
                  <a:srgbClr val="008000"/>
                </a:solidFill>
              </a:rPr>
              <a:t>”/&gt;</a:t>
            </a:r>
            <a:endParaRPr lang="en-IN" sz="1200" dirty="0">
              <a:solidFill>
                <a:srgbClr val="008000"/>
              </a:solidFill>
            </a:endParaRPr>
          </a:p>
          <a:p>
            <a:r>
              <a:rPr lang="en-IN" sz="1200" dirty="0">
                <a:solidFill>
                  <a:srgbClr val="008000"/>
                </a:solidFill>
              </a:rPr>
              <a:t>            &lt;</a:t>
            </a:r>
            <a:r>
              <a:rPr lang="en-IN" sz="1200" dirty="0" err="1">
                <a:solidFill>
                  <a:srgbClr val="008000"/>
                </a:solidFill>
              </a:rPr>
              <a:t>xs:element</a:t>
            </a:r>
            <a:r>
              <a:rPr lang="en-IN" sz="1200" dirty="0">
                <a:solidFill>
                  <a:srgbClr val="008000"/>
                </a:solidFill>
              </a:rPr>
              <a:t> name=“salary” type=“</a:t>
            </a:r>
            <a:r>
              <a:rPr lang="en-IN" sz="1200" dirty="0" err="1">
                <a:solidFill>
                  <a:srgbClr val="008000"/>
                </a:solidFill>
              </a:rPr>
              <a:t>xs:decimal</a:t>
            </a:r>
            <a:r>
              <a:rPr lang="en-IN" sz="1200" dirty="0">
                <a:solidFill>
                  <a:srgbClr val="008000"/>
                </a:solidFill>
              </a:rPr>
              <a:t>”/&gt;</a:t>
            </a:r>
            <a:endParaRPr lang="en-IN" sz="1200" dirty="0">
              <a:solidFill>
                <a:srgbClr val="008000"/>
              </a:solidFill>
            </a:endParaRPr>
          </a:p>
          <a:p>
            <a:r>
              <a:rPr lang="en-IN" sz="1200" dirty="0">
                <a:solidFill>
                  <a:srgbClr val="008000"/>
                </a:solidFill>
              </a:rPr>
              <a:t>        &lt;/</a:t>
            </a:r>
            <a:r>
              <a:rPr lang="en-IN" sz="1200" dirty="0" err="1">
                <a:solidFill>
                  <a:srgbClr val="008000"/>
                </a:solidFill>
              </a:rPr>
              <a:t>xs:sequence</a:t>
            </a:r>
            <a:r>
              <a:rPr lang="en-IN" sz="1200" dirty="0">
                <a:solidFill>
                  <a:srgbClr val="008000"/>
                </a:solidFill>
              </a:rPr>
              <a:t>&gt;</a:t>
            </a:r>
            <a:endParaRPr lang="en-IN" sz="1200" dirty="0">
              <a:solidFill>
                <a:srgbClr val="008000"/>
              </a:solidFill>
            </a:endParaRPr>
          </a:p>
          <a:p>
            <a:r>
              <a:rPr lang="en-IN" sz="1200" dirty="0">
                <a:solidFill>
                  <a:srgbClr val="008000"/>
                </a:solidFill>
              </a:rPr>
              <a:t>    &lt;/</a:t>
            </a:r>
            <a:r>
              <a:rPr lang="en-IN" sz="1200" dirty="0" err="1">
                <a:solidFill>
                  <a:srgbClr val="008000"/>
                </a:solidFill>
              </a:rPr>
              <a:t>xs:complexType</a:t>
            </a:r>
            <a:r>
              <a:rPr lang="en-IN" sz="1200" dirty="0">
                <a:solidFill>
                  <a:srgbClr val="008000"/>
                </a:solidFill>
              </a:rPr>
              <a:t>&gt;</a:t>
            </a:r>
            <a:endParaRPr lang="en-IN" sz="1200" dirty="0">
              <a:solidFill>
                <a:srgbClr val="008000"/>
              </a:solidFill>
            </a:endParaRPr>
          </a:p>
          <a:p>
            <a:r>
              <a:rPr lang="en-IN" sz="1200" dirty="0">
                <a:solidFill>
                  <a:srgbClr val="008000"/>
                </a:solidFill>
              </a:rPr>
              <a:t>&lt;/</a:t>
            </a:r>
            <a:r>
              <a:rPr lang="en-IN" sz="1200" dirty="0" err="1">
                <a:solidFill>
                  <a:srgbClr val="008000"/>
                </a:solidFill>
              </a:rPr>
              <a:t>xs:element</a:t>
            </a:r>
            <a:r>
              <a:rPr lang="en-IN" sz="1200" dirty="0">
                <a:solidFill>
                  <a:srgbClr val="008000"/>
                </a:solidFill>
              </a:rPr>
              <a:t>&gt;</a:t>
            </a:r>
            <a:endParaRPr lang="en-IN" sz="1200" dirty="0">
              <a:solidFill>
                <a:srgbClr val="008000"/>
              </a:solidFill>
            </a:endParaRPr>
          </a:p>
          <a:p>
            <a:r>
              <a:rPr lang="en-US" sz="1200" dirty="0">
                <a:solidFill>
                  <a:srgbClr val="0033CC"/>
                </a:solidFill>
              </a:rPr>
              <a:t>… Contd.</a:t>
            </a:r>
            <a:endParaRPr lang="en-US" sz="1200" dirty="0">
              <a:solidFill>
                <a:srgbClr val="0033CC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39115" y="987425"/>
            <a:ext cx="723265" cy="955040"/>
            <a:chOff x="737" y="4617"/>
            <a:chExt cx="1139" cy="1504"/>
          </a:xfrm>
        </p:grpSpPr>
        <p:pic>
          <p:nvPicPr>
            <p:cNvPr id="3" name="Picture 101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737" y="4617"/>
              <a:ext cx="1139" cy="113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文本框 4"/>
            <p:cNvSpPr txBox="1"/>
            <p:nvPr/>
          </p:nvSpPr>
          <p:spPr>
            <a:xfrm>
              <a:off x="1077" y="5638"/>
              <a:ext cx="45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7</a:t>
              </a:r>
              <a:endParaRPr lang="en-US" altLang="zh-CN" sz="1400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XML Schema Version of Univ. DTD (Cont.)</a:t>
            </a:r>
            <a:endParaRPr lang="en-US" sz="2100"/>
          </a:p>
        </p:txBody>
      </p:sp>
      <p:sp>
        <p:nvSpPr>
          <p:cNvPr id="271363" name="Text Box 3"/>
          <p:cNvSpPr txBox="1">
            <a:spLocks noChangeArrowheads="1"/>
          </p:cNvSpPr>
          <p:nvPr/>
        </p:nvSpPr>
        <p:spPr bwMode="auto">
          <a:xfrm>
            <a:off x="1714500" y="742950"/>
            <a:ext cx="5886450" cy="28473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IN" sz="1275" dirty="0"/>
              <a:t>….</a:t>
            </a:r>
            <a:endParaRPr lang="en-IN" sz="1275" dirty="0"/>
          </a:p>
          <a:p>
            <a:r>
              <a:rPr lang="en-IN" sz="1275" dirty="0">
                <a:solidFill>
                  <a:srgbClr val="008000"/>
                </a:solidFill>
              </a:rPr>
              <a:t>&lt;</a:t>
            </a:r>
            <a:r>
              <a:rPr lang="en-IN" sz="1275" dirty="0" err="1">
                <a:solidFill>
                  <a:srgbClr val="008000"/>
                </a:solidFill>
              </a:rPr>
              <a:t>xs:complexType</a:t>
            </a:r>
            <a:r>
              <a:rPr lang="en-IN" sz="1275" dirty="0">
                <a:solidFill>
                  <a:srgbClr val="008000"/>
                </a:solidFill>
              </a:rPr>
              <a:t> name=“</a:t>
            </a:r>
            <a:r>
              <a:rPr lang="en-IN" sz="1275" dirty="0" err="1">
                <a:solidFill>
                  <a:srgbClr val="008000"/>
                </a:solidFill>
              </a:rPr>
              <a:t>UniversityType</a:t>
            </a:r>
            <a:r>
              <a:rPr lang="en-IN" sz="1275" dirty="0">
                <a:solidFill>
                  <a:srgbClr val="008000"/>
                </a:solidFill>
              </a:rPr>
              <a:t>”&gt;</a:t>
            </a:r>
            <a:endParaRPr lang="en-IN" sz="1275" dirty="0">
              <a:solidFill>
                <a:srgbClr val="008000"/>
              </a:solidFill>
            </a:endParaRPr>
          </a:p>
          <a:p>
            <a:r>
              <a:rPr lang="en-IN" sz="1275" dirty="0">
                <a:solidFill>
                  <a:srgbClr val="008000"/>
                </a:solidFill>
              </a:rPr>
              <a:t>    &lt;</a:t>
            </a:r>
            <a:r>
              <a:rPr lang="en-IN" sz="1275" dirty="0" err="1">
                <a:solidFill>
                  <a:srgbClr val="008000"/>
                </a:solidFill>
              </a:rPr>
              <a:t>xs:sequence</a:t>
            </a:r>
            <a:r>
              <a:rPr lang="en-IN" sz="1275" dirty="0">
                <a:solidFill>
                  <a:srgbClr val="008000"/>
                </a:solidFill>
              </a:rPr>
              <a:t>&gt;</a:t>
            </a:r>
            <a:endParaRPr lang="en-IN" sz="1275" dirty="0">
              <a:solidFill>
                <a:srgbClr val="008000"/>
              </a:solidFill>
            </a:endParaRPr>
          </a:p>
          <a:p>
            <a:r>
              <a:rPr lang="en-IN" sz="1275" dirty="0">
                <a:solidFill>
                  <a:srgbClr val="008000"/>
                </a:solidFill>
              </a:rPr>
              <a:t>        &lt;</a:t>
            </a:r>
            <a:r>
              <a:rPr lang="en-IN" sz="1275" dirty="0" err="1">
                <a:solidFill>
                  <a:srgbClr val="008000"/>
                </a:solidFill>
              </a:rPr>
              <a:t>xs:element</a:t>
            </a:r>
            <a:r>
              <a:rPr lang="en-IN" sz="1275" dirty="0">
                <a:solidFill>
                  <a:srgbClr val="008000"/>
                </a:solidFill>
              </a:rPr>
              <a:t> ref=“department” minOccurs=“0” </a:t>
            </a:r>
            <a:r>
              <a:rPr lang="en-IN" sz="1275" dirty="0" err="1">
                <a:solidFill>
                  <a:srgbClr val="008000"/>
                </a:solidFill>
              </a:rPr>
              <a:t>maxOccurs</a:t>
            </a:r>
            <a:r>
              <a:rPr lang="en-IN" sz="1275" dirty="0">
                <a:solidFill>
                  <a:srgbClr val="008000"/>
                </a:solidFill>
              </a:rPr>
              <a:t>=“unbounded”/&gt;</a:t>
            </a:r>
            <a:endParaRPr lang="en-IN" sz="1275" dirty="0">
              <a:solidFill>
                <a:srgbClr val="008000"/>
              </a:solidFill>
            </a:endParaRPr>
          </a:p>
          <a:p>
            <a:r>
              <a:rPr lang="en-IN" sz="1275" dirty="0">
                <a:solidFill>
                  <a:srgbClr val="008000"/>
                </a:solidFill>
              </a:rPr>
              <a:t>        &lt;</a:t>
            </a:r>
            <a:r>
              <a:rPr lang="en-IN" sz="1275" dirty="0" err="1">
                <a:solidFill>
                  <a:srgbClr val="008000"/>
                </a:solidFill>
              </a:rPr>
              <a:t>xs:element</a:t>
            </a:r>
            <a:r>
              <a:rPr lang="en-IN" sz="1275" dirty="0">
                <a:solidFill>
                  <a:srgbClr val="008000"/>
                </a:solidFill>
              </a:rPr>
              <a:t> ref=“course” minOccurs=“0” </a:t>
            </a:r>
            <a:r>
              <a:rPr lang="en-IN" sz="1275" dirty="0" err="1">
                <a:solidFill>
                  <a:srgbClr val="008000"/>
                </a:solidFill>
              </a:rPr>
              <a:t>maxOccurs</a:t>
            </a:r>
            <a:r>
              <a:rPr lang="en-IN" sz="1275" dirty="0">
                <a:solidFill>
                  <a:srgbClr val="008000"/>
                </a:solidFill>
              </a:rPr>
              <a:t>=“unbounded”/&gt;</a:t>
            </a:r>
            <a:endParaRPr lang="en-IN" sz="1275" dirty="0">
              <a:solidFill>
                <a:srgbClr val="008000"/>
              </a:solidFill>
            </a:endParaRPr>
          </a:p>
          <a:p>
            <a:r>
              <a:rPr lang="en-IN" sz="1275" dirty="0">
                <a:solidFill>
                  <a:srgbClr val="008000"/>
                </a:solidFill>
              </a:rPr>
              <a:t>        &lt;</a:t>
            </a:r>
            <a:r>
              <a:rPr lang="en-IN" sz="1275" dirty="0" err="1">
                <a:solidFill>
                  <a:srgbClr val="008000"/>
                </a:solidFill>
              </a:rPr>
              <a:t>xs:element</a:t>
            </a:r>
            <a:r>
              <a:rPr lang="en-IN" sz="1275" dirty="0">
                <a:solidFill>
                  <a:srgbClr val="008000"/>
                </a:solidFill>
              </a:rPr>
              <a:t> ref=“instructor” minOccurs=“0” </a:t>
            </a:r>
            <a:r>
              <a:rPr lang="en-IN" sz="1275" dirty="0" err="1">
                <a:solidFill>
                  <a:srgbClr val="008000"/>
                </a:solidFill>
              </a:rPr>
              <a:t>maxOccurs</a:t>
            </a:r>
            <a:r>
              <a:rPr lang="en-IN" sz="1275" dirty="0">
                <a:solidFill>
                  <a:srgbClr val="008000"/>
                </a:solidFill>
              </a:rPr>
              <a:t>=“unbounded”/&gt;</a:t>
            </a:r>
            <a:endParaRPr lang="en-IN" sz="1275" dirty="0">
              <a:solidFill>
                <a:srgbClr val="008000"/>
              </a:solidFill>
            </a:endParaRPr>
          </a:p>
          <a:p>
            <a:r>
              <a:rPr lang="en-IN" sz="1275" dirty="0">
                <a:solidFill>
                  <a:srgbClr val="008000"/>
                </a:solidFill>
              </a:rPr>
              <a:t>        &lt;</a:t>
            </a:r>
            <a:r>
              <a:rPr lang="en-IN" sz="1275" dirty="0" err="1">
                <a:solidFill>
                  <a:srgbClr val="008000"/>
                </a:solidFill>
              </a:rPr>
              <a:t>xs:element</a:t>
            </a:r>
            <a:r>
              <a:rPr lang="en-IN" sz="1275" dirty="0">
                <a:solidFill>
                  <a:srgbClr val="008000"/>
                </a:solidFill>
              </a:rPr>
              <a:t> ref=“teaches” minOccurs=“0” </a:t>
            </a:r>
            <a:r>
              <a:rPr lang="en-IN" sz="1275" dirty="0" err="1">
                <a:solidFill>
                  <a:srgbClr val="008000"/>
                </a:solidFill>
              </a:rPr>
              <a:t>maxOccurs</a:t>
            </a:r>
            <a:r>
              <a:rPr lang="en-IN" sz="1275" dirty="0">
                <a:solidFill>
                  <a:srgbClr val="008000"/>
                </a:solidFill>
              </a:rPr>
              <a:t>=“unbounded”/&gt;</a:t>
            </a:r>
            <a:endParaRPr lang="en-IN" sz="1275" dirty="0">
              <a:solidFill>
                <a:srgbClr val="008000"/>
              </a:solidFill>
            </a:endParaRPr>
          </a:p>
          <a:p>
            <a:r>
              <a:rPr lang="en-IN" sz="1275" dirty="0">
                <a:solidFill>
                  <a:srgbClr val="008000"/>
                </a:solidFill>
              </a:rPr>
              <a:t>    &lt;/</a:t>
            </a:r>
            <a:r>
              <a:rPr lang="en-IN" sz="1275" dirty="0" err="1">
                <a:solidFill>
                  <a:srgbClr val="008000"/>
                </a:solidFill>
              </a:rPr>
              <a:t>xs:sequence</a:t>
            </a:r>
            <a:r>
              <a:rPr lang="en-IN" sz="1275" dirty="0">
                <a:solidFill>
                  <a:srgbClr val="008000"/>
                </a:solidFill>
              </a:rPr>
              <a:t>&gt;</a:t>
            </a:r>
            <a:endParaRPr lang="en-IN" sz="1275" dirty="0">
              <a:solidFill>
                <a:srgbClr val="008000"/>
              </a:solidFill>
            </a:endParaRPr>
          </a:p>
          <a:p>
            <a:r>
              <a:rPr lang="en-IN" sz="1275" dirty="0">
                <a:solidFill>
                  <a:srgbClr val="008000"/>
                </a:solidFill>
              </a:rPr>
              <a:t>&lt;/</a:t>
            </a:r>
            <a:r>
              <a:rPr lang="en-IN" sz="1275" dirty="0" err="1">
                <a:solidFill>
                  <a:srgbClr val="008000"/>
                </a:solidFill>
              </a:rPr>
              <a:t>xs:complexType</a:t>
            </a:r>
            <a:r>
              <a:rPr lang="en-IN" sz="1275" dirty="0">
                <a:solidFill>
                  <a:srgbClr val="008000"/>
                </a:solidFill>
              </a:rPr>
              <a:t>&gt;</a:t>
            </a:r>
            <a:endParaRPr lang="en-IN" sz="1275" dirty="0">
              <a:solidFill>
                <a:srgbClr val="008000"/>
              </a:solidFill>
            </a:endParaRPr>
          </a:p>
          <a:p>
            <a:r>
              <a:rPr lang="en-IN" sz="1275" dirty="0"/>
              <a:t>&lt;/</a:t>
            </a:r>
            <a:r>
              <a:rPr lang="en-IN" sz="1275" dirty="0" err="1"/>
              <a:t>xs:schema</a:t>
            </a:r>
            <a:r>
              <a:rPr lang="en-IN" sz="1275" dirty="0"/>
              <a:t>&gt;</a:t>
            </a:r>
            <a:endParaRPr lang="en-IN" sz="1275" dirty="0"/>
          </a:p>
        </p:txBody>
      </p:sp>
      <p:sp>
        <p:nvSpPr>
          <p:cNvPr id="271364" name="Rectangle 4"/>
          <p:cNvSpPr>
            <a:spLocks noChangeArrowheads="1"/>
          </p:cNvSpPr>
          <p:nvPr/>
        </p:nvSpPr>
        <p:spPr bwMode="auto">
          <a:xfrm>
            <a:off x="1619250" y="3650615"/>
            <a:ext cx="5745956" cy="17549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sz="1200" dirty="0"/>
              <a:t>Choice of “</a:t>
            </a:r>
            <a:r>
              <a:rPr kumimoji="1" lang="en-US" sz="1200" dirty="0" err="1"/>
              <a:t>xs</a:t>
            </a:r>
            <a:r>
              <a:rPr kumimoji="1" lang="en-US" sz="1200" dirty="0"/>
              <a:t>:” was ours -- any other namespace prefix could be chosen</a:t>
            </a:r>
            <a:endParaRPr kumimoji="1" lang="en-US" sz="1200" dirty="0"/>
          </a:p>
          <a:p>
            <a:pPr marL="342900" indent="-342900"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sz="1200" dirty="0"/>
              <a:t>Element “university” has type “</a:t>
            </a:r>
            <a:r>
              <a:rPr kumimoji="1" lang="en-US" sz="1200" dirty="0" err="1"/>
              <a:t>universityType</a:t>
            </a:r>
            <a:r>
              <a:rPr kumimoji="1" lang="en-US" sz="1200" dirty="0"/>
              <a:t>”, which is defined separately</a:t>
            </a:r>
            <a:endParaRPr kumimoji="1" lang="en-US" sz="1200" dirty="0"/>
          </a:p>
          <a:p>
            <a:pPr marL="742950" lvl="1" indent="-285750">
              <a:spcBef>
                <a:spcPct val="35000"/>
              </a:spcBef>
              <a:buClr>
                <a:schemeClr val="folHlink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sz="1200" dirty="0" err="1"/>
              <a:t>xs:complexType</a:t>
            </a:r>
            <a:r>
              <a:rPr kumimoji="1" lang="en-US" sz="1200" dirty="0"/>
              <a:t> is used later to create the named complex type “</a:t>
            </a:r>
            <a:r>
              <a:rPr kumimoji="1" lang="en-US" sz="1200" dirty="0" err="1"/>
              <a:t>UniversityType</a:t>
            </a:r>
            <a:r>
              <a:rPr kumimoji="1" lang="en-US" sz="1200" dirty="0"/>
              <a:t>”</a:t>
            </a:r>
            <a:endParaRPr kumimoji="1" lang="en-US" sz="1200" dirty="0"/>
          </a:p>
        </p:txBody>
      </p:sp>
      <p:grpSp>
        <p:nvGrpSpPr>
          <p:cNvPr id="4" name="组合 3"/>
          <p:cNvGrpSpPr/>
          <p:nvPr/>
        </p:nvGrpSpPr>
        <p:grpSpPr>
          <a:xfrm>
            <a:off x="539115" y="987425"/>
            <a:ext cx="723265" cy="955040"/>
            <a:chOff x="737" y="4617"/>
            <a:chExt cx="1139" cy="1504"/>
          </a:xfrm>
        </p:grpSpPr>
        <p:pic>
          <p:nvPicPr>
            <p:cNvPr id="3" name="Picture 101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737" y="4617"/>
              <a:ext cx="1139" cy="113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文本框 4"/>
            <p:cNvSpPr txBox="1"/>
            <p:nvPr/>
          </p:nvSpPr>
          <p:spPr>
            <a:xfrm>
              <a:off x="1077" y="5638"/>
              <a:ext cx="45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8</a:t>
              </a:r>
              <a:endParaRPr lang="en-US" altLang="zh-CN" sz="1400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features of XML Schema</a:t>
            </a:r>
            <a:endParaRPr lang="en-US"/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20341"/>
            <a:ext cx="5780485" cy="3677840"/>
          </a:xfrm>
        </p:spPr>
        <p:txBody>
          <a:bodyPr/>
          <a:lstStyle/>
          <a:p>
            <a:r>
              <a:rPr lang="en-US" sz="1200" dirty="0"/>
              <a:t>Attributes specified by </a:t>
            </a:r>
            <a:r>
              <a:rPr lang="en-US" sz="1200" dirty="0" err="1"/>
              <a:t>xs:attribute</a:t>
            </a:r>
            <a:r>
              <a:rPr lang="en-US" sz="1200" dirty="0"/>
              <a:t> tag:</a:t>
            </a:r>
            <a:endParaRPr lang="en-US" sz="1200" dirty="0"/>
          </a:p>
          <a:p>
            <a:pPr lvl="1"/>
            <a:r>
              <a:rPr lang="en-US" sz="1200" dirty="0"/>
              <a:t>&lt;</a:t>
            </a:r>
            <a:r>
              <a:rPr lang="en-US" sz="1200" dirty="0" err="1"/>
              <a:t>xs:attribute</a:t>
            </a:r>
            <a:r>
              <a:rPr lang="en-US" sz="1200" dirty="0"/>
              <a:t> name = “</a:t>
            </a:r>
            <a:r>
              <a:rPr lang="en-US" sz="1200" dirty="0" err="1"/>
              <a:t>dept_name</a:t>
            </a:r>
            <a:r>
              <a:rPr lang="en-US" sz="1200" dirty="0"/>
              <a:t>”/&gt;</a:t>
            </a:r>
            <a:endParaRPr lang="en-US" sz="1200" dirty="0"/>
          </a:p>
          <a:p>
            <a:pPr lvl="1"/>
            <a:r>
              <a:rPr lang="en-US" sz="1200" dirty="0"/>
              <a:t>adding the attribute use = “required” means value must be specified</a:t>
            </a:r>
            <a:endParaRPr lang="en-US" sz="1200" dirty="0"/>
          </a:p>
          <a:p>
            <a:r>
              <a:rPr lang="en-US" sz="1200" dirty="0"/>
              <a:t>Key constraint: “department names form a key for department elements under the root university element:</a:t>
            </a:r>
            <a:endParaRPr lang="en-US" sz="1200" dirty="0"/>
          </a:p>
          <a:p>
            <a:pPr>
              <a:lnSpc>
                <a:spcPct val="70000"/>
              </a:lnSpc>
              <a:buFontTx/>
              <a:buNone/>
            </a:pPr>
            <a:r>
              <a:rPr lang="en-US" sz="1200" dirty="0"/>
              <a:t>		&lt;</a:t>
            </a:r>
            <a:r>
              <a:rPr lang="en-US" sz="1200" dirty="0" err="1"/>
              <a:t>xs:key</a:t>
            </a:r>
            <a:r>
              <a:rPr lang="en-US" sz="1200" dirty="0"/>
              <a:t> name = “</a:t>
            </a:r>
            <a:r>
              <a:rPr lang="en-US" sz="1200" dirty="0" err="1"/>
              <a:t>deptKey</a:t>
            </a:r>
            <a:r>
              <a:rPr lang="en-US" sz="1200" dirty="0"/>
              <a:t>”&gt;</a:t>
            </a:r>
            <a:endParaRPr lang="en-US" sz="1200" dirty="0"/>
          </a:p>
          <a:p>
            <a:pPr>
              <a:lnSpc>
                <a:spcPct val="70000"/>
              </a:lnSpc>
              <a:buFontTx/>
              <a:buNone/>
            </a:pPr>
            <a:r>
              <a:rPr lang="en-US" sz="1200" dirty="0"/>
              <a:t>			&lt;</a:t>
            </a:r>
            <a:r>
              <a:rPr lang="en-US" sz="1200" dirty="0" err="1"/>
              <a:t>xs:selector</a:t>
            </a:r>
            <a:r>
              <a:rPr lang="en-US" sz="1200" dirty="0"/>
              <a:t> </a:t>
            </a:r>
            <a:r>
              <a:rPr lang="en-US" sz="1200" dirty="0" err="1"/>
              <a:t>xpath</a:t>
            </a:r>
            <a:r>
              <a:rPr lang="en-US" sz="1200" dirty="0"/>
              <a:t> = “/university/department”/&gt;</a:t>
            </a:r>
            <a:endParaRPr lang="en-US" sz="1200" dirty="0"/>
          </a:p>
          <a:p>
            <a:pPr>
              <a:lnSpc>
                <a:spcPct val="70000"/>
              </a:lnSpc>
              <a:buFontTx/>
              <a:buNone/>
            </a:pPr>
            <a:r>
              <a:rPr lang="en-US" sz="1200" dirty="0"/>
              <a:t>			&lt;</a:t>
            </a:r>
            <a:r>
              <a:rPr lang="en-US" sz="1200" dirty="0" err="1"/>
              <a:t>xs:field</a:t>
            </a:r>
            <a:r>
              <a:rPr lang="en-US" sz="1200" dirty="0"/>
              <a:t> </a:t>
            </a:r>
            <a:r>
              <a:rPr lang="en-US" sz="1200" dirty="0" err="1"/>
              <a:t>xpath</a:t>
            </a:r>
            <a:r>
              <a:rPr lang="en-US" sz="1200" dirty="0"/>
              <a:t> = “</a:t>
            </a:r>
            <a:r>
              <a:rPr lang="en-US" sz="1200" dirty="0" err="1"/>
              <a:t>dept_name</a:t>
            </a:r>
            <a:r>
              <a:rPr lang="en-US" sz="1200" dirty="0"/>
              <a:t>”/&gt;</a:t>
            </a:r>
            <a:endParaRPr lang="en-US" sz="1200" dirty="0"/>
          </a:p>
          <a:p>
            <a:pPr>
              <a:lnSpc>
                <a:spcPct val="70000"/>
              </a:lnSpc>
              <a:buFontTx/>
              <a:buNone/>
            </a:pPr>
            <a:r>
              <a:rPr lang="en-US" sz="1200" dirty="0"/>
              <a:t>		&lt;\</a:t>
            </a:r>
            <a:r>
              <a:rPr lang="en-US" sz="1200" dirty="0" err="1"/>
              <a:t>xs:key</a:t>
            </a:r>
            <a:r>
              <a:rPr lang="en-US" sz="1200" dirty="0"/>
              <a:t>&gt;</a:t>
            </a:r>
            <a:endParaRPr lang="en-US" sz="1200" dirty="0"/>
          </a:p>
          <a:p>
            <a:r>
              <a:rPr lang="en-US" sz="1200" dirty="0"/>
              <a:t>Foreign key constraint from course to department:</a:t>
            </a:r>
            <a:endParaRPr lang="en-US" sz="1200" dirty="0"/>
          </a:p>
          <a:p>
            <a:pPr>
              <a:lnSpc>
                <a:spcPct val="70000"/>
              </a:lnSpc>
              <a:buFontTx/>
              <a:buNone/>
            </a:pPr>
            <a:r>
              <a:rPr lang="en-US" sz="1200" dirty="0"/>
              <a:t>		&lt;</a:t>
            </a:r>
            <a:r>
              <a:rPr lang="en-US" sz="1200" dirty="0" err="1"/>
              <a:t>xs:keyref</a:t>
            </a:r>
            <a:r>
              <a:rPr lang="en-US" sz="1200" dirty="0"/>
              <a:t> name = “</a:t>
            </a:r>
            <a:r>
              <a:rPr lang="en-US" sz="1200" dirty="0" err="1"/>
              <a:t>courseDeptFKey</a:t>
            </a:r>
            <a:r>
              <a:rPr lang="en-US" sz="1200" dirty="0"/>
              <a:t>” refer=“</a:t>
            </a:r>
            <a:r>
              <a:rPr lang="en-US" sz="1200" dirty="0" err="1"/>
              <a:t>deptKey</a:t>
            </a:r>
            <a:r>
              <a:rPr lang="en-US" sz="1200" dirty="0"/>
              <a:t>”&gt;</a:t>
            </a:r>
            <a:endParaRPr lang="en-US" sz="1200" dirty="0"/>
          </a:p>
          <a:p>
            <a:pPr>
              <a:lnSpc>
                <a:spcPct val="70000"/>
              </a:lnSpc>
              <a:buFontTx/>
              <a:buNone/>
            </a:pPr>
            <a:r>
              <a:rPr lang="en-US" sz="1200" dirty="0"/>
              <a:t>			&lt;</a:t>
            </a:r>
            <a:r>
              <a:rPr lang="en-US" sz="1200" dirty="0" err="1"/>
              <a:t>xs:selector</a:t>
            </a:r>
            <a:r>
              <a:rPr lang="en-US" sz="1200" dirty="0"/>
              <a:t> </a:t>
            </a:r>
            <a:r>
              <a:rPr lang="en-US" sz="1200" dirty="0" err="1"/>
              <a:t>xpath</a:t>
            </a:r>
            <a:r>
              <a:rPr lang="en-US" sz="1200" dirty="0"/>
              <a:t> = “/university/course”/&gt;</a:t>
            </a:r>
            <a:endParaRPr lang="en-US" sz="1200" dirty="0"/>
          </a:p>
          <a:p>
            <a:pPr>
              <a:lnSpc>
                <a:spcPct val="70000"/>
              </a:lnSpc>
              <a:buFontTx/>
              <a:buNone/>
            </a:pPr>
            <a:r>
              <a:rPr lang="en-US" sz="1200" dirty="0"/>
              <a:t>			&lt;</a:t>
            </a:r>
            <a:r>
              <a:rPr lang="en-US" sz="1200" dirty="0" err="1"/>
              <a:t>xs:field</a:t>
            </a:r>
            <a:r>
              <a:rPr lang="en-US" sz="1200" dirty="0"/>
              <a:t> </a:t>
            </a:r>
            <a:r>
              <a:rPr lang="en-US" sz="1200" dirty="0" err="1"/>
              <a:t>xpath</a:t>
            </a:r>
            <a:r>
              <a:rPr lang="en-US" sz="1200" dirty="0"/>
              <a:t> = “</a:t>
            </a:r>
            <a:r>
              <a:rPr lang="en-US" sz="1200" dirty="0" err="1"/>
              <a:t>dept_name</a:t>
            </a:r>
            <a:r>
              <a:rPr lang="en-US" sz="1200" dirty="0"/>
              <a:t>”/&gt;</a:t>
            </a:r>
            <a:endParaRPr lang="en-US" sz="1200" dirty="0"/>
          </a:p>
          <a:p>
            <a:pPr>
              <a:lnSpc>
                <a:spcPct val="70000"/>
              </a:lnSpc>
              <a:buFontTx/>
              <a:buNone/>
            </a:pPr>
            <a:r>
              <a:rPr lang="en-US" sz="1200" dirty="0"/>
              <a:t>		&lt;\</a:t>
            </a:r>
            <a:r>
              <a:rPr lang="en-US" sz="1200" dirty="0" err="1"/>
              <a:t>xs:keyref</a:t>
            </a:r>
            <a:r>
              <a:rPr lang="en-US" sz="1200" dirty="0"/>
              <a:t>&gt;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Querying XML Data</a:t>
            </a:r>
            <a:endParaRPr lang="en-US"/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20341"/>
            <a:ext cx="5780485" cy="3677840"/>
          </a:xfrm>
        </p:spPr>
        <p:txBody>
          <a:bodyPr/>
          <a:lstStyle/>
          <a:p>
            <a:r>
              <a:rPr lang="en-US" sz="1400" dirty="0"/>
              <a:t>Translation of information from one XML schema to another</a:t>
            </a:r>
            <a:endParaRPr lang="en-US" sz="1400" dirty="0"/>
          </a:p>
          <a:p>
            <a:r>
              <a:rPr lang="en-US" sz="1400" dirty="0"/>
              <a:t>Querying on XML data </a:t>
            </a:r>
            <a:endParaRPr lang="en-US" sz="1400" dirty="0"/>
          </a:p>
          <a:p>
            <a:r>
              <a:rPr lang="en-US" sz="1400" dirty="0"/>
              <a:t>Above two are closely related, and handled by the same tools</a:t>
            </a:r>
            <a:endParaRPr lang="en-US" sz="1400" dirty="0"/>
          </a:p>
          <a:p>
            <a:r>
              <a:rPr lang="en-US" sz="1400" dirty="0"/>
              <a:t>Standard XML querying languages</a:t>
            </a:r>
            <a:endParaRPr lang="en-US" sz="1400" dirty="0"/>
          </a:p>
          <a:p>
            <a:pPr lvl="1"/>
            <a:r>
              <a:rPr lang="en-US" sz="1400" dirty="0"/>
              <a:t>XPath</a:t>
            </a:r>
            <a:endParaRPr lang="en-US" sz="1400" dirty="0"/>
          </a:p>
          <a:p>
            <a:pPr lvl="2"/>
            <a:r>
              <a:rPr lang="en-US" sz="1400" dirty="0"/>
              <a:t>Simple language consisting of path expressions</a:t>
            </a:r>
            <a:endParaRPr lang="en-US" sz="1400" dirty="0"/>
          </a:p>
          <a:p>
            <a:pPr lvl="1"/>
            <a:r>
              <a:rPr lang="en-US" sz="1400" dirty="0"/>
              <a:t>XQuery</a:t>
            </a:r>
            <a:endParaRPr lang="en-US" sz="1400" dirty="0"/>
          </a:p>
          <a:p>
            <a:pPr lvl="2"/>
            <a:r>
              <a:rPr lang="en-US" sz="1400" dirty="0"/>
              <a:t>An XML query language with a rich set of features</a:t>
            </a:r>
            <a:endParaRPr lang="en-US" sz="1400" dirty="0"/>
          </a:p>
          <a:p>
            <a:pPr>
              <a:buFont typeface="Monotype Sorts" pitchFamily="-65" charset="2"/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Tree Model of XML Data</a:t>
            </a:r>
            <a:endParaRPr lang="en-US"/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57250"/>
            <a:ext cx="5749077" cy="3850481"/>
          </a:xfrm>
        </p:spPr>
        <p:txBody>
          <a:bodyPr/>
          <a:lstStyle/>
          <a:p>
            <a:r>
              <a:rPr lang="en-US" sz="1400" dirty="0"/>
              <a:t>Query and transformation languages are based on a </a:t>
            </a:r>
            <a:r>
              <a:rPr lang="en-US" sz="1400" b="1" dirty="0">
                <a:solidFill>
                  <a:srgbClr val="002060"/>
                </a:solidFill>
              </a:rPr>
              <a:t>tree model</a:t>
            </a:r>
            <a:r>
              <a:rPr lang="en-US" sz="1400" dirty="0">
                <a:solidFill>
                  <a:srgbClr val="002060"/>
                </a:solidFill>
              </a:rPr>
              <a:t> </a:t>
            </a:r>
            <a:r>
              <a:rPr lang="en-US" sz="1400" dirty="0"/>
              <a:t>of XML data</a:t>
            </a:r>
            <a:endParaRPr lang="en-US" sz="1400" dirty="0"/>
          </a:p>
          <a:p>
            <a:r>
              <a:rPr lang="en-US" sz="1400" dirty="0"/>
              <a:t>An XML document is modeled as a tree, with </a:t>
            </a:r>
            <a:r>
              <a:rPr lang="en-US" sz="1400" b="1" dirty="0">
                <a:solidFill>
                  <a:srgbClr val="002060"/>
                </a:solidFill>
              </a:rPr>
              <a:t>nodes</a:t>
            </a:r>
            <a:r>
              <a:rPr lang="en-US" sz="1400" dirty="0"/>
              <a:t> corresponding to elements and attributes</a:t>
            </a:r>
            <a:endParaRPr lang="en-US" sz="1400" dirty="0"/>
          </a:p>
          <a:p>
            <a:pPr lvl="1"/>
            <a:r>
              <a:rPr lang="en-US" sz="1400" dirty="0"/>
              <a:t>Element nodes have child nodes, which can be attributes or </a:t>
            </a:r>
            <a:r>
              <a:rPr lang="en-US" sz="1400" dirty="0" err="1"/>
              <a:t>subelements</a:t>
            </a:r>
            <a:endParaRPr lang="en-US" sz="1400" dirty="0"/>
          </a:p>
          <a:p>
            <a:pPr lvl="1"/>
            <a:r>
              <a:rPr lang="en-US" sz="1400" dirty="0"/>
              <a:t>Text in an element is modeled as a text node child of the element</a:t>
            </a:r>
            <a:endParaRPr lang="en-US" sz="1400" dirty="0"/>
          </a:p>
          <a:p>
            <a:pPr lvl="1"/>
            <a:r>
              <a:rPr lang="en-US" sz="1400" dirty="0"/>
              <a:t>Children of a node are ordered according to their order in the XML document</a:t>
            </a:r>
            <a:endParaRPr lang="en-US" sz="1400" dirty="0"/>
          </a:p>
          <a:p>
            <a:pPr lvl="1"/>
            <a:r>
              <a:rPr lang="en-US" sz="1400" dirty="0"/>
              <a:t>Element and attribute nodes (except for the root node) have a single parent, which is an element node</a:t>
            </a:r>
            <a:endParaRPr lang="en-US" sz="1400" dirty="0"/>
          </a:p>
          <a:p>
            <a:pPr lvl="1"/>
            <a:r>
              <a:rPr lang="en-US" sz="1400" dirty="0"/>
              <a:t>The root node has a single child, which is the root element of the document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808825" y="88106"/>
            <a:ext cx="5220071" cy="457200"/>
          </a:xfrm>
        </p:spPr>
        <p:txBody>
          <a:bodyPr/>
          <a:lstStyle/>
          <a:p>
            <a:r>
              <a:rPr lang="en-US" dirty="0"/>
              <a:t>XPath</a:t>
            </a:r>
            <a:endParaRPr lang="en-US" dirty="0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20341"/>
            <a:ext cx="5780485" cy="3677840"/>
          </a:xfrm>
        </p:spPr>
        <p:txBody>
          <a:bodyPr/>
          <a:lstStyle/>
          <a:p>
            <a:r>
              <a:rPr lang="en-US" sz="1600" dirty="0"/>
              <a:t>XPath is used to address (select) parts of documents using</a:t>
            </a:r>
            <a:br>
              <a:rPr lang="en-US" sz="1600" dirty="0"/>
            </a:br>
            <a:r>
              <a:rPr lang="en-US" sz="1600" dirty="0"/>
              <a:t> </a:t>
            </a:r>
            <a:r>
              <a:rPr lang="en-US" sz="1600" b="1" dirty="0">
                <a:solidFill>
                  <a:srgbClr val="002060"/>
                </a:solidFill>
              </a:rPr>
              <a:t>path expressions</a:t>
            </a:r>
            <a:endParaRPr lang="en-US" sz="1600" b="1" dirty="0">
              <a:solidFill>
                <a:srgbClr val="002060"/>
              </a:solidFill>
            </a:endParaRPr>
          </a:p>
          <a:p>
            <a:r>
              <a:rPr lang="en-US" sz="1600" dirty="0"/>
              <a:t>A path expression is a sequence of steps separated by “/”</a:t>
            </a:r>
            <a:endParaRPr lang="en-US" sz="1600" dirty="0"/>
          </a:p>
          <a:p>
            <a:pPr lvl="1"/>
            <a:r>
              <a:rPr lang="en-US" sz="1600" dirty="0"/>
              <a:t>Think of file names in a directory hierarchy</a:t>
            </a:r>
            <a:endParaRPr lang="en-US" sz="1600" dirty="0"/>
          </a:p>
          <a:p>
            <a:r>
              <a:rPr lang="en-US" sz="1600" dirty="0"/>
              <a:t>Result of path expression:  set of values that along with their containing elements/attributes match the specified path </a:t>
            </a:r>
            <a:endParaRPr lang="en-US" sz="1600" dirty="0"/>
          </a:p>
          <a:p>
            <a:r>
              <a:rPr lang="en-US" sz="1600" dirty="0"/>
              <a:t>E.g.,       </a:t>
            </a:r>
            <a:r>
              <a:rPr lang="en-US" sz="1600" dirty="0">
                <a:solidFill>
                  <a:srgbClr val="993300"/>
                </a:solidFill>
              </a:rPr>
              <a:t>/university-3/instructor/name</a:t>
            </a:r>
            <a:r>
              <a:rPr lang="en-US" sz="1600" dirty="0"/>
              <a:t>   evaluated on the university-3 data we saw earlier returns</a:t>
            </a:r>
            <a:endParaRPr lang="en-US" sz="1600" dirty="0"/>
          </a:p>
          <a:p>
            <a:pPr lvl="1">
              <a:buFont typeface="Monotype Sorts" pitchFamily="-65" charset="2"/>
              <a:buNone/>
            </a:pPr>
            <a:r>
              <a:rPr lang="en-US" sz="1600" dirty="0"/>
              <a:t>    &lt;name&gt;Srinivasan&lt;/name&gt;</a:t>
            </a:r>
            <a:br>
              <a:rPr lang="en-US" sz="1600" dirty="0"/>
            </a:br>
            <a:r>
              <a:rPr lang="en-US" sz="1600" dirty="0"/>
              <a:t>&lt;name&gt;Brandt&lt;/name&gt;</a:t>
            </a:r>
            <a:endParaRPr lang="en-US" sz="1600" dirty="0">
              <a:solidFill>
                <a:srgbClr val="006666"/>
              </a:solidFill>
            </a:endParaRPr>
          </a:p>
          <a:p>
            <a:r>
              <a:rPr lang="en-US" sz="1600" dirty="0"/>
              <a:t>E.g.,       </a:t>
            </a:r>
            <a:r>
              <a:rPr lang="en-US" sz="1600" dirty="0">
                <a:solidFill>
                  <a:srgbClr val="993300"/>
                </a:solidFill>
              </a:rPr>
              <a:t>/university-3/instructor/name/text( )</a:t>
            </a:r>
            <a:endParaRPr lang="en-US" sz="1600" dirty="0">
              <a:solidFill>
                <a:srgbClr val="993300"/>
              </a:solidFill>
            </a:endParaRPr>
          </a:p>
          <a:p>
            <a:pPr>
              <a:lnSpc>
                <a:spcPct val="80000"/>
              </a:lnSpc>
              <a:buFont typeface="Monotype Sorts" pitchFamily="-65" charset="2"/>
              <a:buNone/>
            </a:pPr>
            <a:r>
              <a:rPr lang="en-US" sz="1600" dirty="0"/>
              <a:t>        returns the same names, but without the enclosing tags</a:t>
            </a:r>
            <a:endParaRPr lang="en-US" sz="1600" dirty="0"/>
          </a:p>
          <a:p>
            <a:endParaRPr lang="en-US" sz="1600" dirty="0"/>
          </a:p>
        </p:txBody>
      </p:sp>
      <p:grpSp>
        <p:nvGrpSpPr>
          <p:cNvPr id="4" name="组合 3"/>
          <p:cNvGrpSpPr/>
          <p:nvPr/>
        </p:nvGrpSpPr>
        <p:grpSpPr>
          <a:xfrm>
            <a:off x="539115" y="987425"/>
            <a:ext cx="723265" cy="955040"/>
            <a:chOff x="737" y="4617"/>
            <a:chExt cx="1139" cy="1504"/>
          </a:xfrm>
        </p:grpSpPr>
        <p:pic>
          <p:nvPicPr>
            <p:cNvPr id="3" name="Picture 101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737" y="4617"/>
              <a:ext cx="1139" cy="113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文本框 4"/>
            <p:cNvSpPr txBox="1"/>
            <p:nvPr/>
          </p:nvSpPr>
          <p:spPr>
            <a:xfrm>
              <a:off x="1077" y="5638"/>
              <a:ext cx="45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9</a:t>
              </a:r>
              <a:endParaRPr lang="en-US" altLang="zh-CN" sz="1400"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XPath (Cont.)</a:t>
            </a:r>
            <a:endParaRPr lang="en-US" dirty="0"/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19263" y="857250"/>
            <a:ext cx="5709128" cy="3943350"/>
          </a:xfrm>
        </p:spPr>
        <p:txBody>
          <a:bodyPr/>
          <a:lstStyle/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sz="1200" dirty="0"/>
              <a:t>The initial “/” denotes root of the document (above the top-level tag)</a:t>
            </a:r>
            <a:endParaRPr lang="en-US" sz="1200" dirty="0"/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sz="1200" dirty="0"/>
              <a:t>Path expressions are evaluated left to right</a:t>
            </a:r>
            <a:endParaRPr lang="en-US" sz="1200" dirty="0"/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sz="1200" dirty="0"/>
              <a:t>Each step operates on the set of instances produced by the previous step</a:t>
            </a:r>
            <a:endParaRPr lang="en-US" sz="1200" dirty="0"/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sz="1200" dirty="0"/>
              <a:t>Selection predicates may follow any step in a path, in [ ]</a:t>
            </a:r>
            <a:endParaRPr lang="en-US" sz="1200" dirty="0"/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sz="1200" dirty="0"/>
              <a:t>E.g.,    </a:t>
            </a:r>
            <a:r>
              <a:rPr lang="en-US" sz="1200" dirty="0">
                <a:solidFill>
                  <a:srgbClr val="993300"/>
                </a:solidFill>
              </a:rPr>
              <a:t>/university-3/course[credits &gt;= 4] </a:t>
            </a:r>
            <a:endParaRPr lang="en-US" sz="1200" dirty="0">
              <a:solidFill>
                <a:srgbClr val="993300"/>
              </a:solidFill>
            </a:endParaRPr>
          </a:p>
          <a:p>
            <a:pPr lvl="2"/>
            <a:r>
              <a:rPr lang="en-US" sz="1200" dirty="0"/>
              <a:t>returns account elements with a balance value greater than 400</a:t>
            </a:r>
            <a:endParaRPr lang="en-US" sz="1200" dirty="0"/>
          </a:p>
          <a:p>
            <a:pPr lvl="2"/>
            <a:r>
              <a:rPr lang="en-US" sz="1200" dirty="0">
                <a:solidFill>
                  <a:srgbClr val="993300"/>
                </a:solidFill>
              </a:rPr>
              <a:t>/university-3/course[credits]  </a:t>
            </a:r>
            <a:r>
              <a:rPr lang="en-US" sz="1200" dirty="0"/>
              <a:t>returns account elements containing a credits </a:t>
            </a:r>
            <a:r>
              <a:rPr lang="en-US" sz="1200" dirty="0" err="1"/>
              <a:t>subelement</a:t>
            </a:r>
            <a:endParaRPr lang="en-US" sz="1200" dirty="0"/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sz="1200" dirty="0"/>
              <a:t>Attributes are accessed using “@”</a:t>
            </a:r>
            <a:endParaRPr lang="en-US" sz="1200" dirty="0"/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sz="1200" dirty="0"/>
              <a:t>E.g.,   </a:t>
            </a:r>
            <a:r>
              <a:rPr lang="en-US" sz="1200" dirty="0">
                <a:solidFill>
                  <a:srgbClr val="993300"/>
                </a:solidFill>
              </a:rPr>
              <a:t>/university-3/course[credits &gt;= 4]/@</a:t>
            </a:r>
            <a:r>
              <a:rPr lang="en-US" sz="1200" dirty="0" err="1">
                <a:solidFill>
                  <a:srgbClr val="993300"/>
                </a:solidFill>
              </a:rPr>
              <a:t>course_id</a:t>
            </a:r>
            <a:endParaRPr lang="en-US" sz="1200" dirty="0">
              <a:solidFill>
                <a:srgbClr val="993300"/>
              </a:solidFill>
            </a:endParaRPr>
          </a:p>
          <a:p>
            <a:pPr lvl="2"/>
            <a:r>
              <a:rPr lang="en-US" sz="1200" dirty="0"/>
              <a:t>returns the course identifiers of courses with credits &gt;= 4</a:t>
            </a:r>
            <a:endParaRPr lang="en-US" sz="1200" dirty="0"/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sz="1200" dirty="0"/>
              <a:t>IDREF attributes are not dereferenced automatically (more on this later)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in XPath</a:t>
            </a:r>
            <a:endParaRPr lang="en-US" dirty="0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32282"/>
            <a:ext cx="5780485" cy="36659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200" dirty="0"/>
              <a:t>XPath provides several functions</a:t>
            </a:r>
            <a:endParaRPr lang="en-US" sz="1200" dirty="0"/>
          </a:p>
          <a:p>
            <a:pPr lvl="1">
              <a:lnSpc>
                <a:spcPct val="90000"/>
              </a:lnSpc>
            </a:pPr>
            <a:r>
              <a:rPr lang="en-US" sz="1200" dirty="0"/>
              <a:t>The function </a:t>
            </a:r>
            <a:r>
              <a:rPr lang="en-US" sz="1200" dirty="0">
                <a:solidFill>
                  <a:srgbClr val="993300"/>
                </a:solidFill>
              </a:rPr>
              <a:t>count()</a:t>
            </a:r>
            <a:r>
              <a:rPr lang="en-US" sz="1200" dirty="0"/>
              <a:t>  at the end of a path counts the number of elements in the set generated by the path</a:t>
            </a:r>
            <a:endParaRPr lang="en-US" sz="1200" dirty="0"/>
          </a:p>
          <a:p>
            <a:pPr lvl="2">
              <a:lnSpc>
                <a:spcPct val="90000"/>
              </a:lnSpc>
            </a:pPr>
            <a:r>
              <a:rPr lang="en-US" sz="1200" dirty="0"/>
              <a:t>E.g.,   </a:t>
            </a:r>
            <a:r>
              <a:rPr lang="en-US" sz="1200" dirty="0">
                <a:solidFill>
                  <a:srgbClr val="993300"/>
                </a:solidFill>
              </a:rPr>
              <a:t>/university-2/instructor[count(./teaches/course)&gt; 2]</a:t>
            </a:r>
            <a:endParaRPr lang="en-US" sz="1200" dirty="0">
              <a:solidFill>
                <a:srgbClr val="993300"/>
              </a:solidFill>
            </a:endParaRPr>
          </a:p>
          <a:p>
            <a:pPr lvl="3">
              <a:lnSpc>
                <a:spcPct val="90000"/>
              </a:lnSpc>
            </a:pPr>
            <a:r>
              <a:rPr lang="en-US" sz="1200" dirty="0"/>
              <a:t>Returns instructors teaching more than 2 courses (on university-2 schema)</a:t>
            </a:r>
            <a:endParaRPr lang="en-US" sz="1200" dirty="0"/>
          </a:p>
          <a:p>
            <a:pPr lvl="1">
              <a:lnSpc>
                <a:spcPct val="90000"/>
              </a:lnSpc>
            </a:pPr>
            <a:r>
              <a:rPr lang="en-US" sz="1200" dirty="0"/>
              <a:t>Also function for testing position (1, 2, ..) of node w.r.t. siblings</a:t>
            </a:r>
            <a:endParaRPr lang="en-US" sz="1200" dirty="0"/>
          </a:p>
          <a:p>
            <a:pPr>
              <a:lnSpc>
                <a:spcPct val="90000"/>
              </a:lnSpc>
            </a:pPr>
            <a:r>
              <a:rPr lang="en-US" sz="1200" dirty="0"/>
              <a:t>Boolean connectives </a:t>
            </a:r>
            <a:r>
              <a:rPr lang="en-US" sz="1200" dirty="0">
                <a:solidFill>
                  <a:srgbClr val="993300"/>
                </a:solidFill>
              </a:rPr>
              <a:t>and</a:t>
            </a:r>
            <a:r>
              <a:rPr lang="en-US" sz="1200" dirty="0"/>
              <a:t> </a:t>
            </a:r>
            <a:r>
              <a:rPr lang="en-US" sz="1200" dirty="0" err="1"/>
              <a:t>and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993300"/>
                </a:solidFill>
              </a:rPr>
              <a:t>or</a:t>
            </a:r>
            <a:r>
              <a:rPr lang="en-US" sz="1200" dirty="0"/>
              <a:t> and function </a:t>
            </a:r>
            <a:r>
              <a:rPr lang="en-US" sz="1200" dirty="0">
                <a:solidFill>
                  <a:srgbClr val="993300"/>
                </a:solidFill>
              </a:rPr>
              <a:t>not() </a:t>
            </a:r>
            <a:r>
              <a:rPr lang="en-US" sz="1200" dirty="0"/>
              <a:t>can be used in predicates</a:t>
            </a:r>
            <a:endParaRPr lang="en-US" sz="1200" dirty="0"/>
          </a:p>
          <a:p>
            <a:pPr>
              <a:lnSpc>
                <a:spcPct val="90000"/>
              </a:lnSpc>
            </a:pPr>
            <a:endParaRPr lang="en-US" sz="700" dirty="0"/>
          </a:p>
        </p:txBody>
      </p:sp>
      <p:grpSp>
        <p:nvGrpSpPr>
          <p:cNvPr id="4" name="组合 3"/>
          <p:cNvGrpSpPr/>
          <p:nvPr/>
        </p:nvGrpSpPr>
        <p:grpSpPr>
          <a:xfrm>
            <a:off x="539115" y="987425"/>
            <a:ext cx="723265" cy="923925"/>
            <a:chOff x="737" y="4617"/>
            <a:chExt cx="1139" cy="1455"/>
          </a:xfrm>
        </p:grpSpPr>
        <p:pic>
          <p:nvPicPr>
            <p:cNvPr id="3" name="Picture 101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737" y="4617"/>
              <a:ext cx="1139" cy="113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文本框 4"/>
            <p:cNvSpPr txBox="1"/>
            <p:nvPr/>
          </p:nvSpPr>
          <p:spPr>
            <a:xfrm>
              <a:off x="851" y="5638"/>
              <a:ext cx="90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/>
                <a:t>10</a:t>
              </a:r>
              <a:endParaRPr lang="en-US" altLang="zh-CN" sz="1200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XPath Features</a:t>
            </a:r>
            <a:endParaRPr lang="en-US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19263" y="857250"/>
            <a:ext cx="5710238" cy="3337449"/>
          </a:xfrm>
        </p:spPr>
        <p:txBody>
          <a:bodyPr/>
          <a:lstStyle/>
          <a:p>
            <a:pPr>
              <a:lnSpc>
                <a:spcPct val="90000"/>
              </a:lnSpc>
              <a:buSzPct val="110000"/>
              <a:buFont typeface="Wingdings" panose="05000000000000000000" pitchFamily="2" charset="2"/>
              <a:buChar char="§"/>
            </a:pPr>
            <a:r>
              <a:rPr lang="en-US" sz="1200" dirty="0"/>
              <a:t>Operator “|” used to implement union </a:t>
            </a:r>
            <a:endParaRPr lang="en-US" sz="1200" dirty="0"/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sz="1200" dirty="0"/>
              <a:t>E.g.,  </a:t>
            </a:r>
            <a:r>
              <a:rPr lang="en-US" sz="1200" dirty="0">
                <a:solidFill>
                  <a:srgbClr val="993300"/>
                </a:solidFill>
              </a:rPr>
              <a:t>/university-3/course[@dept name=“Comp. Sci”]   |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      /university-3/course[@dept name=“Biology”]</a:t>
            </a:r>
            <a:endParaRPr lang="en-US" sz="1200" dirty="0">
              <a:solidFill>
                <a:srgbClr val="993300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US" sz="1200" dirty="0"/>
              <a:t>Gives union of Comp. Sci. and Biology courses</a:t>
            </a:r>
            <a:endParaRPr lang="en-US" sz="1200" dirty="0"/>
          </a:p>
          <a:p>
            <a:pPr lvl="2">
              <a:lnSpc>
                <a:spcPct val="90000"/>
              </a:lnSpc>
            </a:pPr>
            <a:r>
              <a:rPr lang="en-US" sz="1200" dirty="0"/>
              <a:t>However, “|” cannot be nested inside other operators.</a:t>
            </a:r>
            <a:endParaRPr lang="en-US" sz="1200" dirty="0"/>
          </a:p>
          <a:p>
            <a:pPr>
              <a:lnSpc>
                <a:spcPct val="90000"/>
              </a:lnSpc>
              <a:buSzPct val="110000"/>
              <a:buFont typeface="Wingdings" panose="05000000000000000000" pitchFamily="2" charset="2"/>
              <a:buChar char="§"/>
            </a:pPr>
            <a:r>
              <a:rPr lang="en-US" sz="1200" dirty="0"/>
              <a:t>“//” can be used to skip multiple levels of nodes </a:t>
            </a:r>
            <a:endParaRPr lang="en-US" sz="1200" dirty="0"/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sz="1200" dirty="0"/>
              <a:t>E.g.,  </a:t>
            </a:r>
            <a:r>
              <a:rPr lang="en-US" sz="1200" dirty="0">
                <a:solidFill>
                  <a:srgbClr val="993300"/>
                </a:solidFill>
              </a:rPr>
              <a:t>/university-3//name </a:t>
            </a:r>
            <a:endParaRPr lang="en-US" sz="1200" dirty="0">
              <a:solidFill>
                <a:srgbClr val="993300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US" sz="1200" dirty="0"/>
              <a:t>finds any </a:t>
            </a:r>
            <a:r>
              <a:rPr lang="en-US" sz="1200" dirty="0">
                <a:solidFill>
                  <a:srgbClr val="993300"/>
                </a:solidFill>
              </a:rPr>
              <a:t>name</a:t>
            </a:r>
            <a:r>
              <a:rPr lang="en-US" sz="1200" dirty="0"/>
              <a:t> element </a:t>
            </a:r>
            <a:r>
              <a:rPr lang="en-US" sz="1200" i="1" dirty="0"/>
              <a:t>anywhere </a:t>
            </a:r>
            <a:r>
              <a:rPr lang="en-US" sz="1200" dirty="0"/>
              <a:t> under the </a:t>
            </a:r>
            <a:r>
              <a:rPr lang="en-US" sz="1200" dirty="0">
                <a:solidFill>
                  <a:srgbClr val="993300"/>
                </a:solidFill>
              </a:rPr>
              <a:t>/university-3</a:t>
            </a:r>
            <a:r>
              <a:rPr lang="en-US" sz="1200" dirty="0"/>
              <a:t> element, regardless of the element in which it is contained.</a:t>
            </a:r>
            <a:endParaRPr lang="en-US" sz="1200" dirty="0"/>
          </a:p>
          <a:p>
            <a:pPr>
              <a:lnSpc>
                <a:spcPct val="90000"/>
              </a:lnSpc>
              <a:buSzPct val="110000"/>
              <a:buFont typeface="Wingdings" panose="05000000000000000000" pitchFamily="2" charset="2"/>
              <a:buChar char="§"/>
            </a:pPr>
            <a:r>
              <a:rPr lang="en-US" sz="1200" dirty="0"/>
              <a:t>A step in the path can go to parents, siblings, ancestors and descendants  of the nodes generated by the previous step, not just to the children</a:t>
            </a:r>
            <a:endParaRPr lang="en-US" sz="1200" dirty="0"/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sz="1200" dirty="0"/>
              <a:t>“//”, described above, is a short from for specifying “all descendants”</a:t>
            </a:r>
            <a:endParaRPr lang="en-US" sz="1200" dirty="0"/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sz="1200" dirty="0"/>
              <a:t>“..” specifies the parent.</a:t>
            </a:r>
            <a:endParaRPr lang="en-US" sz="1200" dirty="0"/>
          </a:p>
          <a:p>
            <a:pPr>
              <a:lnSpc>
                <a:spcPct val="90000"/>
              </a:lnSpc>
            </a:pPr>
            <a:endParaRPr lang="en-US" sz="1200" i="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XQuery</a:t>
            </a:r>
            <a:endParaRPr lang="en-US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20341"/>
            <a:ext cx="5780485" cy="367784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1400" dirty="0"/>
              <a:t>XQuery is a general purpose query language for XML data </a:t>
            </a:r>
            <a:endParaRPr lang="en-US" sz="1400" dirty="0"/>
          </a:p>
          <a:p>
            <a:pPr>
              <a:lnSpc>
                <a:spcPct val="90000"/>
              </a:lnSpc>
            </a:pPr>
            <a:r>
              <a:rPr lang="en-US" sz="1400" dirty="0"/>
              <a:t>Currently being standardized by the World Wide Web Consortium (W3C)</a:t>
            </a:r>
            <a:endParaRPr lang="en-US" sz="1400" dirty="0"/>
          </a:p>
          <a:p>
            <a:pPr lvl="1">
              <a:lnSpc>
                <a:spcPct val="90000"/>
              </a:lnSpc>
            </a:pPr>
            <a:r>
              <a:rPr lang="en-US" sz="1400" dirty="0"/>
              <a:t>The textbook description is based on a January 2005 draft of the standard.  The final version may differ, but major features likely to stay unchanged.</a:t>
            </a:r>
            <a:endParaRPr lang="en-US" sz="1400" dirty="0"/>
          </a:p>
          <a:p>
            <a:pPr>
              <a:lnSpc>
                <a:spcPct val="90000"/>
              </a:lnSpc>
            </a:pPr>
            <a:r>
              <a:rPr lang="en-US" sz="1400" dirty="0"/>
              <a:t>XQuery is derived from the Quilt query language, which itself borrows from SQL, XQL and XML-QL</a:t>
            </a:r>
            <a:endParaRPr lang="en-US" sz="1400" dirty="0"/>
          </a:p>
          <a:p>
            <a:pPr>
              <a:lnSpc>
                <a:spcPct val="90000"/>
              </a:lnSpc>
            </a:pPr>
            <a:r>
              <a:rPr lang="en-US" sz="1400" dirty="0"/>
              <a:t>XQuery uses a  </a:t>
            </a:r>
            <a:br>
              <a:rPr lang="en-US" sz="1400" dirty="0"/>
            </a:br>
            <a:r>
              <a:rPr lang="en-US" sz="1400" dirty="0"/>
              <a:t>      </a:t>
            </a:r>
            <a:r>
              <a:rPr lang="en-US" sz="1400" b="1" dirty="0">
                <a:solidFill>
                  <a:srgbClr val="993300"/>
                </a:solidFill>
              </a:rPr>
              <a:t>for … let … where … order by …result</a:t>
            </a:r>
            <a:r>
              <a:rPr lang="en-US" sz="1400" dirty="0">
                <a:solidFill>
                  <a:srgbClr val="993300"/>
                </a:solidFill>
              </a:rPr>
              <a:t> … 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/>
              <a:t>syntax</a:t>
            </a:r>
            <a:br>
              <a:rPr lang="en-US" sz="1400" dirty="0"/>
            </a:br>
            <a:r>
              <a:rPr lang="en-US" sz="1400" dirty="0"/>
              <a:t>     </a:t>
            </a:r>
            <a:r>
              <a:rPr lang="en-US" sz="1400" b="1" dirty="0"/>
              <a:t>for</a:t>
            </a:r>
            <a:r>
              <a:rPr lang="en-US" sz="1400" dirty="0"/>
              <a:t>      </a:t>
            </a:r>
            <a:r>
              <a:rPr lang="en-US" sz="1400" dirty="0">
                <a:sym typeface="Wingdings" panose="05000000000000000000" pitchFamily="2" charset="2"/>
              </a:rPr>
              <a:t> SQL </a:t>
            </a:r>
            <a:r>
              <a:rPr lang="en-US" sz="1400" b="1" dirty="0">
                <a:sym typeface="Wingdings" panose="05000000000000000000" pitchFamily="2" charset="2"/>
              </a:rPr>
              <a:t>from</a:t>
            </a:r>
            <a:br>
              <a:rPr lang="en-US" sz="1400" dirty="0">
                <a:sym typeface="Wingdings" panose="05000000000000000000" pitchFamily="2" charset="2"/>
              </a:rPr>
            </a:br>
            <a:r>
              <a:rPr lang="en-US" sz="1400" dirty="0">
                <a:sym typeface="Wingdings" panose="05000000000000000000" pitchFamily="2" charset="2"/>
              </a:rPr>
              <a:t>     </a:t>
            </a:r>
            <a:r>
              <a:rPr lang="en-US" sz="1400" b="1" dirty="0">
                <a:sym typeface="Wingdings" panose="05000000000000000000" pitchFamily="2" charset="2"/>
              </a:rPr>
              <a:t>where</a:t>
            </a:r>
            <a:r>
              <a:rPr lang="en-US" sz="1400" dirty="0">
                <a:sym typeface="Wingdings" panose="05000000000000000000" pitchFamily="2" charset="2"/>
              </a:rPr>
              <a:t>  SQL </a:t>
            </a:r>
            <a:r>
              <a:rPr lang="en-US" sz="1400" b="1" dirty="0">
                <a:sym typeface="Wingdings" panose="05000000000000000000" pitchFamily="2" charset="2"/>
              </a:rPr>
              <a:t>where</a:t>
            </a:r>
            <a:br>
              <a:rPr lang="en-US" sz="1400" dirty="0">
                <a:sym typeface="Wingdings" panose="05000000000000000000" pitchFamily="2" charset="2"/>
              </a:rPr>
            </a:br>
            <a:r>
              <a:rPr lang="en-US" sz="1400" dirty="0">
                <a:sym typeface="Wingdings" panose="05000000000000000000" pitchFamily="2" charset="2"/>
              </a:rPr>
              <a:t>     </a:t>
            </a:r>
            <a:r>
              <a:rPr lang="en-US" sz="1400" b="1" dirty="0">
                <a:sym typeface="Wingdings" panose="05000000000000000000" pitchFamily="2" charset="2"/>
              </a:rPr>
              <a:t>order by </a:t>
            </a:r>
            <a:r>
              <a:rPr lang="en-US" sz="1400" dirty="0">
                <a:sym typeface="Wingdings" panose="05000000000000000000" pitchFamily="2" charset="2"/>
              </a:rPr>
              <a:t> SQL </a:t>
            </a:r>
            <a:r>
              <a:rPr lang="en-US" sz="1400" b="1" dirty="0">
                <a:sym typeface="Wingdings" panose="05000000000000000000" pitchFamily="2" charset="2"/>
              </a:rPr>
              <a:t>order by</a:t>
            </a:r>
            <a:endParaRPr lang="en-US" sz="1400" b="1" dirty="0">
              <a:sym typeface="Wingdings" panose="05000000000000000000" pitchFamily="2" charset="2"/>
            </a:endParaRPr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sz="1400" b="1" dirty="0">
                <a:sym typeface="Wingdings" panose="05000000000000000000" pitchFamily="2" charset="2"/>
              </a:rPr>
              <a:t>	     result</a:t>
            </a:r>
            <a:r>
              <a:rPr lang="en-US" sz="1400" dirty="0">
                <a:sym typeface="Wingdings" panose="05000000000000000000" pitchFamily="2" charset="2"/>
              </a:rPr>
              <a:t>   SQL </a:t>
            </a:r>
            <a:r>
              <a:rPr lang="en-US" sz="1400" b="1" dirty="0">
                <a:sym typeface="Wingdings" panose="05000000000000000000" pitchFamily="2" charset="2"/>
              </a:rPr>
              <a:t>select</a:t>
            </a:r>
            <a:br>
              <a:rPr lang="en-US" sz="1400" dirty="0">
                <a:sym typeface="Wingdings" panose="05000000000000000000" pitchFamily="2" charset="2"/>
              </a:rPr>
            </a:br>
            <a:r>
              <a:rPr lang="en-US" sz="1400" dirty="0">
                <a:sym typeface="Wingdings" panose="05000000000000000000" pitchFamily="2" charset="2"/>
              </a:rPr>
              <a:t>     </a:t>
            </a:r>
            <a:r>
              <a:rPr lang="en-US" sz="1400" b="1" dirty="0">
                <a:sym typeface="Wingdings" panose="05000000000000000000" pitchFamily="2" charset="2"/>
              </a:rPr>
              <a:t>let</a:t>
            </a:r>
            <a:r>
              <a:rPr lang="en-US" sz="1400" dirty="0">
                <a:sym typeface="Wingdings" panose="05000000000000000000" pitchFamily="2" charset="2"/>
              </a:rPr>
              <a:t> allows temporary variables, and has no equivalent in SQL</a:t>
            </a:r>
            <a:endParaRPr lang="en-US" sz="1400" dirty="0">
              <a:sym typeface="Wingdings" panose="05000000000000000000" pitchFamily="2" charset="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39115" y="987425"/>
            <a:ext cx="723265" cy="923925"/>
            <a:chOff x="737" y="4617"/>
            <a:chExt cx="1139" cy="1455"/>
          </a:xfrm>
        </p:grpSpPr>
        <p:pic>
          <p:nvPicPr>
            <p:cNvPr id="3" name="Picture 101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737" y="4617"/>
              <a:ext cx="1139" cy="113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文本框 4"/>
            <p:cNvSpPr txBox="1"/>
            <p:nvPr/>
          </p:nvSpPr>
          <p:spPr>
            <a:xfrm>
              <a:off x="851" y="5638"/>
              <a:ext cx="90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/>
                <a:t>11</a:t>
              </a:r>
              <a:endParaRPr lang="en-US" altLang="zh-CN" sz="1200"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FLWOR Syntax in XQuery </a:t>
            </a: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19263" y="857250"/>
            <a:ext cx="5762394" cy="3964781"/>
          </a:xfrm>
        </p:spPr>
        <p:txBody>
          <a:bodyPr/>
          <a:lstStyle/>
          <a:p>
            <a:pPr>
              <a:lnSpc>
                <a:spcPct val="90000"/>
              </a:lnSpc>
              <a:buSzPct val="110000"/>
              <a:buFont typeface="Wingdings" panose="05000000000000000000" pitchFamily="2" charset="2"/>
              <a:buChar char="§"/>
            </a:pPr>
            <a:r>
              <a:rPr lang="en-US" sz="1200" dirty="0"/>
              <a:t>For clause uses XPath expressions, and variable in for clause ranges over values in the set returned by XPath</a:t>
            </a:r>
            <a:endParaRPr lang="en-US" sz="1200" dirty="0"/>
          </a:p>
          <a:p>
            <a:pPr>
              <a:lnSpc>
                <a:spcPct val="90000"/>
              </a:lnSpc>
              <a:buSzPct val="110000"/>
              <a:buFont typeface="Wingdings" panose="05000000000000000000" pitchFamily="2" charset="2"/>
              <a:buChar char="§"/>
            </a:pPr>
            <a:r>
              <a:rPr lang="en-US" sz="1200" dirty="0"/>
              <a:t>Simple FLWOR expression in XQuery </a:t>
            </a:r>
            <a:endParaRPr lang="en-US" sz="1200" dirty="0"/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sz="1200" dirty="0"/>
              <a:t>find all courses with credits &gt; 3, with each result enclosed in an &lt;</a:t>
            </a:r>
            <a:r>
              <a:rPr lang="en-US" sz="1200" dirty="0" err="1"/>
              <a:t>course_id</a:t>
            </a:r>
            <a:r>
              <a:rPr lang="en-US" sz="1200" dirty="0"/>
              <a:t>&gt; .. &lt;/</a:t>
            </a:r>
            <a:r>
              <a:rPr lang="en-US" sz="1200" dirty="0" err="1"/>
              <a:t>course_id</a:t>
            </a:r>
            <a:r>
              <a:rPr lang="en-US" sz="1200" dirty="0"/>
              <a:t>&gt; tag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</a:t>
            </a:r>
            <a:r>
              <a:rPr lang="en-US" sz="1200" b="1" dirty="0">
                <a:solidFill>
                  <a:srgbClr val="993300"/>
                </a:solidFill>
              </a:rPr>
              <a:t> for</a:t>
            </a:r>
            <a:r>
              <a:rPr lang="en-US" sz="1200" dirty="0">
                <a:solidFill>
                  <a:srgbClr val="993300"/>
                </a:solidFill>
              </a:rPr>
              <a:t>  $x </a:t>
            </a:r>
            <a:r>
              <a:rPr lang="en-US" sz="1200" b="1" dirty="0">
                <a:solidFill>
                  <a:srgbClr val="993300"/>
                </a:solidFill>
              </a:rPr>
              <a:t>in </a:t>
            </a:r>
            <a:r>
              <a:rPr lang="en-US" sz="1200" dirty="0">
                <a:solidFill>
                  <a:srgbClr val="993300"/>
                </a:solidFill>
              </a:rPr>
              <a:t>/university-3/course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</a:t>
            </a:r>
            <a:r>
              <a:rPr lang="en-US" sz="1200" b="1" dirty="0">
                <a:solidFill>
                  <a:srgbClr val="993300"/>
                </a:solidFill>
              </a:rPr>
              <a:t>let   </a:t>
            </a:r>
            <a:r>
              <a:rPr lang="en-US" sz="1200" dirty="0">
                <a:solidFill>
                  <a:srgbClr val="993300"/>
                </a:solidFill>
              </a:rPr>
              <a:t>$</a:t>
            </a:r>
            <a:r>
              <a:rPr lang="en-US" sz="1200" dirty="0" err="1">
                <a:solidFill>
                  <a:srgbClr val="993300"/>
                </a:solidFill>
              </a:rPr>
              <a:t>courseId</a:t>
            </a:r>
            <a:r>
              <a:rPr lang="en-US" sz="1200" dirty="0">
                <a:solidFill>
                  <a:srgbClr val="993300"/>
                </a:solidFill>
              </a:rPr>
              <a:t> := $x/@</a:t>
            </a:r>
            <a:r>
              <a:rPr lang="en-US" sz="1200" dirty="0" err="1">
                <a:solidFill>
                  <a:srgbClr val="993300"/>
                </a:solidFill>
              </a:rPr>
              <a:t>course_id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</a:t>
            </a:r>
            <a:r>
              <a:rPr lang="en-US" sz="1200" b="1" dirty="0">
                <a:solidFill>
                  <a:srgbClr val="993300"/>
                </a:solidFill>
              </a:rPr>
              <a:t>where </a:t>
            </a:r>
            <a:r>
              <a:rPr lang="en-US" sz="1200" dirty="0">
                <a:solidFill>
                  <a:srgbClr val="993300"/>
                </a:solidFill>
              </a:rPr>
              <a:t>$x/credits &gt; 3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</a:t>
            </a:r>
            <a:r>
              <a:rPr lang="en-US" sz="1200" b="1" dirty="0">
                <a:solidFill>
                  <a:srgbClr val="993300"/>
                </a:solidFill>
              </a:rPr>
              <a:t>return </a:t>
            </a:r>
            <a:r>
              <a:rPr lang="en-US" sz="1200" dirty="0">
                <a:solidFill>
                  <a:srgbClr val="993300"/>
                </a:solidFill>
              </a:rPr>
              <a:t>&lt;</a:t>
            </a:r>
            <a:r>
              <a:rPr lang="en-US" sz="1200" dirty="0" err="1">
                <a:solidFill>
                  <a:srgbClr val="993300"/>
                </a:solidFill>
              </a:rPr>
              <a:t>course_id</a:t>
            </a:r>
            <a:r>
              <a:rPr lang="en-US" sz="1200" dirty="0">
                <a:solidFill>
                  <a:srgbClr val="993300"/>
                </a:solidFill>
              </a:rPr>
              <a:t>&gt; { $</a:t>
            </a:r>
            <a:r>
              <a:rPr lang="en-US" sz="1200" dirty="0" err="1">
                <a:solidFill>
                  <a:srgbClr val="993300"/>
                </a:solidFill>
              </a:rPr>
              <a:t>courseId</a:t>
            </a:r>
            <a:r>
              <a:rPr lang="en-US" sz="1200" dirty="0">
                <a:solidFill>
                  <a:srgbClr val="993300"/>
                </a:solidFill>
              </a:rPr>
              <a:t> } &lt;/course id&gt;</a:t>
            </a:r>
            <a:endParaRPr lang="en-US" sz="1200" dirty="0">
              <a:solidFill>
                <a:srgbClr val="993300"/>
              </a:solidFill>
            </a:endParaRPr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sz="1200" dirty="0"/>
              <a:t>Items in the </a:t>
            </a:r>
            <a:r>
              <a:rPr lang="en-US" sz="1200" b="1" dirty="0"/>
              <a:t>return</a:t>
            </a:r>
            <a:r>
              <a:rPr lang="en-US" sz="1200" dirty="0"/>
              <a:t> clause are XML text unless enclosed in {}, in which case they are evaluated</a:t>
            </a:r>
            <a:endParaRPr lang="en-US" sz="1200" dirty="0">
              <a:solidFill>
                <a:srgbClr val="993300"/>
              </a:solidFill>
            </a:endParaRPr>
          </a:p>
          <a:p>
            <a:pPr>
              <a:lnSpc>
                <a:spcPct val="90000"/>
              </a:lnSpc>
              <a:buSzPct val="110000"/>
              <a:buFont typeface="Wingdings" panose="05000000000000000000" pitchFamily="2" charset="2"/>
              <a:buChar char="§"/>
            </a:pPr>
            <a:r>
              <a:rPr lang="en-US" sz="1200" dirty="0"/>
              <a:t>Let clause not really needed in this query, and selection can be done In XPath.  Query can be written as:</a:t>
            </a:r>
            <a:endParaRPr lang="en-US" sz="1200" dirty="0"/>
          </a:p>
          <a:p>
            <a:pPr marL="400050" lvl="1" indent="0">
              <a:lnSpc>
                <a:spcPct val="90000"/>
              </a:lnSpc>
              <a:buSzPct val="110000"/>
              <a:buNone/>
            </a:pPr>
            <a:r>
              <a:rPr lang="en-US" sz="1200" b="1" dirty="0">
                <a:solidFill>
                  <a:srgbClr val="993300"/>
                </a:solidFill>
              </a:rPr>
              <a:t>        for </a:t>
            </a:r>
            <a:r>
              <a:rPr lang="en-US" sz="1200" dirty="0">
                <a:solidFill>
                  <a:srgbClr val="993300"/>
                </a:solidFill>
              </a:rPr>
              <a:t>$x </a:t>
            </a:r>
            <a:r>
              <a:rPr lang="en-US" sz="1200" b="1" dirty="0">
                <a:solidFill>
                  <a:srgbClr val="993300"/>
                </a:solidFill>
              </a:rPr>
              <a:t>in </a:t>
            </a:r>
            <a:r>
              <a:rPr lang="en-US" sz="1200" dirty="0">
                <a:solidFill>
                  <a:srgbClr val="993300"/>
                </a:solidFill>
              </a:rPr>
              <a:t>/university-3/course[credits &gt; 3]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</a:t>
            </a:r>
            <a:r>
              <a:rPr lang="en-US" sz="1200" b="1" dirty="0">
                <a:solidFill>
                  <a:srgbClr val="993300"/>
                </a:solidFill>
              </a:rPr>
              <a:t>return </a:t>
            </a:r>
            <a:r>
              <a:rPr lang="en-US" sz="1200" dirty="0">
                <a:solidFill>
                  <a:srgbClr val="993300"/>
                </a:solidFill>
              </a:rPr>
              <a:t>&lt;</a:t>
            </a:r>
            <a:r>
              <a:rPr lang="en-US" sz="1200" dirty="0" err="1">
                <a:solidFill>
                  <a:srgbClr val="993300"/>
                </a:solidFill>
              </a:rPr>
              <a:t>course_id</a:t>
            </a:r>
            <a:r>
              <a:rPr lang="en-US" sz="1200" dirty="0">
                <a:solidFill>
                  <a:srgbClr val="993300"/>
                </a:solidFill>
              </a:rPr>
              <a:t>&gt; { $x/@</a:t>
            </a:r>
            <a:r>
              <a:rPr lang="en-US" sz="1200" dirty="0" err="1">
                <a:solidFill>
                  <a:srgbClr val="993300"/>
                </a:solidFill>
              </a:rPr>
              <a:t>course_id</a:t>
            </a:r>
            <a:r>
              <a:rPr lang="en-US" sz="1200" dirty="0">
                <a:solidFill>
                  <a:srgbClr val="993300"/>
                </a:solidFill>
              </a:rPr>
              <a:t> } &lt;/</a:t>
            </a:r>
            <a:r>
              <a:rPr lang="en-US" sz="1200" dirty="0" err="1">
                <a:solidFill>
                  <a:srgbClr val="993300"/>
                </a:solidFill>
              </a:rPr>
              <a:t>course_id</a:t>
            </a:r>
            <a:r>
              <a:rPr lang="en-US" sz="1200" dirty="0">
                <a:solidFill>
                  <a:srgbClr val="993300"/>
                </a:solidFill>
              </a:rPr>
              <a:t>&gt;</a:t>
            </a:r>
            <a:endParaRPr lang="en-US" sz="1200" dirty="0">
              <a:solidFill>
                <a:srgbClr val="993300"/>
              </a:solidFill>
            </a:endParaRPr>
          </a:p>
          <a:p>
            <a:pPr>
              <a:lnSpc>
                <a:spcPct val="90000"/>
              </a:lnSpc>
              <a:buSzPct val="110000"/>
              <a:buFont typeface="Wingdings" panose="05000000000000000000" pitchFamily="2" charset="2"/>
              <a:buChar char="§"/>
            </a:pPr>
            <a:r>
              <a:rPr lang="en-US" sz="1200" dirty="0"/>
              <a:t>Alternative notation for constructing elements:</a:t>
            </a:r>
            <a:endParaRPr lang="en-US" sz="1200" dirty="0"/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sz="1200" dirty="0">
                <a:solidFill>
                  <a:srgbClr val="993300"/>
                </a:solidFill>
              </a:rPr>
              <a:t>          </a:t>
            </a:r>
            <a:r>
              <a:rPr lang="en-US" sz="1200" b="1" dirty="0">
                <a:solidFill>
                  <a:srgbClr val="993300"/>
                </a:solidFill>
              </a:rPr>
              <a:t>return element </a:t>
            </a:r>
            <a:r>
              <a:rPr lang="en-US" sz="1200" dirty="0" err="1">
                <a:solidFill>
                  <a:srgbClr val="993300"/>
                </a:solidFill>
              </a:rPr>
              <a:t>course_id</a:t>
            </a:r>
            <a:r>
              <a:rPr lang="en-US" sz="1200" dirty="0">
                <a:solidFill>
                  <a:srgbClr val="993300"/>
                </a:solidFill>
              </a:rPr>
              <a:t> { </a:t>
            </a:r>
            <a:r>
              <a:rPr lang="en-US" sz="1200" b="1" dirty="0">
                <a:solidFill>
                  <a:srgbClr val="993300"/>
                </a:solidFill>
              </a:rPr>
              <a:t>element </a:t>
            </a:r>
            <a:r>
              <a:rPr lang="en-US" sz="1200" dirty="0">
                <a:solidFill>
                  <a:srgbClr val="993300"/>
                </a:solidFill>
              </a:rPr>
              <a:t> $x/@</a:t>
            </a:r>
            <a:r>
              <a:rPr lang="en-US" sz="1200" dirty="0" err="1">
                <a:solidFill>
                  <a:srgbClr val="993300"/>
                </a:solidFill>
              </a:rPr>
              <a:t>course_id</a:t>
            </a:r>
            <a:r>
              <a:rPr lang="en-US" sz="1200" dirty="0">
                <a:solidFill>
                  <a:srgbClr val="993300"/>
                </a:solidFill>
              </a:rPr>
              <a:t> }</a:t>
            </a:r>
            <a:r>
              <a:rPr lang="en-US" sz="1200" b="1" dirty="0">
                <a:solidFill>
                  <a:srgbClr val="993300"/>
                </a:solidFill>
              </a:rPr>
              <a:t> </a:t>
            </a:r>
            <a:endParaRPr lang="en-US" sz="1200" b="1" dirty="0">
              <a:solidFill>
                <a:srgbClr val="9933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719263" y="88106"/>
            <a:ext cx="5476089" cy="457200"/>
          </a:xfrm>
        </p:spPr>
        <p:txBody>
          <a:bodyPr/>
          <a:lstStyle/>
          <a:p>
            <a:r>
              <a:rPr lang="en-US" dirty="0"/>
              <a:t>Joins</a:t>
            </a:r>
            <a:endParaRPr lang="en-US" dirty="0"/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57250"/>
            <a:ext cx="5995988" cy="3807619"/>
          </a:xfrm>
        </p:spPr>
        <p:txBody>
          <a:bodyPr/>
          <a:lstStyle/>
          <a:p>
            <a:r>
              <a:rPr lang="en-US" sz="1600" dirty="0"/>
              <a:t>Joins are specified in a manner very similar to SQL</a:t>
            </a:r>
            <a:endParaRPr lang="en-US" sz="1200" b="1" dirty="0"/>
          </a:p>
          <a:p>
            <a:pPr>
              <a:buFont typeface="Monotype Sorts" pitchFamily="-65" charset="2"/>
              <a:buNone/>
            </a:pPr>
            <a:r>
              <a:rPr lang="en-US" sz="1600" b="1" dirty="0"/>
              <a:t>        </a:t>
            </a:r>
            <a:r>
              <a:rPr lang="en-US" sz="1600" b="1" dirty="0">
                <a:solidFill>
                  <a:srgbClr val="993300"/>
                </a:solidFill>
              </a:rPr>
              <a:t>for </a:t>
            </a:r>
            <a:r>
              <a:rPr lang="en-US" sz="1600" dirty="0">
                <a:solidFill>
                  <a:srgbClr val="993300"/>
                </a:solidFill>
              </a:rPr>
              <a:t>$c </a:t>
            </a:r>
            <a:r>
              <a:rPr lang="en-US" sz="1600" b="1" dirty="0">
                <a:solidFill>
                  <a:srgbClr val="993300"/>
                </a:solidFill>
              </a:rPr>
              <a:t>in </a:t>
            </a:r>
            <a:r>
              <a:rPr lang="en-US" sz="1600" dirty="0">
                <a:solidFill>
                  <a:srgbClr val="993300"/>
                </a:solidFill>
              </a:rPr>
              <a:t>/university/course,</a:t>
            </a:r>
            <a:br>
              <a:rPr lang="en-US" sz="1600" dirty="0">
                <a:solidFill>
                  <a:srgbClr val="993300"/>
                </a:solidFill>
              </a:rPr>
            </a:br>
            <a:r>
              <a:rPr lang="en-US" sz="1600" dirty="0">
                <a:solidFill>
                  <a:srgbClr val="993300"/>
                </a:solidFill>
              </a:rPr>
              <a:t>        $</a:t>
            </a:r>
            <a:r>
              <a:rPr lang="en-US" sz="1600" dirty="0" err="1">
                <a:solidFill>
                  <a:srgbClr val="993300"/>
                </a:solidFill>
              </a:rPr>
              <a:t>i</a:t>
            </a:r>
            <a:r>
              <a:rPr lang="en-US" sz="1600" dirty="0">
                <a:solidFill>
                  <a:srgbClr val="993300"/>
                </a:solidFill>
              </a:rPr>
              <a:t> </a:t>
            </a:r>
            <a:r>
              <a:rPr lang="en-US" sz="1600" b="1" dirty="0">
                <a:solidFill>
                  <a:srgbClr val="993300"/>
                </a:solidFill>
              </a:rPr>
              <a:t>in </a:t>
            </a:r>
            <a:r>
              <a:rPr lang="en-US" sz="1600" dirty="0">
                <a:solidFill>
                  <a:srgbClr val="993300"/>
                </a:solidFill>
              </a:rPr>
              <a:t>/university/instructor,</a:t>
            </a:r>
            <a:br>
              <a:rPr lang="en-US" sz="1600" dirty="0">
                <a:solidFill>
                  <a:srgbClr val="993300"/>
                </a:solidFill>
              </a:rPr>
            </a:br>
            <a:r>
              <a:rPr lang="en-US" sz="1600" dirty="0">
                <a:solidFill>
                  <a:srgbClr val="993300"/>
                </a:solidFill>
              </a:rPr>
              <a:t>        $t </a:t>
            </a:r>
            <a:r>
              <a:rPr lang="en-US" sz="1600" b="1" dirty="0">
                <a:solidFill>
                  <a:srgbClr val="993300"/>
                </a:solidFill>
              </a:rPr>
              <a:t>in </a:t>
            </a:r>
            <a:r>
              <a:rPr lang="en-US" sz="1600" dirty="0">
                <a:solidFill>
                  <a:srgbClr val="993300"/>
                </a:solidFill>
              </a:rPr>
              <a:t>/university/teaches</a:t>
            </a:r>
            <a:br>
              <a:rPr lang="en-US" sz="1600" dirty="0">
                <a:solidFill>
                  <a:srgbClr val="993300"/>
                </a:solidFill>
              </a:rPr>
            </a:br>
            <a:r>
              <a:rPr lang="en-US" sz="1600" dirty="0">
                <a:solidFill>
                  <a:srgbClr val="993300"/>
                </a:solidFill>
              </a:rPr>
              <a:t>  </a:t>
            </a:r>
            <a:r>
              <a:rPr lang="en-US" sz="1600" b="1" dirty="0">
                <a:solidFill>
                  <a:srgbClr val="993300"/>
                </a:solidFill>
              </a:rPr>
              <a:t>where </a:t>
            </a:r>
            <a:r>
              <a:rPr lang="en-US" sz="1600" dirty="0">
                <a:solidFill>
                  <a:srgbClr val="993300"/>
                </a:solidFill>
              </a:rPr>
              <a:t>$c/</a:t>
            </a:r>
            <a:r>
              <a:rPr lang="en-US" sz="1600" dirty="0" err="1">
                <a:solidFill>
                  <a:srgbClr val="993300"/>
                </a:solidFill>
              </a:rPr>
              <a:t>course_id</a:t>
            </a:r>
            <a:r>
              <a:rPr lang="en-US" sz="1600" dirty="0">
                <a:solidFill>
                  <a:srgbClr val="993300"/>
                </a:solidFill>
              </a:rPr>
              <a:t>= $t/course id </a:t>
            </a:r>
            <a:r>
              <a:rPr lang="en-US" sz="1600" b="1" dirty="0">
                <a:solidFill>
                  <a:srgbClr val="993300"/>
                </a:solidFill>
              </a:rPr>
              <a:t>and </a:t>
            </a:r>
            <a:r>
              <a:rPr lang="en-US" sz="1600" dirty="0">
                <a:solidFill>
                  <a:srgbClr val="993300"/>
                </a:solidFill>
              </a:rPr>
              <a:t>$t/IID = $</a:t>
            </a:r>
            <a:r>
              <a:rPr lang="en-US" sz="1600" dirty="0" err="1">
                <a:solidFill>
                  <a:srgbClr val="993300"/>
                </a:solidFill>
              </a:rPr>
              <a:t>i</a:t>
            </a:r>
            <a:r>
              <a:rPr lang="en-US" sz="1600" dirty="0">
                <a:solidFill>
                  <a:srgbClr val="993300"/>
                </a:solidFill>
              </a:rPr>
              <a:t>/IID</a:t>
            </a:r>
            <a:br>
              <a:rPr lang="en-US" sz="1600" dirty="0">
                <a:solidFill>
                  <a:srgbClr val="993300"/>
                </a:solidFill>
              </a:rPr>
            </a:br>
            <a:r>
              <a:rPr lang="en-US" sz="1600" dirty="0">
                <a:solidFill>
                  <a:srgbClr val="993300"/>
                </a:solidFill>
              </a:rPr>
              <a:t>  </a:t>
            </a:r>
            <a:r>
              <a:rPr lang="en-US" sz="1600" b="1" dirty="0">
                <a:solidFill>
                  <a:srgbClr val="993300"/>
                </a:solidFill>
              </a:rPr>
              <a:t>return </a:t>
            </a:r>
            <a:r>
              <a:rPr lang="en-US" sz="1600" dirty="0">
                <a:solidFill>
                  <a:srgbClr val="993300"/>
                </a:solidFill>
              </a:rPr>
              <a:t>&lt;</a:t>
            </a:r>
            <a:r>
              <a:rPr lang="en-US" sz="1600" dirty="0" err="1">
                <a:solidFill>
                  <a:srgbClr val="993300"/>
                </a:solidFill>
              </a:rPr>
              <a:t>course_instructor</a:t>
            </a:r>
            <a:r>
              <a:rPr lang="en-US" sz="1600" dirty="0">
                <a:solidFill>
                  <a:srgbClr val="993300"/>
                </a:solidFill>
              </a:rPr>
              <a:t>&gt; { $c $</a:t>
            </a:r>
            <a:r>
              <a:rPr lang="en-US" sz="1600" dirty="0" err="1">
                <a:solidFill>
                  <a:srgbClr val="993300"/>
                </a:solidFill>
              </a:rPr>
              <a:t>i</a:t>
            </a:r>
            <a:r>
              <a:rPr lang="en-US" sz="1600" dirty="0">
                <a:solidFill>
                  <a:srgbClr val="993300"/>
                </a:solidFill>
              </a:rPr>
              <a:t> } &lt;/</a:t>
            </a:r>
            <a:r>
              <a:rPr lang="en-US" sz="1600" dirty="0" err="1">
                <a:solidFill>
                  <a:srgbClr val="993300"/>
                </a:solidFill>
              </a:rPr>
              <a:t>course_instructor</a:t>
            </a:r>
            <a:r>
              <a:rPr lang="en-US" sz="1600" dirty="0">
                <a:solidFill>
                  <a:srgbClr val="993300"/>
                </a:solidFill>
              </a:rPr>
              <a:t>&gt;</a:t>
            </a:r>
            <a:endParaRPr lang="en-US" sz="1600" dirty="0">
              <a:solidFill>
                <a:srgbClr val="993300"/>
              </a:solidFill>
            </a:endParaRPr>
          </a:p>
          <a:p>
            <a:r>
              <a:rPr lang="en-US" sz="1600" dirty="0"/>
              <a:t>The same query can be expressed with the selections specified as XPath selections:</a:t>
            </a:r>
            <a:endParaRPr lang="en-US" sz="1600" dirty="0"/>
          </a:p>
          <a:p>
            <a:pPr>
              <a:buFont typeface="Monotype Sorts" pitchFamily="-65" charset="2"/>
              <a:buNone/>
            </a:pPr>
            <a:r>
              <a:rPr lang="en-US" sz="1600" dirty="0"/>
              <a:t>       </a:t>
            </a:r>
            <a:r>
              <a:rPr lang="en-US" sz="1600" b="1" dirty="0">
                <a:solidFill>
                  <a:srgbClr val="993300"/>
                </a:solidFill>
              </a:rPr>
              <a:t>for </a:t>
            </a:r>
            <a:r>
              <a:rPr lang="en-US" sz="1600" dirty="0">
                <a:solidFill>
                  <a:srgbClr val="993300"/>
                </a:solidFill>
              </a:rPr>
              <a:t>$c </a:t>
            </a:r>
            <a:r>
              <a:rPr lang="en-US" sz="1600" b="1" dirty="0">
                <a:solidFill>
                  <a:srgbClr val="993300"/>
                </a:solidFill>
              </a:rPr>
              <a:t>in </a:t>
            </a:r>
            <a:r>
              <a:rPr lang="en-US" sz="1600" dirty="0">
                <a:solidFill>
                  <a:srgbClr val="993300"/>
                </a:solidFill>
              </a:rPr>
              <a:t>/university/course,</a:t>
            </a:r>
            <a:br>
              <a:rPr lang="en-US" sz="1600" dirty="0">
                <a:solidFill>
                  <a:srgbClr val="993300"/>
                </a:solidFill>
              </a:rPr>
            </a:br>
            <a:r>
              <a:rPr lang="en-US" sz="1600" dirty="0">
                <a:solidFill>
                  <a:srgbClr val="993300"/>
                </a:solidFill>
              </a:rPr>
              <a:t>       $</a:t>
            </a:r>
            <a:r>
              <a:rPr lang="en-US" sz="1600" dirty="0" err="1">
                <a:solidFill>
                  <a:srgbClr val="993300"/>
                </a:solidFill>
              </a:rPr>
              <a:t>i</a:t>
            </a:r>
            <a:r>
              <a:rPr lang="en-US" sz="1600" dirty="0">
                <a:solidFill>
                  <a:srgbClr val="993300"/>
                </a:solidFill>
              </a:rPr>
              <a:t> </a:t>
            </a:r>
            <a:r>
              <a:rPr lang="en-US" sz="1600" b="1" dirty="0">
                <a:solidFill>
                  <a:srgbClr val="993300"/>
                </a:solidFill>
              </a:rPr>
              <a:t>in </a:t>
            </a:r>
            <a:r>
              <a:rPr lang="en-US" sz="1600" dirty="0">
                <a:solidFill>
                  <a:srgbClr val="993300"/>
                </a:solidFill>
              </a:rPr>
              <a:t>/university/instructor,</a:t>
            </a:r>
            <a:br>
              <a:rPr lang="en-US" sz="1600" dirty="0">
                <a:solidFill>
                  <a:srgbClr val="993300"/>
                </a:solidFill>
              </a:rPr>
            </a:br>
            <a:r>
              <a:rPr lang="en-US" sz="1600" dirty="0">
                <a:solidFill>
                  <a:srgbClr val="993300"/>
                </a:solidFill>
              </a:rPr>
              <a:t>       $t </a:t>
            </a:r>
            <a:r>
              <a:rPr lang="en-US" sz="1600" b="1" dirty="0">
                <a:solidFill>
                  <a:srgbClr val="993300"/>
                </a:solidFill>
              </a:rPr>
              <a:t>in </a:t>
            </a:r>
            <a:r>
              <a:rPr lang="en-US" sz="1600" dirty="0">
                <a:solidFill>
                  <a:srgbClr val="993300"/>
                </a:solidFill>
              </a:rPr>
              <a:t>/university/teaches[ $c/</a:t>
            </a:r>
            <a:r>
              <a:rPr lang="en-US" sz="1600" dirty="0" err="1">
                <a:solidFill>
                  <a:srgbClr val="993300"/>
                </a:solidFill>
              </a:rPr>
              <a:t>course_id</a:t>
            </a:r>
            <a:r>
              <a:rPr lang="en-US" sz="1600" dirty="0">
                <a:solidFill>
                  <a:srgbClr val="993300"/>
                </a:solidFill>
              </a:rPr>
              <a:t>= $t/</a:t>
            </a:r>
            <a:r>
              <a:rPr lang="en-US" sz="1600" dirty="0" err="1">
                <a:solidFill>
                  <a:srgbClr val="993300"/>
                </a:solidFill>
              </a:rPr>
              <a:t>course_id</a:t>
            </a:r>
            <a:r>
              <a:rPr lang="en-US" sz="1600" dirty="0">
                <a:solidFill>
                  <a:srgbClr val="993300"/>
                </a:solidFill>
              </a:rPr>
              <a:t> </a:t>
            </a:r>
            <a:br>
              <a:rPr lang="en-US" sz="1600" dirty="0">
                <a:solidFill>
                  <a:srgbClr val="993300"/>
                </a:solidFill>
              </a:rPr>
            </a:br>
            <a:r>
              <a:rPr lang="en-US" sz="1600" dirty="0">
                <a:solidFill>
                  <a:srgbClr val="993300"/>
                </a:solidFill>
              </a:rPr>
              <a:t>                                                    </a:t>
            </a:r>
            <a:r>
              <a:rPr lang="en-US" sz="1600" b="1" dirty="0">
                <a:solidFill>
                  <a:srgbClr val="993300"/>
                </a:solidFill>
              </a:rPr>
              <a:t>and </a:t>
            </a:r>
            <a:r>
              <a:rPr lang="en-US" sz="1600" dirty="0">
                <a:solidFill>
                  <a:srgbClr val="993300"/>
                </a:solidFill>
              </a:rPr>
              <a:t>$t/IID = $</a:t>
            </a:r>
            <a:r>
              <a:rPr lang="en-US" sz="1600" dirty="0" err="1">
                <a:solidFill>
                  <a:srgbClr val="993300"/>
                </a:solidFill>
              </a:rPr>
              <a:t>i</a:t>
            </a:r>
            <a:r>
              <a:rPr lang="en-US" sz="1600" dirty="0">
                <a:solidFill>
                  <a:srgbClr val="993300"/>
                </a:solidFill>
              </a:rPr>
              <a:t>/IID]</a:t>
            </a:r>
            <a:br>
              <a:rPr lang="en-US" sz="1600" dirty="0">
                <a:solidFill>
                  <a:srgbClr val="993300"/>
                </a:solidFill>
              </a:rPr>
            </a:br>
            <a:r>
              <a:rPr lang="en-US" sz="1600" dirty="0">
                <a:solidFill>
                  <a:srgbClr val="993300"/>
                </a:solidFill>
              </a:rPr>
              <a:t> </a:t>
            </a:r>
            <a:r>
              <a:rPr lang="en-US" sz="1600" b="1" dirty="0">
                <a:solidFill>
                  <a:srgbClr val="993300"/>
                </a:solidFill>
              </a:rPr>
              <a:t>return </a:t>
            </a:r>
            <a:r>
              <a:rPr lang="en-US" sz="1600" dirty="0">
                <a:solidFill>
                  <a:srgbClr val="993300"/>
                </a:solidFill>
              </a:rPr>
              <a:t>&lt;</a:t>
            </a:r>
            <a:r>
              <a:rPr lang="en-US" sz="1600" dirty="0" err="1">
                <a:solidFill>
                  <a:srgbClr val="993300"/>
                </a:solidFill>
              </a:rPr>
              <a:t>course_instructor</a:t>
            </a:r>
            <a:r>
              <a:rPr lang="en-US" sz="1600" dirty="0">
                <a:solidFill>
                  <a:srgbClr val="993300"/>
                </a:solidFill>
              </a:rPr>
              <a:t>&gt; { $c $</a:t>
            </a:r>
            <a:r>
              <a:rPr lang="en-US" sz="1600" dirty="0" err="1">
                <a:solidFill>
                  <a:srgbClr val="993300"/>
                </a:solidFill>
              </a:rPr>
              <a:t>i</a:t>
            </a:r>
            <a:r>
              <a:rPr lang="en-US" sz="1600" dirty="0">
                <a:solidFill>
                  <a:srgbClr val="993300"/>
                </a:solidFill>
              </a:rPr>
              <a:t> } &lt;/</a:t>
            </a:r>
            <a:r>
              <a:rPr lang="en-US" sz="1600" dirty="0" err="1">
                <a:solidFill>
                  <a:srgbClr val="993300"/>
                </a:solidFill>
              </a:rPr>
              <a:t>course_instructor</a:t>
            </a:r>
            <a:r>
              <a:rPr lang="en-US" sz="1600" dirty="0">
                <a:solidFill>
                  <a:srgbClr val="993300"/>
                </a:solidFill>
              </a:rPr>
              <a:t>&gt;</a:t>
            </a:r>
            <a:endParaRPr lang="en-US" sz="1600" dirty="0">
              <a:solidFill>
                <a:srgbClr val="993300"/>
              </a:solidFill>
            </a:endParaRPr>
          </a:p>
          <a:p>
            <a:pPr>
              <a:lnSpc>
                <a:spcPct val="90000"/>
              </a:lnSpc>
            </a:pPr>
            <a:endParaRPr lang="en-US" sz="1600" dirty="0">
              <a:solidFill>
                <a:srgbClr val="993300"/>
              </a:solidFill>
            </a:endParaRPr>
          </a:p>
          <a:p>
            <a:pPr>
              <a:lnSpc>
                <a:spcPct val="90000"/>
              </a:lnSpc>
            </a:pPr>
            <a:endParaRPr lang="en-US" sz="1600" dirty="0">
              <a:solidFill>
                <a:srgbClr val="993300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39115" y="987425"/>
            <a:ext cx="723265" cy="923925"/>
            <a:chOff x="737" y="4617"/>
            <a:chExt cx="1139" cy="1455"/>
          </a:xfrm>
        </p:grpSpPr>
        <p:pic>
          <p:nvPicPr>
            <p:cNvPr id="3" name="Picture 101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737" y="4617"/>
              <a:ext cx="1139" cy="113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文本框 4"/>
            <p:cNvSpPr txBox="1"/>
            <p:nvPr/>
          </p:nvSpPr>
          <p:spPr>
            <a:xfrm>
              <a:off x="851" y="5638"/>
              <a:ext cx="90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/>
                <a:t>12</a:t>
              </a:r>
              <a:endParaRPr lang="en-US" altLang="zh-CN" sz="1200"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Nested Queries</a:t>
            </a:r>
            <a:endParaRPr 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19263" y="685800"/>
            <a:ext cx="5682495" cy="4171950"/>
          </a:xfrm>
        </p:spPr>
        <p:txBody>
          <a:bodyPr/>
          <a:lstStyle/>
          <a:p>
            <a:pPr>
              <a:lnSpc>
                <a:spcPct val="90000"/>
              </a:lnSpc>
              <a:buSzPct val="110000"/>
              <a:buFont typeface="Wingdings" panose="05000000000000000000" pitchFamily="2" charset="2"/>
              <a:buChar char="§"/>
            </a:pPr>
            <a:r>
              <a:rPr lang="en-US" sz="1200" dirty="0"/>
              <a:t>The following query converts data from the flat structure for university  information into the nested structure used in </a:t>
            </a:r>
            <a:r>
              <a:rPr lang="en-US" sz="1200" dirty="0">
                <a:solidFill>
                  <a:srgbClr val="993300"/>
                </a:solidFill>
              </a:rPr>
              <a:t>university-1</a:t>
            </a:r>
            <a:endParaRPr lang="en-US" sz="1200" dirty="0">
              <a:solidFill>
                <a:srgbClr val="993300"/>
              </a:solidFill>
            </a:endParaRPr>
          </a:p>
          <a:p>
            <a:pPr>
              <a:buFont typeface="Monotype Sorts" pitchFamily="-65" charset="2"/>
              <a:buNone/>
            </a:pPr>
            <a:r>
              <a:rPr lang="en-US" sz="1200" dirty="0">
                <a:solidFill>
                  <a:srgbClr val="993300"/>
                </a:solidFill>
              </a:rPr>
              <a:t>      </a:t>
            </a:r>
            <a:r>
              <a:rPr lang="en-US" sz="1200" dirty="0"/>
              <a:t>&lt;university-1&gt; </a:t>
            </a:r>
            <a:br>
              <a:rPr lang="en-US" sz="1200" dirty="0"/>
            </a:br>
            <a:r>
              <a:rPr lang="en-US" sz="1200" dirty="0"/>
              <a:t>{     </a:t>
            </a:r>
            <a:r>
              <a:rPr lang="en-US" sz="1200" b="1" dirty="0"/>
              <a:t>for </a:t>
            </a:r>
            <a:r>
              <a:rPr lang="en-US" sz="1200" dirty="0"/>
              <a:t>$d </a:t>
            </a:r>
            <a:r>
              <a:rPr lang="en-US" sz="1200" b="1" dirty="0"/>
              <a:t>in </a:t>
            </a:r>
            <a:r>
              <a:rPr lang="en-US" sz="1200" dirty="0"/>
              <a:t>/university/department</a:t>
            </a:r>
            <a:br>
              <a:rPr lang="en-US" sz="1200" dirty="0"/>
            </a:br>
            <a:r>
              <a:rPr lang="en-US" sz="1200" dirty="0"/>
              <a:t>       </a:t>
            </a:r>
            <a:r>
              <a:rPr lang="en-US" sz="1200" b="1" dirty="0"/>
              <a:t>return </a:t>
            </a:r>
            <a:r>
              <a:rPr lang="en-US" sz="1200" dirty="0"/>
              <a:t>&lt;department&gt;</a:t>
            </a:r>
            <a:br>
              <a:rPr lang="en-US" sz="1200" dirty="0"/>
            </a:br>
            <a:r>
              <a:rPr lang="en-US" sz="1200" dirty="0"/>
              <a:t>                      { $d/* }</a:t>
            </a:r>
            <a:br>
              <a:rPr lang="en-US" sz="1200" dirty="0"/>
            </a:br>
            <a:r>
              <a:rPr lang="en-US" sz="1200" dirty="0"/>
              <a:t>                      { </a:t>
            </a:r>
            <a:r>
              <a:rPr lang="en-US" sz="1200" b="1" dirty="0"/>
              <a:t>for </a:t>
            </a:r>
            <a:r>
              <a:rPr lang="en-US" sz="1200" dirty="0"/>
              <a:t>$c </a:t>
            </a:r>
            <a:r>
              <a:rPr lang="en-US" sz="1200" b="1" dirty="0"/>
              <a:t>in </a:t>
            </a:r>
            <a:r>
              <a:rPr lang="en-US" sz="1200" dirty="0"/>
              <a:t>/university/course[dept name = $d/dept name]</a:t>
            </a:r>
            <a:br>
              <a:rPr lang="en-US" sz="1200" dirty="0"/>
            </a:br>
            <a:r>
              <a:rPr lang="en-US" sz="1200" dirty="0"/>
              <a:t>                        </a:t>
            </a:r>
            <a:r>
              <a:rPr lang="en-US" sz="1200" b="1" dirty="0"/>
              <a:t>return </a:t>
            </a:r>
            <a:r>
              <a:rPr lang="en-US" sz="1200" dirty="0"/>
              <a:t>$c }</a:t>
            </a:r>
            <a:br>
              <a:rPr lang="en-US" sz="1200" dirty="0"/>
            </a:br>
            <a:r>
              <a:rPr lang="en-US" sz="1200" dirty="0"/>
              <a:t>                  &lt;/department&gt;</a:t>
            </a:r>
            <a:br>
              <a:rPr lang="en-US" sz="1200" dirty="0"/>
            </a:br>
            <a:r>
              <a:rPr lang="en-US" sz="1200" dirty="0"/>
              <a:t>}</a:t>
            </a:r>
            <a:br>
              <a:rPr lang="en-US" sz="1200" dirty="0"/>
            </a:br>
            <a:r>
              <a:rPr lang="en-US" sz="1200" dirty="0"/>
              <a:t>{      </a:t>
            </a:r>
            <a:r>
              <a:rPr lang="en-US" sz="1200" b="1" dirty="0"/>
              <a:t>for </a:t>
            </a:r>
            <a:r>
              <a:rPr lang="en-US" sz="1200" dirty="0"/>
              <a:t>$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b="1" dirty="0"/>
              <a:t>in </a:t>
            </a:r>
            <a:r>
              <a:rPr lang="en-US" sz="1200" dirty="0"/>
              <a:t>/university/instructor</a:t>
            </a:r>
            <a:br>
              <a:rPr lang="en-US" sz="1200" dirty="0"/>
            </a:br>
            <a:r>
              <a:rPr lang="en-US" sz="1200" dirty="0"/>
              <a:t>       </a:t>
            </a:r>
            <a:r>
              <a:rPr lang="en-US" sz="1200" b="1" dirty="0"/>
              <a:t>return  </a:t>
            </a:r>
            <a:r>
              <a:rPr lang="en-US" sz="1200" dirty="0"/>
              <a:t>&lt;instructor&gt;</a:t>
            </a:r>
            <a:br>
              <a:rPr lang="en-US" sz="1200" dirty="0"/>
            </a:br>
            <a:r>
              <a:rPr lang="en-US" sz="1200" dirty="0"/>
              <a:t>                       { $</a:t>
            </a:r>
            <a:r>
              <a:rPr lang="en-US" sz="1200" dirty="0" err="1"/>
              <a:t>i</a:t>
            </a:r>
            <a:r>
              <a:rPr lang="en-US" sz="1200" dirty="0"/>
              <a:t>/* }</a:t>
            </a:r>
            <a:br>
              <a:rPr lang="en-US" sz="1200" dirty="0"/>
            </a:br>
            <a:r>
              <a:rPr lang="en-US" sz="1200" dirty="0"/>
              <a:t>                       { </a:t>
            </a:r>
            <a:r>
              <a:rPr lang="en-US" sz="1200" b="1" dirty="0"/>
              <a:t>for </a:t>
            </a:r>
            <a:r>
              <a:rPr lang="en-US" sz="1200" dirty="0"/>
              <a:t>$c </a:t>
            </a:r>
            <a:r>
              <a:rPr lang="en-US" sz="1200" b="1" dirty="0"/>
              <a:t>in </a:t>
            </a:r>
            <a:r>
              <a:rPr lang="en-US" sz="1200" dirty="0"/>
              <a:t>/university/teaches[IID = $</a:t>
            </a:r>
            <a:r>
              <a:rPr lang="en-US" sz="1200" dirty="0" err="1"/>
              <a:t>i</a:t>
            </a:r>
            <a:r>
              <a:rPr lang="en-US" sz="1200" dirty="0"/>
              <a:t>/IID]</a:t>
            </a:r>
            <a:br>
              <a:rPr lang="en-US" sz="1200" dirty="0"/>
            </a:br>
            <a:r>
              <a:rPr lang="en-US" sz="1200" dirty="0"/>
              <a:t>                         </a:t>
            </a:r>
            <a:r>
              <a:rPr lang="en-US" sz="1200" b="1" dirty="0"/>
              <a:t>return </a:t>
            </a:r>
            <a:r>
              <a:rPr lang="en-US" sz="1200" dirty="0"/>
              <a:t>$c/course id }</a:t>
            </a:r>
            <a:br>
              <a:rPr lang="en-US" sz="1200" dirty="0"/>
            </a:br>
            <a:r>
              <a:rPr lang="en-US" sz="1200" dirty="0"/>
              <a:t>                    &lt;/instructor&gt;</a:t>
            </a:r>
            <a:br>
              <a:rPr lang="en-US" sz="1200" dirty="0"/>
            </a:br>
            <a:r>
              <a:rPr lang="en-US" sz="1200" dirty="0"/>
              <a:t>}</a:t>
            </a:r>
            <a:br>
              <a:rPr lang="en-US" sz="1200" dirty="0"/>
            </a:br>
            <a:r>
              <a:rPr lang="en-US" sz="1200" dirty="0"/>
              <a:t>&lt;/university-1&gt;</a:t>
            </a:r>
            <a:endParaRPr lang="en-US" sz="1200" dirty="0"/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993300"/>
                </a:solidFill>
              </a:rPr>
              <a:t>$c/*</a:t>
            </a:r>
            <a:r>
              <a:rPr lang="en-US" sz="1200" dirty="0"/>
              <a:t> denotes all the children of the node to which </a:t>
            </a:r>
            <a:r>
              <a:rPr lang="en-US" sz="1200" dirty="0">
                <a:solidFill>
                  <a:srgbClr val="993300"/>
                </a:solidFill>
              </a:rPr>
              <a:t>$c</a:t>
            </a:r>
            <a:r>
              <a:rPr lang="en-US" sz="1200" dirty="0"/>
              <a:t> is bound, without the enclosing top-level tag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Grouping and Aggregation</a:t>
            </a:r>
            <a:endParaRPr lang="en-IN"/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22269" y="820341"/>
            <a:ext cx="5777480" cy="3677840"/>
          </a:xfrm>
        </p:spPr>
        <p:txBody>
          <a:bodyPr/>
          <a:lstStyle/>
          <a:p>
            <a:r>
              <a:rPr lang="en-US" dirty="0"/>
              <a:t>Nested queries are used for grouping</a:t>
            </a:r>
            <a:endParaRPr lang="en-US" dirty="0"/>
          </a:p>
          <a:p>
            <a:pPr>
              <a:buFont typeface="Monotype Sorts" pitchFamily="-65" charset="2"/>
              <a:buNone/>
            </a:pPr>
            <a:endParaRPr lang="en-IN" dirty="0"/>
          </a:p>
        </p:txBody>
      </p:sp>
      <p:sp>
        <p:nvSpPr>
          <p:cNvPr id="273412" name="Text Box 4"/>
          <p:cNvSpPr txBox="1">
            <a:spLocks noChangeArrowheads="1"/>
          </p:cNvSpPr>
          <p:nvPr/>
        </p:nvSpPr>
        <p:spPr bwMode="auto">
          <a:xfrm>
            <a:off x="2008573" y="1257300"/>
            <a:ext cx="5592377" cy="22567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IN" sz="1275" b="1" dirty="0">
                <a:solidFill>
                  <a:srgbClr val="993300"/>
                </a:solidFill>
              </a:rPr>
              <a:t>for </a:t>
            </a:r>
            <a:r>
              <a:rPr lang="en-IN" sz="1275" dirty="0">
                <a:solidFill>
                  <a:srgbClr val="993300"/>
                </a:solidFill>
              </a:rPr>
              <a:t>$d </a:t>
            </a:r>
            <a:r>
              <a:rPr lang="en-IN" sz="1275" b="1" dirty="0">
                <a:solidFill>
                  <a:srgbClr val="993300"/>
                </a:solidFill>
              </a:rPr>
              <a:t>in </a:t>
            </a:r>
            <a:r>
              <a:rPr lang="en-IN" sz="1275" dirty="0">
                <a:solidFill>
                  <a:srgbClr val="993300"/>
                </a:solidFill>
              </a:rPr>
              <a:t>/university/department</a:t>
            </a:r>
            <a:endParaRPr lang="en-IN" sz="1275" dirty="0">
              <a:solidFill>
                <a:srgbClr val="993300"/>
              </a:solidFill>
            </a:endParaRPr>
          </a:p>
          <a:p>
            <a:r>
              <a:rPr lang="en-IN" sz="1275" b="1" dirty="0">
                <a:solidFill>
                  <a:srgbClr val="993300"/>
                </a:solidFill>
              </a:rPr>
              <a:t>return</a:t>
            </a:r>
            <a:endParaRPr lang="en-IN" sz="1275" b="1" dirty="0">
              <a:solidFill>
                <a:srgbClr val="993300"/>
              </a:solidFill>
            </a:endParaRPr>
          </a:p>
          <a:p>
            <a:r>
              <a:rPr lang="en-IN" sz="1275" dirty="0">
                <a:solidFill>
                  <a:srgbClr val="993300"/>
                </a:solidFill>
              </a:rPr>
              <a:t>       &lt;department-total-salary&gt;</a:t>
            </a:r>
            <a:endParaRPr lang="en-IN" sz="1275" dirty="0">
              <a:solidFill>
                <a:srgbClr val="993300"/>
              </a:solidFill>
            </a:endParaRPr>
          </a:p>
          <a:p>
            <a:r>
              <a:rPr lang="en-IN" sz="1275" dirty="0">
                <a:solidFill>
                  <a:srgbClr val="993300"/>
                </a:solidFill>
              </a:rPr>
              <a:t>            &lt;</a:t>
            </a:r>
            <a:r>
              <a:rPr lang="en-IN" sz="1275" dirty="0" err="1">
                <a:solidFill>
                  <a:srgbClr val="993300"/>
                </a:solidFill>
              </a:rPr>
              <a:t>dept_name</a:t>
            </a:r>
            <a:r>
              <a:rPr lang="en-IN" sz="1275" dirty="0">
                <a:solidFill>
                  <a:srgbClr val="993300"/>
                </a:solidFill>
              </a:rPr>
              <a:t>&gt; { $d/dept name } &lt;/</a:t>
            </a:r>
            <a:r>
              <a:rPr lang="en-IN" sz="1275" dirty="0" err="1">
                <a:solidFill>
                  <a:srgbClr val="993300"/>
                </a:solidFill>
              </a:rPr>
              <a:t>dept_name</a:t>
            </a:r>
            <a:r>
              <a:rPr lang="en-IN" sz="1275" dirty="0">
                <a:solidFill>
                  <a:srgbClr val="993300"/>
                </a:solidFill>
              </a:rPr>
              <a:t>&gt;</a:t>
            </a:r>
            <a:endParaRPr lang="en-IN" sz="1275" dirty="0">
              <a:solidFill>
                <a:srgbClr val="993300"/>
              </a:solidFill>
            </a:endParaRPr>
          </a:p>
          <a:p>
            <a:r>
              <a:rPr lang="en-IN" sz="1275" dirty="0">
                <a:solidFill>
                  <a:srgbClr val="993300"/>
                </a:solidFill>
              </a:rPr>
              <a:t>             &lt;</a:t>
            </a:r>
            <a:r>
              <a:rPr lang="en-IN" sz="1275" dirty="0" err="1">
                <a:solidFill>
                  <a:srgbClr val="993300"/>
                </a:solidFill>
              </a:rPr>
              <a:t>total_salary</a:t>
            </a:r>
            <a:r>
              <a:rPr lang="en-IN" sz="1275" dirty="0">
                <a:solidFill>
                  <a:srgbClr val="993300"/>
                </a:solidFill>
              </a:rPr>
              <a:t>&gt; { </a:t>
            </a:r>
            <a:r>
              <a:rPr lang="en-IN" sz="1275" dirty="0" err="1">
                <a:solidFill>
                  <a:srgbClr val="993300"/>
                </a:solidFill>
              </a:rPr>
              <a:t>fn:sum</a:t>
            </a:r>
            <a:r>
              <a:rPr lang="en-IN" sz="1275" dirty="0">
                <a:solidFill>
                  <a:srgbClr val="993300"/>
                </a:solidFill>
              </a:rPr>
              <a:t>(</a:t>
            </a:r>
            <a:endParaRPr lang="en-IN" sz="1275" dirty="0">
              <a:solidFill>
                <a:srgbClr val="993300"/>
              </a:solidFill>
            </a:endParaRPr>
          </a:p>
          <a:p>
            <a:r>
              <a:rPr lang="en-IN" sz="1275" b="1" dirty="0">
                <a:solidFill>
                  <a:srgbClr val="993300"/>
                </a:solidFill>
              </a:rPr>
              <a:t>                  for </a:t>
            </a:r>
            <a:r>
              <a:rPr lang="en-IN" sz="1275" dirty="0">
                <a:solidFill>
                  <a:srgbClr val="993300"/>
                </a:solidFill>
              </a:rPr>
              <a:t>$</a:t>
            </a:r>
            <a:r>
              <a:rPr lang="en-IN" sz="1275" dirty="0" err="1">
                <a:solidFill>
                  <a:srgbClr val="993300"/>
                </a:solidFill>
              </a:rPr>
              <a:t>i</a:t>
            </a:r>
            <a:r>
              <a:rPr lang="en-IN" sz="1275" dirty="0">
                <a:solidFill>
                  <a:srgbClr val="993300"/>
                </a:solidFill>
              </a:rPr>
              <a:t> </a:t>
            </a:r>
            <a:r>
              <a:rPr lang="en-IN" sz="1275" b="1" dirty="0">
                <a:solidFill>
                  <a:srgbClr val="993300"/>
                </a:solidFill>
              </a:rPr>
              <a:t>in </a:t>
            </a:r>
            <a:r>
              <a:rPr lang="en-IN" sz="1275" dirty="0">
                <a:solidFill>
                  <a:srgbClr val="993300"/>
                </a:solidFill>
              </a:rPr>
              <a:t>/university/instructor[</a:t>
            </a:r>
            <a:r>
              <a:rPr lang="en-IN" sz="1275" dirty="0" err="1">
                <a:solidFill>
                  <a:srgbClr val="993300"/>
                </a:solidFill>
              </a:rPr>
              <a:t>dept_name</a:t>
            </a:r>
            <a:r>
              <a:rPr lang="en-IN" sz="1275" dirty="0">
                <a:solidFill>
                  <a:srgbClr val="993300"/>
                </a:solidFill>
              </a:rPr>
              <a:t> = $d/</a:t>
            </a:r>
            <a:r>
              <a:rPr lang="en-IN" sz="1275" dirty="0" err="1">
                <a:solidFill>
                  <a:srgbClr val="993300"/>
                </a:solidFill>
              </a:rPr>
              <a:t>dept_name</a:t>
            </a:r>
            <a:r>
              <a:rPr lang="en-IN" sz="1275" dirty="0">
                <a:solidFill>
                  <a:srgbClr val="993300"/>
                </a:solidFill>
              </a:rPr>
              <a:t>]</a:t>
            </a:r>
            <a:endParaRPr lang="en-IN" sz="1275" dirty="0">
              <a:solidFill>
                <a:srgbClr val="993300"/>
              </a:solidFill>
            </a:endParaRPr>
          </a:p>
          <a:p>
            <a:r>
              <a:rPr lang="en-IN" sz="1275" b="1" dirty="0">
                <a:solidFill>
                  <a:srgbClr val="993300"/>
                </a:solidFill>
              </a:rPr>
              <a:t>                  return </a:t>
            </a:r>
            <a:r>
              <a:rPr lang="en-IN" sz="1275" dirty="0">
                <a:solidFill>
                  <a:srgbClr val="993300"/>
                </a:solidFill>
              </a:rPr>
              <a:t>$</a:t>
            </a:r>
            <a:r>
              <a:rPr lang="en-IN" sz="1275" dirty="0" err="1">
                <a:solidFill>
                  <a:srgbClr val="993300"/>
                </a:solidFill>
              </a:rPr>
              <a:t>i</a:t>
            </a:r>
            <a:r>
              <a:rPr lang="en-IN" sz="1275" dirty="0">
                <a:solidFill>
                  <a:srgbClr val="993300"/>
                </a:solidFill>
              </a:rPr>
              <a:t>/salary</a:t>
            </a:r>
            <a:endParaRPr lang="en-IN" sz="1275" dirty="0">
              <a:solidFill>
                <a:srgbClr val="993300"/>
              </a:solidFill>
            </a:endParaRPr>
          </a:p>
          <a:p>
            <a:r>
              <a:rPr lang="en-IN" sz="1275" dirty="0">
                <a:solidFill>
                  <a:srgbClr val="993300"/>
                </a:solidFill>
              </a:rPr>
              <a:t>                ) } </a:t>
            </a:r>
            <a:br>
              <a:rPr lang="en-IN" sz="1275" dirty="0">
                <a:solidFill>
                  <a:srgbClr val="993300"/>
                </a:solidFill>
              </a:rPr>
            </a:br>
            <a:r>
              <a:rPr lang="en-IN" sz="1275" dirty="0">
                <a:solidFill>
                  <a:srgbClr val="993300"/>
                </a:solidFill>
              </a:rPr>
              <a:t>             &lt;/</a:t>
            </a:r>
            <a:r>
              <a:rPr lang="en-IN" sz="1275" dirty="0" err="1">
                <a:solidFill>
                  <a:srgbClr val="993300"/>
                </a:solidFill>
              </a:rPr>
              <a:t>total_salary</a:t>
            </a:r>
            <a:r>
              <a:rPr lang="en-IN" sz="1275" dirty="0">
                <a:solidFill>
                  <a:srgbClr val="993300"/>
                </a:solidFill>
              </a:rPr>
              <a:t>&gt;</a:t>
            </a:r>
            <a:endParaRPr lang="en-IN" sz="1275" dirty="0">
              <a:solidFill>
                <a:srgbClr val="993300"/>
              </a:solidFill>
            </a:endParaRPr>
          </a:p>
          <a:p>
            <a:r>
              <a:rPr lang="en-IN" sz="1275" dirty="0">
                <a:solidFill>
                  <a:srgbClr val="993300"/>
                </a:solidFill>
              </a:rPr>
              <a:t>        &lt;/department-total-salary&gt; </a:t>
            </a:r>
            <a:endParaRPr lang="en-IN" sz="1275" dirty="0">
              <a:solidFill>
                <a:srgbClr val="9933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Sorting in XQuery </a:t>
            </a:r>
            <a:endParaRPr lang="en-US"/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19263" y="857250"/>
            <a:ext cx="5622571" cy="4057650"/>
          </a:xfrm>
        </p:spPr>
        <p:txBody>
          <a:bodyPr/>
          <a:lstStyle/>
          <a:p>
            <a:pPr>
              <a:lnSpc>
                <a:spcPct val="90000"/>
              </a:lnSpc>
              <a:buSzPct val="110000"/>
              <a:buFont typeface="Wingdings" panose="05000000000000000000" pitchFamily="2" charset="2"/>
              <a:buChar char="§"/>
            </a:pPr>
            <a:r>
              <a:rPr lang="en-US" sz="1200" dirty="0"/>
              <a:t>The</a:t>
            </a:r>
            <a:r>
              <a:rPr lang="en-US" sz="1200" b="1" dirty="0"/>
              <a:t> order by </a:t>
            </a:r>
            <a:r>
              <a:rPr lang="en-US" sz="1200" dirty="0"/>
              <a:t>clause can be used at the end of any expression.        E.g., to return instructors sorted by name</a:t>
            </a:r>
            <a:br>
              <a:rPr lang="en-US" sz="1200" dirty="0"/>
            </a:br>
            <a:r>
              <a:rPr lang="en-US" sz="1200" dirty="0"/>
              <a:t>         </a:t>
            </a:r>
            <a:r>
              <a:rPr lang="en-US" sz="1200" b="1" dirty="0">
                <a:solidFill>
                  <a:srgbClr val="993300"/>
                </a:solidFill>
              </a:rPr>
              <a:t>for </a:t>
            </a:r>
            <a:r>
              <a:rPr lang="en-US" sz="1200" dirty="0">
                <a:solidFill>
                  <a:srgbClr val="993300"/>
                </a:solidFill>
              </a:rPr>
              <a:t>$</a:t>
            </a:r>
            <a:r>
              <a:rPr lang="en-US" sz="1200" dirty="0" err="1">
                <a:solidFill>
                  <a:srgbClr val="993300"/>
                </a:solidFill>
              </a:rPr>
              <a:t>i</a:t>
            </a:r>
            <a:r>
              <a:rPr lang="en-US" sz="1200" dirty="0">
                <a:solidFill>
                  <a:srgbClr val="993300"/>
                </a:solidFill>
              </a:rPr>
              <a:t> </a:t>
            </a:r>
            <a:r>
              <a:rPr lang="en-US" sz="1200" b="1" dirty="0">
                <a:solidFill>
                  <a:srgbClr val="993300"/>
                </a:solidFill>
              </a:rPr>
              <a:t>in </a:t>
            </a:r>
            <a:r>
              <a:rPr lang="en-US" sz="1200" dirty="0">
                <a:solidFill>
                  <a:srgbClr val="993300"/>
                </a:solidFill>
              </a:rPr>
              <a:t>/university/instructor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   </a:t>
            </a:r>
            <a:r>
              <a:rPr lang="en-US" sz="1200" b="1" dirty="0">
                <a:solidFill>
                  <a:srgbClr val="993300"/>
                </a:solidFill>
              </a:rPr>
              <a:t>order by </a:t>
            </a:r>
            <a:r>
              <a:rPr lang="en-US" sz="1200" dirty="0">
                <a:solidFill>
                  <a:srgbClr val="993300"/>
                </a:solidFill>
              </a:rPr>
              <a:t>$</a:t>
            </a:r>
            <a:r>
              <a:rPr lang="en-US" sz="1200" dirty="0" err="1">
                <a:solidFill>
                  <a:srgbClr val="993300"/>
                </a:solidFill>
              </a:rPr>
              <a:t>i</a:t>
            </a:r>
            <a:r>
              <a:rPr lang="en-US" sz="1200" dirty="0">
                <a:solidFill>
                  <a:srgbClr val="993300"/>
                </a:solidFill>
              </a:rPr>
              <a:t>/name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   </a:t>
            </a:r>
            <a:r>
              <a:rPr lang="en-US" sz="1200" b="1" dirty="0">
                <a:solidFill>
                  <a:srgbClr val="993300"/>
                </a:solidFill>
              </a:rPr>
              <a:t>return </a:t>
            </a:r>
            <a:r>
              <a:rPr lang="en-US" sz="1200" dirty="0">
                <a:solidFill>
                  <a:srgbClr val="993300"/>
                </a:solidFill>
              </a:rPr>
              <a:t>&lt;instructor&gt; { $</a:t>
            </a:r>
            <a:r>
              <a:rPr lang="en-US" sz="1200" dirty="0" err="1">
                <a:solidFill>
                  <a:srgbClr val="993300"/>
                </a:solidFill>
              </a:rPr>
              <a:t>i</a:t>
            </a:r>
            <a:r>
              <a:rPr lang="en-US" sz="1200" dirty="0">
                <a:solidFill>
                  <a:srgbClr val="993300"/>
                </a:solidFill>
              </a:rPr>
              <a:t>/* } &lt;/instructor&gt;</a:t>
            </a:r>
            <a:endParaRPr lang="en-US" sz="1200" dirty="0">
              <a:solidFill>
                <a:srgbClr val="993300"/>
              </a:solidFill>
            </a:endParaRPr>
          </a:p>
          <a:p>
            <a:pPr>
              <a:lnSpc>
                <a:spcPct val="90000"/>
              </a:lnSpc>
              <a:buSzPct val="110000"/>
              <a:buFont typeface="Wingdings" panose="05000000000000000000" pitchFamily="2" charset="2"/>
              <a:buChar char="§"/>
            </a:pPr>
            <a:r>
              <a:rPr lang="en-US" sz="1200" dirty="0"/>
              <a:t>Use </a:t>
            </a:r>
            <a:r>
              <a:rPr lang="en-US" sz="1200" b="1" dirty="0">
                <a:solidFill>
                  <a:srgbClr val="993300"/>
                </a:solidFill>
              </a:rPr>
              <a:t>order by </a:t>
            </a:r>
            <a:r>
              <a:rPr lang="en-US" sz="1200" dirty="0">
                <a:solidFill>
                  <a:srgbClr val="993300"/>
                </a:solidFill>
              </a:rPr>
              <a:t>$</a:t>
            </a:r>
            <a:r>
              <a:rPr lang="en-US" sz="1200" dirty="0" err="1">
                <a:solidFill>
                  <a:srgbClr val="993300"/>
                </a:solidFill>
              </a:rPr>
              <a:t>i</a:t>
            </a:r>
            <a:r>
              <a:rPr lang="en-US" sz="1200" dirty="0">
                <a:solidFill>
                  <a:srgbClr val="993300"/>
                </a:solidFill>
              </a:rPr>
              <a:t>/name  </a:t>
            </a:r>
            <a:r>
              <a:rPr lang="en-US" sz="1200" b="1" dirty="0">
                <a:solidFill>
                  <a:srgbClr val="993300"/>
                </a:solidFill>
              </a:rPr>
              <a:t>descending</a:t>
            </a:r>
            <a:r>
              <a:rPr lang="en-US" sz="1200" b="1" dirty="0"/>
              <a:t> </a:t>
            </a:r>
            <a:r>
              <a:rPr lang="en-US" sz="1200" dirty="0"/>
              <a:t>to sort in descending order</a:t>
            </a:r>
            <a:endParaRPr lang="en-US" sz="1200" dirty="0">
              <a:solidFill>
                <a:srgbClr val="993300"/>
              </a:solidFill>
            </a:endParaRPr>
          </a:p>
          <a:p>
            <a:pPr>
              <a:lnSpc>
                <a:spcPct val="90000"/>
              </a:lnSpc>
              <a:buSzPct val="110000"/>
              <a:buFont typeface="Wingdings" panose="05000000000000000000" pitchFamily="2" charset="2"/>
              <a:buChar char="§"/>
            </a:pPr>
            <a:r>
              <a:rPr lang="en-US" sz="1200" dirty="0"/>
              <a:t>Can sort at multiple levels of nesting (sort departments  by </a:t>
            </a:r>
            <a:r>
              <a:rPr lang="en-US" sz="1200" dirty="0" err="1"/>
              <a:t>dept_name</a:t>
            </a:r>
            <a:r>
              <a:rPr lang="en-US" sz="1200" dirty="0"/>
              <a:t>, and by courses sorted to </a:t>
            </a:r>
            <a:r>
              <a:rPr lang="en-US" sz="1200" dirty="0" err="1"/>
              <a:t>course_id</a:t>
            </a:r>
            <a:r>
              <a:rPr lang="en-US" sz="1200" dirty="0"/>
              <a:t> within each department)</a:t>
            </a:r>
            <a:endParaRPr lang="en-US" sz="1200" dirty="0"/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sz="1200" dirty="0">
                <a:solidFill>
                  <a:srgbClr val="993300"/>
                </a:solidFill>
              </a:rPr>
              <a:t>           &lt;university-1&gt; {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   </a:t>
            </a:r>
            <a:r>
              <a:rPr lang="en-US" sz="1200" b="1" dirty="0">
                <a:solidFill>
                  <a:srgbClr val="993300"/>
                </a:solidFill>
              </a:rPr>
              <a:t>for </a:t>
            </a:r>
            <a:r>
              <a:rPr lang="en-US" sz="1200" dirty="0">
                <a:solidFill>
                  <a:srgbClr val="993300"/>
                </a:solidFill>
              </a:rPr>
              <a:t>$d </a:t>
            </a:r>
            <a:r>
              <a:rPr lang="en-US" sz="1200" b="1" dirty="0">
                <a:solidFill>
                  <a:srgbClr val="993300"/>
                </a:solidFill>
              </a:rPr>
              <a:t>in </a:t>
            </a:r>
            <a:r>
              <a:rPr lang="en-US" sz="1200" dirty="0">
                <a:solidFill>
                  <a:srgbClr val="993300"/>
                </a:solidFill>
              </a:rPr>
              <a:t>/university/department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   </a:t>
            </a:r>
            <a:r>
              <a:rPr lang="en-US" sz="1200" b="1" dirty="0">
                <a:solidFill>
                  <a:srgbClr val="993300"/>
                </a:solidFill>
              </a:rPr>
              <a:t>order by </a:t>
            </a:r>
            <a:r>
              <a:rPr lang="en-US" sz="1200" dirty="0">
                <a:solidFill>
                  <a:srgbClr val="993300"/>
                </a:solidFill>
              </a:rPr>
              <a:t>$d/dept name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   </a:t>
            </a:r>
            <a:r>
              <a:rPr lang="en-US" sz="1200" b="1" dirty="0">
                <a:solidFill>
                  <a:srgbClr val="993300"/>
                </a:solidFill>
              </a:rPr>
              <a:t>return</a:t>
            </a:r>
            <a:br>
              <a:rPr lang="en-US" sz="1200" b="1" dirty="0">
                <a:solidFill>
                  <a:srgbClr val="993300"/>
                </a:solidFill>
              </a:rPr>
            </a:br>
            <a:r>
              <a:rPr lang="en-US" sz="1200" b="1" dirty="0">
                <a:solidFill>
                  <a:srgbClr val="993300"/>
                </a:solidFill>
              </a:rPr>
              <a:t>             </a:t>
            </a:r>
            <a:r>
              <a:rPr lang="en-US" sz="1200" dirty="0">
                <a:solidFill>
                  <a:srgbClr val="993300"/>
                </a:solidFill>
              </a:rPr>
              <a:t>&lt;department&gt;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            { $d/* }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            { </a:t>
            </a:r>
            <a:r>
              <a:rPr lang="en-US" sz="1200" b="1" dirty="0">
                <a:solidFill>
                  <a:srgbClr val="993300"/>
                </a:solidFill>
              </a:rPr>
              <a:t>for </a:t>
            </a:r>
            <a:r>
              <a:rPr lang="en-US" sz="1200" dirty="0">
                <a:solidFill>
                  <a:srgbClr val="993300"/>
                </a:solidFill>
              </a:rPr>
              <a:t>$c </a:t>
            </a:r>
            <a:r>
              <a:rPr lang="en-US" sz="1200" b="1" dirty="0">
                <a:solidFill>
                  <a:srgbClr val="993300"/>
                </a:solidFill>
              </a:rPr>
              <a:t>in </a:t>
            </a:r>
            <a:r>
              <a:rPr lang="en-US" sz="1200" dirty="0">
                <a:solidFill>
                  <a:srgbClr val="993300"/>
                </a:solidFill>
              </a:rPr>
              <a:t>/university/course[dept name = $d/dept name]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              </a:t>
            </a:r>
            <a:r>
              <a:rPr lang="en-US" sz="1200" b="1" dirty="0">
                <a:solidFill>
                  <a:srgbClr val="993300"/>
                </a:solidFill>
              </a:rPr>
              <a:t>order by </a:t>
            </a:r>
            <a:r>
              <a:rPr lang="en-US" sz="1200" dirty="0">
                <a:solidFill>
                  <a:srgbClr val="993300"/>
                </a:solidFill>
              </a:rPr>
              <a:t>$c/course id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              </a:t>
            </a:r>
            <a:r>
              <a:rPr lang="en-US" sz="1200" b="1" dirty="0">
                <a:solidFill>
                  <a:srgbClr val="993300"/>
                </a:solidFill>
              </a:rPr>
              <a:t>return </a:t>
            </a:r>
            <a:r>
              <a:rPr lang="en-US" sz="1200" dirty="0">
                <a:solidFill>
                  <a:srgbClr val="993300"/>
                </a:solidFill>
              </a:rPr>
              <a:t>&lt;course&gt; { $c/* } &lt;/course&gt; }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        &lt;/department&gt;</a:t>
            </a:r>
            <a:br>
              <a:rPr lang="en-US" sz="1200" dirty="0">
                <a:solidFill>
                  <a:srgbClr val="993300"/>
                </a:solidFill>
              </a:rPr>
            </a:br>
            <a:r>
              <a:rPr lang="en-US" sz="1200" dirty="0">
                <a:solidFill>
                  <a:srgbClr val="993300"/>
                </a:solidFill>
              </a:rPr>
              <a:t>      } &lt;/university-1&gt;</a:t>
            </a:r>
            <a:endParaRPr lang="en-US" sz="1200" dirty="0">
              <a:solidFill>
                <a:srgbClr val="9933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 Program Interface</a:t>
            </a:r>
            <a:endParaRPr lang="en-US"/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57250"/>
            <a:ext cx="5662520" cy="3907631"/>
          </a:xfrm>
        </p:spPr>
        <p:txBody>
          <a:bodyPr/>
          <a:lstStyle/>
          <a:p>
            <a:r>
              <a:rPr lang="en-US" sz="1200" dirty="0"/>
              <a:t>There are two standard application program interfaces to XML data:</a:t>
            </a:r>
            <a:endParaRPr lang="en-US" sz="1200" dirty="0"/>
          </a:p>
          <a:p>
            <a:pPr lvl="1"/>
            <a:r>
              <a:rPr lang="en-US" sz="1200" b="1" dirty="0"/>
              <a:t>SAX </a:t>
            </a:r>
            <a:r>
              <a:rPr lang="en-US" sz="1200" dirty="0"/>
              <a:t>(Simple API for XML)</a:t>
            </a:r>
            <a:endParaRPr lang="en-US" sz="1200" dirty="0"/>
          </a:p>
          <a:p>
            <a:pPr lvl="2"/>
            <a:r>
              <a:rPr lang="en-US" sz="1200" dirty="0"/>
              <a:t>Based on parser model, user provides event handlers for parsing events </a:t>
            </a:r>
            <a:endParaRPr lang="en-US" sz="1200" dirty="0"/>
          </a:p>
          <a:p>
            <a:pPr lvl="3"/>
            <a:r>
              <a:rPr lang="en-US" sz="1200" dirty="0"/>
              <a:t>E.g., start of element, end of element</a:t>
            </a:r>
            <a:endParaRPr lang="en-US" sz="1200" dirty="0"/>
          </a:p>
          <a:p>
            <a:pPr lvl="1"/>
            <a:r>
              <a:rPr lang="en-US" sz="1200" b="1" dirty="0"/>
              <a:t>DOM </a:t>
            </a:r>
            <a:r>
              <a:rPr lang="en-US" sz="1200" dirty="0"/>
              <a:t>(Document Object Model)</a:t>
            </a:r>
            <a:endParaRPr lang="en-US" sz="1200" dirty="0"/>
          </a:p>
          <a:p>
            <a:pPr lvl="2"/>
            <a:r>
              <a:rPr lang="en-US" sz="1200" b="1" dirty="0"/>
              <a:t>XML </a:t>
            </a:r>
            <a:r>
              <a:rPr lang="en-US" sz="1200" dirty="0"/>
              <a:t>data is parsed into a tree representation </a:t>
            </a:r>
            <a:endParaRPr lang="en-US" sz="1200" dirty="0"/>
          </a:p>
          <a:p>
            <a:pPr lvl="2"/>
            <a:r>
              <a:rPr lang="en-US" sz="1200" dirty="0"/>
              <a:t>Variety of functions provided for traversing the DOM tree</a:t>
            </a:r>
            <a:endParaRPr lang="en-US" sz="1200" dirty="0"/>
          </a:p>
          <a:p>
            <a:pPr lvl="2"/>
            <a:r>
              <a:rPr lang="en-US" sz="1200" dirty="0"/>
              <a:t>Also provides functions for updating DOM tree</a:t>
            </a:r>
            <a:endParaRPr lang="en-US" sz="1200" dirty="0"/>
          </a:p>
        </p:txBody>
      </p:sp>
      <p:grpSp>
        <p:nvGrpSpPr>
          <p:cNvPr id="4" name="组合 3"/>
          <p:cNvGrpSpPr/>
          <p:nvPr/>
        </p:nvGrpSpPr>
        <p:grpSpPr>
          <a:xfrm>
            <a:off x="539115" y="987425"/>
            <a:ext cx="723265" cy="923925"/>
            <a:chOff x="737" y="4617"/>
            <a:chExt cx="1139" cy="1455"/>
          </a:xfrm>
        </p:grpSpPr>
        <p:pic>
          <p:nvPicPr>
            <p:cNvPr id="3" name="Picture 101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737" y="4617"/>
              <a:ext cx="1139" cy="113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文本框 4"/>
            <p:cNvSpPr txBox="1"/>
            <p:nvPr/>
          </p:nvSpPr>
          <p:spPr>
            <a:xfrm>
              <a:off x="851" y="5638"/>
              <a:ext cx="90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/>
                <a:t>13</a:t>
              </a:r>
              <a:endParaRPr lang="en-US" altLang="zh-CN" sz="1200"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Storage of XML Data</a:t>
            </a:r>
            <a:endParaRPr lang="en-US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57250"/>
            <a:ext cx="5722445" cy="4021931"/>
          </a:xfrm>
        </p:spPr>
        <p:txBody>
          <a:bodyPr/>
          <a:lstStyle/>
          <a:p>
            <a:r>
              <a:rPr lang="en-US" sz="1000" dirty="0"/>
              <a:t>XML data can be stored in </a:t>
            </a:r>
            <a:endParaRPr lang="en-US" sz="1000" dirty="0"/>
          </a:p>
          <a:p>
            <a:pPr lvl="1"/>
            <a:r>
              <a:rPr lang="en-US" sz="1000" dirty="0"/>
              <a:t>Non-relational data stores</a:t>
            </a:r>
            <a:endParaRPr lang="en-US" sz="1000" dirty="0"/>
          </a:p>
          <a:p>
            <a:pPr lvl="2"/>
            <a:r>
              <a:rPr lang="en-US" sz="1000" dirty="0"/>
              <a:t>Flat files</a:t>
            </a:r>
            <a:endParaRPr lang="en-US" sz="1000" dirty="0"/>
          </a:p>
          <a:p>
            <a:pPr lvl="3"/>
            <a:r>
              <a:rPr lang="en-US" sz="1000" dirty="0"/>
              <a:t>Natural for storing XML</a:t>
            </a:r>
            <a:endParaRPr lang="en-US" sz="1000" dirty="0"/>
          </a:p>
          <a:p>
            <a:pPr lvl="3"/>
            <a:r>
              <a:rPr lang="en-US" sz="1000" dirty="0"/>
              <a:t>But has all problems discussed in Chapter 1 (no concurrency, no recovery, …)</a:t>
            </a:r>
            <a:endParaRPr lang="en-US" sz="1000" dirty="0"/>
          </a:p>
          <a:p>
            <a:pPr lvl="2"/>
            <a:r>
              <a:rPr lang="en-US" sz="1000" dirty="0"/>
              <a:t>XML database</a:t>
            </a:r>
            <a:endParaRPr lang="en-US" sz="1000" dirty="0"/>
          </a:p>
          <a:p>
            <a:pPr lvl="3"/>
            <a:r>
              <a:rPr lang="en-US" sz="1000" dirty="0"/>
              <a:t>Database built specifically for storing XML data, supporting DOM model and declarative querying</a:t>
            </a:r>
            <a:endParaRPr lang="en-US" sz="1000" dirty="0"/>
          </a:p>
          <a:p>
            <a:pPr lvl="3"/>
            <a:r>
              <a:rPr lang="en-US" sz="1000" dirty="0"/>
              <a:t>Currently no commercial-grade systems</a:t>
            </a:r>
            <a:endParaRPr lang="en-US" sz="1000" dirty="0"/>
          </a:p>
          <a:p>
            <a:pPr lvl="1"/>
            <a:r>
              <a:rPr lang="en-US" sz="1000" dirty="0"/>
              <a:t>Relational databases</a:t>
            </a:r>
            <a:endParaRPr lang="en-US" sz="1000" dirty="0"/>
          </a:p>
          <a:p>
            <a:pPr lvl="2"/>
            <a:r>
              <a:rPr lang="en-US" sz="1000" dirty="0"/>
              <a:t>Data must be translated into relational form</a:t>
            </a:r>
            <a:endParaRPr lang="en-US" sz="1000" dirty="0"/>
          </a:p>
          <a:p>
            <a:pPr lvl="2"/>
            <a:r>
              <a:rPr lang="en-US" sz="1000" dirty="0"/>
              <a:t>Advantage:  mature database systems</a:t>
            </a:r>
            <a:endParaRPr lang="en-US" sz="1000" dirty="0"/>
          </a:p>
          <a:p>
            <a:pPr lvl="2"/>
            <a:r>
              <a:rPr lang="en-US" sz="1000" dirty="0"/>
              <a:t>Disadvantages: overhead of translating data and queries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Storage of XML in Relational Databases</a:t>
            </a:r>
            <a:endParaRPr lang="en-US" sz="2400"/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20341"/>
            <a:ext cx="5780485" cy="3677840"/>
          </a:xfrm>
        </p:spPr>
        <p:txBody>
          <a:bodyPr/>
          <a:lstStyle/>
          <a:p>
            <a:r>
              <a:rPr lang="en-US" sz="1600" dirty="0"/>
              <a:t>Alternatives:</a:t>
            </a:r>
            <a:endParaRPr lang="en-US" sz="1600" dirty="0"/>
          </a:p>
          <a:p>
            <a:pPr lvl="1"/>
            <a:r>
              <a:rPr lang="en-US" sz="1600" dirty="0"/>
              <a:t>String Representation</a:t>
            </a:r>
            <a:endParaRPr lang="en-US" sz="1600" dirty="0"/>
          </a:p>
          <a:p>
            <a:pPr lvl="1"/>
            <a:r>
              <a:rPr lang="en-US" sz="1600" dirty="0"/>
              <a:t>Tree Representation</a:t>
            </a:r>
            <a:endParaRPr lang="en-US" sz="1600" dirty="0"/>
          </a:p>
          <a:p>
            <a:pPr lvl="1"/>
            <a:r>
              <a:rPr lang="en-US" sz="1600" dirty="0"/>
              <a:t>Map to relations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0" y="114300"/>
            <a:ext cx="6057900" cy="457200"/>
          </a:xfrm>
        </p:spPr>
        <p:txBody>
          <a:bodyPr/>
          <a:lstStyle/>
          <a:p>
            <a:r>
              <a:rPr lang="en-US"/>
              <a:t>String Representation</a:t>
            </a:r>
            <a:endParaRPr lang="en-US"/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4500" y="857250"/>
            <a:ext cx="5727207" cy="3907631"/>
          </a:xfrm>
        </p:spPr>
        <p:txBody>
          <a:bodyPr/>
          <a:lstStyle/>
          <a:p>
            <a:r>
              <a:rPr lang="en-US" sz="1200" dirty="0"/>
              <a:t>Store each top level element as a string field of a tuple in a relational database</a:t>
            </a:r>
            <a:endParaRPr lang="en-US" sz="1200" dirty="0"/>
          </a:p>
          <a:p>
            <a:pPr lvl="1"/>
            <a:r>
              <a:rPr lang="en-US" sz="1200" dirty="0"/>
              <a:t>Use a single relation to store all elements, or</a:t>
            </a:r>
            <a:endParaRPr lang="en-US" sz="1200" dirty="0"/>
          </a:p>
          <a:p>
            <a:pPr lvl="1"/>
            <a:r>
              <a:rPr lang="en-US" sz="1200" dirty="0"/>
              <a:t>Use a separate relation for each top-level element type</a:t>
            </a:r>
            <a:endParaRPr lang="en-US" sz="1200" dirty="0"/>
          </a:p>
          <a:p>
            <a:pPr lvl="2"/>
            <a:r>
              <a:rPr lang="en-US" sz="1200" dirty="0"/>
              <a:t>E.g., account, customer, depositor relations</a:t>
            </a:r>
            <a:endParaRPr lang="en-US" sz="1200" dirty="0"/>
          </a:p>
          <a:p>
            <a:pPr lvl="3"/>
            <a:r>
              <a:rPr lang="en-US" sz="1200" dirty="0"/>
              <a:t>Each with a string-valued attribute to store the element</a:t>
            </a:r>
            <a:endParaRPr lang="en-US" sz="1200" dirty="0"/>
          </a:p>
          <a:p>
            <a:r>
              <a:rPr lang="en-US" sz="1200" dirty="0"/>
              <a:t>Indexing:</a:t>
            </a:r>
            <a:endParaRPr lang="en-US" sz="1200" dirty="0"/>
          </a:p>
          <a:p>
            <a:pPr lvl="1"/>
            <a:r>
              <a:rPr lang="en-US" sz="1200" dirty="0"/>
              <a:t>Store values of </a:t>
            </a:r>
            <a:r>
              <a:rPr lang="en-US" sz="1200" dirty="0" err="1"/>
              <a:t>subelements</a:t>
            </a:r>
            <a:r>
              <a:rPr lang="en-US" sz="1200" dirty="0"/>
              <a:t>/attributes to be indexed as extra fields of the relation, and build indices on these fields</a:t>
            </a:r>
            <a:endParaRPr lang="en-US" sz="1200" dirty="0"/>
          </a:p>
          <a:p>
            <a:pPr lvl="2"/>
            <a:r>
              <a:rPr lang="en-US" sz="1200" dirty="0"/>
              <a:t>E.g., </a:t>
            </a:r>
            <a:r>
              <a:rPr lang="en-US" sz="1200" dirty="0" err="1"/>
              <a:t>customer_name</a:t>
            </a:r>
            <a:r>
              <a:rPr lang="en-US" sz="1200" dirty="0"/>
              <a:t> or </a:t>
            </a:r>
            <a:r>
              <a:rPr lang="en-US" sz="1200" dirty="0" err="1"/>
              <a:t>account_number</a:t>
            </a:r>
            <a:endParaRPr lang="en-US" sz="1200" dirty="0"/>
          </a:p>
          <a:p>
            <a:pPr lvl="1"/>
            <a:r>
              <a:rPr lang="en-US" sz="1200" dirty="0"/>
              <a:t>Some database systems support </a:t>
            </a:r>
            <a:r>
              <a:rPr lang="en-US" sz="1200" b="1" dirty="0">
                <a:solidFill>
                  <a:srgbClr val="002060"/>
                </a:solidFill>
              </a:rPr>
              <a:t>function indices, </a:t>
            </a:r>
            <a:r>
              <a:rPr lang="en-US" sz="1200" dirty="0"/>
              <a:t>which use the result of a function as the key value. </a:t>
            </a:r>
            <a:endParaRPr lang="en-US" sz="1200" dirty="0"/>
          </a:p>
          <a:p>
            <a:pPr lvl="2"/>
            <a:r>
              <a:rPr lang="en-US" sz="1200" dirty="0"/>
              <a:t>The function should return the value of the required </a:t>
            </a:r>
            <a:r>
              <a:rPr lang="en-US" sz="1200" dirty="0" err="1"/>
              <a:t>subelement</a:t>
            </a:r>
            <a:r>
              <a:rPr lang="en-US" sz="1200" dirty="0"/>
              <a:t>/attribute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 Representation (Cont.)</a:t>
            </a:r>
            <a:endParaRPr lang="en-US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20341"/>
            <a:ext cx="5780485" cy="3677840"/>
          </a:xfrm>
        </p:spPr>
        <p:txBody>
          <a:bodyPr/>
          <a:lstStyle/>
          <a:p>
            <a:r>
              <a:rPr lang="en-US" dirty="0"/>
              <a:t>Benefits: </a:t>
            </a:r>
            <a:endParaRPr lang="en-US" dirty="0"/>
          </a:p>
          <a:p>
            <a:pPr lvl="1"/>
            <a:r>
              <a:rPr lang="en-US" dirty="0"/>
              <a:t>Can store any XML data even without DTD</a:t>
            </a:r>
            <a:endParaRPr lang="en-US" dirty="0"/>
          </a:p>
          <a:p>
            <a:pPr lvl="1"/>
            <a:r>
              <a:rPr lang="en-US" dirty="0"/>
              <a:t>As long as there are many top-level elements in a document, strings are small compared to full document</a:t>
            </a:r>
            <a:endParaRPr lang="en-US" dirty="0"/>
          </a:p>
          <a:p>
            <a:pPr lvl="2"/>
            <a:r>
              <a:rPr lang="en-US" dirty="0"/>
              <a:t>Allows fast access to individual elements.</a:t>
            </a:r>
            <a:endParaRPr lang="en-US" dirty="0"/>
          </a:p>
          <a:p>
            <a:r>
              <a:rPr lang="en-US" dirty="0"/>
              <a:t>Drawback</a:t>
            </a:r>
            <a:r>
              <a:rPr lang="en-US" b="1" dirty="0"/>
              <a:t>:</a:t>
            </a:r>
            <a:r>
              <a:rPr lang="en-US" dirty="0"/>
              <a:t> Need to parse strings to access values inside the elements</a:t>
            </a:r>
            <a:endParaRPr lang="en-US" dirty="0"/>
          </a:p>
          <a:p>
            <a:pPr lvl="1"/>
            <a:r>
              <a:rPr lang="en-US" dirty="0"/>
              <a:t>Parsing is slow.</a:t>
            </a:r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Tree Representation</a:t>
            </a:r>
            <a:endParaRPr lang="en-US"/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57250"/>
            <a:ext cx="6138863" cy="3964781"/>
          </a:xfrm>
        </p:spPr>
        <p:txBody>
          <a:bodyPr/>
          <a:lstStyle/>
          <a:p>
            <a:r>
              <a:rPr lang="en-US" sz="1400" b="1" dirty="0"/>
              <a:t>Tree representation:  </a:t>
            </a:r>
            <a:r>
              <a:rPr lang="en-US" sz="1400" dirty="0"/>
              <a:t>model XML data as tree and store using relations</a:t>
            </a:r>
            <a:br>
              <a:rPr lang="en-US" sz="1400" dirty="0"/>
            </a:br>
            <a:r>
              <a:rPr lang="en-US" sz="1400" dirty="0"/>
              <a:t>        </a:t>
            </a:r>
            <a:r>
              <a:rPr lang="en-US" sz="1400" i="1" dirty="0">
                <a:solidFill>
                  <a:srgbClr val="993300"/>
                </a:solidFill>
              </a:rPr>
              <a:t>nodes(id, </a:t>
            </a:r>
            <a:r>
              <a:rPr lang="en-US" sz="1400" i="1" dirty="0" err="1">
                <a:solidFill>
                  <a:srgbClr val="993300"/>
                </a:solidFill>
              </a:rPr>
              <a:t>parent_id</a:t>
            </a:r>
            <a:r>
              <a:rPr lang="en-US" sz="1400" i="1" dirty="0">
                <a:solidFill>
                  <a:srgbClr val="993300"/>
                </a:solidFill>
              </a:rPr>
              <a:t>, type, label, value)</a:t>
            </a:r>
            <a:br>
              <a:rPr lang="en-US" sz="1400" i="1" dirty="0">
                <a:solidFill>
                  <a:srgbClr val="993300"/>
                </a:solidFill>
              </a:rPr>
            </a:br>
            <a:r>
              <a:rPr lang="en-US" sz="1400" i="1" dirty="0">
                <a:solidFill>
                  <a:srgbClr val="993300"/>
                </a:solidFill>
              </a:rPr>
              <a:t>      </a:t>
            </a:r>
            <a:br>
              <a:rPr lang="en-US" sz="1400" i="1" dirty="0">
                <a:solidFill>
                  <a:srgbClr val="993300"/>
                </a:solidFill>
              </a:rPr>
            </a:br>
            <a:br>
              <a:rPr lang="en-US" sz="1400" i="1" dirty="0">
                <a:solidFill>
                  <a:srgbClr val="993300"/>
                </a:solidFill>
              </a:rPr>
            </a:br>
            <a:br>
              <a:rPr lang="en-US" sz="1400" i="1" dirty="0">
                <a:solidFill>
                  <a:srgbClr val="993300"/>
                </a:solidFill>
              </a:rPr>
            </a:br>
            <a:br>
              <a:rPr lang="en-US" sz="1400" i="1" dirty="0">
                <a:solidFill>
                  <a:srgbClr val="993300"/>
                </a:solidFill>
              </a:rPr>
            </a:br>
            <a:br>
              <a:rPr lang="en-US" sz="1400" i="1" dirty="0">
                <a:solidFill>
                  <a:srgbClr val="993300"/>
                </a:solidFill>
              </a:rPr>
            </a:br>
            <a:br>
              <a:rPr lang="en-US" sz="1400" i="1" dirty="0">
                <a:solidFill>
                  <a:srgbClr val="993300"/>
                </a:solidFill>
              </a:rPr>
            </a:br>
            <a:endParaRPr lang="en-US" sz="1400" i="1" dirty="0">
              <a:solidFill>
                <a:srgbClr val="993300"/>
              </a:solidFill>
            </a:endParaRPr>
          </a:p>
          <a:p>
            <a:r>
              <a:rPr lang="en-US" sz="1400" dirty="0"/>
              <a:t>Each element/attribute is given a unique identifier</a:t>
            </a:r>
            <a:endParaRPr lang="en-US" sz="1400" dirty="0"/>
          </a:p>
          <a:p>
            <a:r>
              <a:rPr lang="en-US" sz="1400" dirty="0"/>
              <a:t>Type indicates element/attribute</a:t>
            </a:r>
            <a:endParaRPr lang="en-US" sz="1400" dirty="0"/>
          </a:p>
          <a:p>
            <a:r>
              <a:rPr lang="en-US" sz="1400" dirty="0"/>
              <a:t>Label specifies the tag name of the element/name of attribute</a:t>
            </a:r>
            <a:endParaRPr lang="en-US" sz="1400" dirty="0"/>
          </a:p>
          <a:p>
            <a:r>
              <a:rPr lang="en-US" sz="1400" dirty="0"/>
              <a:t>Value is the text value of the element/attribute</a:t>
            </a:r>
            <a:endParaRPr lang="en-US" sz="1400" dirty="0"/>
          </a:p>
          <a:p>
            <a:r>
              <a:rPr lang="en-US" sz="1400" dirty="0"/>
              <a:t>Can add an extra attribute </a:t>
            </a:r>
            <a:r>
              <a:rPr lang="en-US" sz="1400" i="1" dirty="0"/>
              <a:t>position</a:t>
            </a:r>
            <a:r>
              <a:rPr lang="en-US" sz="1400" dirty="0"/>
              <a:t> to record ordering of children</a:t>
            </a:r>
            <a:endParaRPr lang="en-US" sz="1400" dirty="0"/>
          </a:p>
        </p:txBody>
      </p:sp>
      <p:grpSp>
        <p:nvGrpSpPr>
          <p:cNvPr id="2" name="Group 23"/>
          <p:cNvGrpSpPr/>
          <p:nvPr>
            <p:custDataLst>
              <p:tags r:id="rId1"/>
            </p:custDataLst>
          </p:nvPr>
        </p:nvGrpSpPr>
        <p:grpSpPr bwMode="auto">
          <a:xfrm>
            <a:off x="2863533" y="1480185"/>
            <a:ext cx="3695700" cy="1278731"/>
            <a:chOff x="492" y="3048"/>
            <a:chExt cx="3104" cy="1074"/>
          </a:xfrm>
        </p:grpSpPr>
        <p:sp>
          <p:nvSpPr>
            <p:cNvPr id="171012" name="Oval 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920" y="326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en-US" sz="825"/>
            </a:p>
          </p:txBody>
        </p:sp>
        <p:sp>
          <p:nvSpPr>
            <p:cNvPr id="171013" name="Oval 5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160" y="350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en-US" sz="825"/>
            </a:p>
          </p:txBody>
        </p:sp>
        <p:sp>
          <p:nvSpPr>
            <p:cNvPr id="171014" name="Oval 6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352" y="379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en-US" sz="825"/>
            </a:p>
          </p:txBody>
        </p:sp>
        <p:sp>
          <p:nvSpPr>
            <p:cNvPr id="171015" name="Oval 7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632" y="350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en-US" sz="825"/>
            </a:p>
          </p:txBody>
        </p:sp>
        <p:cxnSp>
          <p:nvCxnSpPr>
            <p:cNvPr id="171016" name="AutoShape 8"/>
            <p:cNvCxnSpPr>
              <a:cxnSpLocks noChangeShapeType="1"/>
              <a:stCxn id="171015" idx="7"/>
              <a:endCxn id="171012" idx="3"/>
            </p:cNvCxnSpPr>
            <p:nvPr>
              <p:custDataLst>
                <p:tags r:id="rId6"/>
              </p:custDataLst>
            </p:nvPr>
          </p:nvCxnSpPr>
          <p:spPr bwMode="auto">
            <a:xfrm flipV="1">
              <a:off x="1714" y="3346"/>
              <a:ext cx="220" cy="17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</p:cxnSp>
        <p:cxnSp>
          <p:nvCxnSpPr>
            <p:cNvPr id="171017" name="AutoShape 9"/>
            <p:cNvCxnSpPr>
              <a:cxnSpLocks noChangeShapeType="1"/>
              <a:stCxn id="171012" idx="5"/>
              <a:endCxn id="171013" idx="1"/>
            </p:cNvCxnSpPr>
            <p:nvPr>
              <p:custDataLst>
                <p:tags r:id="rId7"/>
              </p:custDataLst>
            </p:nvPr>
          </p:nvCxnSpPr>
          <p:spPr bwMode="auto">
            <a:xfrm>
              <a:off x="2002" y="3346"/>
              <a:ext cx="172" cy="17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</p:cxnSp>
        <p:cxnSp>
          <p:nvCxnSpPr>
            <p:cNvPr id="171018" name="AutoShape 10"/>
            <p:cNvCxnSpPr>
              <a:cxnSpLocks noChangeShapeType="1"/>
              <a:stCxn id="171013" idx="5"/>
              <a:endCxn id="171014" idx="1"/>
            </p:cNvCxnSpPr>
            <p:nvPr>
              <p:custDataLst>
                <p:tags r:id="rId8"/>
              </p:custDataLst>
            </p:nvPr>
          </p:nvCxnSpPr>
          <p:spPr bwMode="auto">
            <a:xfrm>
              <a:off x="2242" y="3586"/>
              <a:ext cx="124" cy="2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</p:cxnSp>
        <p:sp>
          <p:nvSpPr>
            <p:cNvPr id="171019" name="Oval 11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440" y="379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en-US" sz="825"/>
            </a:p>
          </p:txBody>
        </p:sp>
        <p:sp>
          <p:nvSpPr>
            <p:cNvPr id="171020" name="Oval 12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728" y="379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en-US" sz="825"/>
            </a:p>
          </p:txBody>
        </p:sp>
        <p:sp>
          <p:nvSpPr>
            <p:cNvPr id="171021" name="Oval 13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016" y="379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en-US" sz="825"/>
            </a:p>
          </p:txBody>
        </p:sp>
        <p:cxnSp>
          <p:nvCxnSpPr>
            <p:cNvPr id="171022" name="AutoShape 14"/>
            <p:cNvCxnSpPr>
              <a:cxnSpLocks noChangeShapeType="1"/>
              <a:stCxn id="171019" idx="7"/>
              <a:endCxn id="171015" idx="3"/>
            </p:cNvCxnSpPr>
            <p:nvPr>
              <p:custDataLst>
                <p:tags r:id="rId12"/>
              </p:custDataLst>
            </p:nvPr>
          </p:nvCxnSpPr>
          <p:spPr bwMode="auto">
            <a:xfrm flipV="1">
              <a:off x="1522" y="3586"/>
              <a:ext cx="124" cy="2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</p:cxnSp>
        <p:cxnSp>
          <p:nvCxnSpPr>
            <p:cNvPr id="171023" name="AutoShape 15"/>
            <p:cNvCxnSpPr>
              <a:cxnSpLocks noChangeShapeType="1"/>
              <a:stCxn id="171015" idx="5"/>
              <a:endCxn id="171020" idx="0"/>
            </p:cNvCxnSpPr>
            <p:nvPr>
              <p:custDataLst>
                <p:tags r:id="rId13"/>
              </p:custDataLst>
            </p:nvPr>
          </p:nvCxnSpPr>
          <p:spPr bwMode="auto">
            <a:xfrm>
              <a:off x="1714" y="3586"/>
              <a:ext cx="62" cy="20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</p:cxnSp>
        <p:cxnSp>
          <p:nvCxnSpPr>
            <p:cNvPr id="171024" name="AutoShape 16"/>
            <p:cNvCxnSpPr>
              <a:cxnSpLocks noChangeShapeType="1"/>
              <a:stCxn id="171013" idx="3"/>
              <a:endCxn id="171021" idx="7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2098" y="3586"/>
              <a:ext cx="76" cy="2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</p:cxnSp>
        <p:sp>
          <p:nvSpPr>
            <p:cNvPr id="171026" name="Text Box 18"/>
            <p:cNvSpPr txBox="1">
              <a:spLocks noChangeArrowheads="1"/>
            </p:cNvSpPr>
            <p:nvPr/>
          </p:nvSpPr>
          <p:spPr bwMode="auto">
            <a:xfrm>
              <a:off x="1551" y="3048"/>
              <a:ext cx="1314" cy="25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350"/>
                <a:t>university (id:1)</a:t>
              </a:r>
              <a:endParaRPr lang="en-US" sz="1350"/>
            </a:p>
          </p:txBody>
        </p:sp>
        <p:sp>
          <p:nvSpPr>
            <p:cNvPr id="171027" name="Text Box 19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75" y="3384"/>
              <a:ext cx="1059" cy="25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350"/>
                <a:t>course (id:2)</a:t>
              </a:r>
              <a:endParaRPr lang="en-US" sz="1350"/>
            </a:p>
          </p:txBody>
        </p:sp>
        <p:sp>
          <p:nvSpPr>
            <p:cNvPr id="171028" name="Text Box 20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048" y="3360"/>
              <a:ext cx="1539" cy="25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350"/>
                <a:t>department (id: 5)</a:t>
              </a:r>
              <a:endParaRPr lang="en-US" sz="1350"/>
            </a:p>
          </p:txBody>
        </p:sp>
        <p:sp>
          <p:nvSpPr>
            <p:cNvPr id="171029" name="Text Box 2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92" y="3696"/>
              <a:ext cx="803" cy="42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350"/>
                <a:t>course_id</a:t>
              </a:r>
              <a:br>
                <a:rPr lang="en-US" sz="1350"/>
              </a:br>
              <a:r>
                <a:rPr lang="en-US" sz="1350"/>
                <a:t>(id: 3)</a:t>
              </a:r>
              <a:endParaRPr lang="en-US" sz="1350"/>
            </a:p>
          </p:txBody>
        </p:sp>
        <p:sp>
          <p:nvSpPr>
            <p:cNvPr id="171030" name="Text Box 22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2648" y="3696"/>
              <a:ext cx="948" cy="42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350"/>
                <a:t>dept_name</a:t>
              </a:r>
              <a:br>
                <a:rPr lang="en-US" sz="1350"/>
              </a:br>
              <a:r>
                <a:rPr lang="en-US" sz="1350"/>
                <a:t> (id: 7)</a:t>
              </a:r>
              <a:endParaRPr lang="en-US" sz="1350"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Tree Representation (Cont.)</a:t>
            </a:r>
            <a:endParaRPr lang="en-US"/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20341"/>
            <a:ext cx="5780485" cy="3677840"/>
          </a:xfrm>
        </p:spPr>
        <p:txBody>
          <a:bodyPr/>
          <a:lstStyle/>
          <a:p>
            <a:r>
              <a:rPr lang="en-US" dirty="0"/>
              <a:t>Benefit: Can store any XML data, even without DTD</a:t>
            </a:r>
            <a:endParaRPr lang="en-US" dirty="0"/>
          </a:p>
          <a:p>
            <a:r>
              <a:rPr lang="en-US" dirty="0"/>
              <a:t>Drawbacks:</a:t>
            </a:r>
            <a:endParaRPr lang="en-US" dirty="0"/>
          </a:p>
          <a:p>
            <a:pPr lvl="1"/>
            <a:r>
              <a:rPr lang="en-US" dirty="0"/>
              <a:t>Data is broken up into too many pieces, increasing space overheads</a:t>
            </a:r>
            <a:endParaRPr lang="en-US" dirty="0"/>
          </a:p>
          <a:p>
            <a:pPr lvl="1"/>
            <a:r>
              <a:rPr lang="en-US" dirty="0"/>
              <a:t>Even simple queries require a large number of joins, which can be slow</a:t>
            </a:r>
            <a:endParaRPr lang="en-US" dirty="0"/>
          </a:p>
          <a:p>
            <a:pPr>
              <a:buFont typeface="Monotype Sorts" pitchFamily="-65" charset="2"/>
              <a:buNone/>
            </a:pPr>
            <a:r>
              <a:rPr lang="en-US" b="1" dirty="0"/>
              <a:t>	</a:t>
            </a:r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Mapping XML Data to Relations</a:t>
            </a:r>
            <a:endParaRPr lang="en-US"/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57250"/>
            <a:ext cx="5822318" cy="3907631"/>
          </a:xfrm>
        </p:spPr>
        <p:txBody>
          <a:bodyPr/>
          <a:lstStyle/>
          <a:p>
            <a:r>
              <a:rPr lang="en-US" sz="1200" dirty="0"/>
              <a:t>Relation created for each element type whose schema is known:</a:t>
            </a:r>
            <a:endParaRPr lang="en-US" sz="1200" dirty="0"/>
          </a:p>
          <a:p>
            <a:pPr lvl="1"/>
            <a:r>
              <a:rPr lang="en-US" sz="1200" dirty="0"/>
              <a:t>An id attribute to store a unique id for each element</a:t>
            </a:r>
            <a:endParaRPr lang="en-US" sz="1200" dirty="0"/>
          </a:p>
          <a:p>
            <a:pPr lvl="1"/>
            <a:r>
              <a:rPr lang="en-US" sz="1200" dirty="0"/>
              <a:t>A relation attribute corresponding to each element attribute</a:t>
            </a:r>
            <a:endParaRPr lang="en-US" sz="1200" dirty="0"/>
          </a:p>
          <a:p>
            <a:pPr lvl="1"/>
            <a:r>
              <a:rPr lang="en-US" sz="1200" dirty="0"/>
              <a:t>A </a:t>
            </a:r>
            <a:r>
              <a:rPr lang="en-US" sz="1200" dirty="0" err="1"/>
              <a:t>parent_id</a:t>
            </a:r>
            <a:r>
              <a:rPr lang="en-US" sz="1200" dirty="0"/>
              <a:t> attribute to keep track of parent element</a:t>
            </a:r>
            <a:endParaRPr lang="en-US" sz="1200" dirty="0"/>
          </a:p>
          <a:p>
            <a:pPr lvl="2"/>
            <a:r>
              <a:rPr lang="en-US" sz="1200" dirty="0"/>
              <a:t>As in the tree representation</a:t>
            </a:r>
            <a:endParaRPr lang="en-US" sz="1200" dirty="0"/>
          </a:p>
          <a:p>
            <a:pPr lvl="2"/>
            <a:r>
              <a:rPr lang="en-US" sz="1200" dirty="0"/>
              <a:t>Position information (</a:t>
            </a:r>
            <a:r>
              <a:rPr lang="en-US" sz="1200" dirty="0" err="1"/>
              <a:t>i</a:t>
            </a:r>
            <a:r>
              <a:rPr lang="en-US" sz="1200" baseline="30000" dirty="0" err="1"/>
              <a:t>th</a:t>
            </a:r>
            <a:r>
              <a:rPr lang="en-US" sz="1200" dirty="0"/>
              <a:t>  child) can be store too</a:t>
            </a:r>
            <a:endParaRPr lang="en-US" sz="1200" dirty="0"/>
          </a:p>
          <a:p>
            <a:r>
              <a:rPr lang="en-US" sz="1200" dirty="0"/>
              <a:t>All </a:t>
            </a:r>
            <a:r>
              <a:rPr lang="en-US" sz="1200" dirty="0" err="1"/>
              <a:t>subelements</a:t>
            </a:r>
            <a:r>
              <a:rPr lang="en-US" sz="1200" dirty="0"/>
              <a:t> that occur only once can become relation attributes</a:t>
            </a:r>
            <a:endParaRPr lang="en-US" sz="1200" dirty="0"/>
          </a:p>
          <a:p>
            <a:pPr lvl="1"/>
            <a:r>
              <a:rPr lang="en-US" sz="1200" dirty="0"/>
              <a:t>For text-valued </a:t>
            </a:r>
            <a:r>
              <a:rPr lang="en-US" sz="1200" dirty="0" err="1"/>
              <a:t>subelements</a:t>
            </a:r>
            <a:r>
              <a:rPr lang="en-US" sz="1200" dirty="0"/>
              <a:t>, store the text as attribute value</a:t>
            </a:r>
            <a:endParaRPr lang="en-US" sz="1200" dirty="0"/>
          </a:p>
          <a:p>
            <a:pPr lvl="1"/>
            <a:r>
              <a:rPr lang="en-US" sz="1200" dirty="0"/>
              <a:t>For complex </a:t>
            </a:r>
            <a:r>
              <a:rPr lang="en-US" sz="1200" dirty="0" err="1"/>
              <a:t>subelements</a:t>
            </a:r>
            <a:r>
              <a:rPr lang="en-US" sz="1200" dirty="0"/>
              <a:t>, can store the id of the </a:t>
            </a:r>
            <a:r>
              <a:rPr lang="en-US" sz="1200" dirty="0" err="1"/>
              <a:t>subelement</a:t>
            </a:r>
            <a:endParaRPr lang="en-US" sz="1200" dirty="0"/>
          </a:p>
          <a:p>
            <a:r>
              <a:rPr lang="en-US" sz="1200" dirty="0" err="1"/>
              <a:t>Subelements</a:t>
            </a:r>
            <a:r>
              <a:rPr lang="en-US" sz="1200" dirty="0"/>
              <a:t> that can occur multiple times represented in a separate table</a:t>
            </a:r>
            <a:endParaRPr lang="en-US" sz="1200" dirty="0"/>
          </a:p>
          <a:p>
            <a:pPr lvl="1"/>
            <a:r>
              <a:rPr lang="en-US" sz="1200" dirty="0"/>
              <a:t>Similar to handling of multivalued attributes when converting ER diagrams to tables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Storing XML Data in Relational Systems</a:t>
            </a:r>
            <a:endParaRPr lang="en-US" sz="2800"/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5610" y="820341"/>
            <a:ext cx="5784137" cy="3677840"/>
          </a:xfrm>
        </p:spPr>
        <p:txBody>
          <a:bodyPr/>
          <a:lstStyle/>
          <a:p>
            <a:r>
              <a:rPr lang="en-US" sz="1600" dirty="0"/>
              <a:t>Applying above ideas to department elements in university-1 schema, with nested course elements, we get </a:t>
            </a:r>
            <a:br>
              <a:rPr lang="en-US" sz="1600" dirty="0"/>
            </a:br>
            <a:r>
              <a:rPr lang="en-US" sz="1600" dirty="0"/>
              <a:t>     </a:t>
            </a:r>
            <a:r>
              <a:rPr lang="en-US" sz="1600" i="1" dirty="0"/>
              <a:t>department</a:t>
            </a:r>
            <a:r>
              <a:rPr lang="en-US" sz="1600" dirty="0"/>
              <a:t>(</a:t>
            </a:r>
            <a:r>
              <a:rPr lang="en-US" sz="1600" i="1" dirty="0"/>
              <a:t>id</a:t>
            </a:r>
            <a:r>
              <a:rPr lang="en-US" sz="1600" dirty="0"/>
              <a:t>, </a:t>
            </a:r>
            <a:r>
              <a:rPr lang="en-US" sz="1600" i="1" dirty="0" err="1"/>
              <a:t>dept_name</a:t>
            </a:r>
            <a:r>
              <a:rPr lang="en-US" sz="1600" dirty="0"/>
              <a:t>, </a:t>
            </a:r>
            <a:r>
              <a:rPr lang="en-US" sz="1600" i="1" dirty="0"/>
              <a:t>building</a:t>
            </a:r>
            <a:r>
              <a:rPr lang="en-US" sz="1600" dirty="0"/>
              <a:t>, </a:t>
            </a:r>
            <a:r>
              <a:rPr lang="en-US" sz="1600" i="1" dirty="0"/>
              <a:t>budget</a:t>
            </a:r>
            <a:r>
              <a:rPr lang="en-US" sz="1600" dirty="0"/>
              <a:t>)</a:t>
            </a:r>
            <a:br>
              <a:rPr lang="en-US" sz="1600" dirty="0"/>
            </a:br>
            <a:r>
              <a:rPr lang="en-US" sz="1600" dirty="0"/>
              <a:t>     </a:t>
            </a:r>
            <a:r>
              <a:rPr lang="en-US" sz="1600" i="1" dirty="0"/>
              <a:t>course</a:t>
            </a:r>
            <a:r>
              <a:rPr lang="en-US" sz="1600" dirty="0"/>
              <a:t>(</a:t>
            </a:r>
            <a:r>
              <a:rPr lang="en-US" sz="1600" i="1" dirty="0"/>
              <a:t>parent id</a:t>
            </a:r>
            <a:r>
              <a:rPr lang="en-US" sz="1600" dirty="0"/>
              <a:t>, </a:t>
            </a:r>
            <a:r>
              <a:rPr lang="en-US" sz="1600" i="1" dirty="0" err="1"/>
              <a:t>course_id</a:t>
            </a:r>
            <a:r>
              <a:rPr lang="en-US" sz="1600" dirty="0"/>
              <a:t>, </a:t>
            </a:r>
            <a:r>
              <a:rPr lang="en-US" sz="1600" i="1" dirty="0" err="1"/>
              <a:t>dept_name</a:t>
            </a:r>
            <a:r>
              <a:rPr lang="en-US" sz="1600" dirty="0"/>
              <a:t>, </a:t>
            </a:r>
            <a:r>
              <a:rPr lang="en-US" sz="1600" i="1" dirty="0"/>
              <a:t>title</a:t>
            </a:r>
            <a:r>
              <a:rPr lang="en-US" sz="1600" dirty="0"/>
              <a:t>, </a:t>
            </a:r>
            <a:r>
              <a:rPr lang="en-US" sz="1600" i="1" dirty="0"/>
              <a:t>credits</a:t>
            </a:r>
            <a:r>
              <a:rPr lang="en-US" sz="1600" dirty="0"/>
              <a:t>)</a:t>
            </a:r>
            <a:endParaRPr lang="en-US" sz="1600" dirty="0"/>
          </a:p>
          <a:p>
            <a:r>
              <a:rPr lang="en-US" sz="1600" b="1" dirty="0">
                <a:solidFill>
                  <a:srgbClr val="002060"/>
                </a:solidFill>
              </a:rPr>
              <a:t>Publishing</a:t>
            </a:r>
            <a:r>
              <a:rPr lang="en-US" sz="1600" dirty="0"/>
              <a:t>: process of converting relational data to an XML format</a:t>
            </a:r>
            <a:endParaRPr lang="en-US" sz="1600" dirty="0"/>
          </a:p>
          <a:p>
            <a:r>
              <a:rPr lang="en-US" sz="1600" b="1" dirty="0">
                <a:solidFill>
                  <a:srgbClr val="002060"/>
                </a:solidFill>
              </a:rPr>
              <a:t>Shredding</a:t>
            </a:r>
            <a:r>
              <a:rPr lang="en-US" sz="1600" dirty="0"/>
              <a:t>: process of converting an XML document into a set of tuples to be inserted into one or more relations</a:t>
            </a:r>
            <a:endParaRPr lang="en-US" sz="1600" dirty="0"/>
          </a:p>
          <a:p>
            <a:r>
              <a:rPr lang="en-US" sz="1600" dirty="0"/>
              <a:t>XML-enabled database systems support automated publishing and shredding</a:t>
            </a:r>
            <a:endParaRPr lang="en-US" sz="1600" dirty="0"/>
          </a:p>
          <a:p>
            <a:r>
              <a:rPr lang="en-US" sz="1600" dirty="0"/>
              <a:t>Many systems offer </a:t>
            </a:r>
            <a:r>
              <a:rPr lang="en-US" sz="1600" i="1" dirty="0"/>
              <a:t>native storage</a:t>
            </a:r>
            <a:r>
              <a:rPr lang="en-US" sz="1600" dirty="0"/>
              <a:t> of XML data using the </a:t>
            </a:r>
            <a:r>
              <a:rPr lang="en-US" sz="1600" b="1" dirty="0"/>
              <a:t>xml</a:t>
            </a:r>
            <a:r>
              <a:rPr lang="en-US" sz="1600" dirty="0"/>
              <a:t> data type.  Special internal data structures and indices are used for efficiency</a:t>
            </a:r>
            <a:endParaRPr lang="en-US" sz="1600" dirty="0"/>
          </a:p>
          <a:p>
            <a:endParaRPr lang="en-US" sz="1600" i="1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SQL/XML</a:t>
            </a:r>
            <a:endParaRPr lang="en-US"/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20341"/>
            <a:ext cx="5780485" cy="3677840"/>
          </a:xfrm>
        </p:spPr>
        <p:txBody>
          <a:bodyPr/>
          <a:lstStyle/>
          <a:p>
            <a:r>
              <a:rPr lang="en-US" sz="1400" dirty="0"/>
              <a:t>New standard SQL extension that allows creation of nested XML output</a:t>
            </a:r>
            <a:endParaRPr lang="en-US" sz="1400" dirty="0"/>
          </a:p>
          <a:p>
            <a:pPr lvl="1"/>
            <a:r>
              <a:rPr lang="en-US" sz="1400" dirty="0"/>
              <a:t>Each output tuple is mapped to an XML element </a:t>
            </a:r>
            <a:r>
              <a:rPr lang="en-US" sz="1400" i="1" dirty="0"/>
              <a:t>row</a:t>
            </a:r>
            <a:endParaRPr lang="en-US" sz="1400" i="1" dirty="0"/>
          </a:p>
          <a:p>
            <a:pPr lvl="1">
              <a:buFont typeface="Monotype Sorts" pitchFamily="-65" charset="2"/>
              <a:buNone/>
            </a:pPr>
            <a:r>
              <a:rPr lang="en-US" sz="1400" dirty="0"/>
              <a:t>    </a:t>
            </a:r>
            <a:r>
              <a:rPr lang="en-US" sz="1400" dirty="0">
                <a:solidFill>
                  <a:srgbClr val="993300"/>
                </a:solidFill>
              </a:rPr>
              <a:t>&lt;university&gt;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&lt;department&gt;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&lt;row&gt;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    &lt;dept name&gt; Comp. Sci. &lt;/dept name&gt;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    &lt;building&gt; Taylor &lt;/building&gt;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    &lt;budget&gt; 100000 &lt;/budget&gt;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&lt;/row&gt;</a:t>
            </a:r>
            <a:endParaRPr lang="en-US" sz="1400" dirty="0">
              <a:solidFill>
                <a:srgbClr val="993300"/>
              </a:solidFill>
            </a:endParaRPr>
          </a:p>
          <a:p>
            <a:pPr lvl="1">
              <a:buFont typeface="Monotype Sorts" pitchFamily="-65" charset="2"/>
              <a:buNone/>
            </a:pPr>
            <a:r>
              <a:rPr lang="en-US" sz="1400" dirty="0">
                <a:solidFill>
                  <a:srgbClr val="993300"/>
                </a:solidFill>
              </a:rPr>
              <a:t> 	      …. </a:t>
            </a:r>
            <a:r>
              <a:rPr lang="en-US" sz="1400" i="1" dirty="0">
                <a:solidFill>
                  <a:srgbClr val="993300"/>
                </a:solidFill>
              </a:rPr>
              <a:t>more rows if there are more output tuples …</a:t>
            </a:r>
            <a:endParaRPr lang="en-US" sz="1400" i="1" dirty="0">
              <a:solidFill>
                <a:srgbClr val="993300"/>
              </a:solidFill>
            </a:endParaRPr>
          </a:p>
          <a:p>
            <a:pPr lvl="1">
              <a:buFont typeface="Monotype Sorts" pitchFamily="-65" charset="2"/>
              <a:buNone/>
            </a:pPr>
            <a:r>
              <a:rPr lang="en-US" sz="1400" i="1" dirty="0">
                <a:solidFill>
                  <a:srgbClr val="993300"/>
                </a:solidFill>
              </a:rPr>
              <a:t>	  </a:t>
            </a:r>
            <a:r>
              <a:rPr lang="en-US" sz="1400" dirty="0">
                <a:solidFill>
                  <a:srgbClr val="993300"/>
                </a:solidFill>
              </a:rPr>
              <a:t>&lt;/department&gt;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… other relations ..</a:t>
            </a:r>
            <a:endParaRPr lang="en-US" sz="1400" dirty="0">
              <a:solidFill>
                <a:srgbClr val="993300"/>
              </a:solidFill>
            </a:endParaRPr>
          </a:p>
          <a:p>
            <a:pPr lvl="1">
              <a:buFont typeface="Monotype Sorts" pitchFamily="-65" charset="2"/>
              <a:buNone/>
            </a:pPr>
            <a:r>
              <a:rPr lang="en-US" sz="1400" dirty="0">
                <a:solidFill>
                  <a:srgbClr val="993300"/>
                </a:solidFill>
              </a:rPr>
              <a:t>   &lt;/university&gt;</a:t>
            </a:r>
            <a:endParaRPr lang="en-US" sz="1400" dirty="0">
              <a:solidFill>
                <a:srgbClr val="9933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SQL Extensions</a:t>
            </a:r>
            <a:endParaRPr lang="en-US"/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20341"/>
            <a:ext cx="5780485" cy="3677840"/>
          </a:xfrm>
        </p:spPr>
        <p:txBody>
          <a:bodyPr/>
          <a:lstStyle/>
          <a:p>
            <a:r>
              <a:rPr lang="en-US" sz="1400" b="1" dirty="0" err="1"/>
              <a:t>xmlelement</a:t>
            </a:r>
            <a:r>
              <a:rPr lang="en-US" sz="1400" b="1" dirty="0"/>
              <a:t> </a:t>
            </a:r>
            <a:r>
              <a:rPr lang="en-US" sz="1400" dirty="0"/>
              <a:t> creates XML elements</a:t>
            </a:r>
            <a:endParaRPr lang="en-US" sz="1400" dirty="0"/>
          </a:p>
          <a:p>
            <a:r>
              <a:rPr lang="en-US" sz="1400" b="1" dirty="0" err="1"/>
              <a:t>xmlattributes</a:t>
            </a:r>
            <a:r>
              <a:rPr lang="en-US" sz="1400" b="1" dirty="0"/>
              <a:t> </a:t>
            </a:r>
            <a:r>
              <a:rPr lang="en-US" sz="1400" dirty="0"/>
              <a:t>creates attributes</a:t>
            </a:r>
            <a:endParaRPr lang="en-US" sz="1400" dirty="0"/>
          </a:p>
          <a:p>
            <a:pPr>
              <a:buFont typeface="Monotype Sorts" pitchFamily="-65" charset="2"/>
              <a:buNone/>
            </a:pPr>
            <a:r>
              <a:rPr lang="en-US" sz="1400" b="1" dirty="0"/>
              <a:t>      </a:t>
            </a:r>
            <a:r>
              <a:rPr lang="en-US" sz="1400" b="1" dirty="0">
                <a:solidFill>
                  <a:srgbClr val="993300"/>
                </a:solidFill>
              </a:rPr>
              <a:t>select </a:t>
            </a:r>
            <a:r>
              <a:rPr lang="en-US" sz="1400" b="1" dirty="0" err="1">
                <a:solidFill>
                  <a:srgbClr val="993300"/>
                </a:solidFill>
              </a:rPr>
              <a:t>xmlelement</a:t>
            </a:r>
            <a:r>
              <a:rPr lang="en-US" sz="1400" b="1" dirty="0">
                <a:solidFill>
                  <a:srgbClr val="993300"/>
                </a:solidFill>
              </a:rPr>
              <a:t> </a:t>
            </a:r>
            <a:r>
              <a:rPr lang="en-US" sz="1400" dirty="0">
                <a:solidFill>
                  <a:srgbClr val="993300"/>
                </a:solidFill>
              </a:rPr>
              <a:t>(</a:t>
            </a:r>
            <a:r>
              <a:rPr lang="en-US" sz="1400" b="1" dirty="0">
                <a:solidFill>
                  <a:srgbClr val="993300"/>
                </a:solidFill>
              </a:rPr>
              <a:t>name </a:t>
            </a:r>
            <a:r>
              <a:rPr lang="en-US" sz="1400" dirty="0">
                <a:solidFill>
                  <a:srgbClr val="993300"/>
                </a:solidFill>
              </a:rPr>
              <a:t>“course”,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</a:t>
            </a:r>
            <a:r>
              <a:rPr lang="en-US" sz="1400" b="1" dirty="0" err="1">
                <a:solidFill>
                  <a:srgbClr val="993300"/>
                </a:solidFill>
              </a:rPr>
              <a:t>xmlattributes</a:t>
            </a:r>
            <a:r>
              <a:rPr lang="en-US" sz="1400" b="1" dirty="0">
                <a:solidFill>
                  <a:srgbClr val="993300"/>
                </a:solidFill>
              </a:rPr>
              <a:t> </a:t>
            </a:r>
            <a:r>
              <a:rPr lang="en-US" sz="1400" dirty="0">
                <a:solidFill>
                  <a:srgbClr val="993300"/>
                </a:solidFill>
              </a:rPr>
              <a:t>(</a:t>
            </a:r>
            <a:r>
              <a:rPr lang="en-US" sz="1400" i="1" dirty="0">
                <a:solidFill>
                  <a:srgbClr val="993300"/>
                </a:solidFill>
              </a:rPr>
              <a:t>course id </a:t>
            </a:r>
            <a:r>
              <a:rPr lang="en-US" sz="1400" b="1" dirty="0">
                <a:solidFill>
                  <a:srgbClr val="993300"/>
                </a:solidFill>
              </a:rPr>
              <a:t>as </a:t>
            </a:r>
            <a:r>
              <a:rPr lang="en-US" sz="1400" i="1" dirty="0">
                <a:solidFill>
                  <a:srgbClr val="993300"/>
                </a:solidFill>
              </a:rPr>
              <a:t>course id</a:t>
            </a:r>
            <a:r>
              <a:rPr lang="en-US" sz="1400" dirty="0">
                <a:solidFill>
                  <a:srgbClr val="993300"/>
                </a:solidFill>
              </a:rPr>
              <a:t>, </a:t>
            </a:r>
            <a:r>
              <a:rPr lang="en-US" sz="1400" i="1" dirty="0">
                <a:solidFill>
                  <a:srgbClr val="993300"/>
                </a:solidFill>
              </a:rPr>
              <a:t>dept name </a:t>
            </a:r>
            <a:r>
              <a:rPr lang="en-US" sz="1400" b="1" dirty="0">
                <a:solidFill>
                  <a:srgbClr val="993300"/>
                </a:solidFill>
              </a:rPr>
              <a:t>as </a:t>
            </a:r>
            <a:r>
              <a:rPr lang="en-US" sz="1400" i="1" dirty="0">
                <a:solidFill>
                  <a:srgbClr val="993300"/>
                </a:solidFill>
              </a:rPr>
              <a:t>dept name</a:t>
            </a:r>
            <a:r>
              <a:rPr lang="en-US" sz="1400" dirty="0">
                <a:solidFill>
                  <a:srgbClr val="993300"/>
                </a:solidFill>
              </a:rPr>
              <a:t>),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</a:t>
            </a:r>
            <a:r>
              <a:rPr lang="en-US" sz="1400" b="1" dirty="0" err="1">
                <a:solidFill>
                  <a:srgbClr val="993300"/>
                </a:solidFill>
              </a:rPr>
              <a:t>xmlelement</a:t>
            </a:r>
            <a:r>
              <a:rPr lang="en-US" sz="1400" b="1" dirty="0">
                <a:solidFill>
                  <a:srgbClr val="993300"/>
                </a:solidFill>
              </a:rPr>
              <a:t> </a:t>
            </a:r>
            <a:r>
              <a:rPr lang="en-US" sz="1400" dirty="0">
                <a:solidFill>
                  <a:srgbClr val="993300"/>
                </a:solidFill>
              </a:rPr>
              <a:t>(</a:t>
            </a:r>
            <a:r>
              <a:rPr lang="en-US" sz="1400" b="1" dirty="0">
                <a:solidFill>
                  <a:srgbClr val="993300"/>
                </a:solidFill>
              </a:rPr>
              <a:t>name </a:t>
            </a:r>
            <a:r>
              <a:rPr lang="en-US" sz="1400" dirty="0">
                <a:solidFill>
                  <a:srgbClr val="993300"/>
                </a:solidFill>
              </a:rPr>
              <a:t>“title”, </a:t>
            </a:r>
            <a:r>
              <a:rPr lang="en-US" sz="1400" i="1" dirty="0">
                <a:solidFill>
                  <a:srgbClr val="993300"/>
                </a:solidFill>
              </a:rPr>
              <a:t>title</a:t>
            </a:r>
            <a:r>
              <a:rPr lang="en-US" sz="1400" dirty="0">
                <a:solidFill>
                  <a:srgbClr val="993300"/>
                </a:solidFill>
              </a:rPr>
              <a:t>),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</a:t>
            </a:r>
            <a:r>
              <a:rPr lang="en-US" sz="1400" b="1" dirty="0" err="1">
                <a:solidFill>
                  <a:srgbClr val="993300"/>
                </a:solidFill>
              </a:rPr>
              <a:t>xmlelement</a:t>
            </a:r>
            <a:r>
              <a:rPr lang="en-US" sz="1400" b="1" dirty="0">
                <a:solidFill>
                  <a:srgbClr val="993300"/>
                </a:solidFill>
              </a:rPr>
              <a:t> </a:t>
            </a:r>
            <a:r>
              <a:rPr lang="en-US" sz="1400" dirty="0">
                <a:solidFill>
                  <a:srgbClr val="993300"/>
                </a:solidFill>
              </a:rPr>
              <a:t>(</a:t>
            </a:r>
            <a:r>
              <a:rPr lang="en-US" sz="1400" b="1" dirty="0">
                <a:solidFill>
                  <a:srgbClr val="993300"/>
                </a:solidFill>
              </a:rPr>
              <a:t>name </a:t>
            </a:r>
            <a:r>
              <a:rPr lang="en-US" sz="1400" dirty="0">
                <a:solidFill>
                  <a:srgbClr val="993300"/>
                </a:solidFill>
              </a:rPr>
              <a:t>“credits”, </a:t>
            </a:r>
            <a:r>
              <a:rPr lang="en-US" sz="1400" i="1" dirty="0">
                <a:solidFill>
                  <a:srgbClr val="993300"/>
                </a:solidFill>
              </a:rPr>
              <a:t>credits</a:t>
            </a:r>
            <a:r>
              <a:rPr lang="en-US" sz="1400" dirty="0">
                <a:solidFill>
                  <a:srgbClr val="993300"/>
                </a:solidFill>
              </a:rPr>
              <a:t>))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b="1" dirty="0">
                <a:solidFill>
                  <a:srgbClr val="993300"/>
                </a:solidFill>
              </a:rPr>
              <a:t>from </a:t>
            </a:r>
            <a:r>
              <a:rPr lang="en-US" sz="1400" i="1" dirty="0">
                <a:solidFill>
                  <a:srgbClr val="993300"/>
                </a:solidFill>
              </a:rPr>
              <a:t>course</a:t>
            </a:r>
            <a:endParaRPr lang="en-US" sz="1400" i="1" dirty="0">
              <a:solidFill>
                <a:srgbClr val="993300"/>
              </a:solidFill>
            </a:endParaRPr>
          </a:p>
          <a:p>
            <a:r>
              <a:rPr lang="en-US" sz="1400" dirty="0" err="1"/>
              <a:t>Xmlagg</a:t>
            </a:r>
            <a:r>
              <a:rPr lang="en-US" sz="1400" dirty="0"/>
              <a:t> creates a forest of XML elements</a:t>
            </a:r>
            <a:endParaRPr lang="en-US" sz="1400" dirty="0"/>
          </a:p>
          <a:p>
            <a:pPr>
              <a:buFont typeface="Monotype Sorts" pitchFamily="-65" charset="2"/>
              <a:buNone/>
            </a:pPr>
            <a:r>
              <a:rPr lang="en-US" sz="1400" b="1" dirty="0"/>
              <a:t>          </a:t>
            </a:r>
            <a:r>
              <a:rPr lang="en-US" sz="1400" b="1" dirty="0">
                <a:solidFill>
                  <a:srgbClr val="993300"/>
                </a:solidFill>
              </a:rPr>
              <a:t>select </a:t>
            </a:r>
            <a:r>
              <a:rPr lang="en-US" sz="1400" b="1" dirty="0" err="1">
                <a:solidFill>
                  <a:srgbClr val="993300"/>
                </a:solidFill>
              </a:rPr>
              <a:t>xmlelement</a:t>
            </a:r>
            <a:r>
              <a:rPr lang="en-US" sz="1400" b="1" dirty="0">
                <a:solidFill>
                  <a:srgbClr val="993300"/>
                </a:solidFill>
              </a:rPr>
              <a:t> </a:t>
            </a:r>
            <a:r>
              <a:rPr lang="en-US" sz="1400" dirty="0">
                <a:solidFill>
                  <a:srgbClr val="993300"/>
                </a:solidFill>
              </a:rPr>
              <a:t>(</a:t>
            </a:r>
            <a:r>
              <a:rPr lang="en-US" sz="1400" b="1" dirty="0">
                <a:solidFill>
                  <a:srgbClr val="993300"/>
                </a:solidFill>
              </a:rPr>
              <a:t>name </a:t>
            </a:r>
            <a:r>
              <a:rPr lang="en-US" sz="1400" dirty="0">
                <a:solidFill>
                  <a:srgbClr val="993300"/>
                </a:solidFill>
              </a:rPr>
              <a:t>“department”, 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            </a:t>
            </a:r>
            <a:r>
              <a:rPr lang="en-US" sz="1400" i="1" dirty="0" err="1">
                <a:solidFill>
                  <a:srgbClr val="993300"/>
                </a:solidFill>
              </a:rPr>
              <a:t>dept_name</a:t>
            </a:r>
            <a:r>
              <a:rPr lang="en-US" sz="1400" dirty="0">
                <a:solidFill>
                  <a:srgbClr val="993300"/>
                </a:solidFill>
              </a:rPr>
              <a:t>,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            </a:t>
            </a:r>
            <a:r>
              <a:rPr lang="en-US" sz="1400" b="1" dirty="0" err="1">
                <a:solidFill>
                  <a:srgbClr val="993300"/>
                </a:solidFill>
              </a:rPr>
              <a:t>xmlagg</a:t>
            </a:r>
            <a:r>
              <a:rPr lang="en-US" sz="1400" b="1" dirty="0">
                <a:solidFill>
                  <a:srgbClr val="993300"/>
                </a:solidFill>
              </a:rPr>
              <a:t> </a:t>
            </a:r>
            <a:r>
              <a:rPr lang="en-US" sz="1400" dirty="0">
                <a:solidFill>
                  <a:srgbClr val="993300"/>
                </a:solidFill>
              </a:rPr>
              <a:t>(</a:t>
            </a:r>
            <a:r>
              <a:rPr lang="en-US" sz="1400" b="1" dirty="0" err="1">
                <a:solidFill>
                  <a:srgbClr val="993300"/>
                </a:solidFill>
              </a:rPr>
              <a:t>xmlforest</a:t>
            </a:r>
            <a:r>
              <a:rPr lang="en-US" sz="1400" dirty="0">
                <a:solidFill>
                  <a:srgbClr val="993300"/>
                </a:solidFill>
              </a:rPr>
              <a:t>(</a:t>
            </a:r>
            <a:r>
              <a:rPr lang="en-US" sz="1400" i="1" dirty="0" err="1">
                <a:solidFill>
                  <a:srgbClr val="993300"/>
                </a:solidFill>
              </a:rPr>
              <a:t>course_id</a:t>
            </a:r>
            <a:r>
              <a:rPr lang="en-US" sz="1400" dirty="0">
                <a:solidFill>
                  <a:srgbClr val="993300"/>
                </a:solidFill>
              </a:rPr>
              <a:t>)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                              </a:t>
            </a:r>
            <a:r>
              <a:rPr lang="en-US" sz="1400" b="1" dirty="0">
                <a:solidFill>
                  <a:srgbClr val="993300"/>
                </a:solidFill>
              </a:rPr>
              <a:t>order by </a:t>
            </a:r>
            <a:r>
              <a:rPr lang="en-US" sz="1400" i="1" dirty="0" err="1">
                <a:solidFill>
                  <a:srgbClr val="993300"/>
                </a:solidFill>
              </a:rPr>
              <a:t>course_id</a:t>
            </a:r>
            <a:r>
              <a:rPr lang="en-US" sz="1400" dirty="0">
                <a:solidFill>
                  <a:srgbClr val="993300"/>
                </a:solidFill>
              </a:rPr>
              <a:t>))</a:t>
            </a:r>
            <a:br>
              <a:rPr lang="en-US" sz="1400" dirty="0">
                <a:solidFill>
                  <a:srgbClr val="993300"/>
                </a:solidFill>
              </a:rPr>
            </a:br>
            <a:r>
              <a:rPr lang="en-US" sz="1400" dirty="0">
                <a:solidFill>
                  <a:srgbClr val="993300"/>
                </a:solidFill>
              </a:rPr>
              <a:t>    </a:t>
            </a:r>
            <a:r>
              <a:rPr lang="en-US" sz="1400" b="1" dirty="0">
                <a:solidFill>
                  <a:srgbClr val="993300"/>
                </a:solidFill>
              </a:rPr>
              <a:t>from </a:t>
            </a:r>
            <a:r>
              <a:rPr lang="en-US" sz="1400" i="1" dirty="0">
                <a:solidFill>
                  <a:srgbClr val="993300"/>
                </a:solidFill>
              </a:rPr>
              <a:t>course</a:t>
            </a:r>
            <a:br>
              <a:rPr lang="en-US" sz="1400" i="1" dirty="0">
                <a:solidFill>
                  <a:srgbClr val="993300"/>
                </a:solidFill>
              </a:rPr>
            </a:br>
            <a:r>
              <a:rPr lang="en-US" sz="1400" i="1" dirty="0">
                <a:solidFill>
                  <a:srgbClr val="993300"/>
                </a:solidFill>
              </a:rPr>
              <a:t>    </a:t>
            </a:r>
            <a:r>
              <a:rPr lang="en-US" sz="1400" b="1" dirty="0">
                <a:solidFill>
                  <a:srgbClr val="993300"/>
                </a:solidFill>
              </a:rPr>
              <a:t>group by </a:t>
            </a:r>
            <a:r>
              <a:rPr lang="en-US" sz="1400" i="1" dirty="0" err="1">
                <a:solidFill>
                  <a:srgbClr val="993300"/>
                </a:solidFill>
              </a:rPr>
              <a:t>dept_name</a:t>
            </a:r>
            <a:endParaRPr lang="en-US" sz="1400" i="1" dirty="0" err="1">
              <a:solidFill>
                <a:srgbClr val="993300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39115" y="987425"/>
            <a:ext cx="723265" cy="923925"/>
            <a:chOff x="737" y="4617"/>
            <a:chExt cx="1139" cy="1455"/>
          </a:xfrm>
        </p:grpSpPr>
        <p:pic>
          <p:nvPicPr>
            <p:cNvPr id="3" name="Picture 101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737" y="4617"/>
              <a:ext cx="1139" cy="113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文本框 4"/>
            <p:cNvSpPr txBox="1"/>
            <p:nvPr/>
          </p:nvSpPr>
          <p:spPr>
            <a:xfrm>
              <a:off x="851" y="5638"/>
              <a:ext cx="90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/>
                <a:t>14</a:t>
              </a:r>
              <a:endParaRPr lang="en-US" altLang="zh-CN" sz="1200"/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*XML Applications</a:t>
            </a:r>
            <a:endParaRPr lang="en-IN"/>
          </a:p>
        </p:txBody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9263" y="820341"/>
            <a:ext cx="5780485" cy="3677840"/>
          </a:xfrm>
        </p:spPr>
        <p:txBody>
          <a:bodyPr/>
          <a:lstStyle/>
          <a:p>
            <a:r>
              <a:rPr lang="en-US" sz="1400" dirty="0"/>
              <a:t>Storing and exchanging data with complex structures</a:t>
            </a:r>
            <a:endParaRPr lang="en-US" sz="1400" dirty="0"/>
          </a:p>
          <a:p>
            <a:pPr lvl="1"/>
            <a:r>
              <a:rPr lang="en-US" sz="1400" dirty="0"/>
              <a:t>E.g., Open Document Format (ODF) format standard for storing Open Office and Office Open XML (OOXML) format standard for storing Microsoft Office documents</a:t>
            </a:r>
            <a:endParaRPr lang="en-US" sz="1400" dirty="0"/>
          </a:p>
          <a:p>
            <a:pPr lvl="1"/>
            <a:r>
              <a:rPr lang="en-US" sz="1400" dirty="0"/>
              <a:t>Numerous other standards for a variety of applications</a:t>
            </a:r>
            <a:endParaRPr lang="en-US" sz="1400" dirty="0"/>
          </a:p>
          <a:p>
            <a:pPr lvl="2"/>
            <a:r>
              <a:rPr lang="en-US" sz="1400" dirty="0" err="1"/>
              <a:t>ChemML</a:t>
            </a:r>
            <a:r>
              <a:rPr lang="en-US" sz="1400" dirty="0"/>
              <a:t>, MathML</a:t>
            </a:r>
            <a:endParaRPr lang="en-US" sz="1400" dirty="0"/>
          </a:p>
          <a:p>
            <a:r>
              <a:rPr lang="en-US" sz="1400" dirty="0"/>
              <a:t>Standard for data exchange for Web services</a:t>
            </a:r>
            <a:endParaRPr lang="en-US" sz="1400" dirty="0"/>
          </a:p>
          <a:p>
            <a:pPr lvl="1"/>
            <a:r>
              <a:rPr lang="en-US" sz="1400" dirty="0"/>
              <a:t>remote method invocation over HTTP protocol</a:t>
            </a:r>
            <a:endParaRPr lang="en-US" sz="1400" dirty="0"/>
          </a:p>
          <a:p>
            <a:pPr lvl="1"/>
            <a:r>
              <a:rPr lang="en-US" sz="1400" dirty="0"/>
              <a:t>More in next slide</a:t>
            </a:r>
            <a:endParaRPr lang="en-US" sz="1400" dirty="0"/>
          </a:p>
          <a:p>
            <a:r>
              <a:rPr lang="en-US" sz="1400" dirty="0"/>
              <a:t>Data mediation</a:t>
            </a:r>
            <a:endParaRPr lang="en-US" sz="1400" dirty="0"/>
          </a:p>
          <a:p>
            <a:pPr lvl="1"/>
            <a:r>
              <a:rPr lang="en-US" sz="1400" dirty="0"/>
              <a:t>Common data representation format to bridge different systems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*Web Services</a:t>
            </a:r>
            <a:endParaRPr lang="en-US"/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The Simple Object Access Protocol (SOAP) standard:</a:t>
            </a:r>
            <a:endParaRPr lang="en-US" sz="1400"/>
          </a:p>
          <a:p>
            <a:pPr lvl="1"/>
            <a:r>
              <a:rPr lang="en-US" sz="1400"/>
              <a:t>Invocation of procedures across applications with distinct databases</a:t>
            </a:r>
            <a:endParaRPr lang="en-US" sz="1400"/>
          </a:p>
          <a:p>
            <a:pPr lvl="1"/>
            <a:r>
              <a:rPr lang="en-US" sz="1400"/>
              <a:t>XML used to represent procedure input and output</a:t>
            </a:r>
            <a:endParaRPr lang="en-US" sz="1400"/>
          </a:p>
          <a:p>
            <a:r>
              <a:rPr lang="en-US" sz="1400"/>
              <a:t>A </a:t>
            </a:r>
            <a:r>
              <a:rPr lang="en-US" sz="1400" i="1"/>
              <a:t>Web service</a:t>
            </a:r>
            <a:r>
              <a:rPr lang="en-US" sz="1400"/>
              <a:t> is a site providing a collection of SOAP procedures</a:t>
            </a:r>
            <a:endParaRPr lang="en-US" sz="1400"/>
          </a:p>
          <a:p>
            <a:pPr lvl="1"/>
            <a:r>
              <a:rPr lang="en-US" sz="1400"/>
              <a:t>Described using the Web Services Description Language (WSDL)</a:t>
            </a:r>
            <a:endParaRPr lang="en-US" sz="1400"/>
          </a:p>
          <a:p>
            <a:pPr lvl="1"/>
            <a:r>
              <a:rPr lang="en-US" sz="1400"/>
              <a:t>Directories of Web services are described using the Universal Description, Discovery, and Integration (UDDI) standard</a:t>
            </a:r>
            <a:endParaRPr lang="en-US" sz="14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*Pros and cons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2195830" y="793115"/>
            <a:ext cx="4969510" cy="3975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23440" y="4587875"/>
            <a:ext cx="17703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Genius Inflator</a:t>
            </a:r>
            <a:endParaRPr lang="en-US" altLang="zh-CN" sz="1600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DIAGRAM_VIRTUALLY_FRAME" val="{&quot;height&quot;:109.2374803149606,&quot;left&quot;:225.47503937007878,&quot;top&quot;:108,&quot;width&quot;:350.15}"/>
</p:tagLst>
</file>

<file path=ppt/tags/tag6.xml><?xml version="1.0" encoding="utf-8"?>
<p:tagLst xmlns:p="http://schemas.openxmlformats.org/presentationml/2006/main">
  <p:tag name="KSO_WM_DIAGRAM_VIRTUALLY_FRAME" val="{&quot;height&quot;:109.2374803149606,&quot;left&quot;:225.47503937007878,&quot;top&quot;:108,&quot;width&quot;:350.15}"/>
</p:tagLst>
</file>

<file path=ppt/tags/tag7.xml><?xml version="1.0" encoding="utf-8"?>
<p:tagLst xmlns:p="http://schemas.openxmlformats.org/presentationml/2006/main">
  <p:tag name="KSO_WM_DIAGRAM_VIRTUALLY_FRAME" val="{&quot;height&quot;:109.2374803149606,&quot;left&quot;:225.47503937007878,&quot;top&quot;:108,&quot;width&quot;:350.15}"/>
</p:tagLst>
</file>

<file path=ppt/tags/tag8.xml><?xml version="1.0" encoding="utf-8"?>
<p:tagLst xmlns:p="http://schemas.openxmlformats.org/presentationml/2006/main">
  <p:tag name="KSO_WM_DIAGRAM_VIRTUALLY_FRAME" val="{&quot;height&quot;:109.2374803149606,&quot;left&quot;:225.47503937007878,&quot;top&quot;:108,&quot;width&quot;:350.15}"/>
</p:tagLst>
</file>

<file path=ppt/tags/tag9.xml><?xml version="1.0" encoding="utf-8"?>
<p:tagLst xmlns:p="http://schemas.openxmlformats.org/presentationml/2006/main">
  <p:tag name="KSO_WM_DIAGRAM_VIRTUALLY_FRAME" val="{&quot;height&quot;:109.2374803149606,&quot;left&quot;:225.47503937007878,&quot;top&quot;:108,&quot;width&quot;:350.15}"/>
</p:tagLst>
</file>

<file path=ppt/tags/tag10.xml><?xml version="1.0" encoding="utf-8"?>
<p:tagLst xmlns:p="http://schemas.openxmlformats.org/presentationml/2006/main">
  <p:tag name="KSO_WM_DIAGRAM_VIRTUALLY_FRAME" val="{&quot;height&quot;:109.2374803149606,&quot;left&quot;:225.47503937007878,&quot;top&quot;:108,&quot;width&quot;:350.15}"/>
</p:tagLst>
</file>

<file path=ppt/tags/tag11.xml><?xml version="1.0" encoding="utf-8"?>
<p:tagLst xmlns:p="http://schemas.openxmlformats.org/presentationml/2006/main">
  <p:tag name="KSO_WM_DIAGRAM_VIRTUALLY_FRAME" val="{&quot;height&quot;:109.2374803149606,&quot;left&quot;:225.47503937007878,&quot;top&quot;:108,&quot;width&quot;:350.15}"/>
</p:tagLst>
</file>

<file path=ppt/tags/tag12.xml><?xml version="1.0" encoding="utf-8"?>
<p:tagLst xmlns:p="http://schemas.openxmlformats.org/presentationml/2006/main">
  <p:tag name="KSO_WM_DIAGRAM_VIRTUALLY_FRAME" val="{&quot;height&quot;:109.2374803149606,&quot;left&quot;:225.47503937007878,&quot;top&quot;:108,&quot;width&quot;:350.15}"/>
</p:tagLst>
</file>

<file path=ppt/tags/tag13.xml><?xml version="1.0" encoding="utf-8"?>
<p:tagLst xmlns:p="http://schemas.openxmlformats.org/presentationml/2006/main">
  <p:tag name="KSO_WM_DIAGRAM_VIRTUALLY_FRAME" val="{&quot;height&quot;:109.2374803149606,&quot;left&quot;:225.47503937007878,&quot;top&quot;:108,&quot;width&quot;:350.15}"/>
</p:tagLst>
</file>

<file path=ppt/tags/tag14.xml><?xml version="1.0" encoding="utf-8"?>
<p:tagLst xmlns:p="http://schemas.openxmlformats.org/presentationml/2006/main">
  <p:tag name="KSO_WM_DIAGRAM_VIRTUALLY_FRAME" val="{&quot;height&quot;:109.2374803149606,&quot;left&quot;:225.47503937007878,&quot;top&quot;:108,&quot;width&quot;:350.15}"/>
</p:tagLst>
</file>

<file path=ppt/tags/tag15.xml><?xml version="1.0" encoding="utf-8"?>
<p:tagLst xmlns:p="http://schemas.openxmlformats.org/presentationml/2006/main">
  <p:tag name="KSO_WM_DIAGRAM_VIRTUALLY_FRAME" val="{&quot;height&quot;:109.2374803149606,&quot;left&quot;:225.47503937007878,&quot;top&quot;:108,&quot;width&quot;:350.15}"/>
</p:tagLst>
</file>

<file path=ppt/tags/tag16.xml><?xml version="1.0" encoding="utf-8"?>
<p:tagLst xmlns:p="http://schemas.openxmlformats.org/presentationml/2006/main">
  <p:tag name="KSO_WM_DIAGRAM_VIRTUALLY_FRAME" val="{&quot;height&quot;:109.2374803149606,&quot;left&quot;:225.47503937007878,&quot;top&quot;:108,&quot;width&quot;:350.15}"/>
</p:tagLst>
</file>

<file path=ppt/tags/tag17.xml><?xml version="1.0" encoding="utf-8"?>
<p:tagLst xmlns:p="http://schemas.openxmlformats.org/presentationml/2006/main">
  <p:tag name="KSO_WM_DIAGRAM_VIRTUALLY_FRAME" val="{&quot;height&quot;:109.2374803149606,&quot;left&quot;:225.47503937007878,&quot;top&quot;:108,&quot;width&quot;:350.15}"/>
</p:tagLst>
</file>

<file path=ppt/tags/tag18.xml><?xml version="1.0" encoding="utf-8"?>
<p:tagLst xmlns:p="http://schemas.openxmlformats.org/presentationml/2006/main">
  <p:tag name="KSO_WM_DIAGRAM_VIRTUALLY_FRAME" val="{&quot;height&quot;:109.2374803149606,&quot;left&quot;:225.47503937007878,&quot;top&quot;:108,&quot;width&quot;:350.15}"/>
</p:tagLst>
</file>

<file path=ppt/tags/tag19.xml><?xml version="1.0" encoding="utf-8"?>
<p:tagLst xmlns:p="http://schemas.openxmlformats.org/presentationml/2006/main">
  <p:tag name="KSO_WM_DIAGRAM_VIRTUALLY_FRAME" val="{&quot;height&quot;:109.2374803149606,&quot;left&quot;:225.47503937007878,&quot;top&quot;:108,&quot;width&quot;:350.15}"/>
</p:tagLst>
</file>

<file path=ppt/tags/tag20.xml><?xml version="1.0" encoding="utf-8"?>
<p:tagLst xmlns:p="http://schemas.openxmlformats.org/presentationml/2006/main">
  <p:tag name="KSO_WM_DIAGRAM_VIRTUALLY_FRAME" val="{&quot;height&quot;:109.2374803149606,&quot;left&quot;:225.47503937007878,&quot;top&quot;:108,&quot;width&quot;:350.15}"/>
</p:tagLst>
</file>

<file path=ppt/tags/tag21.xml><?xml version="1.0" encoding="utf-8"?>
<p:tagLst xmlns:p="http://schemas.openxmlformats.org/presentationml/2006/main">
  <p:tag name="KSO_WM_DIAGRAM_VIRTUALLY_FRAME" val="{&quot;height&quot;:109.2374803149606,&quot;left&quot;:225.47503937007878,&quot;top&quot;:108,&quot;width&quot;:350.15}"/>
</p:tagLst>
</file>

<file path=ppt/tags/tag22.xml><?xml version="1.0" encoding="utf-8"?>
<p:tagLst xmlns:p="http://schemas.openxmlformats.org/presentationml/2006/main">
  <p:tag name="KSO_WM_DIAGRAM_VIRTUALLY_FRAME" val="{&quot;height&quot;:109.2374803149606,&quot;left&quot;:225.47503937007878,&quot;top&quot;:108,&quot;width&quot;:350.15}"/>
</p:tagLst>
</file>

<file path=ppt/tags/tag23.xml><?xml version="1.0" encoding="utf-8"?>
<p:tagLst xmlns:p="http://schemas.openxmlformats.org/presentationml/2006/main">
  <p:tag name="commondata" val="eyJoZGlkIjoiNjJjNTFkOTdkODM4ZDJhZTE0NWNhZWEyMDljZmVjZjEifQ=="/>
  <p:tag name="resource_record_key" val="{&quot;29&quot;:[50000031]}"/>
</p:tagLst>
</file>

<file path=ppt/theme/theme1.xml><?xml version="1.0" encoding="utf-8"?>
<a:theme xmlns:a="http://schemas.openxmlformats.org/drawingml/2006/main" name="23_ClassicWhit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FFFFFF"/>
      </a:accent3>
      <a:accent4>
        <a:srgbClr val="000000"/>
      </a:accent4>
      <a:accent5>
        <a:srgbClr val="AFBCE5"/>
      </a:accent5>
      <a:accent6>
        <a:srgbClr val="2DB2A7"/>
      </a:accent6>
      <a:hlink>
        <a:srgbClr val="0000FF"/>
      </a:hlink>
      <a:folHlink>
        <a:srgbClr val="FF00FF"/>
      </a:folHlink>
    </a:clrScheme>
    <a:fontScheme name="23_Classic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</a:spPr>
      <a:bodyPr vert="horz" wrap="square" lIns="50800" tIns="50800" rIns="50800" bIns="50800" numCol="1" anchor="ctr" anchorCtr="0" compatLnSpc="1">
        <a:spAutoFit/>
      </a:bodyPr>
      <a:lstStyle>
        <a:defPPr marL="0" marR="0" indent="0" algn="ctr" defTabSz="1733550" rtl="0" eaLnBrk="1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anela Text Regular" charset="0"/>
            <a:ea typeface="Canela Text Regular" charset="0"/>
            <a:cs typeface="Canela Text Regular" charset="0"/>
            <a:sym typeface="Canela Text Regular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</a:spPr>
      <a:bodyPr vert="horz" wrap="square" lIns="50800" tIns="50800" rIns="50800" bIns="50800" numCol="1" anchor="ctr" anchorCtr="0" compatLnSpc="1">
        <a:spAutoFit/>
      </a:bodyPr>
      <a:lstStyle>
        <a:defPPr marL="0" marR="0" indent="0" algn="ctr" defTabSz="1733550" rtl="0" eaLnBrk="1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anela Text Regular" charset="0"/>
            <a:ea typeface="Canela Text Regular" charset="0"/>
            <a:cs typeface="Canela Text Regular" charset="0"/>
            <a:sym typeface="Canela Text Regular" charset="0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FFFFFF"/>
      </a:accent3>
      <a:accent4>
        <a:srgbClr val="000000"/>
      </a:accent4>
      <a:accent5>
        <a:srgbClr val="AFBCE5"/>
      </a:accent5>
      <a:accent6>
        <a:srgbClr val="2DB2A7"/>
      </a:accent6>
      <a:hlink>
        <a:srgbClr val="0000FF"/>
      </a:hlink>
      <a:folHlink>
        <a:srgbClr val="FF00F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28875</Words>
  <Application>WPS 演示</Application>
  <PresentationFormat>On-screen Show (16:9)</PresentationFormat>
  <Paragraphs>692</Paragraphs>
  <Slides>57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72" baseType="lpstr">
      <vt:lpstr>Arial</vt:lpstr>
      <vt:lpstr>宋体</vt:lpstr>
      <vt:lpstr>Wingdings</vt:lpstr>
      <vt:lpstr>Canela Text Regular</vt:lpstr>
      <vt:lpstr>Segoe Print</vt:lpstr>
      <vt:lpstr>Helvetica</vt:lpstr>
      <vt:lpstr>Graphik</vt:lpstr>
      <vt:lpstr>Helvetica Neue</vt:lpstr>
      <vt:lpstr>Times New Roman</vt:lpstr>
      <vt:lpstr>Monotype Sorts</vt:lpstr>
      <vt:lpstr>Wingdings</vt:lpstr>
      <vt:lpstr>微软雅黑</vt:lpstr>
      <vt:lpstr>Arial Unicode MS</vt:lpstr>
      <vt:lpstr>Webdings</vt:lpstr>
      <vt:lpstr>23_ClassicWhite</vt:lpstr>
      <vt:lpstr>DTS207TC Database Development and Design</vt:lpstr>
      <vt:lpstr>*Analog</vt:lpstr>
      <vt:lpstr>Outline</vt:lpstr>
      <vt:lpstr>Semi-Structured Data</vt:lpstr>
      <vt:lpstr>Features of Semi-Structured Data Models</vt:lpstr>
      <vt:lpstr>Features of Semi-Structured Data Models</vt:lpstr>
      <vt:lpstr>Introduction</vt:lpstr>
      <vt:lpstr>XML Introduction (Cont.)</vt:lpstr>
      <vt:lpstr>XML: Motivation</vt:lpstr>
      <vt:lpstr>XML Motivation (Cont.)</vt:lpstr>
      <vt:lpstr>Structure of XML Data</vt:lpstr>
      <vt:lpstr>Example of Nested Elements</vt:lpstr>
      <vt:lpstr>Motivation for Nesting</vt:lpstr>
      <vt:lpstr>Structure of XML Data (Cont.)</vt:lpstr>
      <vt:lpstr>Attributes</vt:lpstr>
      <vt:lpstr>Attributes vs. Subelements</vt:lpstr>
      <vt:lpstr>Namespaces</vt:lpstr>
      <vt:lpstr>More on XML Syntax</vt:lpstr>
      <vt:lpstr>XML Document Schema</vt:lpstr>
      <vt:lpstr>Document Type Definition (DTD)</vt:lpstr>
      <vt:lpstr>Element Specification in DTD</vt:lpstr>
      <vt:lpstr>University DTD</vt:lpstr>
      <vt:lpstr>Attribute Specification in DTD</vt:lpstr>
      <vt:lpstr>IDs and IDREFs</vt:lpstr>
      <vt:lpstr>University DTD with Attributes</vt:lpstr>
      <vt:lpstr>XML data with ID and IDREF attributes</vt:lpstr>
      <vt:lpstr>Limitations of DTDs</vt:lpstr>
      <vt:lpstr>XML Schema</vt:lpstr>
      <vt:lpstr>XML Schema Version of Univ. DTD</vt:lpstr>
      <vt:lpstr>XML Schema Version of Univ. DTD (Cont.)</vt:lpstr>
      <vt:lpstr>More features of XML Schema</vt:lpstr>
      <vt:lpstr>Querying XML Data</vt:lpstr>
      <vt:lpstr>Tree Model of XML Data</vt:lpstr>
      <vt:lpstr>XPath</vt:lpstr>
      <vt:lpstr>XPath (Cont.)</vt:lpstr>
      <vt:lpstr>Functions in XPath</vt:lpstr>
      <vt:lpstr>More XPath Features</vt:lpstr>
      <vt:lpstr>XQuery</vt:lpstr>
      <vt:lpstr>FLWOR Syntax in XQuery </vt:lpstr>
      <vt:lpstr>Joins</vt:lpstr>
      <vt:lpstr>Nested Queries</vt:lpstr>
      <vt:lpstr>Grouping and Aggregation</vt:lpstr>
      <vt:lpstr>Sorting in XQuery </vt:lpstr>
      <vt:lpstr>Application Program Interface</vt:lpstr>
      <vt:lpstr>Storage of XML Data</vt:lpstr>
      <vt:lpstr>Storage of XML in Relational Databases</vt:lpstr>
      <vt:lpstr>String Representation</vt:lpstr>
      <vt:lpstr>String Representation (Cont.)</vt:lpstr>
      <vt:lpstr>Tree Representation</vt:lpstr>
      <vt:lpstr>Tree Representation (Cont.)</vt:lpstr>
      <vt:lpstr>Mapping XML Data to Relations</vt:lpstr>
      <vt:lpstr>Storing XML Data in Relational Systems</vt:lpstr>
      <vt:lpstr>SQL/XML</vt:lpstr>
      <vt:lpstr>SQL Extensions</vt:lpstr>
      <vt:lpstr>*XML Applications</vt:lpstr>
      <vt:lpstr>*Web Services</vt:lpstr>
      <vt:lpstr>*Pros and cons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DTS205TC High Performance Computing</dc:title>
  <dc:creator>andyz</dc:creator>
  <cp:lastModifiedBy>ZD</cp:lastModifiedBy>
  <cp:revision>2865</cp:revision>
  <dcterms:created xsi:type="dcterms:W3CDTF">2023-04-15T13:38:00Z</dcterms:created>
  <dcterms:modified xsi:type="dcterms:W3CDTF">2025-12-19T13:28:28Z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317E91C63B9E4CA194E47D6C43C7DAEB_13</vt:lpwstr>
  </property>
  <property fmtid="{D5CDD505-2E9C-101B-9397-08002B2CF9AE}" pid="3" name="KSOProductBuildVer">
    <vt:lpwstr>2052-12.1.0.24034</vt:lpwstr>
  </property>
</Properties>
</file>