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4"/>
  </p:notesMasterIdLst>
  <p:sldIdLst>
    <p:sldId id="256" r:id="rId3"/>
    <p:sldId id="1682" r:id="rId5"/>
    <p:sldId id="1746" r:id="rId6"/>
    <p:sldId id="1747" r:id="rId7"/>
    <p:sldId id="1748" r:id="rId8"/>
    <p:sldId id="1749" r:id="rId9"/>
    <p:sldId id="1750" r:id="rId10"/>
    <p:sldId id="1716" r:id="rId11"/>
    <p:sldId id="1717" r:id="rId12"/>
    <p:sldId id="1718" r:id="rId13"/>
    <p:sldId id="1719" r:id="rId14"/>
    <p:sldId id="1720" r:id="rId15"/>
    <p:sldId id="1722" r:id="rId16"/>
    <p:sldId id="1729" r:id="rId17"/>
    <p:sldId id="1721" r:id="rId18"/>
    <p:sldId id="1724" r:id="rId19"/>
    <p:sldId id="1728" r:id="rId20"/>
    <p:sldId id="1725" r:id="rId21"/>
    <p:sldId id="1730" r:id="rId22"/>
    <p:sldId id="1726" r:id="rId23"/>
    <p:sldId id="1727" r:id="rId24"/>
    <p:sldId id="1731" r:id="rId25"/>
    <p:sldId id="1732" r:id="rId26"/>
    <p:sldId id="1734" r:id="rId27"/>
    <p:sldId id="1733" r:id="rId28"/>
    <p:sldId id="1683" r:id="rId29"/>
    <p:sldId id="1684" r:id="rId30"/>
    <p:sldId id="1685" r:id="rId31"/>
    <p:sldId id="1686" r:id="rId32"/>
    <p:sldId id="1711" r:id="rId33"/>
    <p:sldId id="1712" r:id="rId34"/>
    <p:sldId id="1714" r:id="rId35"/>
    <p:sldId id="1739" r:id="rId36"/>
    <p:sldId id="1740" r:id="rId37"/>
    <p:sldId id="1743" r:id="rId38"/>
    <p:sldId id="1741" r:id="rId39"/>
    <p:sldId id="1744" r:id="rId40"/>
    <p:sldId id="1745" r:id="rId41"/>
    <p:sldId id="1742" r:id="rId42"/>
    <p:sldId id="1751" r:id="rId43"/>
  </p:sldIdLst>
  <p:sldSz cx="9144000" cy="5143500" type="screen16x9"/>
  <p:notesSz cx="6858000" cy="9144000"/>
  <p:custDataLst>
    <p:tags r:id="rId48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f1e3a7d8-6453-47cc-a505-18d0cf93069e}">
          <p14:sldIdLst>
            <p14:sldId id="256"/>
            <p14:sldId id="1682"/>
          </p14:sldIdLst>
        </p14:section>
        <p14:section name="Index" id="{2c834d02-1612-4ed5-b1e6-968d24ac8c06}">
          <p14:sldIdLst>
            <p14:sldId id="1746"/>
            <p14:sldId id="1747"/>
            <p14:sldId id="1748"/>
            <p14:sldId id="1749"/>
            <p14:sldId id="1750"/>
          </p14:sldIdLst>
        </p14:section>
        <p14:section name="B+ Tree" id="{7509925c-7bab-4268-b8e2-cfe95e9b938d}">
          <p14:sldIdLst>
            <p14:sldId id="1716"/>
            <p14:sldId id="1717"/>
            <p14:sldId id="1718"/>
            <p14:sldId id="1719"/>
            <p14:sldId id="1720"/>
            <p14:sldId id="1722"/>
            <p14:sldId id="1729"/>
            <p14:sldId id="1721"/>
            <p14:sldId id="1724"/>
            <p14:sldId id="1728"/>
            <p14:sldId id="1725"/>
            <p14:sldId id="1730"/>
            <p14:sldId id="1726"/>
            <p14:sldId id="1727"/>
            <p14:sldId id="1731"/>
            <p14:sldId id="1732"/>
            <p14:sldId id="1734"/>
            <p14:sldId id="1733"/>
          </p14:sldIdLst>
        </p14:section>
        <p14:section name="Transaction" id="{aab4a65c-be3c-45d5-9646-af6077affc51}">
          <p14:sldIdLst>
            <p14:sldId id="1683"/>
            <p14:sldId id="1684"/>
            <p14:sldId id="1685"/>
            <p14:sldId id="1686"/>
            <p14:sldId id="1711"/>
            <p14:sldId id="1712"/>
            <p14:sldId id="1714"/>
          </p14:sldIdLst>
        </p14:section>
        <p14:section name="Implementation*" id="{88bfe787-eadc-4788-838d-4f1687d2de14}">
          <p14:sldIdLst>
            <p14:sldId id="1739"/>
            <p14:sldId id="1740"/>
            <p14:sldId id="1743"/>
            <p14:sldId id="1741"/>
            <p14:sldId id="1744"/>
            <p14:sldId id="1745"/>
            <p14:sldId id="1742"/>
            <p14:sldId id="17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S Sudarshan" initials="S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AB69823-E62A-4C9E-8713-CD8DAE54954C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BC08B4-9CDB-401B-9AAB-D2F2245160EA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A3194E0C-DD0F-4DCA-AE6A-100B220091C9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A6DA15A-9EAA-4813-959A-C2B3A4C1012E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98333D-2DAA-4F6F-BDF5-64740725A096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26" autoAdjust="0"/>
  </p:normalViewPr>
  <p:slideViewPr>
    <p:cSldViewPr showGuides="1">
      <p:cViewPr varScale="1">
        <p:scale>
          <a:sx n="88" d="100"/>
          <a:sy n="88" d="100"/>
        </p:scale>
        <p:origin x="660" y="56"/>
      </p:cViewPr>
      <p:guideLst>
        <p:guide orient="horz" pos="16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90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6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I am very happy to have the opportunity to meet with you all in this course.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b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 dirty="0"/>
              <a:t>DTS207TC Database Development and Design</a:t>
            </a:r>
            <a:endParaRPr lang="en-US" altLang="en-US" sz="2800" dirty="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2824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Lec 13 Review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algn="ctr" defTabSz="365125" eaLnBrk="1">
              <a:buClrTx/>
              <a:buSzTx/>
              <a:buFontTx/>
            </a:pPr>
            <a:endParaRPr lang="zh-CN" altLang="en-US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Autumn 2025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585" y="757555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Review of BPlus-Tree</a:t>
            </a:r>
            <a:endParaRPr lang="en-US" altLang="zh-CN"/>
          </a:p>
          <a:p>
            <a:r>
              <a:rPr lang="en-US" altLang="zh-CN">
                <a:sym typeface="+mn-ea"/>
              </a:rPr>
              <a:t>Review of </a:t>
            </a:r>
            <a:r>
              <a:rPr lang="en-US" altLang="zh-CN"/>
              <a:t>Transaction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Three Core Index Structures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Sorted Array</a:t>
            </a:r>
            <a:endParaRPr lang="en-US" altLang="zh-CN"/>
          </a:p>
          <a:p>
            <a:r>
              <a:rPr lang="en-US" altLang="zh-CN"/>
              <a:t>Tree-based Index</a:t>
            </a:r>
            <a:endParaRPr lang="en-US" altLang="zh-CN"/>
          </a:p>
          <a:p>
            <a:r>
              <a:rPr lang="en-US" altLang="zh-CN"/>
              <a:t>Hash-based Index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Sorted Array Index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zh-CN" sz="1200"/>
              <a:t>Data Structure</a:t>
            </a:r>
            <a:endParaRPr lang="en-US" altLang="zh-CN" sz="1200"/>
          </a:p>
          <a:p>
            <a:pPr lvl="1"/>
            <a:r>
              <a:rPr lang="en-US" altLang="zh-CN" sz="1200"/>
              <a:t>Stores data ordered by key value (e.g., ascending)</a:t>
            </a:r>
            <a:endParaRPr lang="en-US" altLang="zh-CN" sz="1200"/>
          </a:p>
          <a:p>
            <a:pPr lvl="1"/>
            <a:r>
              <a:rPr lang="en-US" altLang="zh-CN" sz="1200"/>
              <a:t>Typically implemented using arrays</a:t>
            </a:r>
            <a:endParaRPr lang="en-US" altLang="zh-CN" sz="1200"/>
          </a:p>
          <a:p>
            <a:r>
              <a:rPr lang="en-US" altLang="zh-CN" sz="1200"/>
              <a:t>Operation Complexity</a:t>
            </a:r>
            <a:endParaRPr lang="en-US" altLang="zh-CN" sz="1200"/>
          </a:p>
          <a:p>
            <a:pPr lvl="1"/>
            <a:r>
              <a:rPr lang="en-US" altLang="zh-CN" sz="1200"/>
              <a:t>Search: O(log n) — binary search</a:t>
            </a:r>
            <a:endParaRPr lang="en-US" altLang="zh-CN" sz="1200"/>
          </a:p>
          <a:p>
            <a:pPr lvl="1"/>
            <a:r>
              <a:rPr lang="en-US" altLang="zh-CN" sz="1200"/>
              <a:t>Insert/Delete: O(n) — requires shifting elements</a:t>
            </a:r>
            <a:endParaRPr lang="en-US" altLang="zh-CN" sz="1200"/>
          </a:p>
          <a:p>
            <a:r>
              <a:rPr lang="en-US" altLang="zh-CN" sz="1200"/>
              <a:t>Advantages</a:t>
            </a:r>
            <a:endParaRPr lang="en-US" altLang="zh-CN" sz="1200"/>
          </a:p>
          <a:p>
            <a:pPr lvl="1"/>
            <a:r>
              <a:rPr lang="en-US" altLang="zh-CN" sz="1200"/>
              <a:t>Efficient for range queries</a:t>
            </a:r>
            <a:endParaRPr lang="en-US" altLang="zh-CN" sz="1200"/>
          </a:p>
          <a:p>
            <a:pPr lvl="1"/>
            <a:r>
              <a:rPr lang="en-US" altLang="zh-CN" sz="1200"/>
              <a:t>Compact storage, cache-friendly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zh-CN" sz="1200">
                <a:sym typeface="+mn-ea"/>
              </a:rPr>
              <a:t>Disadvantages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High update cost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Static structure, requires pre-allocated space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Use Cases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Read-only or rarely updated data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Frequent range queries required</a:t>
            </a:r>
            <a:endParaRPr lang="en-US" altLang="zh-CN" sz="1200"/>
          </a:p>
          <a:p>
            <a:endParaRPr lang="en-US" alt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Tree-based Index (e.g., B+ Tree)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zh-CN" sz="1200"/>
              <a:t>Data Structure</a:t>
            </a:r>
            <a:endParaRPr lang="en-US" altLang="zh-CN" sz="1200"/>
          </a:p>
          <a:p>
            <a:pPr lvl="1"/>
            <a:r>
              <a:rPr lang="en-US" altLang="zh-CN" sz="1200"/>
              <a:t>Multi-way balanced search tree</a:t>
            </a:r>
            <a:endParaRPr lang="en-US" altLang="zh-CN" sz="1200"/>
          </a:p>
          <a:p>
            <a:pPr lvl="1"/>
            <a:r>
              <a:rPr lang="en-US" altLang="zh-CN" sz="1200"/>
              <a:t>Leaf nodes form a sorted linked list</a:t>
            </a:r>
            <a:endParaRPr lang="en-US" altLang="zh-CN" sz="1200"/>
          </a:p>
          <a:p>
            <a:r>
              <a:rPr lang="en-US" altLang="zh-CN" sz="1200"/>
              <a:t>Operation Complexity</a:t>
            </a:r>
            <a:endParaRPr lang="en-US" altLang="zh-CN" sz="1200"/>
          </a:p>
          <a:p>
            <a:pPr lvl="1"/>
            <a:r>
              <a:rPr lang="en-US" altLang="zh-CN" sz="1200"/>
              <a:t>Search/Insert/Delete: O(log n)</a:t>
            </a:r>
            <a:endParaRPr lang="en-US" altLang="zh-CN" sz="1200"/>
          </a:p>
          <a:p>
            <a:pPr lvl="1"/>
            <a:r>
              <a:rPr lang="en-US" altLang="zh-CN" sz="1200"/>
              <a:t>Tree height is usually small (3–4 levels)</a:t>
            </a:r>
            <a:endParaRPr lang="en-US" altLang="zh-CN" sz="1200"/>
          </a:p>
          <a:p>
            <a:r>
              <a:rPr lang="en-US" altLang="zh-CN" sz="1200"/>
              <a:t>Advantages</a:t>
            </a:r>
            <a:endParaRPr lang="en-US" altLang="zh-CN" sz="1200"/>
          </a:p>
          <a:p>
            <a:pPr lvl="1"/>
            <a:r>
              <a:rPr lang="en-US" altLang="zh-CN" sz="1200"/>
              <a:t>Supports efficient range queries (via leaf node list)</a:t>
            </a:r>
            <a:endParaRPr lang="en-US" altLang="zh-CN" sz="1200"/>
          </a:p>
          <a:p>
            <a:pPr lvl="1"/>
            <a:r>
              <a:rPr lang="en-US" altLang="zh-CN" sz="1200"/>
              <a:t>Dynamically balanced, suitable for frequent updates</a:t>
            </a:r>
            <a:endParaRPr lang="en-US" altLang="zh-CN" sz="1200"/>
          </a:p>
          <a:p>
            <a:pPr lvl="1"/>
            <a:r>
              <a:rPr lang="en-US" altLang="zh-CN" sz="1200"/>
              <a:t>Supports partial match queries</a:t>
            </a:r>
            <a:endParaRPr lang="en-US" altLang="zh-CN" sz="1200"/>
          </a:p>
          <a:p>
            <a:endParaRPr lang="en-US" altLang="zh-CN" sz="120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zh-CN" sz="1400">
                <a:sym typeface="+mn-ea"/>
              </a:rPr>
              <a:t>Disadvantages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Higher storage overhead (pointers, etc.)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May involve more random I/O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Typical Applications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Default database index (e.g., MySQL InnoDB)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File system indexing</a:t>
            </a:r>
            <a:endParaRPr lang="en-US" altLang="zh-CN" sz="1400"/>
          </a:p>
          <a:p>
            <a:endParaRPr lang="en-US" alt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Hash-based Index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48258" y="719117"/>
            <a:ext cx="4169049" cy="40493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1886" tIns="31886" rIns="31886" bIns="31886" numCol="1" anchor="t" anchorCtr="0" compatLnSpc="1"/>
          <a:lstStyle>
            <a:lvl1pPr marL="263525" indent="-263525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1pPr>
            <a:lvl2pPr marL="494030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2pPr>
            <a:lvl3pPr marL="7397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3pPr>
            <a:lvl4pPr marL="98742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4pPr>
            <a:lvl5pPr marL="12350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5pPr>
            <a:lvl6pPr marL="157861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6563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5201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903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/>
              <a:t>Data Structure</a:t>
            </a:r>
            <a:endParaRPr lang="en-US" altLang="zh-CN" sz="1200"/>
          </a:p>
          <a:p>
            <a:pPr lvl="1"/>
            <a:r>
              <a:rPr lang="en-US" altLang="zh-CN" sz="1200"/>
              <a:t>Hash table + buckets</a:t>
            </a:r>
            <a:endParaRPr lang="en-US" altLang="zh-CN" sz="1200"/>
          </a:p>
          <a:p>
            <a:pPr lvl="1"/>
            <a:r>
              <a:rPr lang="en-US" altLang="zh-CN" sz="1200"/>
              <a:t>Hash function maps keys to buckets</a:t>
            </a:r>
            <a:endParaRPr lang="en-US" altLang="zh-CN" sz="1200"/>
          </a:p>
          <a:p>
            <a:r>
              <a:rPr lang="en-US" altLang="zh-CN" sz="1200"/>
              <a:t>Operation Complexity</a:t>
            </a:r>
            <a:endParaRPr lang="en-US" altLang="zh-CN" sz="1200"/>
          </a:p>
          <a:p>
            <a:pPr lvl="1"/>
            <a:r>
              <a:rPr lang="en-US" altLang="zh-CN" sz="1200"/>
              <a:t>Average case: O(1) — direct access</a:t>
            </a:r>
            <a:endParaRPr lang="en-US" altLang="zh-CN" sz="1200"/>
          </a:p>
          <a:p>
            <a:pPr lvl="1"/>
            <a:r>
              <a:rPr lang="en-US" altLang="zh-CN" sz="1200"/>
              <a:t>Worst case: O(n) — all keys collide to one bucket</a:t>
            </a:r>
            <a:endParaRPr lang="en-US" altLang="zh-CN" sz="1200"/>
          </a:p>
          <a:p>
            <a:r>
              <a:rPr lang="en-US" altLang="zh-CN" sz="1200"/>
              <a:t>Advantages</a:t>
            </a:r>
            <a:endParaRPr lang="en-US" altLang="zh-CN" sz="1200"/>
          </a:p>
          <a:p>
            <a:pPr lvl="1"/>
            <a:r>
              <a:rPr lang="en-US" altLang="zh-CN" sz="1200"/>
              <a:t>Extremely fast for equality queries</a:t>
            </a:r>
            <a:endParaRPr lang="en-US" altLang="zh-CN" sz="1200"/>
          </a:p>
          <a:p>
            <a:pPr lvl="1"/>
            <a:r>
              <a:rPr lang="en-US" altLang="zh-CN" sz="1200"/>
              <a:t>Simple and efficient</a:t>
            </a:r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4859338" y="702628"/>
            <a:ext cx="8447087" cy="4049712"/>
          </a:xfrm>
        </p:spPr>
        <p:txBody>
          <a:bodyPr/>
          <a:p>
            <a:r>
              <a:rPr lang="en-US" altLang="zh-CN" sz="1400">
                <a:sym typeface="+mn-ea"/>
              </a:rPr>
              <a:t>Disadvantages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Does not support range queries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Hash function design is critical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Dynamic resizing can be costly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Use Cases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Equality-only queries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In-memory databases or caches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Join operations (hash join)</a:t>
            </a:r>
            <a:endParaRPr lang="en-US" altLang="zh-CN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Comparison Summary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95605" y="915670"/>
          <a:ext cx="8613140" cy="2677795"/>
        </p:xfrm>
        <a:graphic>
          <a:graphicData uri="http://schemas.openxmlformats.org/drawingml/2006/table">
            <a:tbl>
              <a:tblPr firstRow="1">
                <a:tableStyleId>{7AB69823-E62A-4C9E-8713-CD8DAE54954C}</a:tableStyleId>
              </a:tblPr>
              <a:tblGrid>
                <a:gridCol w="2153285"/>
                <a:gridCol w="2153285"/>
                <a:gridCol w="2153285"/>
                <a:gridCol w="2153285"/>
              </a:tblGrid>
              <a:tr h="313055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Feature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Sorted Array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Tree (B+ Tree)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Hash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Search Complexity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O(1)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Insert/Delete Complexity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O(1)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Range Queries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Excellent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Excellent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Not Supported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31242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Equality Queries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Good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Good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Very Fast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Update Friendliness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Poor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Good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Good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Storage Overhead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Low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Medium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Variable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48704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Typical Applications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Static datasets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General-purpose database indexing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In-memory tables, caches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 Context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Core Challenges:</a:t>
            </a:r>
            <a:endParaRPr lang="en-US" altLang="zh-CN"/>
          </a:p>
          <a:p>
            <a:pPr lvl="1"/>
            <a:r>
              <a:rPr lang="en-US" altLang="zh-CN"/>
              <a:t>Increasing data volume </a:t>
            </a:r>
            <a:r>
              <a:rPr lang="en-US" altLang="en-US"/>
              <a:t>→</a:t>
            </a:r>
            <a:r>
              <a:rPr lang="en-US" altLang="zh-CN"/>
              <a:t> Need for efficient data structures</a:t>
            </a:r>
            <a:endParaRPr lang="en-US" altLang="zh-CN"/>
          </a:p>
          <a:p>
            <a:pPr lvl="1"/>
            <a:r>
              <a:rPr lang="en-US" altLang="zh-CN"/>
              <a:t>High disk I/O cost </a:t>
            </a:r>
            <a:r>
              <a:rPr lang="en-US" altLang="en-US"/>
              <a:t>→</a:t>
            </a:r>
            <a:r>
              <a:rPr lang="en-US" altLang="zh-CN"/>
              <a:t> Reduce disk access frequency</a:t>
            </a:r>
            <a:endParaRPr lang="en-US" altLang="zh-CN"/>
          </a:p>
          <a:p>
            <a:pPr lvl="1"/>
            <a:r>
              <a:rPr lang="en-US" altLang="zh-CN"/>
              <a:t>Dynamic data operations </a:t>
            </a:r>
            <a:r>
              <a:rPr lang="en-US" altLang="en-US"/>
              <a:t>→</a:t>
            </a:r>
            <a:r>
              <a:rPr lang="en-US" altLang="zh-CN"/>
              <a:t> Maintain balance and performance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Evolution Drivers:</a:t>
            </a:r>
            <a:endParaRPr lang="en-US" altLang="zh-CN"/>
          </a:p>
          <a:p>
            <a:pPr lvl="1"/>
            <a:r>
              <a:rPr lang="en-US" altLang="zh-CN"/>
              <a:t>Balance maintenance</a:t>
            </a:r>
            <a:endParaRPr lang="en-US" altLang="zh-CN"/>
          </a:p>
          <a:p>
            <a:pPr lvl="1"/>
            <a:r>
              <a:rPr lang="en-US" altLang="zh-CN"/>
              <a:t>Disk access optimization</a:t>
            </a:r>
            <a:endParaRPr lang="en-US" altLang="zh-CN"/>
          </a:p>
          <a:p>
            <a:pPr lvl="1"/>
            <a:r>
              <a:rPr lang="en-US" altLang="zh-CN"/>
              <a:t>Range query support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Binary Search Tree (BST)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200"/>
              <a:t>Basic Structure</a:t>
            </a:r>
            <a:endParaRPr lang="en-US" altLang="zh-CN" sz="1200"/>
          </a:p>
          <a:p>
            <a:r>
              <a:rPr lang="en-US" altLang="zh-CN" sz="1200"/>
              <a:t>Property: Left subtree &lt; Node &lt; Right subtree</a:t>
            </a:r>
            <a:endParaRPr lang="en-US" altLang="zh-CN" sz="1200"/>
          </a:p>
          <a:p>
            <a:r>
              <a:rPr lang="en-US" altLang="zh-CN" sz="1200"/>
              <a:t>Insert Operation</a:t>
            </a:r>
            <a:endParaRPr lang="en-US" altLang="zh-CN" sz="1200"/>
          </a:p>
          <a:p>
            <a:r>
              <a:rPr lang="en-US" altLang="zh-CN" sz="1200"/>
              <a:t>Steps:</a:t>
            </a:r>
            <a:endParaRPr lang="en-US" altLang="zh-CN" sz="1200"/>
          </a:p>
          <a:p>
            <a:pPr lvl="1"/>
            <a:r>
              <a:rPr lang="en-US" altLang="zh-CN" sz="1200"/>
              <a:t>Start comparison from root node</a:t>
            </a:r>
            <a:endParaRPr lang="en-US" altLang="zh-CN" sz="1200"/>
          </a:p>
          <a:p>
            <a:pPr lvl="1"/>
            <a:r>
              <a:rPr lang="en-US" altLang="zh-CN" sz="1200"/>
              <a:t>If less than current node </a:t>
            </a:r>
            <a:r>
              <a:rPr lang="en-US" altLang="en-US" sz="1200"/>
              <a:t>→</a:t>
            </a:r>
            <a:r>
              <a:rPr lang="en-US" altLang="zh-CN" sz="1200"/>
              <a:t> Go to left subtree</a:t>
            </a:r>
            <a:endParaRPr lang="en-US" altLang="zh-CN" sz="1200"/>
          </a:p>
          <a:p>
            <a:pPr lvl="1"/>
            <a:r>
              <a:rPr lang="en-US" altLang="zh-CN" sz="1200"/>
              <a:t>If greater than current node </a:t>
            </a:r>
            <a:r>
              <a:rPr lang="en-US" altLang="en-US" sz="1200"/>
              <a:t>→</a:t>
            </a:r>
            <a:r>
              <a:rPr lang="en-US" altLang="zh-CN" sz="1200"/>
              <a:t> Go to right subtree</a:t>
            </a:r>
            <a:endParaRPr lang="en-US" altLang="zh-CN" sz="1200"/>
          </a:p>
          <a:p>
            <a:pPr lvl="1"/>
            <a:r>
              <a:rPr lang="en-US" altLang="zh-CN" sz="1200"/>
              <a:t>Find empty position </a:t>
            </a:r>
            <a:r>
              <a:rPr lang="en-US" altLang="en-US" sz="1200"/>
              <a:t>→</a:t>
            </a:r>
            <a:r>
              <a:rPr lang="en-US" altLang="zh-CN" sz="1200"/>
              <a:t> Insert new node</a:t>
            </a:r>
            <a:endParaRPr lang="en-US" altLang="zh-CN" sz="1200"/>
          </a:p>
          <a:p>
            <a:r>
              <a:rPr lang="en-US" altLang="zh-CN" sz="1200"/>
              <a:t>Complexity:</a:t>
            </a:r>
            <a:endParaRPr lang="en-US" altLang="zh-CN" sz="1200"/>
          </a:p>
          <a:p>
            <a:pPr lvl="1"/>
            <a:r>
              <a:rPr lang="en-US" altLang="zh-CN" sz="1200"/>
              <a:t>Best: O(log n) (when balanced)</a:t>
            </a:r>
            <a:endParaRPr lang="en-US" altLang="zh-CN" sz="1200"/>
          </a:p>
          <a:p>
            <a:pPr lvl="1"/>
            <a:r>
              <a:rPr lang="en-US" altLang="zh-CN" sz="1200"/>
              <a:t>Worst: O(n) (degenerates to linked list)</a:t>
            </a:r>
            <a:endParaRPr lang="en-US" altLang="zh-CN" sz="1200"/>
          </a:p>
          <a:p>
            <a:endParaRPr lang="en-US" altLang="zh-CN" sz="12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0" y="771525"/>
            <a:ext cx="3671570" cy="4282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11955" y="843280"/>
            <a:ext cx="4915535" cy="3562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Delete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400"/>
              <a:t>Three Cases:</a:t>
            </a:r>
            <a:endParaRPr lang="en-US" altLang="zh-CN" sz="1400"/>
          </a:p>
          <a:p>
            <a:pPr lvl="1"/>
            <a:r>
              <a:rPr lang="en-US" altLang="zh-CN" sz="1400"/>
              <a:t>Leaf node: Direct deletion</a:t>
            </a:r>
            <a:endParaRPr lang="en-US" altLang="zh-CN" sz="1400"/>
          </a:p>
          <a:p>
            <a:pPr lvl="1"/>
            <a:r>
              <a:rPr lang="en-US" altLang="zh-CN" sz="1400"/>
              <a:t>One child node: Replace with child node</a:t>
            </a:r>
            <a:endParaRPr lang="en-US" altLang="zh-CN" sz="1400"/>
          </a:p>
          <a:p>
            <a:pPr lvl="1"/>
            <a:r>
              <a:rPr lang="en-US" altLang="zh-CN" sz="1400"/>
              <a:t>Two child nodes:</a:t>
            </a:r>
            <a:endParaRPr lang="en-US" altLang="zh-CN" sz="1400"/>
          </a:p>
          <a:p>
            <a:pPr lvl="2"/>
            <a:r>
              <a:rPr lang="en-US" altLang="zh-CN" sz="1400"/>
              <a:t>Find minimum node in right subtree</a:t>
            </a:r>
            <a:endParaRPr lang="en-US" altLang="zh-CN" sz="1400"/>
          </a:p>
          <a:p>
            <a:pPr lvl="2"/>
            <a:r>
              <a:rPr lang="en-US" altLang="zh-CN" sz="1400"/>
              <a:t>Replace the node to be deleted</a:t>
            </a:r>
            <a:endParaRPr lang="en-US" altLang="zh-CN" sz="1400"/>
          </a:p>
          <a:p>
            <a:pPr lvl="2"/>
            <a:r>
              <a:rPr lang="en-US" altLang="zh-CN" sz="1400"/>
              <a:t>Delete the minimum node from right subtree</a:t>
            </a:r>
            <a:endParaRPr lang="en-US" altLang="zh-CN" sz="1400"/>
          </a:p>
          <a:p>
            <a:r>
              <a:rPr lang="en-US" altLang="zh-CN" sz="1400"/>
              <a:t>Complexity: O(h), where h is tree height</a:t>
            </a:r>
            <a:endParaRPr lang="en-US" altLang="zh-CN" sz="1400"/>
          </a:p>
          <a:p>
            <a:r>
              <a:rPr lang="en-US" altLang="zh-CN" sz="1400"/>
              <a:t>BST Problems</a:t>
            </a:r>
            <a:endParaRPr lang="en-US" altLang="zh-CN" sz="1400"/>
          </a:p>
          <a:p>
            <a:pPr lvl="1"/>
            <a:r>
              <a:rPr lang="en-US" altLang="zh-CN" sz="1400"/>
              <a:t>May degenerate into linked list (O(n) operations)</a:t>
            </a:r>
            <a:endParaRPr lang="en-US" altLang="zh-CN" sz="1400"/>
          </a:p>
          <a:p>
            <a:pPr lvl="1"/>
            <a:r>
              <a:rPr lang="en-US" altLang="zh-CN" sz="1400"/>
              <a:t>Imbalance leads to performance degradation</a:t>
            </a:r>
            <a:endParaRPr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AVL Tree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Self-Balancing BST</a:t>
            </a:r>
            <a:endParaRPr lang="en-US" altLang="zh-CN"/>
          </a:p>
          <a:p>
            <a:r>
              <a:rPr lang="en-US" altLang="zh-CN"/>
              <a:t>Core: Height difference between left and right subtrees ≤ 1 for each node</a:t>
            </a:r>
            <a:endParaRPr lang="en-US" altLang="zh-CN"/>
          </a:p>
          <a:p>
            <a:r>
              <a:rPr lang="en-US" altLang="zh-CN"/>
              <a:t>Balance Factor: height(left) - height(right) ∈ {-1, 0, 1}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2067560"/>
            <a:ext cx="4274820" cy="27800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Self-Balancing BST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200"/>
              <a:t>Core: Height difference between left and right subtrees ≤ 1 for each node</a:t>
            </a:r>
            <a:endParaRPr lang="en-US" altLang="zh-CN" sz="1200"/>
          </a:p>
          <a:p>
            <a:pPr lvl="0"/>
            <a:r>
              <a:rPr lang="en-US" altLang="zh-CN" sz="1200"/>
              <a:t>Balance Factor: height(left) - height(right) ∈ {-1, 0, 1}</a:t>
            </a:r>
            <a:endParaRPr lang="en-US" altLang="zh-CN" sz="1200"/>
          </a:p>
          <a:p>
            <a:pPr lvl="0"/>
            <a:r>
              <a:rPr lang="en-US" altLang="zh-CN" sz="1200"/>
              <a:t>Insert Operation</a:t>
            </a:r>
            <a:endParaRPr lang="en-US" altLang="zh-CN" sz="1200"/>
          </a:p>
          <a:p>
            <a:pPr lvl="1"/>
            <a:r>
              <a:rPr lang="en-US" altLang="zh-CN" sz="1200"/>
              <a:t>Standard BST insertion</a:t>
            </a:r>
            <a:endParaRPr lang="en-US" altLang="zh-CN" sz="1200"/>
          </a:p>
          <a:p>
            <a:pPr lvl="1"/>
            <a:r>
              <a:rPr lang="en-US" altLang="zh-CN" sz="1200"/>
              <a:t>Update heights of ancestor nodes</a:t>
            </a:r>
            <a:endParaRPr lang="en-US" altLang="zh-CN" sz="1200"/>
          </a:p>
          <a:p>
            <a:pPr lvl="1"/>
            <a:r>
              <a:rPr lang="en-US" altLang="zh-CN" sz="1200"/>
              <a:t>Check balance factors</a:t>
            </a:r>
            <a:endParaRPr lang="en-US" altLang="zh-CN" sz="1200"/>
          </a:p>
          <a:p>
            <a:pPr lvl="1"/>
            <a:r>
              <a:rPr lang="en-US" altLang="zh-CN" sz="1200"/>
              <a:t>If unbalanced, perform rotations:</a:t>
            </a:r>
            <a:endParaRPr lang="en-US" altLang="zh-CN" sz="1200"/>
          </a:p>
          <a:p>
            <a:pPr lvl="2"/>
            <a:r>
              <a:rPr lang="en-US" altLang="zh-CN" sz="1200"/>
              <a:t>Left-Left: Right rotation</a:t>
            </a:r>
            <a:endParaRPr lang="en-US" altLang="zh-CN" sz="1200"/>
          </a:p>
          <a:p>
            <a:pPr lvl="2"/>
            <a:r>
              <a:rPr lang="en-US" altLang="zh-CN" sz="1200"/>
              <a:t>Right-Right: Left rotation</a:t>
            </a:r>
            <a:endParaRPr lang="en-US" altLang="zh-CN" sz="1200"/>
          </a:p>
          <a:p>
            <a:pPr lvl="2"/>
            <a:r>
              <a:rPr lang="en-US" altLang="zh-CN" sz="1200"/>
              <a:t>Left-Right: Left rotation + Right rotation</a:t>
            </a:r>
            <a:endParaRPr lang="en-US" altLang="zh-CN" sz="1200"/>
          </a:p>
          <a:p>
            <a:pPr lvl="2"/>
            <a:r>
              <a:rPr lang="en-US" altLang="zh-CN" sz="1200"/>
              <a:t>Right-Left: Right rotation + Left rotation</a:t>
            </a:r>
            <a:endParaRPr lang="en-US" altLang="zh-CN" sz="1200"/>
          </a:p>
          <a:p>
            <a:r>
              <a:rPr lang="en-US" altLang="zh-CN" sz="1200"/>
              <a:t>Complexity: O(log n) (always balanced)</a:t>
            </a:r>
            <a:endParaRPr lang="en-US" altLang="zh-CN" sz="1200"/>
          </a:p>
        </p:txBody>
      </p:sp>
      <p:pic>
        <p:nvPicPr>
          <p:cNvPr id="4" name="图片 3"/>
          <p:cNvPicPr/>
          <p:nvPr/>
        </p:nvPicPr>
        <p:blipFill>
          <a:blip r:embed="rId1"/>
          <a:srcRect t="13394" b="17746"/>
          <a:stretch>
            <a:fillRect/>
          </a:stretch>
        </p:blipFill>
        <p:spPr>
          <a:xfrm>
            <a:off x="3851910" y="1347470"/>
            <a:ext cx="5019040" cy="25920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Delete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Steps:</a:t>
            </a:r>
            <a:endParaRPr lang="en-US" altLang="zh-CN"/>
          </a:p>
          <a:p>
            <a:pPr lvl="1"/>
            <a:r>
              <a:rPr lang="en-US" altLang="zh-CN"/>
              <a:t>Standard BST deletion</a:t>
            </a:r>
            <a:endParaRPr lang="en-US" altLang="zh-CN"/>
          </a:p>
          <a:p>
            <a:pPr lvl="1"/>
            <a:r>
              <a:rPr lang="en-US" altLang="zh-CN"/>
              <a:t>Update heights upward from deletion point</a:t>
            </a:r>
            <a:endParaRPr lang="en-US" altLang="zh-CN"/>
          </a:p>
          <a:p>
            <a:pPr lvl="1"/>
            <a:r>
              <a:rPr lang="en-US" altLang="zh-CN"/>
              <a:t>Check balance factor for each ancestor</a:t>
            </a:r>
            <a:endParaRPr lang="en-US" altLang="zh-CN"/>
          </a:p>
          <a:p>
            <a:pPr lvl="1"/>
            <a:r>
              <a:rPr lang="en-US" altLang="zh-CN"/>
              <a:t>Perform rotations if needed (up to O(log n) times)</a:t>
            </a:r>
            <a:endParaRPr lang="en-US" altLang="zh-CN"/>
          </a:p>
          <a:p>
            <a:r>
              <a:rPr lang="en-US" altLang="zh-CN"/>
              <a:t>Complexity: O(log n)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AVL Advantages and Limitations</a:t>
            </a:r>
            <a:endParaRPr lang="en-US" altLang="zh-CN"/>
          </a:p>
          <a:p>
            <a:pPr lvl="1"/>
            <a:r>
              <a:rPr lang="en-US" altLang="zh-CN"/>
              <a:t>Advantages: Strict balance, excellent query performance</a:t>
            </a:r>
            <a:endParaRPr lang="en-US" altLang="zh-CN"/>
          </a:p>
          <a:p>
            <a:pPr lvl="1"/>
            <a:r>
              <a:rPr lang="en-US" altLang="zh-CN"/>
              <a:t>Limitations: Frequent rotations, high insertion/deletion cost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4765" y="732756"/>
            <a:ext cx="9144000" cy="34404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987675" y="1635760"/>
            <a:ext cx="5683250" cy="1397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B-tree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600"/>
              <a:t>Design Goals</a:t>
            </a:r>
            <a:endParaRPr lang="en-US" altLang="zh-CN" sz="1600"/>
          </a:p>
          <a:p>
            <a:pPr lvl="1"/>
            <a:r>
              <a:rPr lang="en-US" altLang="zh-CN" sz="1600"/>
              <a:t>Reduce disk I/O</a:t>
            </a:r>
            <a:endParaRPr lang="en-US" altLang="zh-CN" sz="1600"/>
          </a:p>
          <a:p>
            <a:pPr lvl="1"/>
            <a:r>
              <a:rPr lang="en-US" altLang="zh-CN" sz="1600"/>
              <a:t>Suitable for large-scale data</a:t>
            </a:r>
            <a:endParaRPr lang="en-US" altLang="zh-CN" sz="1600"/>
          </a:p>
          <a:p>
            <a:pPr lvl="1"/>
            <a:r>
              <a:rPr lang="en-US" altLang="zh-CN" sz="1600"/>
              <a:t>Multiway balanced search tree</a:t>
            </a:r>
            <a:endParaRPr lang="en-US" altLang="zh-CN" sz="1600"/>
          </a:p>
          <a:p>
            <a:r>
              <a:rPr lang="en-US" altLang="zh-CN" sz="1600"/>
              <a:t>Structural Properties</a:t>
            </a:r>
            <a:endParaRPr lang="en-US" altLang="zh-CN" sz="1600"/>
          </a:p>
          <a:p>
            <a:r>
              <a:rPr lang="en-US" altLang="zh-CN" sz="1600"/>
              <a:t>B-tree of order m:</a:t>
            </a:r>
            <a:endParaRPr lang="en-US" altLang="zh-CN" sz="1600"/>
          </a:p>
          <a:p>
            <a:pPr lvl="1"/>
            <a:r>
              <a:rPr lang="en-US" altLang="zh-CN" sz="1600"/>
              <a:t>Root node: 2 to m children</a:t>
            </a:r>
            <a:endParaRPr lang="en-US" altLang="zh-CN" sz="1600"/>
          </a:p>
          <a:p>
            <a:pPr lvl="1"/>
            <a:r>
              <a:rPr lang="en-US" altLang="zh-CN" sz="1600"/>
              <a:t>Internal nodes: </a:t>
            </a:r>
            <a:r>
              <a:rPr lang="en-US" altLang="en-US" sz="1600"/>
              <a:t>⌈</a:t>
            </a:r>
            <a:r>
              <a:rPr lang="en-US" altLang="zh-CN" sz="1600"/>
              <a:t>m/2</a:t>
            </a:r>
            <a:r>
              <a:rPr lang="en-US" altLang="en-US" sz="1600"/>
              <a:t>⌉</a:t>
            </a:r>
            <a:r>
              <a:rPr lang="en-US" altLang="zh-CN" sz="1600"/>
              <a:t> to m children</a:t>
            </a:r>
            <a:endParaRPr lang="en-US" altLang="zh-CN" sz="1600"/>
          </a:p>
          <a:p>
            <a:pPr lvl="1"/>
            <a:r>
              <a:rPr lang="en-US" altLang="zh-CN" sz="1600"/>
              <a:t>All leaves at same level</a:t>
            </a:r>
            <a:endParaRPr lang="en-US" altLang="zh-CN" sz="1600"/>
          </a:p>
          <a:p>
            <a:pPr lvl="1"/>
            <a:r>
              <a:rPr lang="en-US" altLang="zh-CN" sz="1600"/>
              <a:t>Node contains k keys and k+1 child pointers</a:t>
            </a:r>
            <a:endParaRPr lang="en-US" altLang="zh-CN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Insert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Steps:</a:t>
            </a:r>
            <a:endParaRPr lang="en-US" altLang="zh-CN"/>
          </a:p>
          <a:p>
            <a:pPr lvl="1"/>
            <a:r>
              <a:rPr lang="en-US" altLang="zh-CN"/>
              <a:t>Find insertion position (leaf node)</a:t>
            </a:r>
            <a:endParaRPr lang="en-US" altLang="zh-CN"/>
          </a:p>
          <a:p>
            <a:pPr lvl="1"/>
            <a:r>
              <a:rPr lang="en-US" altLang="zh-CN"/>
              <a:t>If leaf not full </a:t>
            </a:r>
            <a:r>
              <a:rPr lang="en-US" altLang="en-US"/>
              <a:t>→</a:t>
            </a:r>
            <a:r>
              <a:rPr lang="en-US" altLang="zh-CN"/>
              <a:t> Insert directly</a:t>
            </a:r>
            <a:endParaRPr lang="en-US" altLang="zh-CN"/>
          </a:p>
          <a:p>
            <a:pPr lvl="1"/>
            <a:r>
              <a:rPr lang="en-US" altLang="zh-CN"/>
              <a:t>If leaf is full:</a:t>
            </a:r>
            <a:endParaRPr lang="en-US" altLang="zh-CN"/>
          </a:p>
          <a:p>
            <a:pPr lvl="2"/>
            <a:r>
              <a:rPr lang="en-US" altLang="zh-CN"/>
              <a:t>Split node (middle key moves up)</a:t>
            </a:r>
            <a:endParaRPr lang="en-US" altLang="zh-CN"/>
          </a:p>
          <a:p>
            <a:pPr lvl="2"/>
            <a:r>
              <a:rPr lang="en-US" altLang="zh-CN"/>
              <a:t>Recursively split upward</a:t>
            </a:r>
            <a:endParaRPr lang="en-US" altLang="zh-CN"/>
          </a:p>
          <a:p>
            <a:pPr lvl="2"/>
            <a:r>
              <a:rPr lang="en-US" altLang="zh-CN"/>
              <a:t>May increase tree height</a:t>
            </a:r>
            <a:endParaRPr lang="en-US" altLang="zh-CN"/>
          </a:p>
          <a:p>
            <a:pPr lvl="0"/>
            <a:r>
              <a:rPr lang="en-US" altLang="zh-CN"/>
              <a:t>Complexity: O(log_m n) disk accesses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3961" y="-20320"/>
            <a:ext cx="772399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Delete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Complex Case Handling:</a:t>
            </a:r>
            <a:endParaRPr lang="en-US" altLang="zh-CN"/>
          </a:p>
          <a:p>
            <a:pPr lvl="0"/>
            <a:r>
              <a:rPr lang="en-US" altLang="zh-CN"/>
              <a:t>Delete from leaf:</a:t>
            </a:r>
            <a:endParaRPr lang="en-US" altLang="zh-CN"/>
          </a:p>
          <a:p>
            <a:pPr lvl="1"/>
            <a:r>
              <a:rPr lang="en-US" altLang="zh-CN"/>
              <a:t>Direct deletion (if at least </a:t>
            </a:r>
            <a:r>
              <a:rPr lang="en-US" altLang="en-US"/>
              <a:t>⌈</a:t>
            </a:r>
            <a:r>
              <a:rPr lang="en-US" altLang="zh-CN"/>
              <a:t>m/2</a:t>
            </a:r>
            <a:r>
              <a:rPr lang="en-US" altLang="en-US"/>
              <a:t>⌉</a:t>
            </a:r>
            <a:r>
              <a:rPr lang="en-US" altLang="zh-CN"/>
              <a:t>-1 keys remain)</a:t>
            </a:r>
            <a:endParaRPr lang="en-US" altLang="zh-CN"/>
          </a:p>
          <a:p>
            <a:pPr lvl="1"/>
            <a:r>
              <a:rPr lang="en-US" altLang="zh-CN"/>
              <a:t>Otherwise borrow key from sibling</a:t>
            </a:r>
            <a:endParaRPr lang="en-US" altLang="zh-CN"/>
          </a:p>
          <a:p>
            <a:pPr lvl="1"/>
            <a:r>
              <a:rPr lang="en-US" altLang="zh-CN"/>
              <a:t>Or merge with sibling</a:t>
            </a:r>
            <a:endParaRPr lang="en-US" altLang="zh-CN"/>
          </a:p>
          <a:p>
            <a:r>
              <a:rPr lang="en-US" altLang="zh-CN"/>
              <a:t>Delete from internal node:</a:t>
            </a:r>
            <a:endParaRPr lang="en-US" altLang="zh-CN"/>
          </a:p>
          <a:p>
            <a:pPr lvl="1"/>
            <a:r>
              <a:rPr lang="en-US" altLang="zh-CN"/>
              <a:t>Replace with predecessor/successor</a:t>
            </a:r>
            <a:endParaRPr lang="en-US" altLang="zh-CN"/>
          </a:p>
          <a:p>
            <a:pPr lvl="1"/>
            <a:r>
              <a:rPr lang="en-US" altLang="zh-CN"/>
              <a:t>Recursively delete predecessor/successor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Complexity: O(log_m n)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71233" y="123190"/>
            <a:ext cx="703897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B+ Tree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Database Indexing Standard</a:t>
            </a:r>
            <a:endParaRPr lang="en-US" altLang="zh-CN"/>
          </a:p>
          <a:p>
            <a:r>
              <a:rPr lang="en-US" altLang="zh-CN"/>
              <a:t>Key Differences from B-tree:</a:t>
            </a:r>
            <a:endParaRPr lang="en-US" altLang="zh-CN"/>
          </a:p>
          <a:p>
            <a:pPr lvl="1"/>
            <a:r>
              <a:rPr lang="en-US" altLang="zh-CN"/>
              <a:t>Data stored only in leaf nodes</a:t>
            </a:r>
            <a:endParaRPr lang="en-US" altLang="zh-CN"/>
          </a:p>
          <a:p>
            <a:pPr lvl="1"/>
            <a:r>
              <a:rPr lang="en-US" altLang="zh-CN"/>
              <a:t>Leaf nodes form linked list</a:t>
            </a:r>
            <a:endParaRPr lang="en-US" altLang="zh-CN"/>
          </a:p>
          <a:p>
            <a:pPr lvl="1"/>
            <a:r>
              <a:rPr lang="en-US" altLang="zh-CN"/>
              <a:t>Internal nodes store only keys (no data)</a:t>
            </a:r>
            <a:endParaRPr lang="en-US" altLang="zh-CN"/>
          </a:p>
          <a:p>
            <a:r>
              <a:rPr lang="en-US" altLang="zh-CN"/>
              <a:t>Structural Advantages</a:t>
            </a:r>
            <a:endParaRPr lang="en-US" altLang="zh-CN"/>
          </a:p>
          <a:p>
            <a:pPr lvl="1"/>
            <a:r>
              <a:rPr lang="en-US" altLang="zh-CN"/>
              <a:t>Faster range queries</a:t>
            </a:r>
            <a:endParaRPr lang="en-US" altLang="zh-CN"/>
          </a:p>
          <a:p>
            <a:pPr lvl="1"/>
            <a:r>
              <a:rPr lang="en-US" altLang="zh-CN"/>
              <a:t>Higher fanout (more child nodes)</a:t>
            </a:r>
            <a:endParaRPr lang="en-US" altLang="zh-CN"/>
          </a:p>
          <a:p>
            <a:pPr lvl="1"/>
            <a:r>
              <a:rPr lang="en-US" altLang="zh-CN"/>
              <a:t>Optimized sequential access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Insert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Steps:</a:t>
            </a:r>
            <a:endParaRPr lang="en-US" altLang="zh-CN"/>
          </a:p>
          <a:p>
            <a:r>
              <a:rPr lang="en-US" altLang="zh-CN"/>
              <a:t>Find corresponding leaf node</a:t>
            </a:r>
            <a:endParaRPr lang="en-US" altLang="zh-CN"/>
          </a:p>
          <a:p>
            <a:r>
              <a:rPr lang="en-US" altLang="zh-CN"/>
              <a:t>If leaf not full </a:t>
            </a:r>
            <a:r>
              <a:rPr lang="en-US" altLang="en-US"/>
              <a:t>→</a:t>
            </a:r>
            <a:r>
              <a:rPr lang="en-US" altLang="zh-CN"/>
              <a:t> Insert in order</a:t>
            </a:r>
            <a:endParaRPr lang="en-US" altLang="zh-CN"/>
          </a:p>
          <a:p>
            <a:r>
              <a:rPr lang="en-US" altLang="zh-CN"/>
              <a:t>If leaf is full:</a:t>
            </a:r>
            <a:endParaRPr lang="en-US" altLang="zh-CN"/>
          </a:p>
          <a:p>
            <a:pPr lvl="1"/>
            <a:r>
              <a:rPr lang="en-US" altLang="zh-CN"/>
              <a:t>Split leaf node</a:t>
            </a:r>
            <a:endParaRPr lang="en-US" altLang="zh-CN"/>
          </a:p>
          <a:p>
            <a:pPr lvl="1"/>
            <a:r>
              <a:rPr lang="en-US" altLang="zh-CN"/>
              <a:t>Copy middle key to parent</a:t>
            </a:r>
            <a:endParaRPr lang="en-US" altLang="zh-CN"/>
          </a:p>
          <a:p>
            <a:pPr lvl="1"/>
            <a:r>
              <a:rPr lang="en-US" altLang="zh-CN"/>
              <a:t>Update leaf linked list pointers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Complexity: O(log_f n), where f is fanout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5560" y="483024"/>
            <a:ext cx="9144000" cy="45990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Delete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Steps:</a:t>
            </a:r>
            <a:endParaRPr lang="en-US" altLang="zh-CN"/>
          </a:p>
          <a:p>
            <a:pPr lvl="1"/>
            <a:r>
              <a:rPr lang="en-US" altLang="zh-CN"/>
              <a:t>Delete key from leaf node</a:t>
            </a:r>
            <a:endParaRPr lang="en-US" altLang="zh-CN"/>
          </a:p>
          <a:p>
            <a:pPr lvl="1"/>
            <a:r>
              <a:rPr lang="en-US" altLang="zh-CN"/>
              <a:t>If leaf node underflows:</a:t>
            </a:r>
            <a:endParaRPr lang="en-US" altLang="zh-CN"/>
          </a:p>
          <a:p>
            <a:pPr lvl="2"/>
            <a:r>
              <a:rPr lang="en-US" altLang="zh-CN"/>
              <a:t>Attempt redistribution from sibling</a:t>
            </a:r>
            <a:endParaRPr lang="en-US" altLang="zh-CN"/>
          </a:p>
          <a:p>
            <a:pPr lvl="2"/>
            <a:r>
              <a:rPr lang="en-US" altLang="zh-CN"/>
              <a:t>Or merge with sibling node</a:t>
            </a:r>
            <a:endParaRPr lang="en-US" altLang="zh-CN"/>
          </a:p>
          <a:p>
            <a:pPr lvl="1"/>
            <a:r>
              <a:rPr lang="en-US" altLang="zh-CN"/>
              <a:t>Update parent node keys</a:t>
            </a:r>
            <a:endParaRPr lang="en-US" altLang="zh-CN"/>
          </a:p>
          <a:p>
            <a:r>
              <a:rPr lang="en-US" altLang="zh-CN"/>
              <a:t>Note: Deletion may propagate to root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71550" y="-2032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Insert/Delete Complexity Comparison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800"/>
              <a:t>Time Complexity</a:t>
            </a:r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  <a:p>
            <a:r>
              <a:rPr lang="en-US" altLang="zh-CN" sz="1800"/>
              <a:t>Disk I/O Complexity</a:t>
            </a:r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  <a:p>
            <a:r>
              <a:rPr lang="en-US" altLang="zh-CN" sz="1800"/>
              <a:t>Key Insight: B-tree/B+ Tree have larger log base, significantly reducing disk access</a:t>
            </a:r>
            <a:endParaRPr lang="en-US" altLang="zh-CN" sz="1800"/>
          </a:p>
          <a:p>
            <a:endParaRPr lang="en-US" altLang="zh-CN" sz="1800"/>
          </a:p>
          <a:p>
            <a:endParaRPr lang="en-US" altLang="zh-CN" sz="1800"/>
          </a:p>
        </p:txBody>
      </p:sp>
      <p:graphicFrame>
        <p:nvGraphicFramePr>
          <p:cNvPr id="4" name="表格 3"/>
          <p:cNvGraphicFramePr/>
          <p:nvPr/>
        </p:nvGraphicFramePr>
        <p:xfrm>
          <a:off x="611505" y="1203325"/>
          <a:ext cx="7863840" cy="0"/>
        </p:xfrm>
        <a:graphic>
          <a:graphicData uri="http://schemas.openxmlformats.org/drawingml/2006/table">
            <a:tbl>
              <a:tblPr firstRow="1">
                <a:tableStyleId>{2DBC08B4-9CDB-401B-9AAB-D2F2245160EA}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Structure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Insert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Delete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Balance Maintenance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BST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O(n)-O(log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O(n)-O(log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None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AVL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Strict, frequent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B-tree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O(log_m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O(log_m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Node split/merge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B+ Tree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O(log_f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O(log_f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Similar to B-tree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40080" y="3362960"/>
          <a:ext cx="7863840" cy="0"/>
        </p:xfrm>
        <a:graphic>
          <a:graphicData uri="http://schemas.openxmlformats.org/drawingml/2006/table">
            <a:tbl>
              <a:tblPr firstRow="1">
                <a:tableStyleId>{A3194E0C-DD0F-4DCA-AE6A-100B220091C9}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Structure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Insert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Delete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Practical Consideration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BST/AVL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High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High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Suitable for memory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B-tree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O(log_m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O(log_m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m typically 100-200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B+ Tree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O(log_f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O(log_f n)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f typically 200-500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Why Concurrency Control?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400"/>
              <a:t>Advantages of Concurrent Transactions</a:t>
            </a:r>
            <a:endParaRPr lang="en-US" altLang="zh-CN" sz="1400"/>
          </a:p>
          <a:p>
            <a:pPr lvl="1"/>
            <a:r>
              <a:rPr lang="en-US" altLang="en-US" sz="1400"/>
              <a:t>✅</a:t>
            </a:r>
            <a:r>
              <a:rPr lang="en-US" altLang="zh-CN" sz="1400"/>
              <a:t> Increased System Throughput: Full utilization of system resources</a:t>
            </a:r>
            <a:endParaRPr lang="en-US" altLang="zh-CN" sz="1400"/>
          </a:p>
          <a:p>
            <a:pPr lvl="1"/>
            <a:r>
              <a:rPr lang="en-US" altLang="en-US" sz="1400"/>
              <a:t>✅</a:t>
            </a:r>
            <a:r>
              <a:rPr lang="en-US" altLang="zh-CN" sz="1400"/>
              <a:t> Reduced Wait Times: Users don't wait sequentially</a:t>
            </a:r>
            <a:endParaRPr lang="en-US" altLang="zh-CN" sz="1400"/>
          </a:p>
          <a:p>
            <a:pPr lvl="1"/>
            <a:r>
              <a:rPr lang="en-US" altLang="en-US" sz="1400"/>
              <a:t>✅</a:t>
            </a:r>
            <a:r>
              <a:rPr lang="en-US" altLang="zh-CN" sz="1400"/>
              <a:t> Improved Resource Utilization: Parallel CPU and I/O operations</a:t>
            </a:r>
            <a:endParaRPr lang="en-US" altLang="zh-CN" sz="1400"/>
          </a:p>
          <a:p>
            <a:r>
              <a:rPr lang="en-US" altLang="zh-CN" sz="1400"/>
              <a:t>Challenges Brought by Concurrency</a:t>
            </a:r>
            <a:endParaRPr lang="en-US" altLang="zh-CN" sz="1400"/>
          </a:p>
          <a:p>
            <a:pPr lvl="1"/>
            <a:r>
              <a:rPr lang="en-US" altLang="en-US" sz="1400"/>
              <a:t>❌</a:t>
            </a:r>
            <a:r>
              <a:rPr lang="en-US" altLang="zh-CN" sz="1400"/>
              <a:t> Risk of Data Inconsistency</a:t>
            </a:r>
            <a:endParaRPr lang="en-US" altLang="zh-CN" sz="1400"/>
          </a:p>
          <a:p>
            <a:pPr lvl="1"/>
            <a:r>
              <a:rPr lang="en-US" altLang="en-US" sz="1400"/>
              <a:t>❌</a:t>
            </a:r>
            <a:r>
              <a:rPr lang="en-US" altLang="zh-CN" sz="1400"/>
              <a:t> Violation of Transaction ACID Properties</a:t>
            </a:r>
            <a:endParaRPr lang="en-US" altLang="zh-CN" sz="1400"/>
          </a:p>
          <a:p>
            <a:pPr lvl="1"/>
            <a:r>
              <a:rPr lang="en-US" altLang="en-US" sz="1400"/>
              <a:t>❌</a:t>
            </a:r>
            <a:r>
              <a:rPr lang="en-US" altLang="zh-CN" sz="1400"/>
              <a:t> Unpredictable Results</a:t>
            </a:r>
            <a:endParaRPr lang="en-US" altLang="zh-CN" sz="1400"/>
          </a:p>
          <a:p>
            <a:r>
              <a:rPr lang="en-US" altLang="zh-CN" sz="1400"/>
              <a:t>The Importance of Isolation</a:t>
            </a:r>
            <a:endParaRPr lang="en-US" altLang="zh-CN" sz="1400"/>
          </a:p>
          <a:p>
            <a:pPr lvl="1"/>
            <a:r>
              <a:rPr lang="en-US" altLang="zh-CN" sz="1400"/>
              <a:t>"Isolation ensures concurrently executing transactions appear as if they executed serially"</a:t>
            </a:r>
            <a:endParaRPr lang="en-US" altLang="zh-CN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 One: Dirty Read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900"/>
              <a:t>What is a Dirty Read?</a:t>
            </a:r>
            <a:endParaRPr lang="en-US" altLang="zh-CN" sz="900"/>
          </a:p>
          <a:p>
            <a:pPr lvl="1"/>
            <a:r>
              <a:rPr lang="en-US" altLang="zh-CN" sz="900"/>
              <a:t>Definition: Transaction A reads data modified by Transaction B that is uncommitted</a:t>
            </a:r>
            <a:endParaRPr lang="en-US" altLang="zh-CN" sz="900"/>
          </a:p>
          <a:p>
            <a:pPr lvl="1"/>
            <a:r>
              <a:rPr lang="en-US" altLang="zh-CN" sz="900"/>
              <a:t>Key Characteristic: The read data may be rolled back, never truly existing</a:t>
            </a:r>
            <a:endParaRPr lang="en-US" altLang="zh-CN" sz="900"/>
          </a:p>
          <a:p>
            <a:r>
              <a:rPr lang="en-US" altLang="zh-CN" sz="900"/>
              <a:t>Scenario Simulation</a:t>
            </a:r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r>
              <a:rPr lang="en-US" altLang="zh-CN" sz="900"/>
              <a:t>Result: Transaction B sees data that never truly happened</a:t>
            </a:r>
            <a:endParaRPr lang="en-US" altLang="zh-CN" sz="900"/>
          </a:p>
          <a:p>
            <a:r>
              <a:rPr lang="en-US" altLang="zh-CN" sz="900"/>
              <a:t>Harm Analysis</a:t>
            </a:r>
            <a:endParaRPr lang="en-US" altLang="zh-CN" sz="900"/>
          </a:p>
          <a:p>
            <a:pPr lvl="1"/>
            <a:r>
              <a:rPr lang="en-US" altLang="zh-CN" sz="900"/>
              <a:t>Business decisions based on erroneous data</a:t>
            </a:r>
            <a:endParaRPr lang="en-US" altLang="zh-CN" sz="900"/>
          </a:p>
          <a:p>
            <a:pPr lvl="1"/>
            <a:r>
              <a:rPr lang="en-US" altLang="zh-CN" sz="900"/>
              <a:t>Complete breakdown of data consistency</a:t>
            </a:r>
            <a:endParaRPr lang="en-US" altLang="zh-CN" sz="900"/>
          </a:p>
          <a:p>
            <a:pPr lvl="1"/>
            <a:r>
              <a:rPr lang="en-US" altLang="zh-CN" sz="900"/>
              <a:t>Violates the basic atomicity of transactions</a:t>
            </a:r>
            <a:endParaRPr lang="en-US" altLang="zh-CN" sz="9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1851660"/>
            <a:ext cx="5405755" cy="17443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 Two: Non-repeatable Read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900"/>
              <a:t>What is a Non-repeatable Read?</a:t>
            </a:r>
            <a:endParaRPr lang="en-US" altLang="zh-CN" sz="900"/>
          </a:p>
          <a:p>
            <a:pPr lvl="1"/>
            <a:r>
              <a:rPr lang="en-US" altLang="zh-CN" sz="900"/>
              <a:t>Definition: Within the same transaction, two reads of the same data yield different results</a:t>
            </a:r>
            <a:endParaRPr lang="en-US" altLang="zh-CN" sz="900"/>
          </a:p>
          <a:p>
            <a:pPr lvl="1"/>
            <a:r>
              <a:rPr lang="en-US" altLang="zh-CN" sz="900"/>
              <a:t>Key Characteristic: Data is modified and committed by another transaction during the transaction's execution</a:t>
            </a:r>
            <a:endParaRPr lang="en-US" altLang="zh-CN" sz="900"/>
          </a:p>
          <a:p>
            <a:r>
              <a:rPr lang="en-US" altLang="zh-CN" sz="900"/>
              <a:t>Scenario Simulation</a:t>
            </a:r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endParaRPr lang="en-US" altLang="zh-CN" sz="900"/>
          </a:p>
          <a:p>
            <a:r>
              <a:rPr lang="en-US" altLang="zh-CN" sz="900"/>
              <a:t>Result: Transaction A sees external changes during its own execution</a:t>
            </a:r>
            <a:endParaRPr lang="en-US" altLang="zh-CN" sz="900"/>
          </a:p>
          <a:p>
            <a:r>
              <a:rPr lang="en-US" altLang="zh-CN" sz="900"/>
              <a:t>Harm Analysis</a:t>
            </a:r>
            <a:endParaRPr lang="en-US" altLang="zh-CN" sz="900"/>
          </a:p>
          <a:p>
            <a:pPr lvl="1"/>
            <a:r>
              <a:rPr lang="en-US" altLang="zh-CN" sz="900"/>
              <a:t>Logical judgments within the same transaction become invalid</a:t>
            </a:r>
            <a:endParaRPr lang="en-US" altLang="zh-CN" sz="900"/>
          </a:p>
          <a:p>
            <a:pPr lvl="1"/>
            <a:r>
              <a:rPr lang="en-US" altLang="zh-CN" sz="900"/>
              <a:t>Inaccurate statistical calculations</a:t>
            </a:r>
            <a:endParaRPr lang="en-US" altLang="zh-CN" sz="900"/>
          </a:p>
          <a:p>
            <a:pPr lvl="1"/>
            <a:r>
              <a:rPr lang="en-US" altLang="zh-CN" sz="900"/>
              <a:t>Violates business requirements for "repeatable reads"</a:t>
            </a:r>
            <a:endParaRPr lang="en-US" altLang="zh-CN" sz="9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1491615"/>
            <a:ext cx="4173855" cy="22390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 Three: Phantom Read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900"/>
              <a:t>What is a Phantom Read?</a:t>
            </a:r>
            <a:endParaRPr lang="en-US" altLang="zh-CN" sz="900"/>
          </a:p>
          <a:p>
            <a:pPr lvl="1"/>
            <a:r>
              <a:rPr lang="en-US" altLang="zh-CN" sz="900"/>
              <a:t>Definition: Within the same transaction, two identical range queries return a different number of rows</a:t>
            </a:r>
            <a:endParaRPr lang="en-US" altLang="zh-CN" sz="900"/>
          </a:p>
          <a:p>
            <a:pPr lvl="1"/>
            <a:r>
              <a:rPr lang="en-US" altLang="zh-CN" sz="900"/>
              <a:t>Key Characteristic: Other transactions insert or delete data within the range</a:t>
            </a:r>
            <a:endParaRPr lang="en-US" altLang="zh-CN" sz="900"/>
          </a:p>
          <a:p>
            <a:r>
              <a:rPr lang="en-US" altLang="zh-CN" sz="900"/>
              <a:t>Scenario Simulation</a:t>
            </a:r>
            <a:endParaRPr lang="en-US" altLang="zh-CN" sz="900"/>
          </a:p>
          <a:p>
            <a:pPr lvl="0"/>
            <a:endParaRPr lang="en-US" altLang="zh-CN" sz="900"/>
          </a:p>
          <a:p>
            <a:pPr lvl="0"/>
            <a:endParaRPr lang="en-US" altLang="zh-CN" sz="900"/>
          </a:p>
          <a:p>
            <a:pPr lvl="0"/>
            <a:endParaRPr lang="en-US" altLang="zh-CN" sz="900"/>
          </a:p>
          <a:p>
            <a:pPr lvl="0"/>
            <a:endParaRPr lang="en-US" altLang="zh-CN" sz="900"/>
          </a:p>
          <a:p>
            <a:pPr lvl="0"/>
            <a:endParaRPr lang="en-US" altLang="zh-CN" sz="900"/>
          </a:p>
          <a:p>
            <a:pPr lvl="0"/>
            <a:r>
              <a:rPr lang="en-US" altLang="zh-CN" sz="900"/>
              <a:t>Result: Transaction A sees rows that "magically appear" or "mysteriously disappear"</a:t>
            </a:r>
            <a:endParaRPr lang="en-US" altLang="zh-CN" sz="900"/>
          </a:p>
          <a:p>
            <a:pPr lvl="0"/>
            <a:r>
              <a:rPr lang="en-US" altLang="zh-CN" sz="900"/>
              <a:t>Difference from Non-repeatable Read</a:t>
            </a:r>
            <a:endParaRPr lang="en-US" altLang="zh-CN" sz="900"/>
          </a:p>
        </p:txBody>
      </p:sp>
      <p:graphicFrame>
        <p:nvGraphicFramePr>
          <p:cNvPr id="4" name="表格 3"/>
          <p:cNvGraphicFramePr/>
          <p:nvPr/>
        </p:nvGraphicFramePr>
        <p:xfrm>
          <a:off x="467360" y="3867785"/>
          <a:ext cx="7863840" cy="0"/>
        </p:xfrm>
        <a:graphic>
          <a:graphicData uri="http://schemas.openxmlformats.org/drawingml/2006/table">
            <a:tbl>
              <a:tblPr firstRow="1">
                <a:tableStyleId>{6A6DA15A-9EAA-4813-959A-C2B3A4C1012E}</a:tableStyleId>
              </a:tblPr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Aspect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Non-repeatable Read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Phantom Read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Target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Existing rows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New rows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Operation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UPDATE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INSERT/DELETE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Focus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Data content change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Data set change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925" y="1491615"/>
            <a:ext cx="3814445" cy="1908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 Four: Lost Update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200"/>
              <a:t>What is a Lost Update?</a:t>
            </a:r>
            <a:endParaRPr lang="en-US" altLang="zh-CN" sz="1200"/>
          </a:p>
          <a:p>
            <a:pPr lvl="1"/>
            <a:r>
              <a:rPr lang="en-US" altLang="zh-CN" sz="1200"/>
              <a:t>Definition: Two transactions modify the same data simultaneously, with the later commit overwriting the earlier one</a:t>
            </a:r>
            <a:endParaRPr lang="en-US" altLang="zh-CN" sz="1200"/>
          </a:p>
          <a:p>
            <a:pPr lvl="1"/>
            <a:r>
              <a:rPr lang="en-US" altLang="zh-CN" sz="1200"/>
              <a:t>Key Characteristic: The earlier commit's modifications are "silently" lost</a:t>
            </a:r>
            <a:endParaRPr lang="en-US" altLang="zh-CN" sz="1200"/>
          </a:p>
          <a:p>
            <a:r>
              <a:rPr lang="en-US" altLang="zh-CN" sz="1200"/>
              <a:t>Scenario Simulation </a:t>
            </a:r>
            <a:endParaRPr lang="en-US" altLang="zh-CN" sz="1200"/>
          </a:p>
          <a:p>
            <a:r>
              <a:rPr lang="en-US" altLang="zh-CN" sz="1200"/>
              <a:t>Final Result: quantity = 8 (Transaction A's deduction is completely overwritten)</a:t>
            </a:r>
            <a:endParaRPr lang="en-US" altLang="zh-CN" sz="1200"/>
          </a:p>
          <a:p>
            <a:r>
              <a:rPr lang="en-US" altLang="zh-CN" sz="1200"/>
              <a:t>Two Types of Lost Update</a:t>
            </a:r>
            <a:endParaRPr lang="en-US" altLang="zh-CN" sz="1200"/>
          </a:p>
          <a:p>
            <a:pPr lvl="1"/>
            <a:r>
              <a:rPr lang="en-US" altLang="zh-CN" sz="1200"/>
              <a:t>First Lost Update (Rollback Overwrite)</a:t>
            </a:r>
            <a:endParaRPr lang="en-US" altLang="zh-CN" sz="1200"/>
          </a:p>
          <a:p>
            <a:pPr lvl="2"/>
            <a:r>
              <a:rPr lang="en-US" altLang="zh-CN" sz="1200"/>
              <a:t>Transaction A overwrites Transaction B's update upon rollback</a:t>
            </a:r>
            <a:endParaRPr lang="en-US" altLang="zh-CN" sz="1200"/>
          </a:p>
          <a:p>
            <a:pPr lvl="2"/>
            <a:r>
              <a:rPr lang="en-US" altLang="zh-CN" sz="1200"/>
              <a:t>Mostly solved in modern databases</a:t>
            </a:r>
            <a:endParaRPr lang="en-US" altLang="zh-CN" sz="1200"/>
          </a:p>
          <a:p>
            <a:pPr lvl="1"/>
            <a:r>
              <a:rPr lang="en-US" altLang="zh-CN" sz="1200"/>
              <a:t>Second Lost Update (Commit Overwrite)</a:t>
            </a:r>
            <a:endParaRPr lang="en-US" altLang="zh-CN" sz="1200"/>
          </a:p>
          <a:p>
            <a:pPr lvl="2"/>
            <a:r>
              <a:rPr lang="en-US" altLang="zh-CN" sz="1200"/>
              <a:t>Later-committing transaction overwrites earlier-committing transaction</a:t>
            </a:r>
            <a:endParaRPr lang="en-US" altLang="zh-CN" sz="1200"/>
          </a:p>
          <a:p>
            <a:pPr lvl="2"/>
            <a:r>
              <a:rPr lang="en-US" altLang="zh-CN" sz="1200"/>
              <a:t>Most common business problem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945" y="1707515"/>
            <a:ext cx="3832225" cy="16535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/>
              <a:t>Solution Framework: Isolation Levels</a:t>
            </a:r>
            <a:endParaRPr lang="en-US" altLang="zh-CN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Problems Solved at Each Level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 sz="1200"/>
              <a:t>*Note: Most databases also prevent phantom reads at Repeatable Read level (e.g., MySQL InnoDB)</a:t>
            </a:r>
            <a:endParaRPr lang="en-US" altLang="zh-CN" sz="1200"/>
          </a:p>
        </p:txBody>
      </p:sp>
      <p:graphicFrame>
        <p:nvGraphicFramePr>
          <p:cNvPr id="4" name="表格 3"/>
          <p:cNvGraphicFramePr/>
          <p:nvPr/>
        </p:nvGraphicFramePr>
        <p:xfrm>
          <a:off x="641350" y="1778000"/>
          <a:ext cx="7861300" cy="0"/>
        </p:xfrm>
        <a:graphic>
          <a:graphicData uri="http://schemas.openxmlformats.org/drawingml/2006/table">
            <a:tbl>
              <a:tblPr firstRow="1">
                <a:tableStyleId>{8A98333D-2DAA-4F6F-BDF5-64740725A096}</a:tableStyleId>
              </a:tblPr>
              <a:tblGrid>
                <a:gridCol w="1572260"/>
                <a:gridCol w="1572260"/>
                <a:gridCol w="1572260"/>
                <a:gridCol w="1572260"/>
                <a:gridCol w="157226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Isolation Level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Dirty Read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Non-repeatable Read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Phantom Read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Performance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Read Uncommitted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⭐⭐⭐⭐⭐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Read Committed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⭐⭐⭐⭐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Repeatable Read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❌ Allowed*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⭐⭐⭐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Serializable</a:t>
                      </a:r>
                      <a:endParaRPr lang="en-US" altLang="zh-CN" sz="11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✅ Prevented</a:t>
                      </a:r>
                      <a:endParaRPr lang="en-US" altLang="zh-CN" sz="11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100"/>
                        <a:t>⭐</a:t>
                      </a:r>
                      <a:endParaRPr lang="en-US" altLang="zh-CN" sz="11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Summary and Best Practices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600"/>
              <a:t>Core Principles Review</a:t>
            </a:r>
            <a:endParaRPr lang="en-US" altLang="zh-CN" sz="1600"/>
          </a:p>
          <a:p>
            <a:pPr lvl="1"/>
            <a:r>
              <a:rPr lang="en-US" altLang="zh-CN" sz="1600"/>
              <a:t>No Perfect Solution: Trade-off between isolation and performance</a:t>
            </a:r>
            <a:endParaRPr lang="en-US" altLang="zh-CN" sz="1600"/>
          </a:p>
          <a:p>
            <a:pPr lvl="1"/>
            <a:r>
              <a:rPr lang="en-US" altLang="zh-CN" sz="1600"/>
              <a:t>Understand Business Requirements: Choose isolation level based on application scenario</a:t>
            </a:r>
            <a:endParaRPr lang="en-US" altLang="zh-CN" sz="1600"/>
          </a:p>
          <a:p>
            <a:pPr lvl="1"/>
            <a:r>
              <a:rPr lang="en-US" altLang="zh-CN" sz="1600"/>
              <a:t>Know Database Characteristics: Different databases have different implementations</a:t>
            </a:r>
            <a:endParaRPr lang="en-US" altLang="zh-CN" sz="1600"/>
          </a:p>
          <a:p>
            <a:r>
              <a:rPr lang="en-US" altLang="zh-CN" sz="1600"/>
              <a:t>Isolation Level Selection Guide</a:t>
            </a:r>
            <a:endParaRPr lang="en-US" altLang="zh-CN" sz="1600"/>
          </a:p>
          <a:p>
            <a:pPr lvl="1"/>
            <a:r>
              <a:rPr lang="en-US" altLang="zh-CN" sz="1600"/>
              <a:t>Data Warehouse/Reporting Systems </a:t>
            </a:r>
            <a:r>
              <a:rPr lang="en-US" altLang="en-US" sz="1600"/>
              <a:t>→</a:t>
            </a:r>
            <a:r>
              <a:rPr lang="en-US" altLang="zh-CN" sz="1600"/>
              <a:t> READ UNCOMMITTED or READ COMMITTED</a:t>
            </a:r>
            <a:endParaRPr lang="en-US" altLang="zh-CN" sz="1600"/>
          </a:p>
          <a:p>
            <a:pPr lvl="1"/>
            <a:r>
              <a:rPr lang="en-US" altLang="zh-CN" sz="1600"/>
              <a:t>Most OLTP Applications </a:t>
            </a:r>
            <a:r>
              <a:rPr lang="en-US" altLang="en-US" sz="1600"/>
              <a:t>→</a:t>
            </a:r>
            <a:r>
              <a:rPr lang="en-US" altLang="zh-CN" sz="1600"/>
              <a:t> READ COMMITTED (balanced choice)</a:t>
            </a:r>
            <a:endParaRPr lang="en-US" altLang="zh-CN" sz="1600"/>
          </a:p>
          <a:p>
            <a:pPr lvl="1"/>
            <a:r>
              <a:rPr lang="en-US" altLang="zh-CN" sz="1600"/>
              <a:t>Financial/Accounting Systems </a:t>
            </a:r>
            <a:r>
              <a:rPr lang="en-US" altLang="en-US" sz="1600"/>
              <a:t>→</a:t>
            </a:r>
            <a:r>
              <a:rPr lang="en-US" altLang="zh-CN" sz="1600"/>
              <a:t> REPEATABLE READ or SERIALIZABLE</a:t>
            </a:r>
            <a:endParaRPr lang="en-US" altLang="zh-CN" sz="1600"/>
          </a:p>
          <a:p>
            <a:pPr lvl="1"/>
            <a:r>
              <a:rPr lang="en-US" altLang="zh-CN" sz="1600"/>
              <a:t>Requiring Highest Consistency </a:t>
            </a:r>
            <a:r>
              <a:rPr lang="en-US" altLang="en-US" sz="1600"/>
              <a:t>→</a:t>
            </a:r>
            <a:r>
              <a:rPr lang="en-US" altLang="zh-CN" sz="1600"/>
              <a:t> SERIALIZABLE (consider performance impact)</a:t>
            </a:r>
            <a:endParaRPr lang="en-US" altLang="zh-CN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Core Mechanism: Locks*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Isolation is primarily achieved through locking:</a:t>
            </a:r>
            <a:endParaRPr lang="en-US" altLang="zh-CN"/>
          </a:p>
          <a:p>
            <a:pPr lvl="1"/>
            <a:r>
              <a:rPr lang="en-US" altLang="zh-CN"/>
              <a:t>Shared Lock (S Lock): Read lock, allows concurrent reads</a:t>
            </a:r>
            <a:endParaRPr lang="en-US" altLang="zh-CN"/>
          </a:p>
          <a:p>
            <a:pPr lvl="1"/>
            <a:r>
              <a:rPr lang="en-US" altLang="zh-CN"/>
              <a:t>Exclusive Lock (X Lock): Write lock, blocks all other access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95805"/>
            <a:ext cx="5168900" cy="30156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1"/>
            <a:r>
              <a:rPr lang="en-US" altLang="zh-CN">
                <a:sym typeface="+mn-ea"/>
              </a:rPr>
              <a:t>Two-Phase Locking (2PL): Acquire phase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release phase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87450" y="1203325"/>
            <a:ext cx="6543040" cy="3604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Core Mechanism: MVCC (Multi-Version Concurrency Control)*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 altLang="zh-CN"/>
              <a:t>Each write creates a new row version</a:t>
            </a:r>
            <a:endParaRPr lang="en-US" altLang="zh-CN"/>
          </a:p>
          <a:p>
            <a:pPr lvl="1"/>
            <a:r>
              <a:rPr lang="en-US" altLang="zh-CN"/>
              <a:t>Reads obtain a “snapshot,” so they don’t block writes</a:t>
            </a:r>
            <a:endParaRPr lang="en-US" altLang="zh-CN"/>
          </a:p>
          <a:p>
            <a:pPr lvl="1"/>
            <a:r>
              <a:rPr lang="en-US" altLang="zh-CN"/>
              <a:t>Write-write conflicts still require locks</a:t>
            </a:r>
            <a:endParaRPr lang="en-US" altLang="zh-CN"/>
          </a:p>
          <a:p>
            <a:pPr lvl="1"/>
            <a:r>
              <a:rPr lang="en-US" altLang="zh-CN"/>
              <a:t>Used in PostgreSQL, MySQL InnoDB, Oracle, etc.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Pros: Read–write operations rarely block</a:t>
            </a:r>
            <a:endParaRPr lang="en-US" altLang="zh-CN"/>
          </a:p>
          <a:p>
            <a:r>
              <a:rPr lang="en-US" altLang="zh-CN"/>
              <a:t>Cons: Old versions must be cleaned up (GC / Vacuum)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How Read Uncommitted Is Implemented*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Characteristics: Allows reading uncommitted data</a:t>
            </a:r>
            <a:endParaRPr lang="en-US" altLang="zh-CN"/>
          </a:p>
          <a:p>
            <a:r>
              <a:rPr lang="en-US" altLang="zh-CN"/>
              <a:t>Implementation:</a:t>
            </a:r>
            <a:endParaRPr lang="en-US" altLang="zh-CN"/>
          </a:p>
          <a:p>
            <a:pPr lvl="1"/>
            <a:r>
              <a:rPr lang="en-US" altLang="zh-CN"/>
              <a:t>Reads do not take S locks</a:t>
            </a:r>
            <a:endParaRPr lang="en-US" altLang="zh-CN"/>
          </a:p>
          <a:p>
            <a:pPr lvl="1"/>
            <a:r>
              <a:rPr lang="en-US" altLang="zh-CN"/>
              <a:t>Reads may view the latest version directly</a:t>
            </a:r>
            <a:endParaRPr lang="en-US" altLang="zh-CN"/>
          </a:p>
          <a:p>
            <a:pPr lvl="1"/>
            <a:r>
              <a:rPr lang="en-US" altLang="zh-CN"/>
              <a:t>Writes take X locks but do not block reads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How Read Committed Works*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Goal: Prevent Dirty Reads</a:t>
            </a:r>
            <a:endParaRPr lang="en-US" altLang="zh-CN"/>
          </a:p>
          <a:p>
            <a:r>
              <a:rPr lang="en-US" altLang="zh-CN"/>
              <a:t>Implementation:</a:t>
            </a:r>
            <a:endParaRPr lang="en-US" altLang="zh-CN"/>
          </a:p>
          <a:p>
            <a:pPr lvl="1"/>
            <a:r>
              <a:rPr lang="en-US" altLang="zh-CN"/>
              <a:t>Each SELECT reads the latest committed version (MVCC snapshot)</a:t>
            </a:r>
            <a:endParaRPr lang="en-US" altLang="zh-CN"/>
          </a:p>
          <a:p>
            <a:pPr lvl="1"/>
            <a:r>
              <a:rPr lang="en-US" altLang="zh-CN"/>
              <a:t>A new snapshot is taken for every statement</a:t>
            </a:r>
            <a:endParaRPr lang="en-US" altLang="zh-CN"/>
          </a:p>
          <a:p>
            <a:pPr lvl="1"/>
            <a:r>
              <a:rPr lang="en-US" altLang="zh-CN"/>
              <a:t>Writes hold X locks until commit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Outcome:</a:t>
            </a:r>
            <a:endParaRPr lang="en-US" altLang="zh-CN"/>
          </a:p>
          <a:p>
            <a:pPr lvl="1"/>
            <a:r>
              <a:rPr lang="en-US" altLang="zh-CN"/>
              <a:t>No Dirty Reads</a:t>
            </a:r>
            <a:endParaRPr lang="en-US" altLang="zh-CN"/>
          </a:p>
          <a:p>
            <a:pPr lvl="1"/>
            <a:r>
              <a:rPr lang="en-US" altLang="zh-CN"/>
              <a:t>But Non-repeatable Reads can occur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Repeatable Read Implementation*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Goal: Data read once remains stable</a:t>
            </a:r>
            <a:endParaRPr lang="en-US" altLang="zh-CN"/>
          </a:p>
          <a:p>
            <a:r>
              <a:rPr lang="en-US" altLang="zh-CN"/>
              <a:t>Implementation varies by DBMS:</a:t>
            </a:r>
            <a:endParaRPr lang="en-US" altLang="zh-CN"/>
          </a:p>
          <a:p>
            <a:pPr lvl="1"/>
            <a:r>
              <a:rPr lang="en-US" altLang="zh-CN"/>
              <a:t>MySQL InnoDB (Important Case)</a:t>
            </a:r>
            <a:endParaRPr lang="en-US" altLang="zh-CN"/>
          </a:p>
          <a:p>
            <a:pPr lvl="1"/>
            <a:r>
              <a:rPr lang="en-US" altLang="zh-CN"/>
              <a:t>Snapshot created at transaction start</a:t>
            </a:r>
            <a:endParaRPr lang="en-US" altLang="zh-CN"/>
          </a:p>
          <a:p>
            <a:pPr lvl="1"/>
            <a:r>
              <a:rPr lang="en-US" altLang="zh-CN"/>
              <a:t>All SELECTs read from the same snapshot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How Serializable Is Implemented*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Strictest level</a:t>
            </a:r>
            <a:endParaRPr lang="en-US" altLang="zh-CN"/>
          </a:p>
          <a:p>
            <a:r>
              <a:rPr lang="en-US" altLang="zh-CN"/>
              <a:t>Common approaches:</a:t>
            </a:r>
            <a:endParaRPr lang="en-US" altLang="zh-CN"/>
          </a:p>
          <a:p>
            <a:r>
              <a:rPr lang="en-US" altLang="zh-CN"/>
              <a:t>Strict Two-Phase Locking (2PL)</a:t>
            </a:r>
            <a:endParaRPr lang="en-US" altLang="zh-CN"/>
          </a:p>
          <a:p>
            <a:pPr lvl="1"/>
            <a:r>
              <a:rPr lang="en-US" altLang="zh-CN"/>
              <a:t>All reads/writes acquire locks</a:t>
            </a:r>
            <a:endParaRPr lang="en-US" altLang="zh-CN"/>
          </a:p>
          <a:p>
            <a:r>
              <a:rPr lang="en-US" altLang="zh-CN"/>
              <a:t>Prevents all anomalies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But significantly reduces concurrency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Bye~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679700" y="1428750"/>
            <a:ext cx="3403600" cy="1905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678*210"/>
  <p:tag name="TABLE_ENDDRAG_RECT" val="31*72*678*210"/>
</p:tagLst>
</file>

<file path=ppt/tags/tag6.xml><?xml version="1.0" encoding="utf-8"?>
<p:tagLst xmlns:p="http://schemas.openxmlformats.org/presentationml/2006/main">
  <p:tag name="COMMONDATA" val="eyJoZGlkIjoiNTdiYTc4YjQwNjJlY2Q3MjUyYzQxMGNmZGE3NjA0ZDIifQ=="/>
  <p:tag name="resource_record_key" val="{&quot;29&quot;:[50000049]}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10747</Words>
  <Application>WPS 演示</Application>
  <PresentationFormat>全屏显示(16:9)</PresentationFormat>
  <Paragraphs>624</Paragraphs>
  <Slides>40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微软雅黑</vt:lpstr>
      <vt:lpstr>Arial Unicode MS</vt:lpstr>
      <vt:lpstr>Oxford Regular</vt:lpstr>
      <vt:lpstr>Sweetie</vt:lpstr>
      <vt:lpstr>Garamond</vt:lpstr>
      <vt:lpstr>quote-cjk-patch</vt:lpstr>
      <vt:lpstr>23_ClassicWhite</vt:lpstr>
      <vt:lpstr>DTS207TC Database Development and Design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Problem Context</vt:lpstr>
      <vt:lpstr>Binary Search Tree (BST)</vt:lpstr>
      <vt:lpstr>Delete Operation</vt:lpstr>
      <vt:lpstr>AVL Tree</vt:lpstr>
      <vt:lpstr>Self-Balancing BST</vt:lpstr>
      <vt:lpstr>Delete Operation</vt:lpstr>
      <vt:lpstr>PowerPoint 演示文稿</vt:lpstr>
      <vt:lpstr>B-tree</vt:lpstr>
      <vt:lpstr>Insert Operation</vt:lpstr>
      <vt:lpstr>PowerPoint 演示文稿</vt:lpstr>
      <vt:lpstr>Delete Operation</vt:lpstr>
      <vt:lpstr>PowerPoint 演示文稿</vt:lpstr>
      <vt:lpstr>B+ Tree</vt:lpstr>
      <vt:lpstr>Insert Operation</vt:lpstr>
      <vt:lpstr>PowerPoint 演示文稿</vt:lpstr>
      <vt:lpstr>Delete Operation</vt:lpstr>
      <vt:lpstr>PowerPoint 演示文稿</vt:lpstr>
      <vt:lpstr>Insert/Delete Complexity Comparison</vt:lpstr>
      <vt:lpstr>Why Concurrency Control?</vt:lpstr>
      <vt:lpstr>Problem One: Dirty Read</vt:lpstr>
      <vt:lpstr>Problem Two: Non-repeatable Read</vt:lpstr>
      <vt:lpstr>Problem Three: Phantom Read</vt:lpstr>
      <vt:lpstr>Problem Four: Lost Update</vt:lpstr>
      <vt:lpstr>Solution Framework: Isolation Levels</vt:lpstr>
      <vt:lpstr>Summary and Best Practices</vt:lpstr>
      <vt:lpstr>Core Mechanism: Locks*</vt:lpstr>
      <vt:lpstr>PowerPoint 演示文稿</vt:lpstr>
      <vt:lpstr>Core Mechanism: MVCC (Multi-Version Concurrency Control)*</vt:lpstr>
      <vt:lpstr>How Read Uncommitted Is Implemented*</vt:lpstr>
      <vt:lpstr>How Read Committed Works*</vt:lpstr>
      <vt:lpstr>Repeatable Read Implementation*</vt:lpstr>
      <vt:lpstr>How Serializable Is Implemented*</vt:lpstr>
      <vt:lpstr>Bye~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3160</cp:revision>
  <dcterms:created xsi:type="dcterms:W3CDTF">2023-04-15T13:38:00Z</dcterms:created>
  <dcterms:modified xsi:type="dcterms:W3CDTF">2025-12-09T05:41:53Z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68776BE2A1BE4A19BE92A280BFFE4FCC_13</vt:lpwstr>
  </property>
  <property fmtid="{D5CDD505-2E9C-101B-9397-08002B2CF9AE}" pid="3" name="KSOProductBuildVer">
    <vt:lpwstr>2052-12.1.0.23542</vt:lpwstr>
  </property>
</Properties>
</file>