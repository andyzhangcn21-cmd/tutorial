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>
  <p:sldMasterIdLst>
    <p:sldMasterId id="2147483648" r:id="rId1"/>
  </p:sldMasterIdLst>
  <p:notesMasterIdLst>
    <p:notesMasterId r:id="rId4"/>
  </p:notesMasterIdLst>
  <p:sldIdLst>
    <p:sldId id="256" r:id="rId3"/>
    <p:sldId id="1126" r:id="rId5"/>
    <p:sldId id="1267" r:id="rId6"/>
    <p:sldId id="1269" r:id="rId7"/>
    <p:sldId id="1268" r:id="rId8"/>
    <p:sldId id="1270" r:id="rId9"/>
    <p:sldId id="1271" r:id="rId10"/>
    <p:sldId id="1278" r:id="rId11"/>
    <p:sldId id="1274" r:id="rId12"/>
    <p:sldId id="1272" r:id="rId13"/>
    <p:sldId id="1273" r:id="rId14"/>
    <p:sldId id="1275" r:id="rId15"/>
    <p:sldId id="1254" r:id="rId16"/>
    <p:sldId id="1255" r:id="rId17"/>
    <p:sldId id="1256" r:id="rId18"/>
    <p:sldId id="1257" r:id="rId19"/>
    <p:sldId id="1127" r:id="rId20"/>
    <p:sldId id="1128" r:id="rId21"/>
    <p:sldId id="1129" r:id="rId22"/>
    <p:sldId id="1130" r:id="rId23"/>
    <p:sldId id="1131" r:id="rId24"/>
    <p:sldId id="1132" r:id="rId25"/>
    <p:sldId id="1133" r:id="rId26"/>
    <p:sldId id="1134" r:id="rId27"/>
    <p:sldId id="1135" r:id="rId28"/>
    <p:sldId id="1136" r:id="rId29"/>
    <p:sldId id="1137" r:id="rId30"/>
    <p:sldId id="1138" r:id="rId31"/>
    <p:sldId id="1139" r:id="rId32"/>
    <p:sldId id="1258" r:id="rId33"/>
    <p:sldId id="1259" r:id="rId34"/>
    <p:sldId id="1260" r:id="rId35"/>
    <p:sldId id="1261" r:id="rId36"/>
    <p:sldId id="1262" r:id="rId37"/>
    <p:sldId id="1264" r:id="rId38"/>
    <p:sldId id="1265" r:id="rId39"/>
    <p:sldId id="1266" r:id="rId40"/>
    <p:sldId id="1141" r:id="rId41"/>
    <p:sldId id="1142" r:id="rId42"/>
    <p:sldId id="1143" r:id="rId43"/>
    <p:sldId id="1144" r:id="rId44"/>
    <p:sldId id="1145" r:id="rId45"/>
    <p:sldId id="1146" r:id="rId46"/>
    <p:sldId id="1147" r:id="rId47"/>
    <p:sldId id="1148" r:id="rId48"/>
    <p:sldId id="1149" r:id="rId49"/>
    <p:sldId id="1150" r:id="rId50"/>
    <p:sldId id="1151" r:id="rId51"/>
    <p:sldId id="1152" r:id="rId52"/>
    <p:sldId id="1153" r:id="rId53"/>
    <p:sldId id="1154" r:id="rId54"/>
    <p:sldId id="1155" r:id="rId55"/>
    <p:sldId id="1156" r:id="rId56"/>
    <p:sldId id="1157" r:id="rId57"/>
    <p:sldId id="1158" r:id="rId58"/>
    <p:sldId id="1159" r:id="rId59"/>
    <p:sldId id="1160" r:id="rId60"/>
    <p:sldId id="1161" r:id="rId61"/>
    <p:sldId id="1162" r:id="rId62"/>
    <p:sldId id="1163" r:id="rId63"/>
    <p:sldId id="1252" r:id="rId64"/>
  </p:sldIdLst>
  <p:sldSz cx="9144000" cy="5143500" type="screen16x9"/>
  <p:notesSz cx="6858000" cy="9144000"/>
  <p:custDataLst>
    <p:tags r:id="rId69"/>
  </p:custDataLst>
  <p:defaultTextStyle>
    <a:defPPr>
      <a:defRPr lang="en-US"/>
    </a:defPPr>
    <a:lvl1pPr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1pPr>
    <a:lvl2pPr marL="285750" indent="171450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2pPr>
    <a:lvl3pPr marL="573405" indent="341630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3pPr>
    <a:lvl4pPr marL="860425" indent="511175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4pPr>
    <a:lvl5pPr marL="1148080" indent="681355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5pPr>
    <a:lvl6pPr marL="22860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6pPr>
    <a:lvl7pPr marL="27432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7pPr>
    <a:lvl8pPr marL="32004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8pPr>
    <a:lvl9pPr marL="36576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9pPr>
  </p:defaultTextStyle>
  <p:extLst>
    <p:ext uri="{521415D9-36F7-43E2-AB2F-B90AF26B5E84}">
      <p14:sectionLst xmlns:p14="http://schemas.microsoft.com/office/powerpoint/2010/main">
        <p14:section name="默认节" id="{632C4AB5-153F-4BD7-8E6C-573286E2ED18}">
          <p14:sldIdLst>
            <p14:sldId id="256"/>
            <p14:sldId id="1126"/>
          </p14:sldIdLst>
        </p14:section>
        <p14:section name="Review of Data Structure" id="{6E253E87-0080-46CF-AAD4-11EB67538266}">
          <p14:sldIdLst>
            <p14:sldId id="1267"/>
            <p14:sldId id="1269"/>
            <p14:sldId id="1268"/>
            <p14:sldId id="1270"/>
            <p14:sldId id="1271"/>
            <p14:sldId id="1278"/>
            <p14:sldId id="1274"/>
            <p14:sldId id="1272"/>
            <p14:sldId id="1273"/>
            <p14:sldId id="1275"/>
          </p14:sldIdLst>
        </p14:section>
        <p14:section name="Review of Algorithms" id="{92EAABB3-BFA0-4138-B90C-B76D338E3FF3}">
          <p14:sldIdLst>
            <p14:sldId id="1254"/>
            <p14:sldId id="1255"/>
            <p14:sldId id="1256"/>
            <p14:sldId id="1257"/>
          </p14:sldIdLst>
        </p14:section>
        <p14:section name="Index" id="{F65E0D2C-6A36-4F9B-AA88-E2D35336EAC2}">
          <p14:sldIdLst>
            <p14:sldId id="1127"/>
            <p14:sldId id="1128"/>
            <p14:sldId id="1129"/>
            <p14:sldId id="1130"/>
            <p14:sldId id="1131"/>
            <p14:sldId id="1132"/>
            <p14:sldId id="1133"/>
            <p14:sldId id="1134"/>
            <p14:sldId id="1135"/>
            <p14:sldId id="1136"/>
            <p14:sldId id="1137"/>
            <p14:sldId id="1138"/>
            <p14:sldId id="1139"/>
          </p14:sldIdLst>
        </p14:section>
        <p14:section name="Preparation" id="{9E48A89C-A352-445E-99FF-5E86CF8317AD}">
          <p14:sldIdLst>
            <p14:sldId id="1258"/>
            <p14:sldId id="1259"/>
            <p14:sldId id="1260"/>
            <p14:sldId id="1261"/>
            <p14:sldId id="1262"/>
            <p14:sldId id="1264"/>
            <p14:sldId id="1265"/>
            <p14:sldId id="1266"/>
          </p14:sldIdLst>
        </p14:section>
        <p14:section name="B+ Tree" id="{806C2F19-51BA-478D-82EB-53F1C26D726E}">
          <p14:sldIdLst>
            <p14:sldId id="1141"/>
            <p14:sldId id="1142"/>
            <p14:sldId id="1143"/>
            <p14:sldId id="1144"/>
            <p14:sldId id="1145"/>
            <p14:sldId id="1146"/>
            <p14:sldId id="1147"/>
            <p14:sldId id="1148"/>
            <p14:sldId id="1149"/>
            <p14:sldId id="1150"/>
            <p14:sldId id="1151"/>
            <p14:sldId id="1152"/>
            <p14:sldId id="1153"/>
            <p14:sldId id="1154"/>
            <p14:sldId id="1155"/>
            <p14:sldId id="1156"/>
            <p14:sldId id="1157"/>
            <p14:sldId id="1158"/>
            <p14:sldId id="1159"/>
            <p14:sldId id="1160"/>
            <p14:sldId id="1161"/>
            <p14:sldId id="1162"/>
            <p14:sldId id="1163"/>
            <p14:sldId id="12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2B9C05A-2A7E-4D72-A66B-1C6792E0D88E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7417" autoAdjust="0"/>
  </p:normalViewPr>
  <p:slideViewPr>
    <p:cSldViewPr showGuides="1">
      <p:cViewPr>
        <p:scale>
          <a:sx n="125" d="100"/>
          <a:sy n="125" d="100"/>
        </p:scale>
        <p:origin x="2820" y="1536"/>
      </p:cViewPr>
      <p:guideLst>
        <p:guide orient="horz" pos="162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2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9" Type="http://schemas.openxmlformats.org/officeDocument/2006/relationships/tags" Target="tags/tag5.xml"/><Relationship Id="rId68" Type="http://schemas.openxmlformats.org/officeDocument/2006/relationships/commentAuthors" Target="commentAuthors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" name="Rectangle 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noProof="0">
                <a:sym typeface="Helvetica Neue" charset="0"/>
              </a:rPr>
              <a:t>Click to edit Template text styles</a:t>
            </a:r>
            <a:endParaRPr lang="en-US" altLang="en-US" noProof="0">
              <a:sym typeface="Helvetica Neue" charset="0"/>
            </a:endParaRPr>
          </a:p>
          <a:p>
            <a:pPr lvl="1"/>
            <a:r>
              <a:rPr lang="en-US" altLang="en-US" noProof="0">
                <a:sym typeface="Helvetica Neue" charset="0"/>
              </a:rPr>
              <a:t>Second level</a:t>
            </a:r>
            <a:endParaRPr lang="en-US" altLang="en-US" noProof="0">
              <a:sym typeface="Helvetica Neue" charset="0"/>
            </a:endParaRPr>
          </a:p>
          <a:p>
            <a:pPr lvl="2"/>
            <a:r>
              <a:rPr lang="en-US" altLang="en-US" noProof="0">
                <a:sym typeface="Helvetica Neue" charset="0"/>
              </a:rPr>
              <a:t>Third level</a:t>
            </a:r>
            <a:endParaRPr lang="en-US" altLang="en-US" noProof="0">
              <a:sym typeface="Helvetica Neue" charset="0"/>
            </a:endParaRPr>
          </a:p>
          <a:p>
            <a:pPr lvl="3"/>
            <a:r>
              <a:rPr lang="en-US" altLang="en-US" noProof="0">
                <a:sym typeface="Helvetica Neue" charset="0"/>
              </a:rPr>
              <a:t>Fourth level</a:t>
            </a:r>
            <a:endParaRPr lang="en-US" altLang="en-US" noProof="0">
              <a:sym typeface="Helvetica Neue" charset="0"/>
            </a:endParaRPr>
          </a:p>
          <a:p>
            <a:pPr lvl="4"/>
            <a:r>
              <a:rPr lang="en-US" altLang="en-US" noProof="0">
                <a:sym typeface="Helvetica Neue" charset="0"/>
              </a:rPr>
              <a:t>Fifth level</a:t>
            </a:r>
            <a:endParaRPr lang="en-US" altLang="en-US" noProof="0">
              <a:sym typeface="Helvetica Neue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142875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285750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430530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573405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1435100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6pPr>
    <a:lvl7pPr marL="1722120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7pPr>
    <a:lvl8pPr marL="2009140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8pPr>
    <a:lvl9pPr marL="2295525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Tc411U7TQ/?spm_id_from=333.337.search-card.all.click&amp;vd_source=845c4b381835c3339ab8f86c92fb7bc3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I am very happy to have the opportunity to meet with you all in this course.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87AF91-D497-4A2A-9CF7-83341342ED42}" type="slidenum">
              <a:rPr lang="en-US" altLang="en-US" sz="1200"/>
            </a:fld>
            <a:endParaRPr lang="en-US" altLang="en-US" sz="120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hlinkClick r:id="rId3"/>
              </a:rPr>
              <a:t>哈希表大战表红黑树，数据结构性能挑战赛</a:t>
            </a:r>
            <a:r>
              <a:rPr lang="en-US" altLang="zh-CN" dirty="0">
                <a:hlinkClick r:id="rId3"/>
              </a:rPr>
              <a:t>_</a:t>
            </a:r>
            <a:r>
              <a:rPr lang="zh-CN" altLang="en-US" dirty="0">
                <a:hlinkClick r:id="rId3"/>
              </a:rPr>
              <a:t>哔哩哔哩</a:t>
            </a:r>
            <a:r>
              <a:rPr lang="en-US" altLang="zh-CN" dirty="0">
                <a:hlinkClick r:id="rId3"/>
              </a:rPr>
              <a:t>_</a:t>
            </a:r>
            <a:r>
              <a:rPr lang="en-US" altLang="zh-CN" dirty="0" err="1">
                <a:hlinkClick r:id="rId3"/>
              </a:rPr>
              <a:t>bilibili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CD13F24-5BFF-454F-A8F8-2726B16156DD}" type="slidenum">
              <a:rPr lang="en-US" altLang="en-US" sz="1200"/>
            </a:fld>
            <a:endParaRPr lang="en-US" altLang="en-US" sz="120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A762164-D93F-4E35-B0AE-B1934AD126B6}" type="slidenum">
              <a:rPr lang="en-US" altLang="en-US" sz="1200"/>
            </a:fld>
            <a:endParaRPr lang="en-US" altLang="en-US" sz="12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D4282C8-423F-4181-AE0E-76D77C441D47}" type="slidenum">
              <a:rPr lang="en-US" altLang="en-US" sz="1200"/>
            </a:fld>
            <a:endParaRPr lang="en-US" altLang="en-US" sz="120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D36EA57-3AEE-45DA-8B41-1ABDFD322964}" type="slidenum">
              <a:rPr lang="en-US" altLang="en-US" sz="1200"/>
            </a:fld>
            <a:endParaRPr lang="en-US" altLang="en-US" sz="12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4B49C02-3301-417A-946C-48DBBC639D36}" type="slidenum">
              <a:rPr lang="en-US" altLang="en-US" sz="1200"/>
            </a:fld>
            <a:endParaRPr lang="en-US" altLang="en-US" sz="12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6B3E72A-CBD0-4A8B-906B-5F408CB939CB}" type="slidenum">
              <a:rPr lang="en-US" altLang="en-US" sz="1200"/>
            </a:fld>
            <a:endParaRPr lang="en-US" altLang="en-US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EC6A394-E874-4EE6-A573-E94510DFC5D6}" type="slidenum">
              <a:rPr lang="en-US" altLang="en-US" sz="1200"/>
            </a:fld>
            <a:endParaRPr lang="en-US" altLang="en-US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2EC7B4E-2CDE-43FC-862B-874E947E3B53}" type="slidenum">
              <a:rPr lang="en-US" altLang="en-US" sz="1200"/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EE25011-1670-4CE3-BA67-0AA254803E9B}" type="slidenum">
              <a:rPr lang="en-US" altLang="en-US" sz="1200"/>
            </a:fld>
            <a:endParaRPr lang="en-US" altLang="en-US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E3E7743-31B1-4691-9E91-5BA74FD0DB51}" type="slidenum">
              <a:rPr lang="en-US" altLang="en-US" sz="1200"/>
            </a:fld>
            <a:endParaRPr lang="en-US" altLang="en-US" sz="12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1B770F2-308C-4A9B-A23B-435D5915A235}" type="slidenum">
              <a:rPr lang="en-US" altLang="en-US" sz="1200"/>
            </a:fld>
            <a:endParaRPr lang="en-US" altLang="en-US" sz="12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F089E59-5288-4760-A9A0-62E5B0DA78E8}" type="slidenum">
              <a:rPr lang="en-US" altLang="en-US" sz="1200"/>
            </a:fld>
            <a:endParaRPr lang="en-US" altLang="en-US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205355E-C95C-4955-9542-AA99986381A6}" type="slidenum">
              <a:rPr lang="en-US" altLang="en-US" sz="1200"/>
            </a:fld>
            <a:endParaRPr lang="en-US" altLang="en-US" sz="12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25E3FF6-A043-4717-ACA2-A42D20435F2A}" type="slidenum">
              <a:rPr lang="en-US" altLang="en-US" sz="1200"/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DC68A-4FDB-4EB8-B0A0-36C89B51C904}" type="slidenum">
              <a:rPr lang="en-US" altLang="en-US" sz="1200"/>
            </a:fld>
            <a:endParaRPr lang="en-US" altLang="en-US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0FDFC39-5922-4703-9593-C8F577919411}" type="slidenum">
              <a:rPr lang="en-US" altLang="en-US" sz="1200"/>
            </a:fld>
            <a:endParaRPr lang="en-US" altLang="en-US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993EA4-DB1C-4EB9-9D70-9176870586F2}" type="slidenum">
              <a:rPr lang="en-US" altLang="en-US" sz="1200"/>
            </a:fld>
            <a:endParaRPr lang="en-US" altLang="en-US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0666C75-7846-4C8C-B05F-FF2B1C433BE3}" type="slidenum">
              <a:rPr lang="en-US" altLang="en-US" sz="1200"/>
            </a:fld>
            <a:endParaRPr lang="en-US" alt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6CC47F2-2D23-40BE-ADC6-8BAB13C14907}" type="slidenum">
              <a:rPr lang="en-US" altLang="en-US" sz="1200"/>
            </a:fld>
            <a:endParaRPr lang="en-US" altLang="en-US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0C4551E-79EF-4EB9-AD43-3F871E54125F}" type="slidenum">
              <a:rPr lang="en-US" altLang="en-US" sz="1200"/>
            </a:fld>
            <a:endParaRPr lang="en-US" alt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7FAE17A-5850-47AF-BD6B-4A77A4F66E3D}" type="slidenum">
              <a:rPr lang="en-US" altLang="en-US" sz="1200"/>
            </a:fld>
            <a:endParaRPr lang="en-US" alt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2548EB7-031F-4272-92F5-040B035B7FEE}" type="slidenum">
              <a:rPr lang="en-US" altLang="en-US" sz="1200"/>
            </a:fld>
            <a:endParaRPr lang="en-US" altLang="en-US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8668EFA-2A36-4BA4-8C6A-A22A5F4C6843}" type="slidenum">
              <a:rPr lang="en-US" altLang="en-US" sz="1200"/>
            </a:fld>
            <a:endParaRPr lang="en-US" alt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9FDF64C-DC3E-4F2B-8DB0-0516B4714C04}" type="slidenum">
              <a:rPr lang="en-US" altLang="en-US" sz="1200"/>
            </a:fld>
            <a:endParaRPr lang="en-US" alt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3B433C4-8C6D-4550-9B55-7CB9502FDA22}" type="slidenum">
              <a:rPr lang="en-US" altLang="en-US" sz="1200"/>
            </a:fld>
            <a:endParaRPr lang="en-US" altLang="en-US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D6E6AB2-C815-41CC-805B-FD057B97D4DA}" type="slidenum">
              <a:rPr lang="en-US" altLang="en-US" sz="1200"/>
            </a:fld>
            <a:endParaRPr lang="en-US" altLang="en-US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AA8164C-E56D-453B-8BF0-F91DB4DDE413}" type="slidenum">
              <a:rPr lang="en-US" altLang="en-US" sz="1200"/>
            </a:fld>
            <a:endParaRPr lang="en-US" altLang="en-US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E13A8B-1D51-4621-9E0E-B95B3008146F}" type="slidenum">
              <a:rPr lang="en-US" altLang="en-US" sz="1200"/>
            </a:fld>
            <a:endParaRPr lang="en-US" altLang="en-US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1712E8D-A9B1-4AED-8842-7A8211E2CD89}" type="slidenum">
              <a:rPr lang="en-US" altLang="en-US" sz="1200"/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3F081B9-7F72-419C-A546-4D65D98C6F26}" type="slidenum">
              <a:rPr lang="en-US" altLang="en-US" sz="1200"/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183"/>
            <a:ext cx="6858000" cy="1790680"/>
          </a:xfrm>
        </p:spPr>
        <p:txBody>
          <a:bodyPr anchor="b"/>
          <a:lstStyle>
            <a:lvl1pPr algn="ctr">
              <a:defRPr sz="3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08"/>
            <a:ext cx="6858000" cy="1241505"/>
          </a:xfrm>
        </p:spPr>
        <p:txBody>
          <a:bodyPr/>
          <a:lstStyle>
            <a:lvl1pPr marL="0" indent="0" algn="ctr">
              <a:buNone/>
              <a:defRPr sz="1600"/>
            </a:lvl1pPr>
            <a:lvl2pPr marL="287020" indent="0" algn="ctr">
              <a:buNone/>
              <a:defRPr sz="1200"/>
            </a:lvl2pPr>
            <a:lvl3pPr marL="574040" indent="0" algn="ctr">
              <a:buNone/>
              <a:defRPr sz="1200"/>
            </a:lvl3pPr>
            <a:lvl4pPr marL="861060" indent="0" algn="ctr">
              <a:buNone/>
              <a:defRPr sz="1100"/>
            </a:lvl4pPr>
            <a:lvl5pPr marL="1148080" indent="0" algn="ctr">
              <a:buNone/>
              <a:defRPr sz="1100"/>
            </a:lvl5pPr>
            <a:lvl6pPr marL="1435100" indent="0" algn="ctr">
              <a:buNone/>
              <a:defRPr sz="1100"/>
            </a:lvl6pPr>
            <a:lvl7pPr marL="1722120" indent="0" algn="ctr">
              <a:buNone/>
              <a:defRPr sz="1100"/>
            </a:lvl7pPr>
            <a:lvl8pPr marL="2009140" indent="0" algn="ctr">
              <a:buNone/>
              <a:defRPr sz="1100"/>
            </a:lvl8pPr>
            <a:lvl9pPr marL="2295525" indent="0" algn="ctr">
              <a:buNone/>
              <a:defRPr sz="11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6C9A41-D864-428D-9C31-5294F3735FA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BFCE12-62F8-4935-B4B3-E8FB1AC9A4A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964" y="1282528"/>
            <a:ext cx="7887146" cy="2138940"/>
          </a:xfrm>
        </p:spPr>
        <p:txBody>
          <a:bodyPr anchor="b"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964" y="3442396"/>
            <a:ext cx="7887146" cy="1125141"/>
          </a:xfrm>
        </p:spPr>
        <p:txBody>
          <a:bodyPr/>
          <a:lstStyle>
            <a:lvl1pPr marL="0" indent="0">
              <a:buNone/>
              <a:defRPr sz="1600"/>
            </a:lvl1pPr>
            <a:lvl2pPr marL="287020" indent="0">
              <a:buNone/>
              <a:defRPr sz="1200"/>
            </a:lvl2pPr>
            <a:lvl3pPr marL="574040" indent="0">
              <a:buNone/>
              <a:defRPr sz="1200"/>
            </a:lvl3pPr>
            <a:lvl4pPr marL="861060" indent="0">
              <a:buNone/>
              <a:defRPr sz="1100"/>
            </a:lvl4pPr>
            <a:lvl5pPr marL="1148080" indent="0">
              <a:buNone/>
              <a:defRPr sz="1100"/>
            </a:lvl5pPr>
            <a:lvl6pPr marL="1435100" indent="0">
              <a:buNone/>
              <a:defRPr sz="1100"/>
            </a:lvl6pPr>
            <a:lvl7pPr marL="1722120" indent="0">
              <a:buNone/>
              <a:defRPr sz="1100"/>
            </a:lvl7pPr>
            <a:lvl8pPr marL="2009140" indent="0">
              <a:buNone/>
              <a:defRPr sz="1100"/>
            </a:lvl8pPr>
            <a:lvl9pPr marL="2295525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B6FB98-0011-4161-BE35-0A73E2FACDA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8258" y="719117"/>
            <a:ext cx="4169049" cy="4049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4463" y="719117"/>
            <a:ext cx="4170164" cy="4049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BF4A6C-FF74-409E-AF94-9AA6BEC52E2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45" y="273752"/>
            <a:ext cx="7887146" cy="9945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544" y="1260762"/>
            <a:ext cx="3868788" cy="617822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287020" indent="0">
              <a:buNone/>
              <a:defRPr sz="1200" b="1"/>
            </a:lvl2pPr>
            <a:lvl3pPr marL="574040" indent="0">
              <a:buNone/>
              <a:defRPr sz="1200" b="1"/>
            </a:lvl3pPr>
            <a:lvl4pPr marL="861060" indent="0">
              <a:buNone/>
              <a:defRPr sz="1100" b="1"/>
            </a:lvl4pPr>
            <a:lvl5pPr marL="1148080" indent="0">
              <a:buNone/>
              <a:defRPr sz="1100" b="1"/>
            </a:lvl5pPr>
            <a:lvl6pPr marL="1435100" indent="0">
              <a:buNone/>
              <a:defRPr sz="1100" b="1"/>
            </a:lvl6pPr>
            <a:lvl7pPr marL="1722120" indent="0">
              <a:buNone/>
              <a:defRPr sz="1100" b="1"/>
            </a:lvl7pPr>
            <a:lvl8pPr marL="2009140" indent="0">
              <a:buNone/>
              <a:defRPr sz="1100" b="1"/>
            </a:lvl8pPr>
            <a:lvl9pPr marL="2295525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544" y="1878582"/>
            <a:ext cx="3868788" cy="2763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8928" y="1260762"/>
            <a:ext cx="3887762" cy="617822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287020" indent="0">
              <a:buNone/>
              <a:defRPr sz="1200" b="1"/>
            </a:lvl2pPr>
            <a:lvl3pPr marL="574040" indent="0">
              <a:buNone/>
              <a:defRPr sz="1200" b="1"/>
            </a:lvl3pPr>
            <a:lvl4pPr marL="861060" indent="0">
              <a:buNone/>
              <a:defRPr sz="1100" b="1"/>
            </a:lvl4pPr>
            <a:lvl5pPr marL="1148080" indent="0">
              <a:buNone/>
              <a:defRPr sz="1100" b="1"/>
            </a:lvl5pPr>
            <a:lvl6pPr marL="1435100" indent="0">
              <a:buNone/>
              <a:defRPr sz="1100" b="1"/>
            </a:lvl6pPr>
            <a:lvl7pPr marL="1722120" indent="0">
              <a:buNone/>
              <a:defRPr sz="1100" b="1"/>
            </a:lvl7pPr>
            <a:lvl8pPr marL="2009140" indent="0">
              <a:buNone/>
              <a:defRPr sz="1100" b="1"/>
            </a:lvl8pPr>
            <a:lvl9pPr marL="2295525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8928" y="1878582"/>
            <a:ext cx="3887762" cy="2763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2642A5-B4C1-490D-823B-6F62026E5D0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B72306-FD3C-4756-B3FD-766F3400AA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6FCE69C-6874-463F-8672-A48ADE6CA40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44" y="343235"/>
            <a:ext cx="2949029" cy="1199650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65" y="740886"/>
            <a:ext cx="4628926" cy="365503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544" y="1542881"/>
            <a:ext cx="2949029" cy="2858895"/>
          </a:xfrm>
        </p:spPr>
        <p:txBody>
          <a:bodyPr/>
          <a:lstStyle>
            <a:lvl1pPr marL="0" indent="0">
              <a:buNone/>
              <a:defRPr sz="1100"/>
            </a:lvl1pPr>
            <a:lvl2pPr marL="287020" indent="0">
              <a:buNone/>
              <a:defRPr sz="900"/>
            </a:lvl2pPr>
            <a:lvl3pPr marL="574040" indent="0">
              <a:buNone/>
              <a:defRPr sz="700"/>
            </a:lvl3pPr>
            <a:lvl4pPr marL="861060" indent="0">
              <a:buNone/>
              <a:defRPr sz="700"/>
            </a:lvl4pPr>
            <a:lvl5pPr marL="1148080" indent="0">
              <a:buNone/>
              <a:defRPr sz="700"/>
            </a:lvl5pPr>
            <a:lvl6pPr marL="1435100" indent="0">
              <a:buNone/>
              <a:defRPr sz="700"/>
            </a:lvl6pPr>
            <a:lvl7pPr marL="1722120" indent="0">
              <a:buNone/>
              <a:defRPr sz="700"/>
            </a:lvl7pPr>
            <a:lvl8pPr marL="2009140" indent="0">
              <a:buNone/>
              <a:defRPr sz="700"/>
            </a:lvl8pPr>
            <a:lvl9pPr marL="2295525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EA9E2C9-38C0-4E05-A9A0-7FD9158DBDA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44" y="343235"/>
            <a:ext cx="2949029" cy="1199650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65" y="740886"/>
            <a:ext cx="4628926" cy="3655035"/>
          </a:xfrm>
        </p:spPr>
        <p:txBody>
          <a:bodyPr/>
          <a:lstStyle>
            <a:lvl1pPr marL="0" indent="0">
              <a:buNone/>
              <a:defRPr sz="2100"/>
            </a:lvl1pPr>
            <a:lvl2pPr marL="287020" indent="0">
              <a:buNone/>
              <a:defRPr sz="1800"/>
            </a:lvl2pPr>
            <a:lvl3pPr marL="574040" indent="0">
              <a:buNone/>
              <a:defRPr sz="1600"/>
            </a:lvl3pPr>
            <a:lvl4pPr marL="861060" indent="0">
              <a:buNone/>
              <a:defRPr sz="1200"/>
            </a:lvl4pPr>
            <a:lvl5pPr marL="1148080" indent="0">
              <a:buNone/>
              <a:defRPr sz="1200"/>
            </a:lvl5pPr>
            <a:lvl6pPr marL="1435100" indent="0">
              <a:buNone/>
              <a:defRPr sz="1200"/>
            </a:lvl6pPr>
            <a:lvl7pPr marL="1722120" indent="0">
              <a:buNone/>
              <a:defRPr sz="1200"/>
            </a:lvl7pPr>
            <a:lvl8pPr marL="2009140" indent="0">
              <a:buNone/>
              <a:defRPr sz="1200"/>
            </a:lvl8pPr>
            <a:lvl9pPr marL="2295525" indent="0">
              <a:buNone/>
              <a:defRPr sz="1200"/>
            </a:lvl9pPr>
          </a:lstStyle>
          <a:p>
            <a:pPr lvl="0"/>
            <a:endParaRPr lang="en-US" noProof="0">
              <a:sym typeface="Helvetica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544" y="1542881"/>
            <a:ext cx="2949029" cy="2858895"/>
          </a:xfrm>
        </p:spPr>
        <p:txBody>
          <a:bodyPr/>
          <a:lstStyle>
            <a:lvl1pPr marL="0" indent="0">
              <a:buNone/>
              <a:defRPr sz="1100"/>
            </a:lvl1pPr>
            <a:lvl2pPr marL="287020" indent="0">
              <a:buNone/>
              <a:defRPr sz="900"/>
            </a:lvl2pPr>
            <a:lvl3pPr marL="574040" indent="0">
              <a:buNone/>
              <a:defRPr sz="700"/>
            </a:lvl3pPr>
            <a:lvl4pPr marL="861060" indent="0">
              <a:buNone/>
              <a:defRPr sz="700"/>
            </a:lvl4pPr>
            <a:lvl5pPr marL="1148080" indent="0">
              <a:buNone/>
              <a:defRPr sz="700"/>
            </a:lvl5pPr>
            <a:lvl6pPr marL="1435100" indent="0">
              <a:buNone/>
              <a:defRPr sz="700"/>
            </a:lvl6pPr>
            <a:lvl7pPr marL="1722120" indent="0">
              <a:buNone/>
              <a:defRPr sz="700"/>
            </a:lvl7pPr>
            <a:lvl8pPr marL="2009140" indent="0">
              <a:buNone/>
              <a:defRPr sz="700"/>
            </a:lvl8pPr>
            <a:lvl9pPr marL="2295525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B709096-912F-4774-8F9C-D173966EA40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D661447-7998-46BF-B95E-D71DBFFC4D6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3872" y="92928"/>
            <a:ext cx="2110755" cy="4675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8257" y="92928"/>
            <a:ext cx="6228458" cy="4675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C14C122-CBE5-46C5-AE21-5F2E3318462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21970" y="4767263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88106"/>
            <a:ext cx="8077200" cy="457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820341"/>
            <a:ext cx="7661275" cy="1781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388" y="2715816"/>
            <a:ext cx="7661275" cy="17823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154210-18DD-438C-A438-474022748B3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body" idx="1"/>
          </p:nvPr>
        </p:nvSpPr>
        <p:spPr bwMode="auto">
          <a:xfrm>
            <a:off x="347663" y="719138"/>
            <a:ext cx="8447087" cy="404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1886" tIns="31886" rIns="31886" bIns="31886" numCol="1" anchor="t" anchorCtr="0" compatLnSpc="1"/>
          <a:lstStyle/>
          <a:p>
            <a:pPr lvl="0"/>
            <a:r>
              <a:rPr lang="en-US" altLang="en-US">
                <a:sym typeface="Helvetica" panose="020B0604020202020204" pitchFamily="34" charset="0"/>
              </a:rPr>
              <a:t>Click to edit Template text styles</a:t>
            </a:r>
            <a:endParaRPr lang="en-US" altLang="en-US">
              <a:sym typeface="Helvetica" panose="020B0604020202020204" pitchFamily="34" charset="0"/>
            </a:endParaRPr>
          </a:p>
          <a:p>
            <a:pPr lvl="1"/>
            <a:r>
              <a:rPr lang="en-US" altLang="en-US">
                <a:sym typeface="Helvetica" panose="020B0604020202020204" pitchFamily="34" charset="0"/>
              </a:rPr>
              <a:t>Second level</a:t>
            </a:r>
            <a:endParaRPr lang="en-US" altLang="en-US">
              <a:sym typeface="Helvetica" panose="020B0604020202020204" pitchFamily="34" charset="0"/>
            </a:endParaRPr>
          </a:p>
          <a:p>
            <a:pPr lvl="2"/>
            <a:r>
              <a:rPr lang="en-US" altLang="en-US">
                <a:sym typeface="Helvetica" panose="020B0604020202020204" pitchFamily="34" charset="0"/>
              </a:rPr>
              <a:t>Third level</a:t>
            </a:r>
            <a:endParaRPr lang="en-US" altLang="en-US">
              <a:sym typeface="Helvetica" panose="020B0604020202020204" pitchFamily="34" charset="0"/>
            </a:endParaRPr>
          </a:p>
          <a:p>
            <a:pPr lvl="3"/>
            <a:r>
              <a:rPr lang="en-US" altLang="en-US">
                <a:sym typeface="Helvetica" panose="020B0604020202020204" pitchFamily="34" charset="0"/>
              </a:rPr>
              <a:t>Fourth level</a:t>
            </a:r>
            <a:endParaRPr lang="en-US" altLang="en-US">
              <a:sym typeface="Helvetica" panose="020B0604020202020204" pitchFamily="34" charset="0"/>
            </a:endParaRPr>
          </a:p>
          <a:p>
            <a:pPr lvl="4"/>
            <a:r>
              <a:rPr lang="en-US" altLang="en-US">
                <a:sym typeface="Helvetica" panose="020B0604020202020204" pitchFamily="34" charset="0"/>
              </a:rPr>
              <a:t>Fifth level</a:t>
            </a:r>
            <a:endParaRPr lang="en-US" altLang="en-US">
              <a:sym typeface="Helvetica" panose="020B0604020202020204" pitchFamily="34" charset="0"/>
            </a:endParaRPr>
          </a:p>
        </p:txBody>
      </p:sp>
      <p:sp>
        <p:nvSpPr>
          <p:cNvPr id="1027" name="Rectangle 2"/>
          <p:cNvSpPr>
            <a:spLocks noGrp="1"/>
          </p:cNvSpPr>
          <p:nvPr>
            <p:ph type="title"/>
          </p:nvPr>
        </p:nvSpPr>
        <p:spPr bwMode="auto">
          <a:xfrm>
            <a:off x="500063" y="93663"/>
            <a:ext cx="81438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1886" tIns="31886" rIns="31886" bIns="31886" numCol="1" anchor="t" anchorCtr="0" compatLnSpc="1"/>
          <a:lstStyle/>
          <a:p>
            <a:pPr lvl="0"/>
            <a:r>
              <a:rPr lang="en-US" altLang="en-US">
                <a:sym typeface="Helvetica" panose="020B0604020202020204" pitchFamily="34" charset="0"/>
              </a:rPr>
              <a:t>Click to edit Template title style</a:t>
            </a:r>
            <a:endParaRPr lang="en-US" altLang="en-US">
              <a:sym typeface="Helvetica" panose="020B0604020202020204" pitchFamily="34" charset="0"/>
            </a:endParaRPr>
          </a:p>
        </p:txBody>
      </p:sp>
      <p:pic>
        <p:nvPicPr>
          <p:cNvPr id="1028" name="Picture 3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638" y="69850"/>
            <a:ext cx="185102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9" name="Line 4"/>
          <p:cNvSpPr>
            <a:spLocks noChangeShapeType="1"/>
          </p:cNvSpPr>
          <p:nvPr/>
        </p:nvSpPr>
        <p:spPr bwMode="auto">
          <a:xfrm>
            <a:off x="341313" y="588963"/>
            <a:ext cx="84597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1886" tIns="31886" rIns="31886" bIns="31886" anchor="ctr"/>
          <a:lstStyle/>
          <a:p>
            <a:endParaRPr lang="en-US"/>
          </a:p>
        </p:txBody>
      </p:sp>
      <p:sp>
        <p:nvSpPr>
          <p:cNvPr id="2" name="Rectangle 5"/>
          <p:cNvSpPr>
            <a:spLocks noGrp="1"/>
          </p:cNvSpPr>
          <p:nvPr>
            <p:ph type="sldNum" sz="quarter" idx="2"/>
          </p:nvPr>
        </p:nvSpPr>
        <p:spPr bwMode="auto">
          <a:xfrm>
            <a:off x="4460875" y="4808538"/>
            <a:ext cx="215900" cy="1730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31886" tIns="31886" rIns="31886" bIns="31886" numCol="1" anchor="b" anchorCtr="0" compatLnSpc="1"/>
          <a:lstStyle>
            <a:lvl1pPr algn="ctr" defTabSz="1090930" eaLnBrk="1">
              <a:defRPr sz="900">
                <a:solidFill>
                  <a:srgbClr val="5E5E5E"/>
                </a:solidFill>
                <a:latin typeface="Graphik" charset="0"/>
                <a:ea typeface="Graphik" charset="0"/>
                <a:cs typeface="Graphik" charset="0"/>
                <a:sym typeface="Graphik" charset="0"/>
              </a:defRPr>
            </a:lvl1pPr>
          </a:lstStyle>
          <a:p>
            <a:fld id="{B78101D5-FE84-44C9-AB30-8CA2B182F501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 kern="1200">
          <a:solidFill>
            <a:srgbClr val="AE0428"/>
          </a:solidFill>
          <a:latin typeface="+mj-lt"/>
          <a:ea typeface="+mj-ea"/>
          <a:cs typeface="+mj-cs"/>
          <a:sym typeface="Helvetica" panose="020B0604020202020204" pitchFamily="34" charset="0"/>
        </a:defRPr>
      </a:lvl1pPr>
      <a:lvl2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2pPr>
      <a:lvl3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3pPr>
      <a:lvl4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4pPr>
      <a:lvl5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5pPr>
      <a:lvl6pPr marL="28702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6pPr>
      <a:lvl7pPr marL="57404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7pPr>
      <a:lvl8pPr marL="86106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8pPr>
      <a:lvl9pPr marL="114808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9pPr>
    </p:titleStyle>
    <p:bodyStyle>
      <a:lvl1pPr marL="263525" indent="-263525" algn="l" defTabSz="1090930" rtl="0" eaLnBrk="0" fontAlgn="base" hangingPunct="0">
        <a:spcBef>
          <a:spcPts val="1250"/>
        </a:spcBef>
        <a:spcAft>
          <a:spcPct val="0"/>
        </a:spcAft>
        <a:buSzPct val="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1pPr>
      <a:lvl2pPr marL="494030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2pPr>
      <a:lvl3pPr marL="739775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3pPr>
      <a:lvl4pPr marL="987425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4pPr>
      <a:lvl5pPr marL="1235075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5pPr>
      <a:lvl6pPr marL="1578610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65630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52015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9035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8702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404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6106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808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3510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2212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00914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95525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emf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e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e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e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emf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emf"/><Relationship Id="rId1" Type="http://schemas.openxmlformats.org/officeDocument/2006/relationships/image" Target="../media/image17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1" Type="http://schemas.openxmlformats.org/officeDocument/2006/relationships/image" Target="../media/image19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emf"/><Relationship Id="rId1" Type="http://schemas.openxmlformats.org/officeDocument/2006/relationships/image" Target="../media/image17.emf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emf"/><Relationship Id="rId1" Type="http://schemas.openxmlformats.org/officeDocument/2006/relationships/image" Target="../media/image22.emf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emf"/><Relationship Id="rId1" Type="http://schemas.openxmlformats.org/officeDocument/2006/relationships/image" Target="../media/image23.e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/>
          </p:cNvSpPr>
          <p:nvPr>
            <p:ph type="ctrTitle"/>
          </p:nvPr>
        </p:nvSpPr>
        <p:spPr>
          <a:xfrm>
            <a:off x="500063" y="1158875"/>
            <a:ext cx="8143875" cy="568325"/>
          </a:xfrm>
        </p:spPr>
        <p:txBody>
          <a:bodyPr/>
          <a:lstStyle/>
          <a:p>
            <a:pPr eaLnBrk="1">
              <a:lnSpc>
                <a:spcPct val="80000"/>
              </a:lnSpc>
            </a:pPr>
            <a:r>
              <a:rPr lang="en-US" altLang="en-US" sz="2800" dirty="0"/>
              <a:t>DTS207TC Database Development and Design</a:t>
            </a:r>
            <a:endParaRPr lang="en-US" altLang="en-US" sz="2800" dirty="0"/>
          </a:p>
        </p:txBody>
      </p:sp>
      <p:sp>
        <p:nvSpPr>
          <p:cNvPr id="2051" name="Rectangle 2"/>
          <p:cNvSpPr>
            <a:spLocks noGrp="1"/>
          </p:cNvSpPr>
          <p:nvPr>
            <p:ph type="subTitle" sz="quarter" idx="1"/>
          </p:nvPr>
        </p:nvSpPr>
        <p:spPr>
          <a:xfrm>
            <a:off x="500063" y="2428240"/>
            <a:ext cx="8143875" cy="385763"/>
          </a:xfrm>
        </p:spPr>
        <p:txBody>
          <a:bodyPr/>
          <a:lstStyle/>
          <a:p>
            <a:pPr defTabSz="365125" eaLnBrk="1">
              <a:spcBef>
                <a:spcPct val="0"/>
              </a:spcBef>
              <a:buSzTx/>
            </a:pPr>
            <a:r>
              <a:rPr lang="en-US" altLang="zh-CN" sz="2100" b="1" dirty="0">
                <a:solidFill>
                  <a:srgbClr val="AE0428"/>
                </a:solidFill>
                <a:ea typeface="宋体" panose="02010600030101010101" pitchFamily="2" charset="-122"/>
              </a:rPr>
              <a:t>Lecture 10</a:t>
            </a:r>
            <a:endParaRPr lang="en-US" altLang="zh-CN" sz="2100" b="1" dirty="0">
              <a:solidFill>
                <a:srgbClr val="AE0428"/>
              </a:solidFill>
              <a:ea typeface="宋体" panose="02010600030101010101" pitchFamily="2" charset="-122"/>
            </a:endParaRPr>
          </a:p>
          <a:p>
            <a:pPr defTabSz="365125" eaLnBrk="1">
              <a:buSzTx/>
            </a:pPr>
            <a:r>
              <a:rPr lang="en-US" altLang="zh-CN" sz="2100" b="1" dirty="0">
                <a:solidFill>
                  <a:srgbClr val="AE0428"/>
                </a:solidFill>
                <a:ea typeface="宋体" panose="02010600030101010101" pitchFamily="2" charset="-122"/>
                <a:sym typeface="+mn-ea"/>
              </a:rPr>
              <a:t>Chap 14. Indexing</a:t>
            </a:r>
            <a:endParaRPr lang="en-US" altLang="zh-CN" sz="2100" b="1" dirty="0">
              <a:solidFill>
                <a:srgbClr val="AE0428"/>
              </a:solidFill>
              <a:ea typeface="宋体" panose="02010600030101010101" pitchFamily="2" charset="-122"/>
              <a:sym typeface="+mn-ea"/>
            </a:endParaRPr>
          </a:p>
          <a:p>
            <a:pPr algn="ctr" defTabSz="365125" eaLnBrk="1">
              <a:buClrTx/>
              <a:buSzTx/>
              <a:buFontTx/>
            </a:pPr>
            <a:endParaRPr lang="en-US" altLang="zh-CN" sz="2100" b="1" dirty="0">
              <a:solidFill>
                <a:srgbClr val="AE0428"/>
              </a:solidFill>
              <a:ea typeface="宋体" panose="02010600030101010101" pitchFamily="2" charset="-122"/>
              <a:sym typeface="+mn-ea"/>
            </a:endParaRPr>
          </a:p>
        </p:txBody>
      </p:sp>
      <p:sp>
        <p:nvSpPr>
          <p:cNvPr id="2052" name="Text Box 3"/>
          <p:cNvSpPr txBox="1"/>
          <p:nvPr/>
        </p:nvSpPr>
        <p:spPr bwMode="auto">
          <a:xfrm>
            <a:off x="500063" y="4435475"/>
            <a:ext cx="8143875" cy="22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1886" tIns="31886" rIns="31886" bIns="31886"/>
          <a:lstStyle>
            <a:lvl1pPr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1pPr>
            <a:lvl2pPr marL="742950" indent="-28575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2pPr>
            <a:lvl3pPr marL="1143000" indent="-22860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3pPr>
            <a:lvl4pPr marL="1600200" indent="-22860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4pPr>
            <a:lvl5pPr marL="2057400" indent="-22860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5pPr>
            <a:lvl6pPr marL="25146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6pPr>
            <a:lvl7pPr marL="29718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7pPr>
            <a:lvl8pPr marL="34290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8pPr>
            <a:lvl9pPr marL="38862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9pPr>
          </a:lstStyle>
          <a:p>
            <a:pPr algn="ctr" eaLnBrk="1"/>
            <a:r>
              <a:rPr lang="en-US" altLang="zh-CN" sz="1200">
                <a:latin typeface="Helvetica" panose="020B0604020202020204" pitchFamily="34" charset="0"/>
                <a:ea typeface="宋体" panose="02010600030101010101" pitchFamily="2" charset="-122"/>
                <a:sym typeface="Helvetica" panose="020B0604020202020204" pitchFamily="34" charset="0"/>
              </a:rPr>
              <a:t>Di Zhang</a:t>
            </a:r>
            <a:r>
              <a:rPr lang="en-US" altLang="en-US" sz="1200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rPr>
              <a:t>, Autumn 2025</a:t>
            </a:r>
            <a:endParaRPr lang="en-US" altLang="en-US" sz="1200">
              <a:latin typeface="Helvetica" panose="020B0604020202020204" pitchFamily="34" charset="0"/>
              <a:ea typeface="Helvetica" panose="020B0604020202020204" pitchFamily="34" charset="0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79140" y="4832350"/>
            <a:ext cx="304800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AE0428"/>
                </a:solidFill>
                <a:ea typeface="宋体" panose="02010600030101010101" pitchFamily="2" charset="-122"/>
                <a:sym typeface="+mn-ea"/>
              </a:rPr>
              <a:t>Titles with * will not be assessed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481455" y="951865"/>
            <a:ext cx="304800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5699" y="775111"/>
            <a:ext cx="5861134" cy="2896144"/>
          </a:xfrm>
        </p:spPr>
        <p:txBody>
          <a:bodyPr/>
          <a:lstStyle/>
          <a:p>
            <a:r>
              <a:rPr lang="en-US" altLang="en-US" dirty="0"/>
              <a:t>Review of Algorithms</a:t>
            </a:r>
            <a:endParaRPr lang="en-US" altLang="en-US" dirty="0"/>
          </a:p>
          <a:p>
            <a:r>
              <a:rPr lang="en-US" altLang="en-US" dirty="0"/>
              <a:t>Ordered Indices </a:t>
            </a:r>
            <a:endParaRPr lang="en-US" altLang="en-US" dirty="0"/>
          </a:p>
          <a:p>
            <a:r>
              <a:rPr lang="en-US" altLang="en-US" dirty="0"/>
              <a:t>B</a:t>
            </a:r>
            <a:r>
              <a:rPr lang="en-US" altLang="en-US" baseline="30000" dirty="0"/>
              <a:t>+</a:t>
            </a:r>
            <a:r>
              <a:rPr lang="en-US" altLang="en-US" dirty="0"/>
              <a:t>-Tree Index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Core Problem: Search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Problem: Find a specific key in a large collection of data.</a:t>
            </a:r>
            <a:endParaRPr lang="en-US" altLang="zh-CN"/>
          </a:p>
          <a:p>
            <a:r>
              <a:rPr lang="en-US" altLang="zh-CN"/>
              <a:t>Naive Solution: Linear Search</a:t>
            </a:r>
            <a:endParaRPr lang="en-US" altLang="zh-CN"/>
          </a:p>
          <a:p>
            <a:pPr lvl="1"/>
            <a:r>
              <a:rPr lang="en-US" altLang="zh-CN"/>
              <a:t>Traverse the collection one element at a time.</a:t>
            </a:r>
            <a:endParaRPr lang="en-US" altLang="zh-CN"/>
          </a:p>
          <a:p>
            <a:pPr lvl="1"/>
            <a:r>
              <a:rPr lang="en-US" altLang="zh-CN"/>
              <a:t>Time Complexity: O(n)</a:t>
            </a:r>
            <a:endParaRPr lang="en-US" altLang="zh-CN"/>
          </a:p>
          <a:p>
            <a:pPr lvl="1"/>
            <a:r>
              <a:rPr lang="en-US" altLang="zh-CN"/>
              <a:t>Inefficient for large datasets.</a:t>
            </a:r>
            <a:endParaRPr lang="en-US" altLang="zh-CN"/>
          </a:p>
          <a:p>
            <a:r>
              <a:rPr lang="en-US" altLang="zh-CN"/>
              <a:t>Our goal is to do better than O(n).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Array &amp; Binary Search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Prerequisite: Sorted Array</a:t>
            </a:r>
            <a:endParaRPr lang="en-US" altLang="zh-CN"/>
          </a:p>
          <a:p>
            <a:pPr lvl="1"/>
            <a:r>
              <a:rPr lang="en-US" altLang="zh-CN"/>
              <a:t>Elements are stored in contiguous memory, sorted by key.</a:t>
            </a:r>
            <a:endParaRPr lang="en-US" altLang="zh-CN"/>
          </a:p>
          <a:p>
            <a:r>
              <a:rPr lang="en-US" altLang="zh-CN"/>
              <a:t>Algorithm: Binary Search</a:t>
            </a:r>
            <a:endParaRPr lang="en-US" altLang="zh-CN"/>
          </a:p>
          <a:p>
            <a:pPr lvl="1"/>
            <a:r>
              <a:rPr lang="en-US" altLang="zh-CN"/>
              <a:t>Repeatedly divides the search interval in half.</a:t>
            </a:r>
            <a:endParaRPr lang="en-US" altLang="zh-CN"/>
          </a:p>
          <a:p>
            <a:pPr lvl="1"/>
            <a:r>
              <a:rPr lang="en-US" altLang="zh-CN"/>
              <a:t>Time Complexity: O(log n)</a:t>
            </a:r>
            <a:endParaRPr lang="en-US" altLang="zh-CN"/>
          </a:p>
          <a:p>
            <a:pPr lvl="1"/>
            <a:r>
              <a:rPr lang="en-US" altLang="zh-CN"/>
              <a:t>Massive improvement over O(n).</a:t>
            </a:r>
            <a:endParaRPr lang="en-US" altLang="zh-CN"/>
          </a:p>
          <a:p>
            <a:pPr lvl="1"/>
            <a:endParaRPr lang="en-US" altLang="zh-CN"/>
          </a:p>
          <a:p>
            <a:pPr lvl="0"/>
            <a:r>
              <a:rPr lang="en-US" altLang="zh-CN"/>
              <a:t>https://www.cs.usfca.edu/~galles/visualization/Search.html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Limitation of Arrays: Insertion/Deletion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Problem: Maintaining sorted order after changes is costly.</a:t>
            </a:r>
            <a:endParaRPr lang="en-US" altLang="zh-CN"/>
          </a:p>
          <a:p>
            <a:r>
              <a:rPr lang="en-US" altLang="zh-CN"/>
              <a:t>Insertion:</a:t>
            </a:r>
            <a:endParaRPr lang="en-US" altLang="zh-CN"/>
          </a:p>
          <a:p>
            <a:pPr lvl="1"/>
            <a:r>
              <a:rPr lang="en-US" altLang="zh-CN"/>
              <a:t>Find the correct position (O(log n) with binary search).</a:t>
            </a:r>
            <a:endParaRPr lang="en-US" altLang="zh-CN"/>
          </a:p>
          <a:p>
            <a:pPr lvl="1"/>
            <a:r>
              <a:rPr lang="en-US" altLang="zh-CN"/>
              <a:t>Shift all subsequent elements to the right to make space (O(n)).</a:t>
            </a:r>
            <a:endParaRPr lang="en-US" altLang="zh-CN"/>
          </a:p>
          <a:p>
            <a:r>
              <a:rPr lang="en-US" altLang="zh-CN"/>
              <a:t>Deletion:</a:t>
            </a:r>
            <a:endParaRPr lang="en-US" altLang="zh-CN"/>
          </a:p>
          <a:p>
            <a:pPr lvl="1"/>
            <a:r>
              <a:rPr lang="en-US" altLang="zh-CN"/>
              <a:t>Find the element (O(log n)).</a:t>
            </a:r>
            <a:endParaRPr lang="en-US" altLang="zh-CN"/>
          </a:p>
          <a:p>
            <a:pPr lvl="1"/>
            <a:r>
              <a:rPr lang="en-US" altLang="zh-CN"/>
              <a:t>Shift all subsequent elements to the left to fill the gap (O(n)).</a:t>
            </a:r>
            <a:endParaRPr lang="en-US" altLang="zh-CN"/>
          </a:p>
          <a:p>
            <a:r>
              <a:rPr lang="en-US" altLang="zh-CN"/>
              <a:t>Conclusion: Sorted arrays are excellent for static data but expensive for dynamic data with frequent updates.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Linked List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Structure: A sequence of nodes, where each node contains:</a:t>
            </a:r>
            <a:endParaRPr lang="en-US" altLang="zh-CN"/>
          </a:p>
          <a:p>
            <a:pPr lvl="1"/>
            <a:r>
              <a:rPr lang="en-US" altLang="zh-CN"/>
              <a:t>data</a:t>
            </a:r>
            <a:endParaRPr lang="en-US" altLang="zh-CN"/>
          </a:p>
          <a:p>
            <a:pPr lvl="1"/>
            <a:r>
              <a:rPr lang="en-US" altLang="zh-CN"/>
              <a:t>A pointer (or reference) to the next node.</a:t>
            </a:r>
            <a:endParaRPr lang="en-US" altLang="zh-CN"/>
          </a:p>
          <a:p>
            <a:r>
              <a:rPr lang="en-US" altLang="zh-CN"/>
              <a:t>Advantage: Efficient Insertion/Deletion</a:t>
            </a:r>
            <a:endParaRPr lang="en-US" altLang="zh-CN"/>
          </a:p>
          <a:p>
            <a:pPr lvl="1"/>
            <a:r>
              <a:rPr lang="en-US" altLang="zh-CN"/>
              <a:t>Once the position is found, insertion/deletion is O(1). Only pointers need updating. No shifting is required.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Limitation of Linked Lists: Search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Problem: Sequential Access</a:t>
            </a:r>
            <a:endParaRPr lang="en-US" altLang="zh-CN"/>
          </a:p>
          <a:p>
            <a:pPr lvl="1"/>
            <a:r>
              <a:rPr lang="en-US" altLang="zh-CN"/>
              <a:t>To find an element, you must start at the head and traverse the list.</a:t>
            </a:r>
            <a:endParaRPr lang="en-US" altLang="zh-CN"/>
          </a:p>
          <a:p>
            <a:pPr lvl="1"/>
            <a:r>
              <a:rPr lang="en-US" altLang="zh-CN"/>
              <a:t>Time Complexity: O(n)</a:t>
            </a:r>
            <a:endParaRPr lang="en-US" altLang="zh-CN"/>
          </a:p>
          <a:p>
            <a:r>
              <a:rPr lang="en-US" altLang="zh-CN"/>
              <a:t>We lose the benefit of binary search.</a:t>
            </a:r>
            <a:endParaRPr lang="en-US" altLang="zh-CN"/>
          </a:p>
          <a:p>
            <a:pPr lvl="1"/>
            <a:r>
              <a:rPr lang="en-US" altLang="zh-CN"/>
              <a:t>Idea: Can we combine the fast search of a sorted array with the easy updates of a linked list?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Classic Interview Question*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400">
                <a:solidFill>
                  <a:schemeClr val="tx1"/>
                </a:solidFill>
              </a:rPr>
              <a:t>Solution (Tortoise and Hare):</a:t>
            </a:r>
            <a:endParaRPr lang="en-US" altLang="zh-CN" sz="1400">
              <a:solidFill>
                <a:schemeClr val="tx1"/>
              </a:solidFill>
            </a:endParaRPr>
          </a:p>
          <a:p>
            <a:pPr lvl="1"/>
            <a:r>
              <a:rPr lang="en-US" altLang="zh-CN" sz="1400">
                <a:solidFill>
                  <a:schemeClr val="tx1"/>
                </a:solidFill>
              </a:rPr>
              <a:t>We set two pointers, `slow` (the slow pointer) moves one step at a time, and `fast` (the fast pointer) moves two steps at a time.</a:t>
            </a:r>
            <a:endParaRPr lang="en-US" altLang="zh-CN" sz="1400">
              <a:solidFill>
                <a:schemeClr val="tx1"/>
              </a:solidFill>
            </a:endParaRPr>
          </a:p>
          <a:p>
            <a:pPr lvl="1"/>
            <a:r>
              <a:rPr lang="en-US" altLang="zh-CN" sz="1400">
                <a:solidFill>
                  <a:schemeClr val="tx1"/>
                </a:solidFill>
              </a:rPr>
              <a:t>If there is no cycle in the linked list, the `fast` pointer will reach the end (`null`) first.</a:t>
            </a:r>
            <a:endParaRPr lang="en-US" altLang="zh-CN" sz="1400">
              <a:solidFill>
                <a:schemeClr val="tx1"/>
              </a:solidFill>
            </a:endParaRPr>
          </a:p>
          <a:p>
            <a:pPr lvl="1"/>
            <a:r>
              <a:rPr lang="en-US" altLang="zh-CN" sz="1400">
                <a:solidFill>
                  <a:schemeClr val="tx1"/>
                </a:solidFill>
              </a:rPr>
              <a:t>If there is a cycle in the linked list, the `fast` pointer will enter the cycle first and keep moving within the cycle; the `slow` pointer will enter the cycle later. Since `fast` is faster than `slow`, they will eventually meet at some node inside the cycle.</a:t>
            </a:r>
            <a:endParaRPr lang="en-US" altLang="zh-CN" sz="1400">
              <a:solidFill>
                <a:schemeClr val="tx1"/>
              </a:solidFill>
            </a:endParaRPr>
          </a:p>
          <a:p>
            <a:pPr lvl="1"/>
            <a:r>
              <a:rPr lang="en-US" altLang="zh-CN" sz="1400">
                <a:solidFill>
                  <a:schemeClr val="tx1"/>
                </a:solidFill>
              </a:rPr>
              <a:t>If `fast` and `slow` meet, it indicates that the linked list has a cycle.</a:t>
            </a:r>
            <a:endParaRPr lang="en-US" altLang="zh-CN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Binary Search Tree (BST)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Structure:</a:t>
            </a:r>
            <a:endParaRPr lang="en-US" altLang="zh-CN"/>
          </a:p>
          <a:p>
            <a:pPr lvl="1"/>
            <a:r>
              <a:rPr lang="en-US" altLang="zh-CN"/>
              <a:t>Each node has at most two children: left and right.</a:t>
            </a:r>
            <a:endParaRPr lang="en-US" altLang="zh-CN"/>
          </a:p>
          <a:p>
            <a:pPr lvl="1"/>
            <a:r>
              <a:rPr lang="en-US" altLang="zh-CN"/>
              <a:t>The BST Property:</a:t>
            </a:r>
            <a:endParaRPr lang="en-US" altLang="zh-CN"/>
          </a:p>
          <a:p>
            <a:pPr lvl="2"/>
            <a:r>
              <a:rPr lang="en-US" altLang="zh-CN"/>
              <a:t>For any node, all keys in its left subtree are less than the node's key.</a:t>
            </a:r>
            <a:endParaRPr lang="en-US" altLang="zh-CN"/>
          </a:p>
          <a:p>
            <a:pPr lvl="2"/>
            <a:r>
              <a:rPr lang="en-US" altLang="zh-CN"/>
              <a:t>All keys in its right subtree are greater than the node's key.</a:t>
            </a:r>
            <a:endParaRPr lang="en-US" altLang="zh-CN"/>
          </a:p>
          <a:p>
            <a:r>
              <a:rPr lang="en-US" altLang="zh-CN"/>
              <a:t>Search, Insert, Delete: O(h)</a:t>
            </a:r>
            <a:endParaRPr lang="en-US" altLang="zh-CN"/>
          </a:p>
          <a:p>
            <a:pPr lvl="1"/>
            <a:r>
              <a:rPr lang="en-US" altLang="zh-CN"/>
              <a:t>h is the height of the tree.</a:t>
            </a:r>
            <a:endParaRPr lang="en-US" altLang="zh-CN"/>
          </a:p>
          <a:p>
            <a:pPr lvl="1"/>
            <a:r>
              <a:rPr lang="en-US" altLang="zh-CN"/>
              <a:t>In a balanced tree, h = O(log n).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/>
              <a:t>The Problem with BSTs: Degeneration</a:t>
            </a:r>
            <a:endParaRPr lang="en-US" altLang="zh-CN" sz="28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What if data is inserted in sorted order?</a:t>
            </a:r>
            <a:endParaRPr lang="en-US" altLang="zh-CN"/>
          </a:p>
          <a:p>
            <a:pPr lvl="1"/>
            <a:r>
              <a:rPr lang="en-US" altLang="zh-CN"/>
              <a:t>The tree becomes a linear linked list.</a:t>
            </a:r>
            <a:endParaRPr lang="en-US" altLang="zh-CN"/>
          </a:p>
          <a:p>
            <a:pPr lvl="1"/>
            <a:r>
              <a:rPr lang="en-US" altLang="zh-CN"/>
              <a:t>Height h becomes n.</a:t>
            </a:r>
            <a:endParaRPr lang="en-US" altLang="zh-CN"/>
          </a:p>
          <a:p>
            <a:pPr lvl="1"/>
            <a:r>
              <a:rPr lang="en-US" altLang="zh-CN"/>
              <a:t>Search time degrades to O(n).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We need a tree that stays balanced.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Beyond Binary: M-way Search Trees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Core Idea: Increase the branching factor.</a:t>
            </a:r>
            <a:endParaRPr lang="en-US" altLang="zh-CN"/>
          </a:p>
          <a:p>
            <a:r>
              <a:rPr lang="en-US" altLang="zh-CN"/>
              <a:t>A node can have up to M children.</a:t>
            </a:r>
            <a:endParaRPr lang="en-US" altLang="zh-CN"/>
          </a:p>
          <a:p>
            <a:r>
              <a:rPr lang="en-US" altLang="zh-CN"/>
              <a:t>A node contains between </a:t>
            </a:r>
            <a:r>
              <a:rPr lang="en-US" altLang="en-US"/>
              <a:t>⌈</a:t>
            </a:r>
            <a:r>
              <a:rPr lang="en-US" altLang="zh-CN"/>
              <a:t>M/2</a:t>
            </a:r>
            <a:r>
              <a:rPr lang="en-US" altLang="en-US"/>
              <a:t>⌉</a:t>
            </a:r>
            <a:r>
              <a:rPr lang="en-US" altLang="zh-CN"/>
              <a:t>-1 and M-1 keys (for balance).</a:t>
            </a:r>
            <a:endParaRPr lang="en-US" altLang="zh-CN"/>
          </a:p>
          <a:p>
            <a:r>
              <a:rPr lang="en-US" altLang="zh-CN"/>
              <a:t>The keys in a node define ranges for its subtrees.</a:t>
            </a:r>
            <a:endParaRPr lang="en-US" altLang="zh-CN"/>
          </a:p>
          <a:p>
            <a:r>
              <a:rPr lang="en-US" altLang="zh-CN"/>
              <a:t>Advantage: Very "bushy" and short trees.</a:t>
            </a:r>
            <a:endParaRPr lang="en-US" altLang="zh-CN"/>
          </a:p>
          <a:p>
            <a:pPr lvl="1"/>
            <a:r>
              <a:rPr lang="en-US" altLang="zh-CN"/>
              <a:t>Height is O(log(floor(M)) n).</a:t>
            </a:r>
            <a:endParaRPr lang="en-US" altLang="zh-CN"/>
          </a:p>
          <a:p>
            <a:pPr lvl="1"/>
            <a:r>
              <a:rPr lang="en-US" altLang="zh-CN"/>
              <a:t>This minimizes the number of nodes we need to visit during a search.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Key Takeaways &amp; The Path Forward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Sorted Array: Fast search (O(log n)), slow updates (O(n)).</a:t>
            </a:r>
            <a:endParaRPr lang="en-US" altLang="zh-CN"/>
          </a:p>
          <a:p>
            <a:r>
              <a:rPr lang="en-US" altLang="zh-CN"/>
              <a:t>Linked List: Fast updates (O(1) after seek), slow search (O(n)).</a:t>
            </a:r>
            <a:endParaRPr lang="en-US" altLang="zh-CN"/>
          </a:p>
          <a:p>
            <a:r>
              <a:rPr lang="en-US" altLang="zh-CN"/>
              <a:t>Binary Search Tree: Good balanced performance (O(log n)), but can degenerate to O(n).</a:t>
            </a:r>
            <a:endParaRPr lang="en-US" altLang="zh-CN"/>
          </a:p>
          <a:p>
            <a:r>
              <a:rPr lang="en-US" altLang="zh-CN"/>
              <a:t>M-way Search Tree: A design for short, bushy trees that minimize search steps.</a:t>
            </a:r>
            <a:endParaRPr lang="en-US" altLang="zh-CN"/>
          </a:p>
          <a:p>
            <a:endParaRPr lang="en-US" altLang="zh-CN"/>
          </a:p>
          <a:p>
            <a:pPr marL="0" indent="0">
              <a:buNone/>
            </a:pPr>
            <a:r>
              <a:rPr lang="en-US" altLang="zh-CN"/>
              <a:t>The ultimate solution for dynamic data combines these ideas: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A self-balancing M-way tree with linked lists at the bottom.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Next: We will see how B+ Trees masterfully integrate these concepts.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Algorithm Analysis: Understanding Time Complexity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7663" y="719138"/>
            <a:ext cx="4944417" cy="4049712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200" i="0" dirty="0">
                <a:solidFill>
                  <a:schemeClr val="tx1"/>
                </a:solidFill>
                <a:effectLst/>
                <a:latin typeface="quote-cjk-patch"/>
              </a:rPr>
              <a:t>Big Idea: Time Complexity is a way to describe how the runtime of an algorithm grows as the input size increases.</a:t>
            </a:r>
            <a:endParaRPr lang="en-US" altLang="zh-CN" sz="1200" i="0" dirty="0">
              <a:solidFill>
                <a:schemeClr val="tx1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1200" i="0" dirty="0">
                <a:solidFill>
                  <a:schemeClr val="tx1"/>
                </a:solidFill>
                <a:effectLst/>
                <a:latin typeface="quote-cjk-patch"/>
              </a:rPr>
              <a:t>It's not about measuring exact seconds, but about the growth rate.</a:t>
            </a:r>
            <a:endParaRPr lang="en-US" altLang="zh-CN" sz="1200" i="0" dirty="0">
              <a:solidFill>
                <a:schemeClr val="tx1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200" i="0" dirty="0">
                <a:solidFill>
                  <a:schemeClr val="tx1"/>
                </a:solidFill>
                <a:effectLst/>
                <a:latin typeface="quote-cjk-patch"/>
              </a:rPr>
              <a:t>Why is it Important?</a:t>
            </a:r>
            <a:endParaRPr lang="en-US" altLang="zh-CN" sz="1200" i="0" dirty="0">
              <a:solidFill>
                <a:schemeClr val="tx1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1200" i="0" dirty="0">
                <a:solidFill>
                  <a:schemeClr val="tx1"/>
                </a:solidFill>
                <a:effectLst/>
                <a:latin typeface="quote-cjk-patch"/>
              </a:rPr>
              <a:t>Helps us compare algorithms without running them on specific hardware.</a:t>
            </a:r>
            <a:endParaRPr lang="en-US" altLang="zh-CN" sz="1200" i="0" dirty="0">
              <a:solidFill>
                <a:schemeClr val="tx1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1200" i="0" dirty="0">
                <a:solidFill>
                  <a:schemeClr val="tx1"/>
                </a:solidFill>
                <a:effectLst/>
                <a:latin typeface="quote-cjk-patch"/>
              </a:rPr>
              <a:t>Predicts how an algorithm will perform with large, real-world data sets.</a:t>
            </a:r>
            <a:endParaRPr lang="en-US" altLang="zh-CN" sz="1200" i="0" dirty="0">
              <a:solidFill>
                <a:schemeClr val="tx1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1200" i="0" dirty="0">
                <a:solidFill>
                  <a:schemeClr val="tx1"/>
                </a:solidFill>
                <a:effectLst/>
                <a:latin typeface="quote-cjk-patch"/>
              </a:rPr>
              <a:t>Allows us to identify potential performance bottlenecks.</a:t>
            </a:r>
            <a:endParaRPr lang="en-US" altLang="zh-CN" sz="1200" i="0" dirty="0">
              <a:solidFill>
                <a:schemeClr val="tx1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200" i="0" dirty="0">
                <a:solidFill>
                  <a:schemeClr val="tx1"/>
                </a:solidFill>
                <a:effectLst/>
                <a:latin typeface="quote-cjk-patch"/>
              </a:rPr>
              <a:t>Key Characteristic: It focuses on the worst-case scenario (Big O Notation).</a:t>
            </a:r>
            <a:endParaRPr lang="en-US" altLang="zh-CN" sz="1200" i="0" dirty="0">
              <a:solidFill>
                <a:schemeClr val="tx1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1200" i="0" dirty="0">
                <a:solidFill>
                  <a:schemeClr val="tx1"/>
                </a:solidFill>
                <a:effectLst/>
                <a:latin typeface="quote-cjk-patch"/>
              </a:rPr>
              <a:t>This gives us a guarantee that the runtime won't be any worse.</a:t>
            </a:r>
            <a:endParaRPr lang="en-US" altLang="zh-CN" sz="1200" i="0" dirty="0">
              <a:solidFill>
                <a:schemeClr val="tx1"/>
              </a:solidFill>
              <a:effectLst/>
              <a:latin typeface="quote-cjk-patch"/>
            </a:endParaRPr>
          </a:p>
          <a:p>
            <a:endParaRPr lang="en-US" altLang="zh-CN" sz="1200" i="0" dirty="0">
              <a:solidFill>
                <a:schemeClr val="tx1"/>
              </a:solidFill>
              <a:effectLst/>
              <a:latin typeface="quote-cjk-patch"/>
            </a:endParaRPr>
          </a:p>
        </p:txBody>
      </p:sp>
      <p:pic>
        <p:nvPicPr>
          <p:cNvPr id="1026" name="Picture 2" descr="In The Terminator (1984), the T-800 has to use his finger to find Sarah's  name in the phone book, even though you'd think that he'd just magnify his  eyes or something sinc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051" y="1419622"/>
            <a:ext cx="2905125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Language of Growth: Big O Notation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600" dirty="0"/>
              <a:t>Big O Notation (O): Describes the upper bound of growth. We care about the dominant term as n (input size) gets very large.</a:t>
            </a:r>
            <a:endParaRPr lang="en-US" altLang="zh-CN" sz="600" dirty="0"/>
          </a:p>
          <a:p>
            <a:pPr lvl="1"/>
            <a:r>
              <a:rPr lang="en-US" altLang="zh-CN" sz="600" dirty="0"/>
              <a:t>Example: O(n² + n + 1) simplifies to O(n²).</a:t>
            </a:r>
            <a:endParaRPr lang="en-US" altLang="zh-CN" sz="600" dirty="0"/>
          </a:p>
          <a:p>
            <a:r>
              <a:rPr lang="en-US" altLang="zh-CN" sz="600" dirty="0"/>
              <a:t>Common Complexity Classes (From Best to Worst):</a:t>
            </a:r>
            <a:endParaRPr lang="en-US" altLang="zh-CN" sz="600" dirty="0"/>
          </a:p>
          <a:p>
            <a:pPr lvl="1"/>
            <a:r>
              <a:rPr lang="en-US" altLang="zh-CN" sz="600" dirty="0"/>
              <a:t>O(1) - Constant Time: Runtime is independent of input size.</a:t>
            </a:r>
            <a:endParaRPr lang="en-US" altLang="zh-CN" sz="600" dirty="0"/>
          </a:p>
          <a:p>
            <a:pPr lvl="2"/>
            <a:r>
              <a:rPr lang="en-US" altLang="zh-CN" sz="600" dirty="0"/>
              <a:t>Example: Accessing an array element by index.</a:t>
            </a:r>
            <a:endParaRPr lang="en-US" altLang="zh-CN" sz="600" dirty="0"/>
          </a:p>
          <a:p>
            <a:pPr lvl="1"/>
            <a:r>
              <a:rPr lang="en-US" altLang="zh-CN" sz="600" dirty="0"/>
              <a:t>O(log n) - Logarithmic Time: Runtime grows very slowly as n increases.</a:t>
            </a:r>
            <a:endParaRPr lang="en-US" altLang="zh-CN" sz="600" dirty="0"/>
          </a:p>
          <a:p>
            <a:pPr lvl="2"/>
            <a:r>
              <a:rPr lang="en-US" altLang="zh-CN" sz="600" dirty="0"/>
              <a:t>Example: Binary search in a sorted list.</a:t>
            </a:r>
            <a:endParaRPr lang="en-US" altLang="zh-CN" sz="600" dirty="0"/>
          </a:p>
          <a:p>
            <a:pPr lvl="1"/>
            <a:r>
              <a:rPr lang="en-US" altLang="zh-CN" sz="600" dirty="0"/>
              <a:t>O(n) - Linear Time: Runtime grows proportionally with n.</a:t>
            </a:r>
            <a:endParaRPr lang="en-US" altLang="zh-CN" sz="600" dirty="0"/>
          </a:p>
          <a:p>
            <a:pPr lvl="2"/>
            <a:r>
              <a:rPr lang="en-US" altLang="zh-CN" sz="600" dirty="0"/>
              <a:t>Example: Finding the maximum value in an unsorted list.</a:t>
            </a:r>
            <a:endParaRPr lang="en-US" altLang="zh-CN" sz="600" dirty="0"/>
          </a:p>
          <a:p>
            <a:pPr lvl="1"/>
            <a:r>
              <a:rPr lang="en-US" altLang="zh-CN" sz="600" dirty="0"/>
              <a:t>O(n log n) - </a:t>
            </a:r>
            <a:r>
              <a:rPr lang="en-US" altLang="zh-CN" sz="600" dirty="0" err="1"/>
              <a:t>Linearithmic</a:t>
            </a:r>
            <a:r>
              <a:rPr lang="en-US" altLang="zh-CN" sz="600" dirty="0"/>
              <a:t> Time: Common in efficient sorting algorithms.</a:t>
            </a:r>
            <a:endParaRPr lang="en-US" altLang="zh-CN" sz="600" dirty="0"/>
          </a:p>
          <a:p>
            <a:pPr lvl="2"/>
            <a:r>
              <a:rPr lang="en-US" altLang="zh-CN" sz="600" dirty="0"/>
              <a:t>Example: Merge Sort, Quick Sort (average case).</a:t>
            </a:r>
            <a:endParaRPr lang="en-US" altLang="zh-CN" sz="600" dirty="0"/>
          </a:p>
          <a:p>
            <a:pPr lvl="1"/>
            <a:r>
              <a:rPr lang="en-US" altLang="zh-CN" sz="600" dirty="0"/>
              <a:t>O(n²) - Quadratic Time: Runtime grows with the square of n.</a:t>
            </a:r>
            <a:endParaRPr lang="en-US" altLang="zh-CN" sz="600" dirty="0"/>
          </a:p>
          <a:p>
            <a:pPr lvl="2"/>
            <a:r>
              <a:rPr lang="en-US" altLang="zh-CN" sz="600" dirty="0"/>
              <a:t>Example: Checking all pairs in a list (nested loops).</a:t>
            </a:r>
            <a:endParaRPr lang="en-US" altLang="zh-CN" sz="600" dirty="0"/>
          </a:p>
          <a:p>
            <a:pPr lvl="1"/>
            <a:r>
              <a:rPr lang="en-US" altLang="zh-CN" sz="600" dirty="0"/>
              <a:t>O(2^n) - Exponential Time: Runtime doubles with each additional element. Becomes unusable for large n.</a:t>
            </a:r>
            <a:endParaRPr lang="en-US" altLang="zh-CN" sz="600" dirty="0"/>
          </a:p>
          <a:p>
            <a:pPr lvl="2"/>
            <a:r>
              <a:rPr lang="en-US" altLang="zh-CN" sz="600" dirty="0"/>
              <a:t>Example: Naive recursive solution for the Fibonacci sequence.</a:t>
            </a:r>
            <a:endParaRPr lang="zh-CN" altLang="en-US" sz="600" dirty="0"/>
          </a:p>
        </p:txBody>
      </p:sp>
      <p:pic>
        <p:nvPicPr>
          <p:cNvPr id="3075" name="Picture 3" descr="undefined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131590"/>
            <a:ext cx="3418905" cy="3418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From Code to Complexity &amp; Practical Impact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7663" y="719138"/>
            <a:ext cx="8616825" cy="4049712"/>
          </a:xfrm>
        </p:spPr>
        <p:txBody>
          <a:bodyPr/>
          <a:lstStyle/>
          <a:p>
            <a:r>
              <a:rPr lang="en-US" altLang="zh-CN" sz="1100" dirty="0"/>
              <a:t>How to Calculate Time Complexity?</a:t>
            </a:r>
            <a:endParaRPr lang="en-US" altLang="zh-CN" sz="1100" dirty="0"/>
          </a:p>
          <a:p>
            <a:pPr lvl="1"/>
            <a:r>
              <a:rPr lang="en-US" altLang="zh-CN" sz="1100" dirty="0"/>
              <a:t>Identify the input size (n).</a:t>
            </a:r>
            <a:endParaRPr lang="en-US" altLang="zh-CN" sz="1100" dirty="0"/>
          </a:p>
          <a:p>
            <a:pPr lvl="1"/>
            <a:r>
              <a:rPr lang="en-US" altLang="zh-CN" sz="1100" dirty="0"/>
              <a:t>Count the basic operations in terms of n.</a:t>
            </a:r>
            <a:endParaRPr lang="en-US" altLang="zh-CN" sz="1100" dirty="0"/>
          </a:p>
          <a:p>
            <a:pPr lvl="1"/>
            <a:r>
              <a:rPr lang="en-US" altLang="zh-CN" sz="1100" dirty="0"/>
              <a:t>Find the fastest-growing term and drop constants.</a:t>
            </a:r>
            <a:endParaRPr lang="en-US" altLang="zh-CN" sz="1100" dirty="0"/>
          </a:p>
          <a:p>
            <a:pPr lvl="2"/>
            <a:r>
              <a:rPr lang="en-US" altLang="zh-CN" sz="1100" dirty="0"/>
              <a:t>Example: A single loop</a:t>
            </a:r>
            <a:endParaRPr lang="en-US" altLang="zh-CN" sz="1100" dirty="0"/>
          </a:p>
          <a:p>
            <a:pPr lvl="2"/>
            <a:endParaRPr lang="en-US" altLang="zh-CN" sz="1100" dirty="0"/>
          </a:p>
          <a:p>
            <a:pPr lvl="2"/>
            <a:endParaRPr lang="en-US" altLang="zh-CN" sz="1100" dirty="0"/>
          </a:p>
          <a:p>
            <a:pPr lvl="2"/>
            <a:r>
              <a:rPr lang="en-US" altLang="zh-CN" sz="1100" dirty="0"/>
              <a:t>Example: Nested loops</a:t>
            </a:r>
            <a:endParaRPr lang="en-US" altLang="zh-CN" sz="1100" dirty="0"/>
          </a:p>
          <a:p>
            <a:pPr lvl="2"/>
            <a:endParaRPr lang="en-US" altLang="zh-CN" sz="1100" dirty="0"/>
          </a:p>
          <a:p>
            <a:pPr lvl="2"/>
            <a:endParaRPr lang="en-US" altLang="zh-CN" sz="1100" dirty="0"/>
          </a:p>
          <a:p>
            <a:r>
              <a:rPr lang="en-US" altLang="zh-CN" sz="1100" dirty="0"/>
              <a:t>Why This Matters in the Real World:</a:t>
            </a:r>
            <a:endParaRPr lang="en-US" altLang="zh-CN" sz="1100" dirty="0"/>
          </a:p>
          <a:p>
            <a:pPr lvl="1"/>
            <a:r>
              <a:rPr lang="en-US" altLang="zh-CN" sz="1100" dirty="0"/>
              <a:t>O(n) vs O(n²): For n = 1,000,000, an O(n) algorithm might take ~1 second, while an O(n²) algorithm could take over 11 days!</a:t>
            </a:r>
            <a:endParaRPr lang="en-US" altLang="zh-CN" sz="1100" dirty="0"/>
          </a:p>
          <a:p>
            <a:pPr lvl="1"/>
            <a:r>
              <a:rPr lang="en-US" altLang="zh-CN" sz="1100" dirty="0"/>
              <a:t>Choosing the right algorithm is crucial for building scalable and responsive applications, especially in fields like data science, web development, and systems programming.</a:t>
            </a:r>
            <a:endParaRPr lang="zh-CN" altLang="en-US" sz="11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688" y="2355726"/>
            <a:ext cx="4644008" cy="56650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9" y="3291830"/>
            <a:ext cx="4644007" cy="6841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Operational Costs: Data Structure Efficiency</a:t>
            </a:r>
            <a:endParaRPr lang="zh-CN" altLang="en-US" dirty="0"/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idx="1"/>
          </p:nvPr>
        </p:nvGraphicFramePr>
        <p:xfrm>
          <a:off x="611560" y="934403"/>
          <a:ext cx="5460605" cy="4049711"/>
        </p:xfrm>
        <a:graphic>
          <a:graphicData uri="http://schemas.openxmlformats.org/drawingml/2006/table">
            <a:tbl>
              <a:tblPr>
                <a:tableStyleId>{92B9C05A-2A7E-4D72-A66B-1C6792E0D88E}</a:tableStyleId>
              </a:tblPr>
              <a:tblGrid>
                <a:gridCol w="1092121"/>
                <a:gridCol w="1092121"/>
                <a:gridCol w="1092121"/>
                <a:gridCol w="1092121"/>
                <a:gridCol w="1092121"/>
              </a:tblGrid>
              <a:tr h="3298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Data Structure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Access (By Key/Index)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Search (By Value)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Insertion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Deletion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</a:tr>
              <a:tr h="74794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Array / List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O(n)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O(n) [at end: O(1)*]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</a:tr>
              <a:tr h="32989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Stack / Queue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O(1) [Top/Front]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O(1) [Push/Enqueue]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O(1) [Pop/Dequeue]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</a:tr>
              <a:tr h="74510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Linked List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O(1) [at head]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O(1) [at head]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</a:tr>
              <a:tr h="57731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Hash Table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</a:tr>
              <a:tr h="65978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Binary Search Tree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O(log 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O(log 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O(log 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O(log 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</a:tr>
              <a:tr h="65978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Balanced BST (e.g., AVL, Red-Black)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O(log 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O(log 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O(log 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O(log n)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44" marR="2844" marT="2844" marB="0" anchor="b"/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6228184" y="843558"/>
            <a:ext cx="26642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Key Takeaways &amp; Why This Matters:</a:t>
            </a:r>
            <a:endParaRPr lang="en-US" altLang="zh-C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marL="457200" lvl="1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Need fast access by index? Use an Array.</a:t>
            </a:r>
            <a:endParaRPr lang="en-US" altLang="zh-CN" sz="1200" dirty="0"/>
          </a:p>
          <a:p>
            <a:pPr marL="457200" lvl="1" indent="-171450"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marL="457200" lvl="1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Need fast lookups/insertions/deletions by key? Use a Hash Table.</a:t>
            </a:r>
            <a:endParaRPr lang="en-US" altLang="zh-CN" sz="1200" dirty="0"/>
          </a:p>
          <a:p>
            <a:pPr marL="457200" lvl="1" indent="-171450"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marL="457200" lvl="1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Need your data sorted and still have decent speed? Use a Balanced BST.</a:t>
            </a:r>
            <a:endParaRPr lang="en-US" altLang="zh-CN" sz="1200" dirty="0"/>
          </a:p>
          <a:p>
            <a:pPr marL="457200" lvl="1" indent="-171450">
              <a:buFont typeface="Arial" panose="020B0604020202020204" pitchFamily="34" charset="0"/>
              <a:buChar char="•"/>
            </a:pPr>
            <a:endParaRPr lang="en-US" altLang="zh-CN" sz="1200" dirty="0"/>
          </a:p>
          <a:p>
            <a:pPr marL="457200" lvl="1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Trade-offs are everywhere: Arrays have fast access but slow insertions. Linked Lists have slow access but fast insertions at known positions.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Basic Concepts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82193" y="851297"/>
            <a:ext cx="5586273" cy="3902869"/>
          </a:xfrm>
        </p:spPr>
        <p:txBody>
          <a:bodyPr/>
          <a:lstStyle/>
          <a:p>
            <a:r>
              <a:rPr lang="en-US" altLang="en-US" sz="1100" dirty="0"/>
              <a:t>Indexing mechanisms used to speed up access to desired data.</a:t>
            </a:r>
            <a:endParaRPr lang="en-US" altLang="en-US" sz="1100" dirty="0"/>
          </a:p>
          <a:p>
            <a:pPr lvl="1"/>
            <a:r>
              <a:rPr lang="en-US" altLang="en-US" sz="1100" dirty="0"/>
              <a:t>E.g., author catalog in library</a:t>
            </a:r>
            <a:endParaRPr lang="en-US" altLang="en-US" sz="1100" dirty="0"/>
          </a:p>
          <a:p>
            <a:r>
              <a:rPr lang="en-US" altLang="en-US" sz="1100" b="1" dirty="0">
                <a:solidFill>
                  <a:srgbClr val="002060"/>
                </a:solidFill>
              </a:rPr>
              <a:t>Search Key</a:t>
            </a:r>
            <a:r>
              <a:rPr lang="en-US" altLang="en-US" sz="1100" dirty="0">
                <a:solidFill>
                  <a:srgbClr val="002060"/>
                </a:solidFill>
              </a:rPr>
              <a:t> </a:t>
            </a:r>
            <a:r>
              <a:rPr lang="en-US" altLang="en-US" sz="1100" dirty="0"/>
              <a:t>- attribute to set of attributes used to look up records in a file.</a:t>
            </a:r>
            <a:endParaRPr lang="en-US" altLang="en-US" sz="1100" dirty="0"/>
          </a:p>
          <a:p>
            <a:r>
              <a:rPr lang="en-US" altLang="en-US" sz="1100" dirty="0"/>
              <a:t>An </a:t>
            </a:r>
            <a:r>
              <a:rPr lang="en-US" altLang="en-US" sz="1100" b="1" dirty="0">
                <a:solidFill>
                  <a:srgbClr val="002060"/>
                </a:solidFill>
              </a:rPr>
              <a:t>index file </a:t>
            </a:r>
            <a:r>
              <a:rPr lang="en-US" altLang="en-US" sz="1100" dirty="0"/>
              <a:t>consists of records (called </a:t>
            </a:r>
            <a:r>
              <a:rPr lang="en-US" altLang="en-US" sz="1100" b="1" dirty="0">
                <a:solidFill>
                  <a:srgbClr val="002060"/>
                </a:solidFill>
              </a:rPr>
              <a:t>index entries</a:t>
            </a:r>
            <a:r>
              <a:rPr lang="en-US" altLang="en-US" sz="1100" dirty="0"/>
              <a:t>) of the form</a:t>
            </a:r>
            <a:br>
              <a:rPr lang="en-US" altLang="en-US" sz="1100" dirty="0"/>
            </a:br>
            <a:br>
              <a:rPr lang="en-US" altLang="en-US" sz="1100" dirty="0"/>
            </a:br>
            <a:endParaRPr lang="en-US" altLang="en-US" sz="1100" dirty="0"/>
          </a:p>
          <a:p>
            <a:r>
              <a:rPr lang="en-US" altLang="en-US" sz="1100" dirty="0"/>
              <a:t>Index files are typically much smaller than the original file </a:t>
            </a:r>
            <a:endParaRPr lang="en-US" altLang="en-US" sz="1100" dirty="0"/>
          </a:p>
          <a:p>
            <a:r>
              <a:rPr lang="en-US" altLang="en-US" sz="1100" dirty="0"/>
              <a:t>Two basic kinds of indices:</a:t>
            </a:r>
            <a:endParaRPr lang="en-US" altLang="en-US" sz="1100" dirty="0"/>
          </a:p>
          <a:p>
            <a:pPr lvl="1"/>
            <a:r>
              <a:rPr lang="en-US" altLang="en-US" sz="1100" b="1" dirty="0"/>
              <a:t>Ordered indices:  </a:t>
            </a:r>
            <a:r>
              <a:rPr lang="en-US" altLang="en-US" sz="1100" dirty="0"/>
              <a:t>search keys are stored in sorted order</a:t>
            </a:r>
            <a:endParaRPr lang="en-US" altLang="en-US" sz="1100" dirty="0"/>
          </a:p>
          <a:p>
            <a:pPr lvl="1"/>
            <a:r>
              <a:rPr lang="en-US" altLang="en-US" sz="1100" b="1" dirty="0"/>
              <a:t>Hash indices:</a:t>
            </a:r>
            <a:r>
              <a:rPr lang="en-US" altLang="en-US" sz="1100" dirty="0"/>
              <a:t>  search keys are distributed uniformly across </a:t>
            </a:r>
            <a:r>
              <a:rPr lang="ja-JP" altLang="en-US" sz="1100" dirty="0"/>
              <a:t>“</a:t>
            </a:r>
            <a:r>
              <a:rPr lang="en-US" altLang="ja-JP" sz="1100" dirty="0"/>
              <a:t>buckets</a:t>
            </a:r>
            <a:r>
              <a:rPr lang="ja-JP" altLang="en-US" sz="1100" dirty="0"/>
              <a:t>”</a:t>
            </a:r>
            <a:r>
              <a:rPr lang="en-US" altLang="ja-JP" sz="1100" dirty="0"/>
              <a:t> using a </a:t>
            </a:r>
            <a:r>
              <a:rPr lang="ja-JP" altLang="en-US" sz="1100" dirty="0"/>
              <a:t>“</a:t>
            </a:r>
            <a:r>
              <a:rPr lang="en-US" altLang="ja-JP" sz="1100" dirty="0"/>
              <a:t>hash function</a:t>
            </a:r>
            <a:r>
              <a:rPr lang="ja-JP" altLang="en-US" sz="1100" dirty="0"/>
              <a:t>”</a:t>
            </a:r>
            <a:r>
              <a:rPr lang="en-US" altLang="ja-JP" sz="1100" dirty="0"/>
              <a:t>. (won’t be taught in this lecture)</a:t>
            </a:r>
            <a:endParaRPr lang="en-US" altLang="en-US" sz="1100" dirty="0"/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2947225" y="2136169"/>
            <a:ext cx="1129904" cy="28813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350" dirty="0"/>
              <a:t>search-key</a:t>
            </a:r>
            <a:endParaRPr kumimoji="0" lang="en-US" altLang="en-US" sz="1350" dirty="0"/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4053316" y="2134979"/>
            <a:ext cx="888206" cy="28813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350"/>
              <a:t>pointer</a:t>
            </a:r>
            <a:endParaRPr kumimoji="0" lang="en-US" altLang="en-US" sz="13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 Evaluation Metrics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8876" y="929337"/>
            <a:ext cx="5760177" cy="3421210"/>
          </a:xfrm>
        </p:spPr>
        <p:txBody>
          <a:bodyPr/>
          <a:lstStyle/>
          <a:p>
            <a:r>
              <a:rPr lang="en-US" altLang="en-US" sz="1200" dirty="0"/>
              <a:t>Access types supported efficiently.  E.g., </a:t>
            </a:r>
            <a:endParaRPr lang="en-US" altLang="en-US" sz="1200" dirty="0"/>
          </a:p>
          <a:p>
            <a:pPr lvl="1"/>
            <a:r>
              <a:rPr lang="en-US" altLang="en-US" sz="1200" dirty="0"/>
              <a:t>Records with a specified value in the attribute</a:t>
            </a:r>
            <a:endParaRPr lang="en-US" altLang="en-US" sz="1200" dirty="0"/>
          </a:p>
          <a:p>
            <a:pPr lvl="1"/>
            <a:r>
              <a:rPr lang="en-US" altLang="en-US" sz="1200" dirty="0"/>
              <a:t>Records with an attribute value falling in a specified range of values.</a:t>
            </a:r>
            <a:endParaRPr lang="en-US" altLang="en-US" sz="1200" dirty="0"/>
          </a:p>
          <a:p>
            <a:r>
              <a:rPr lang="en-US" altLang="en-US" sz="1200" dirty="0"/>
              <a:t>Access time</a:t>
            </a:r>
            <a:endParaRPr lang="en-US" altLang="en-US" sz="1200" dirty="0"/>
          </a:p>
          <a:p>
            <a:r>
              <a:rPr lang="en-US" altLang="en-US" sz="1200" dirty="0"/>
              <a:t>Insertion time</a:t>
            </a:r>
            <a:endParaRPr lang="en-US" altLang="en-US" sz="1200" dirty="0"/>
          </a:p>
          <a:p>
            <a:r>
              <a:rPr lang="en-US" altLang="en-US" sz="1200" dirty="0"/>
              <a:t>Deletion time</a:t>
            </a:r>
            <a:endParaRPr lang="en-US" altLang="en-US" sz="1200" dirty="0"/>
          </a:p>
          <a:p>
            <a:r>
              <a:rPr lang="en-US" altLang="en-US" sz="1200" dirty="0"/>
              <a:t>Space overhead</a:t>
            </a:r>
            <a:endParaRPr lang="en-US" alt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Ordered Indices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03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35" y="877109"/>
            <a:ext cx="5592932" cy="3657600"/>
          </a:xfrm>
        </p:spPr>
        <p:txBody>
          <a:bodyPr/>
          <a:lstStyle/>
          <a:p>
            <a:r>
              <a:rPr lang="en-US" altLang="en-US" sz="1400" dirty="0"/>
              <a:t>In an </a:t>
            </a:r>
            <a:r>
              <a:rPr lang="en-US" altLang="en-US" sz="1400" b="1" dirty="0">
                <a:solidFill>
                  <a:srgbClr val="002060"/>
                </a:solidFill>
              </a:rPr>
              <a:t>ordered index</a:t>
            </a:r>
            <a:r>
              <a:rPr lang="en-US" altLang="en-US" sz="1400" b="1" dirty="0"/>
              <a:t>, </a:t>
            </a:r>
            <a:r>
              <a:rPr lang="en-US" altLang="en-US" sz="1400" dirty="0"/>
              <a:t>index entries are stored sorted on the search key value.  </a:t>
            </a:r>
            <a:endParaRPr lang="en-US" altLang="en-US" sz="1400" dirty="0"/>
          </a:p>
          <a:p>
            <a:r>
              <a:rPr lang="en-US" altLang="en-US" sz="1400" b="1" dirty="0">
                <a:solidFill>
                  <a:srgbClr val="002060"/>
                </a:solidFill>
              </a:rPr>
              <a:t>Clustering index</a:t>
            </a:r>
            <a:r>
              <a:rPr lang="en-US" altLang="en-US" sz="1400" b="1" dirty="0"/>
              <a:t>: </a:t>
            </a:r>
            <a:r>
              <a:rPr lang="en-US" altLang="en-US" sz="1400" dirty="0"/>
              <a:t>in a sequentially ordered file, the index whose search key specifies the sequential order of the file.</a:t>
            </a:r>
            <a:endParaRPr lang="en-US" altLang="en-US" sz="1400" dirty="0"/>
          </a:p>
          <a:p>
            <a:pPr lvl="1"/>
            <a:r>
              <a:rPr lang="en-US" altLang="en-US" sz="1400" dirty="0"/>
              <a:t>Also called </a:t>
            </a:r>
            <a:r>
              <a:rPr lang="en-US" altLang="en-US" sz="1400" b="1" dirty="0">
                <a:solidFill>
                  <a:srgbClr val="002060"/>
                </a:solidFill>
              </a:rPr>
              <a:t>primary index</a:t>
            </a:r>
            <a:endParaRPr lang="en-US" altLang="en-US" sz="1400" dirty="0">
              <a:solidFill>
                <a:srgbClr val="002060"/>
              </a:solidFill>
            </a:endParaRPr>
          </a:p>
          <a:p>
            <a:pPr lvl="1"/>
            <a:r>
              <a:rPr lang="en-US" altLang="en-US" sz="1400" dirty="0"/>
              <a:t>The search key of a primary index is usually but not necessarily the primary key.</a:t>
            </a:r>
            <a:endParaRPr lang="en-US" altLang="en-US" sz="1400" dirty="0"/>
          </a:p>
          <a:p>
            <a:r>
              <a:rPr lang="en-US" altLang="en-US" sz="1400" b="1" dirty="0">
                <a:solidFill>
                  <a:srgbClr val="002060"/>
                </a:solidFill>
              </a:rPr>
              <a:t>Secondary index</a:t>
            </a:r>
            <a:r>
              <a:rPr lang="en-US" altLang="en-US" sz="1400" dirty="0"/>
              <a:t>:</a:t>
            </a:r>
            <a:r>
              <a:rPr lang="en-US" altLang="en-US" sz="1400" b="1" dirty="0"/>
              <a:t> </a:t>
            </a:r>
            <a:r>
              <a:rPr lang="en-US" altLang="en-US" sz="1400" dirty="0"/>
              <a:t>an index whose search key specifies an order different from the sequential order of the file.  Also called </a:t>
            </a:r>
            <a:br>
              <a:rPr lang="en-US" altLang="en-US" sz="1400" dirty="0"/>
            </a:br>
            <a:r>
              <a:rPr lang="en-US" altLang="en-US" sz="1400" b="1" dirty="0" err="1">
                <a:solidFill>
                  <a:srgbClr val="002060"/>
                </a:solidFill>
              </a:rPr>
              <a:t>nonclustering</a:t>
            </a:r>
            <a:r>
              <a:rPr lang="en-US" altLang="en-US" sz="1400" b="1" dirty="0">
                <a:solidFill>
                  <a:srgbClr val="002060"/>
                </a:solidFill>
              </a:rPr>
              <a:t> index</a:t>
            </a:r>
            <a:r>
              <a:rPr lang="en-US" altLang="en-US" sz="1400" b="1" dirty="0"/>
              <a:t>.</a:t>
            </a:r>
            <a:endParaRPr lang="en-US" altLang="en-US" sz="1400" dirty="0"/>
          </a:p>
          <a:p>
            <a:r>
              <a:rPr lang="en-US" altLang="en-US" sz="1400" b="1" dirty="0">
                <a:solidFill>
                  <a:srgbClr val="002060"/>
                </a:solidFill>
              </a:rPr>
              <a:t>Index-sequential file</a:t>
            </a:r>
            <a:r>
              <a:rPr lang="en-US" altLang="en-US" sz="1400" b="1" dirty="0"/>
              <a:t>:</a:t>
            </a:r>
            <a:r>
              <a:rPr lang="en-US" altLang="en-US" sz="1400" dirty="0"/>
              <a:t> sequential file ordered on a search key, with a clustering index on the search key.</a:t>
            </a:r>
            <a:endParaRPr lang="en-US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Dense Index Files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3791" y="820341"/>
            <a:ext cx="5745956" cy="873919"/>
          </a:xfrm>
        </p:spPr>
        <p:txBody>
          <a:bodyPr/>
          <a:lstStyle/>
          <a:p>
            <a:r>
              <a:rPr lang="en-US" altLang="en-US" sz="1200" b="1" dirty="0">
                <a:solidFill>
                  <a:srgbClr val="002060"/>
                </a:solidFill>
              </a:rPr>
              <a:t>Dense index</a:t>
            </a:r>
            <a:r>
              <a:rPr lang="en-US" altLang="en-US" sz="1200" dirty="0">
                <a:solidFill>
                  <a:srgbClr val="002060"/>
                </a:solidFill>
              </a:rPr>
              <a:t> </a:t>
            </a:r>
            <a:r>
              <a:rPr lang="en-US" altLang="en-US" sz="1200" dirty="0"/>
              <a:t>— Index record appears for every search-key value in the file. </a:t>
            </a:r>
            <a:endParaRPr lang="en-US" altLang="en-US" sz="1200" dirty="0"/>
          </a:p>
          <a:p>
            <a:r>
              <a:rPr lang="en-US" altLang="en-US" sz="1200" dirty="0"/>
              <a:t>E.g. index on </a:t>
            </a:r>
            <a:r>
              <a:rPr lang="en-US" altLang="en-US" sz="1200" i="1" dirty="0"/>
              <a:t>ID</a:t>
            </a:r>
            <a:r>
              <a:rPr lang="en-US" altLang="en-US" sz="1200" dirty="0"/>
              <a:t> attribute of </a:t>
            </a:r>
            <a:r>
              <a:rPr lang="en-US" altLang="en-US" sz="1200" i="1" dirty="0"/>
              <a:t>instructor</a:t>
            </a:r>
            <a:r>
              <a:rPr lang="en-US" altLang="en-US" sz="1200" dirty="0"/>
              <a:t> relation </a:t>
            </a:r>
            <a:endParaRPr lang="en-US" altLang="en-US" sz="1200" dirty="0"/>
          </a:p>
        </p:txBody>
      </p:sp>
      <p:pic>
        <p:nvPicPr>
          <p:cNvPr id="15364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6028" y="1717827"/>
            <a:ext cx="5025628" cy="2441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Dense Index Files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3791" y="820341"/>
            <a:ext cx="5745956" cy="725090"/>
          </a:xfrm>
        </p:spPr>
        <p:txBody>
          <a:bodyPr/>
          <a:lstStyle/>
          <a:p>
            <a:r>
              <a:rPr lang="en-US" altLang="en-US" sz="1400" dirty="0"/>
              <a:t>Dense index on </a:t>
            </a:r>
            <a:r>
              <a:rPr lang="en-US" altLang="en-US" sz="1400" i="1" dirty="0"/>
              <a:t>dept_name</a:t>
            </a:r>
            <a:r>
              <a:rPr lang="en-US" altLang="en-US" sz="1400" dirty="0"/>
              <a:t>, with </a:t>
            </a:r>
            <a:r>
              <a:rPr lang="en-US" altLang="en-US" sz="1400" i="1" dirty="0"/>
              <a:t>instructor </a:t>
            </a:r>
            <a:r>
              <a:rPr lang="en-US" altLang="en-US" sz="1400" dirty="0"/>
              <a:t>file sorted on </a:t>
            </a:r>
            <a:r>
              <a:rPr lang="en-US" altLang="en-US" sz="1400" i="1" dirty="0"/>
              <a:t>dept_name</a:t>
            </a:r>
            <a:endParaRPr lang="en-US" altLang="en-US" sz="1400" dirty="0"/>
          </a:p>
        </p:txBody>
      </p:sp>
      <p:pic>
        <p:nvPicPr>
          <p:cNvPr id="17412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850" y="1299653"/>
            <a:ext cx="5311379" cy="220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Sparse Index Files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3791" y="820341"/>
            <a:ext cx="5574506" cy="1871663"/>
          </a:xfrm>
        </p:spPr>
        <p:txBody>
          <a:bodyPr/>
          <a:lstStyle/>
          <a:p>
            <a:r>
              <a:rPr lang="en-US" altLang="en-US" sz="1100" b="1" dirty="0">
                <a:solidFill>
                  <a:srgbClr val="002060"/>
                </a:solidFill>
              </a:rPr>
              <a:t>Sparse Index</a:t>
            </a:r>
            <a:r>
              <a:rPr lang="en-US" altLang="en-US" sz="1100" dirty="0"/>
              <a:t>:  contains index records for only some search-key values.</a:t>
            </a:r>
            <a:endParaRPr lang="en-US" altLang="en-US" sz="1100" dirty="0"/>
          </a:p>
          <a:p>
            <a:pPr lvl="1"/>
            <a:r>
              <a:rPr lang="en-US" altLang="en-US" sz="1100" dirty="0"/>
              <a:t>Applicable when records are sequentially ordered on search-key</a:t>
            </a:r>
            <a:endParaRPr lang="en-US" altLang="en-US" sz="1100" dirty="0"/>
          </a:p>
          <a:p>
            <a:r>
              <a:rPr lang="en-US" altLang="en-US" sz="1100" dirty="0"/>
              <a:t>To locate a record with search-key value </a:t>
            </a:r>
            <a:r>
              <a:rPr lang="en-US" altLang="en-US" sz="1100" i="1" dirty="0"/>
              <a:t>K</a:t>
            </a:r>
            <a:r>
              <a:rPr lang="en-US" altLang="en-US" sz="1100" dirty="0"/>
              <a:t> we:</a:t>
            </a:r>
            <a:endParaRPr lang="en-US" altLang="en-US" sz="1100" dirty="0"/>
          </a:p>
          <a:p>
            <a:pPr lvl="1"/>
            <a:r>
              <a:rPr lang="en-US" altLang="en-US" sz="1100" dirty="0"/>
              <a:t>Find index record with largest search-key value &lt; </a:t>
            </a:r>
            <a:r>
              <a:rPr lang="en-US" altLang="en-US" sz="1100" i="1" dirty="0"/>
              <a:t>K</a:t>
            </a:r>
            <a:endParaRPr lang="en-US" altLang="en-US" sz="1100" dirty="0"/>
          </a:p>
          <a:p>
            <a:pPr lvl="1"/>
            <a:r>
              <a:rPr lang="en-US" altLang="en-US" sz="1100" dirty="0"/>
              <a:t>Search file sequentially starting at the record to which the index record points</a:t>
            </a:r>
            <a:endParaRPr lang="en-US" altLang="en-US" sz="1100" dirty="0"/>
          </a:p>
        </p:txBody>
      </p:sp>
      <p:pic>
        <p:nvPicPr>
          <p:cNvPr id="19460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242" y="2616992"/>
            <a:ext cx="4558949" cy="2097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Sparse Index Files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88850" y="895353"/>
            <a:ext cx="6212150" cy="3894534"/>
          </a:xfrm>
        </p:spPr>
        <p:txBody>
          <a:bodyPr/>
          <a:lstStyle/>
          <a:p>
            <a:r>
              <a:rPr lang="en-US" altLang="en-US" sz="1050" dirty="0"/>
              <a:t>Compared to dense indices:</a:t>
            </a:r>
            <a:endParaRPr lang="en-US" altLang="en-US" sz="1050" dirty="0"/>
          </a:p>
          <a:p>
            <a:pPr lvl="1"/>
            <a:r>
              <a:rPr lang="en-US" altLang="en-US" sz="1050" dirty="0"/>
              <a:t>Less space and less maintenance overhead for insertions and deletions.</a:t>
            </a:r>
            <a:endParaRPr lang="en-US" altLang="en-US" sz="1050" dirty="0"/>
          </a:p>
          <a:p>
            <a:pPr lvl="1"/>
            <a:r>
              <a:rPr lang="en-US" altLang="en-US" sz="1050" dirty="0"/>
              <a:t>Generally slower than dense index for locating records.</a:t>
            </a:r>
            <a:endParaRPr lang="en-US" altLang="en-US" sz="1050" dirty="0"/>
          </a:p>
          <a:p>
            <a:r>
              <a:rPr lang="en-US" altLang="en-US" sz="1050" b="1" dirty="0"/>
              <a:t>Good tradeoff</a:t>
            </a:r>
            <a:r>
              <a:rPr lang="en-US" altLang="en-US" sz="1050" dirty="0"/>
              <a:t>: </a:t>
            </a:r>
            <a:endParaRPr lang="en-US" altLang="en-US" sz="1050" dirty="0"/>
          </a:p>
          <a:p>
            <a:pPr lvl="1"/>
            <a:r>
              <a:rPr lang="en-US" altLang="en-US" sz="1050" dirty="0"/>
              <a:t>for clustered index: sparse index with an index entry for every block in file, corresponding to least search-key value in the block.</a:t>
            </a: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endParaRPr lang="en-US" altLang="en-US" sz="1050" dirty="0"/>
          </a:p>
          <a:p>
            <a:pPr lvl="1"/>
            <a:r>
              <a:rPr lang="en-US" altLang="en-US" sz="1050" dirty="0"/>
              <a:t>For </a:t>
            </a:r>
            <a:r>
              <a:rPr lang="en-US" altLang="en-US" sz="1050" dirty="0" err="1"/>
              <a:t>unclustered</a:t>
            </a:r>
            <a:r>
              <a:rPr lang="en-US" altLang="en-US" sz="1050" dirty="0"/>
              <a:t> index: sparse index on top of dense index (multilevel index)</a:t>
            </a:r>
            <a:endParaRPr lang="en-US" altLang="en-US" sz="1050" dirty="0"/>
          </a:p>
        </p:txBody>
      </p:sp>
      <p:grpSp>
        <p:nvGrpSpPr>
          <p:cNvPr id="5" name="Group 4"/>
          <p:cNvGrpSpPr/>
          <p:nvPr/>
        </p:nvGrpSpPr>
        <p:grpSpPr>
          <a:xfrm>
            <a:off x="3200400" y="2561033"/>
            <a:ext cx="1878304" cy="1679969"/>
            <a:chOff x="2465294" y="3429000"/>
            <a:chExt cx="2782312" cy="2568575"/>
          </a:xfrm>
        </p:grpSpPr>
        <p:pic>
          <p:nvPicPr>
            <p:cNvPr id="3" name="Graphic 2"/>
            <p:cNvPicPr>
              <a:picLocks noChangeAspect="1"/>
            </p:cNvPicPr>
            <p:nvPr/>
          </p:nvPicPr>
          <p:blipFill rotWithShape="1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39022" t="-6" r="-1376" b="53812"/>
            <a:stretch>
              <a:fillRect/>
            </a:stretch>
          </p:blipFill>
          <p:spPr>
            <a:xfrm>
              <a:off x="2528392" y="3429000"/>
              <a:ext cx="2719214" cy="2441743"/>
            </a:xfrm>
            <a:prstGeom prst="rect">
              <a:avLst/>
            </a:prstGeom>
          </p:spPr>
        </p:pic>
        <p:sp>
          <p:nvSpPr>
            <p:cNvPr id="4" name="Rectangle 3"/>
            <p:cNvSpPr/>
            <p:nvPr/>
          </p:nvSpPr>
          <p:spPr bwMode="auto">
            <a:xfrm>
              <a:off x="2465294" y="4649871"/>
              <a:ext cx="1147482" cy="122087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I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3357627" y="5333999"/>
              <a:ext cx="636494" cy="66357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I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719263" y="72629"/>
            <a:ext cx="6057900" cy="4572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Secondary Indices Example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818085" y="897713"/>
            <a:ext cx="5765006" cy="3613566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000" dirty="0"/>
              <a:t>Secondary index on salary field of instructor</a:t>
            </a:r>
            <a:endParaRPr lang="en-US" altLang="en-US" sz="1000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sz="1000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sz="1000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sz="1000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sz="1000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sz="1000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sz="1000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sz="1000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sz="1000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sz="1000" dirty="0"/>
          </a:p>
          <a:p>
            <a:pPr marL="0" indent="0">
              <a:buNone/>
            </a:pPr>
            <a:endParaRPr lang="en-US" altLang="en-US" sz="1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000" dirty="0"/>
              <a:t>Index record points to a bucket that contains pointers to all the actual records with that particular search-key value.</a:t>
            </a:r>
            <a:endParaRPr lang="en-US" altLang="en-US" sz="1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000" dirty="0"/>
              <a:t>Secondary indices have to be dense</a:t>
            </a:r>
            <a:endParaRPr lang="en-US" altLang="en-US" sz="1000" dirty="0"/>
          </a:p>
        </p:txBody>
      </p:sp>
      <p:pic>
        <p:nvPicPr>
          <p:cNvPr id="23557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294" y="1275153"/>
            <a:ext cx="4914893" cy="2411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Clustering vs Nonclustering Indices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88851" y="800747"/>
            <a:ext cx="5740202" cy="3947602"/>
          </a:xfrm>
        </p:spPr>
        <p:txBody>
          <a:bodyPr/>
          <a:lstStyle/>
          <a:p>
            <a:r>
              <a:rPr lang="en-US" altLang="en-US" sz="1400" dirty="0"/>
              <a:t>Indices offer substantial benefits when searching for records.</a:t>
            </a:r>
            <a:endParaRPr lang="en-US" altLang="en-US" sz="1400" dirty="0"/>
          </a:p>
          <a:p>
            <a:r>
              <a:rPr lang="en-US" altLang="en-US" sz="1400" dirty="0"/>
              <a:t>BUT: indices imposes overhead on database modification</a:t>
            </a:r>
            <a:endParaRPr lang="en-US" altLang="en-US" sz="1400" dirty="0"/>
          </a:p>
          <a:p>
            <a:pPr lvl="1"/>
            <a:r>
              <a:rPr lang="en-US" altLang="en-US" sz="1400" dirty="0"/>
              <a:t>when a record is inserted or deleted, every index on the relation must be updated</a:t>
            </a:r>
            <a:endParaRPr lang="en-US" altLang="en-US" sz="1400" dirty="0"/>
          </a:p>
          <a:p>
            <a:pPr lvl="1"/>
            <a:r>
              <a:rPr lang="en-US" altLang="en-US" sz="1400" dirty="0"/>
              <a:t>When a record is updated, any index on an updated attribute must be updated</a:t>
            </a:r>
            <a:endParaRPr lang="en-US" altLang="en-US" sz="1400" dirty="0"/>
          </a:p>
          <a:p>
            <a:r>
              <a:rPr lang="en-US" altLang="en-US" sz="1400" dirty="0"/>
              <a:t>Sequential scan using clustering index is efficient, but a sequential scan using a secondary (</a:t>
            </a:r>
            <a:r>
              <a:rPr lang="en-US" altLang="en-US" sz="1400" dirty="0" err="1"/>
              <a:t>nonclustering</a:t>
            </a:r>
            <a:r>
              <a:rPr lang="en-US" altLang="en-US" sz="1400" dirty="0"/>
              <a:t>) index is expensive on magnetic disk</a:t>
            </a:r>
            <a:endParaRPr lang="en-US" altLang="en-US" sz="1400" dirty="0"/>
          </a:p>
          <a:p>
            <a:pPr lvl="1"/>
            <a:r>
              <a:rPr lang="en-US" altLang="en-US" sz="1400" dirty="0"/>
              <a:t>Each record access may fetch a new block from disk</a:t>
            </a:r>
            <a:endParaRPr lang="en-US" altLang="en-US" sz="1400" dirty="0"/>
          </a:p>
          <a:p>
            <a:pPr lvl="1"/>
            <a:r>
              <a:rPr lang="en-US" altLang="en-US" sz="1400" dirty="0"/>
              <a:t>Each block fetch on magnetic disk requires about 5 to 10 milliseconds</a:t>
            </a:r>
            <a:endParaRPr lang="en-US" altLang="en-US" sz="1400" dirty="0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Multilevel Index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4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8877" y="805649"/>
            <a:ext cx="5772543" cy="3837789"/>
          </a:xfrm>
        </p:spPr>
        <p:txBody>
          <a:bodyPr/>
          <a:lstStyle/>
          <a:p>
            <a:r>
              <a:rPr lang="en-US" altLang="en-US" sz="1600" dirty="0"/>
              <a:t>If index does not fit in memory, access becomes expensive.</a:t>
            </a:r>
            <a:endParaRPr lang="en-US" altLang="en-US" sz="1600" dirty="0"/>
          </a:p>
          <a:p>
            <a:r>
              <a:rPr lang="en-US" altLang="en-US" sz="1600" dirty="0"/>
              <a:t>Solution: treat index kept on disk as a sequential file and construct a sparse index on it.</a:t>
            </a:r>
            <a:endParaRPr lang="en-US" altLang="en-US" sz="1600" dirty="0"/>
          </a:p>
          <a:p>
            <a:pPr lvl="1"/>
            <a:r>
              <a:rPr lang="en-US" altLang="en-US" sz="1600" dirty="0"/>
              <a:t>outer index – a sparse index of the basic index</a:t>
            </a:r>
            <a:endParaRPr lang="en-US" altLang="en-US" sz="1600" dirty="0"/>
          </a:p>
          <a:p>
            <a:pPr lvl="1"/>
            <a:r>
              <a:rPr lang="en-US" altLang="en-US" sz="1600" dirty="0"/>
              <a:t>inner index – the basic index file</a:t>
            </a:r>
            <a:endParaRPr lang="en-US" altLang="en-US" sz="1600" dirty="0"/>
          </a:p>
          <a:p>
            <a:r>
              <a:rPr lang="en-US" altLang="en-US" sz="1600" dirty="0"/>
              <a:t>If even outer index is too large to fit in main memory, yet another level of index can be created, and so on.</a:t>
            </a:r>
            <a:endParaRPr lang="en-US" altLang="en-US" sz="1600" dirty="0"/>
          </a:p>
          <a:p>
            <a:r>
              <a:rPr lang="en-US" altLang="en-US" sz="1600" dirty="0"/>
              <a:t>Indices at all levels must be updated on insertion or deletion from the file.</a:t>
            </a:r>
            <a:endParaRPr lang="en-US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5539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625204" y="193088"/>
            <a:ext cx="6057900" cy="327422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Multilevel Index (Cont.)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8240" y="1121568"/>
            <a:ext cx="3464129" cy="334070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 Update:  Deletion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8824" y="2599135"/>
            <a:ext cx="5686148" cy="2456259"/>
          </a:xfrm>
        </p:spPr>
        <p:txBody>
          <a:bodyPr/>
          <a:lstStyle/>
          <a:p>
            <a:r>
              <a:rPr lang="en-US" altLang="en-US" sz="1200" b="1" dirty="0"/>
              <a:t>Single-level index entry deletion:</a:t>
            </a:r>
            <a:endParaRPr lang="en-US" altLang="en-US" sz="1200" b="1" dirty="0"/>
          </a:p>
          <a:p>
            <a:pPr lvl="1"/>
            <a:r>
              <a:rPr lang="en-US" altLang="en-US" sz="1200" b="1" dirty="0"/>
              <a:t>Dense indices</a:t>
            </a:r>
            <a:r>
              <a:rPr lang="en-US" altLang="en-US" sz="1200" dirty="0"/>
              <a:t> – deletion of search-key is similar to file record deletion.</a:t>
            </a:r>
            <a:endParaRPr lang="en-US" altLang="en-US" sz="1200" dirty="0"/>
          </a:p>
          <a:p>
            <a:pPr lvl="1"/>
            <a:r>
              <a:rPr lang="en-US" altLang="en-US" sz="1200" b="1" dirty="0"/>
              <a:t>Sparse indices</a:t>
            </a:r>
            <a:r>
              <a:rPr lang="en-US" altLang="en-US" sz="1200" dirty="0"/>
              <a:t> –</a:t>
            </a:r>
            <a:endParaRPr lang="en-US" altLang="en-US" sz="1200" dirty="0"/>
          </a:p>
          <a:p>
            <a:pPr lvl="2"/>
            <a:r>
              <a:rPr lang="en-US" altLang="en-US" sz="1200" dirty="0"/>
              <a:t> if an entry for the search key exists in the index, it is deleted by replacing the entry in the index with the next search-key value in the file (in search-key order).  </a:t>
            </a:r>
            <a:endParaRPr lang="en-US" altLang="en-US" sz="1200" dirty="0"/>
          </a:p>
          <a:p>
            <a:pPr lvl="2"/>
            <a:r>
              <a:rPr lang="en-US" altLang="en-US" sz="1200" dirty="0"/>
              <a:t>If the next search-key value already has an index entry, the entry is deleted instead of being replaced.</a:t>
            </a:r>
            <a:endParaRPr lang="en-US" altLang="en-US" sz="1200" dirty="0"/>
          </a:p>
        </p:txBody>
      </p:sp>
      <p:pic>
        <p:nvPicPr>
          <p:cNvPr id="31748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6360" y="667941"/>
            <a:ext cx="4548188" cy="2093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Rectangle 3"/>
          <p:cNvSpPr>
            <a:spLocks noChangeArrowheads="1"/>
          </p:cNvSpPr>
          <p:nvPr/>
        </p:nvSpPr>
        <p:spPr bwMode="auto">
          <a:xfrm>
            <a:off x="1808825" y="1304925"/>
            <a:ext cx="2334550" cy="1141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n-US" sz="1275" dirty="0"/>
              <a:t>If deleted record was the only record in the file with its particular search-key value, the search-key is deleted from the index also.</a:t>
            </a:r>
            <a:endParaRPr lang="en-US" altLang="en-US" sz="1275" dirty="0"/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 Update:  Insertion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1788851" y="800747"/>
            <a:ext cx="5740202" cy="3947602"/>
          </a:xfrm>
        </p:spPr>
        <p:txBody>
          <a:bodyPr/>
          <a:lstStyle/>
          <a:p>
            <a:r>
              <a:rPr lang="en-US" altLang="en-US" sz="1200" b="1" dirty="0"/>
              <a:t>Single-level index insertion:</a:t>
            </a:r>
            <a:endParaRPr lang="en-US" altLang="en-US" sz="1200" b="1" dirty="0"/>
          </a:p>
          <a:p>
            <a:pPr lvl="1"/>
            <a:r>
              <a:rPr lang="en-US" altLang="en-US" sz="1200" dirty="0"/>
              <a:t>Perform a lookup using the search-key value of the record to be inserted.</a:t>
            </a:r>
            <a:endParaRPr lang="en-US" altLang="en-US" sz="1200" dirty="0"/>
          </a:p>
          <a:p>
            <a:pPr lvl="1"/>
            <a:r>
              <a:rPr lang="en-US" altLang="en-US" sz="1200" b="1" dirty="0"/>
              <a:t>Dense indices</a:t>
            </a:r>
            <a:r>
              <a:rPr lang="en-US" altLang="en-US" sz="1200" dirty="0"/>
              <a:t> – if the search-key value does not appear in the index, insert it</a:t>
            </a:r>
            <a:endParaRPr lang="en-US" altLang="en-US" sz="1200" dirty="0"/>
          </a:p>
          <a:p>
            <a:pPr lvl="2"/>
            <a:r>
              <a:rPr lang="en-US" altLang="en-US" sz="1200" dirty="0"/>
              <a:t>Indices are maintained as sequential files</a:t>
            </a:r>
            <a:endParaRPr lang="en-US" altLang="en-US" sz="1200" dirty="0"/>
          </a:p>
          <a:p>
            <a:pPr lvl="2"/>
            <a:r>
              <a:rPr lang="en-US" altLang="en-US" sz="1200" dirty="0"/>
              <a:t>Need to create space for new entry, overflow blocks may be required</a:t>
            </a:r>
            <a:endParaRPr lang="en-US" altLang="en-US" sz="1200" dirty="0"/>
          </a:p>
          <a:p>
            <a:pPr lvl="1"/>
            <a:r>
              <a:rPr lang="en-US" altLang="en-US" sz="1200" b="1" dirty="0"/>
              <a:t>Sparse indices</a:t>
            </a:r>
            <a:r>
              <a:rPr lang="en-US" altLang="en-US" sz="1200" dirty="0"/>
              <a:t> – if index stores an entry for each block of the file, no change needs to be made to the index unless a new block is created.  </a:t>
            </a:r>
            <a:endParaRPr lang="en-US" altLang="en-US" sz="1200" dirty="0"/>
          </a:p>
          <a:p>
            <a:pPr lvl="2"/>
            <a:r>
              <a:rPr lang="en-US" altLang="en-US" sz="1200" dirty="0"/>
              <a:t>If a new block is created, the first search-key value appearing in the new block is inserted into the index.</a:t>
            </a:r>
            <a:endParaRPr lang="en-US" altLang="en-US" sz="1200" dirty="0"/>
          </a:p>
          <a:p>
            <a:r>
              <a:rPr lang="en-US" altLang="en-US" sz="1200" b="1" dirty="0"/>
              <a:t>Multilevel insertion and deletion:</a:t>
            </a:r>
            <a:r>
              <a:rPr lang="en-US" altLang="en-US" sz="1200" dirty="0"/>
              <a:t>  algorithms are simple extensions of the single-level algorithms</a:t>
            </a:r>
            <a:endParaRPr lang="en-US" altLang="en-US" sz="1200" dirty="0"/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Starting Point: Binary Search Tree (BST)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100" dirty="0"/>
              <a:t>Core Concept:</a:t>
            </a:r>
            <a:endParaRPr lang="en-US" altLang="zh-CN" sz="1100" dirty="0"/>
          </a:p>
          <a:p>
            <a:pPr lvl="1"/>
            <a:r>
              <a:rPr lang="en-US" altLang="zh-CN" sz="1100" dirty="0"/>
              <a:t>Each node has at most two children: left and right.</a:t>
            </a:r>
            <a:endParaRPr lang="en-US" altLang="zh-CN" sz="1100" dirty="0"/>
          </a:p>
          <a:p>
            <a:pPr lvl="1"/>
            <a:r>
              <a:rPr lang="en-US" altLang="zh-CN" sz="1100" dirty="0"/>
              <a:t>For any node:</a:t>
            </a:r>
            <a:endParaRPr lang="en-US" altLang="zh-CN" sz="1100" dirty="0"/>
          </a:p>
          <a:p>
            <a:pPr lvl="2"/>
            <a:r>
              <a:rPr lang="en-US" altLang="zh-CN" sz="1100" dirty="0"/>
              <a:t>All keys in its left subtree are less than its key.</a:t>
            </a:r>
            <a:endParaRPr lang="en-US" altLang="zh-CN" sz="1100" dirty="0"/>
          </a:p>
          <a:p>
            <a:pPr lvl="2"/>
            <a:r>
              <a:rPr lang="en-US" altLang="zh-CN" sz="1100" dirty="0"/>
              <a:t>All keys in its right subtree are greater than its key.</a:t>
            </a:r>
            <a:endParaRPr lang="en-US" altLang="zh-CN" sz="1100" dirty="0"/>
          </a:p>
          <a:p>
            <a:r>
              <a:rPr lang="en-US" altLang="zh-CN" sz="1100" dirty="0"/>
              <a:t>Advantages:</a:t>
            </a:r>
            <a:endParaRPr lang="en-US" altLang="zh-CN" sz="1100" dirty="0"/>
          </a:p>
          <a:p>
            <a:pPr lvl="1"/>
            <a:r>
              <a:rPr lang="en-US" altLang="zh-CN" sz="1100" dirty="0"/>
              <a:t>Simple structure.</a:t>
            </a:r>
            <a:endParaRPr lang="en-US" altLang="zh-CN" sz="1100" dirty="0"/>
          </a:p>
          <a:p>
            <a:pPr lvl="1"/>
            <a:r>
              <a:rPr lang="en-US" altLang="zh-CN" sz="1100" dirty="0"/>
              <a:t>Fast for in-memory operations: O(h) time for search, insert, delete, where h is the tree's height.</a:t>
            </a:r>
            <a:endParaRPr lang="en-US" altLang="zh-CN" sz="1100" dirty="0"/>
          </a:p>
          <a:p>
            <a:r>
              <a:rPr lang="en-US" altLang="zh-CN" sz="1100" dirty="0"/>
              <a:t>The Critical Problem:</a:t>
            </a:r>
            <a:endParaRPr lang="en-US" altLang="zh-CN" sz="1100" dirty="0"/>
          </a:p>
          <a:p>
            <a:pPr lvl="1"/>
            <a:r>
              <a:rPr lang="en-US" altLang="zh-CN" sz="1100" dirty="0"/>
              <a:t>It can become unbalanced (e.g., if you insert sorted data).</a:t>
            </a:r>
            <a:endParaRPr lang="en-US" altLang="zh-CN" sz="1100" dirty="0"/>
          </a:p>
          <a:p>
            <a:pPr lvl="1"/>
            <a:r>
              <a:rPr lang="en-US" altLang="zh-CN" sz="1100" dirty="0"/>
              <a:t>In the worst case, it degrades into a linked list, and operations become O(n).</a:t>
            </a:r>
            <a:endParaRPr lang="en-US" altLang="zh-CN" sz="1100" dirty="0"/>
          </a:p>
          <a:p>
            <a:r>
              <a:rPr lang="en-US" altLang="zh-CN" sz="1100" dirty="0"/>
              <a:t>Demo</a:t>
            </a:r>
            <a:endParaRPr lang="en-US" altLang="zh-CN" sz="1100" dirty="0"/>
          </a:p>
          <a:p>
            <a:pPr lvl="1"/>
            <a:r>
              <a:rPr lang="en-US" altLang="zh-CN" sz="1100" dirty="0"/>
              <a:t>https://www.cs.usfca.edu/~galles/visualization/BST.html</a:t>
            </a:r>
            <a:endParaRPr lang="zh-CN" alt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In-Memory Solution: Balanced BST (e.g., AVL)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400" dirty="0"/>
              <a:t>Core Concept:</a:t>
            </a:r>
            <a:endParaRPr lang="en-US" altLang="zh-CN" sz="1400" dirty="0"/>
          </a:p>
          <a:p>
            <a:pPr lvl="1"/>
            <a:r>
              <a:rPr lang="en-US" altLang="zh-CN" sz="1400" dirty="0"/>
              <a:t>Self-balancing BSTs automatically maintain a height of O(log n) after every insertion and deletion.</a:t>
            </a:r>
            <a:endParaRPr lang="en-US" altLang="zh-CN" sz="1400" dirty="0"/>
          </a:p>
          <a:p>
            <a:pPr lvl="1"/>
            <a:r>
              <a:rPr lang="en-US" altLang="zh-CN" sz="1400" dirty="0"/>
              <a:t>They use rotation algorithms to fix imbalances.</a:t>
            </a:r>
            <a:endParaRPr lang="en-US" altLang="zh-CN" sz="1400" dirty="0"/>
          </a:p>
          <a:p>
            <a:r>
              <a:rPr lang="en-US" altLang="zh-CN" sz="1400" dirty="0"/>
              <a:t>Advantages:</a:t>
            </a:r>
            <a:endParaRPr lang="en-US" altLang="zh-CN" sz="1400" dirty="0"/>
          </a:p>
          <a:p>
            <a:pPr lvl="1"/>
            <a:r>
              <a:rPr lang="en-US" altLang="zh-CN" sz="1400" dirty="0"/>
              <a:t>Guarantees efficient O(log n) time complexity for core operations.</a:t>
            </a:r>
            <a:endParaRPr lang="en-US" altLang="zh-CN" sz="1400" dirty="0"/>
          </a:p>
          <a:p>
            <a:pPr lvl="1"/>
            <a:r>
              <a:rPr lang="en-US" altLang="zh-CN" sz="1400" dirty="0"/>
              <a:t>The ideal choice for in-memory data storage and lookups (e.g., in Java </a:t>
            </a:r>
            <a:r>
              <a:rPr lang="en-US" altLang="zh-CN" sz="1400" dirty="0" err="1"/>
              <a:t>TreeMap</a:t>
            </a:r>
            <a:r>
              <a:rPr lang="en-US" altLang="zh-CN" sz="1400" dirty="0"/>
              <a:t>, C++ std::map).</a:t>
            </a:r>
            <a:endParaRPr lang="en-US" altLang="zh-CN" sz="1400" dirty="0"/>
          </a:p>
          <a:p>
            <a:r>
              <a:rPr lang="en-US" altLang="zh-CN" sz="1400" dirty="0"/>
              <a:t>The New Bottleneck: Disk I/O</a:t>
            </a:r>
            <a:endParaRPr lang="en-US" altLang="zh-CN" sz="1400" dirty="0"/>
          </a:p>
          <a:p>
            <a:pPr lvl="1"/>
            <a:r>
              <a:rPr lang="en-US" altLang="zh-CN" sz="1400" dirty="0"/>
              <a:t>When data is too large for memory, it must live on disk.</a:t>
            </a:r>
            <a:endParaRPr lang="en-US" altLang="zh-CN" sz="1400" dirty="0"/>
          </a:p>
          <a:p>
            <a:pPr lvl="1"/>
            <a:r>
              <a:rPr lang="en-US" altLang="zh-CN" sz="1400" dirty="0"/>
              <a:t>Disk access is slow; the cost is dominated by the number of disk reads/writes.</a:t>
            </a:r>
            <a:endParaRPr lang="en-US" altLang="zh-CN" sz="1400" dirty="0"/>
          </a:p>
          <a:p>
            <a:pPr lvl="1"/>
            <a:r>
              <a:rPr lang="en-US" altLang="zh-CN" sz="1400" dirty="0"/>
              <a:t>Even with O(log n) comparisons, if each node is a separate disk block, you need O(log n) disk I/</a:t>
            </a:r>
            <a:r>
              <a:rPr lang="en-US" altLang="zh-CN" sz="1400" dirty="0" err="1"/>
              <a:t>Os</a:t>
            </a:r>
            <a:r>
              <a:rPr lang="en-US" altLang="zh-CN" sz="1400" dirty="0"/>
              <a:t>, which can be too high for large n.</a:t>
            </a:r>
            <a:endParaRPr lang="en-US" altLang="zh-CN" sz="1400" dirty="0"/>
          </a:p>
          <a:p>
            <a:pPr marL="247650" lvl="1" indent="0">
              <a:buNone/>
            </a:pPr>
            <a:r>
              <a:rPr lang="en-US" altLang="zh-CN" sz="1400" dirty="0"/>
              <a:t>https://www.cs.usfca.edu/~galles/visualization/AVLtree.html</a:t>
            </a:r>
            <a:endParaRPr lang="en-US" altLang="zh-CN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The Shift: Thinking in Terms of Disk Blocks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Key Insight:</a:t>
            </a:r>
            <a:endParaRPr lang="en-US" altLang="zh-CN" dirty="0"/>
          </a:p>
          <a:p>
            <a:pPr lvl="1"/>
            <a:r>
              <a:rPr lang="en-US" altLang="zh-CN" dirty="0"/>
              <a:t>Data is read from disk in chunks called pages or blocks (e.g., 4KB).</a:t>
            </a:r>
            <a:endParaRPr lang="en-US" altLang="zh-CN" dirty="0"/>
          </a:p>
          <a:p>
            <a:pPr lvl="1"/>
            <a:r>
              <a:rPr lang="en-US" altLang="zh-CN" dirty="0"/>
              <a:t>The goal is to minimize the number of disk I/</a:t>
            </a:r>
            <a:r>
              <a:rPr lang="en-US" altLang="zh-CN" dirty="0" err="1"/>
              <a:t>Os</a:t>
            </a:r>
            <a:r>
              <a:rPr lang="en-US" altLang="zh-CN" dirty="0"/>
              <a:t>, even if it means doing more computations in memory.</a:t>
            </a:r>
            <a:endParaRPr lang="en-US" altLang="zh-CN" dirty="0"/>
          </a:p>
          <a:p>
            <a:r>
              <a:rPr lang="en-US" altLang="zh-CN" dirty="0"/>
              <a:t>The New Design Goal:</a:t>
            </a:r>
            <a:endParaRPr lang="en-US" altLang="zh-CN" dirty="0"/>
          </a:p>
          <a:p>
            <a:pPr lvl="1"/>
            <a:r>
              <a:rPr lang="en-US" altLang="zh-CN" dirty="0"/>
              <a:t>Instead of making the tree shorter in terms of nodes, make it shorter in terms of disk accesses.</a:t>
            </a:r>
            <a:endParaRPr lang="en-US" altLang="zh-CN" dirty="0"/>
          </a:p>
          <a:p>
            <a:pPr lvl="1"/>
            <a:r>
              <a:rPr lang="en-US" altLang="zh-CN" dirty="0"/>
              <a:t>How? Pack more keys into a single node that fits within one disk block.</a:t>
            </a:r>
            <a:endParaRPr lang="en-US" altLang="zh-CN" dirty="0"/>
          </a:p>
          <a:p>
            <a:pPr lvl="1"/>
            <a:r>
              <a:rPr lang="en-US" altLang="zh-CN" dirty="0"/>
              <a:t>This leads us from binary to multi-way trees.</a:t>
            </a:r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Bridge: B-Tree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000" dirty="0"/>
              <a:t>Core Concept:</a:t>
            </a:r>
            <a:endParaRPr lang="en-US" altLang="zh-CN" sz="1000" dirty="0"/>
          </a:p>
          <a:p>
            <a:pPr lvl="1"/>
            <a:r>
              <a:rPr lang="en-US" altLang="zh-CN" sz="1000" dirty="0"/>
              <a:t>A B-Tree of order m is a multi-way search tree with these </a:t>
            </a:r>
            <a:r>
              <a:rPr lang="en-US" altLang="zh-CN" sz="1000" b="1" dirty="0"/>
              <a:t>properties</a:t>
            </a:r>
            <a:r>
              <a:rPr lang="en-US" altLang="zh-CN" sz="1000" dirty="0"/>
              <a:t>:</a:t>
            </a:r>
            <a:endParaRPr lang="en-US" altLang="zh-CN" sz="1000" dirty="0"/>
          </a:p>
          <a:p>
            <a:pPr lvl="2"/>
            <a:r>
              <a:rPr lang="en-US" altLang="zh-CN" sz="1000" dirty="0"/>
              <a:t>Each node has at most m children.</a:t>
            </a:r>
            <a:endParaRPr lang="en-US" altLang="zh-CN" sz="1000" dirty="0"/>
          </a:p>
          <a:p>
            <a:pPr lvl="2"/>
            <a:r>
              <a:rPr lang="en-US" altLang="zh-CN" sz="1000" dirty="0"/>
              <a:t>Each internal node (except root) has at least ceil(m/2) children.</a:t>
            </a:r>
            <a:endParaRPr lang="en-US" altLang="zh-CN" sz="1000" dirty="0"/>
          </a:p>
          <a:p>
            <a:pPr lvl="2"/>
            <a:r>
              <a:rPr lang="en-US" altLang="zh-CN" sz="1000" dirty="0"/>
              <a:t>A node with k keys has exactly k+1 children.</a:t>
            </a:r>
            <a:endParaRPr lang="en-US" altLang="zh-CN" sz="1000" dirty="0"/>
          </a:p>
          <a:p>
            <a:pPr lvl="2"/>
            <a:r>
              <a:rPr lang="en-US" altLang="zh-CN" sz="1000" dirty="0"/>
              <a:t>All leaves are at the same depth.</a:t>
            </a:r>
            <a:endParaRPr lang="en-US" altLang="zh-CN" sz="1000" dirty="0"/>
          </a:p>
          <a:p>
            <a:r>
              <a:rPr lang="en-US" altLang="zh-CN" sz="1000" dirty="0"/>
              <a:t>Why is it "The Bridge"?</a:t>
            </a:r>
            <a:endParaRPr lang="en-US" altLang="zh-CN" sz="1000" dirty="0"/>
          </a:p>
          <a:p>
            <a:pPr lvl="1"/>
            <a:r>
              <a:rPr lang="en-US" altLang="zh-CN" sz="1000" dirty="0"/>
              <a:t>It combines the principles of a balanced tree with a disk-oriented structure.</a:t>
            </a:r>
            <a:endParaRPr lang="en-US" altLang="zh-CN" sz="1000" dirty="0"/>
          </a:p>
          <a:p>
            <a:pPr lvl="1"/>
            <a:r>
              <a:rPr lang="en-US" altLang="zh-CN" sz="1000" dirty="0"/>
              <a:t>It's a self-balancing multi-way tree.</a:t>
            </a:r>
            <a:endParaRPr lang="en-US" altLang="zh-CN" sz="1000" dirty="0"/>
          </a:p>
          <a:p>
            <a:r>
              <a:rPr lang="en-US" altLang="zh-CN" sz="1000" dirty="0"/>
              <a:t>Advantages:</a:t>
            </a:r>
            <a:endParaRPr lang="en-US" altLang="zh-CN" sz="1000" dirty="0"/>
          </a:p>
          <a:p>
            <a:pPr lvl="1"/>
            <a:r>
              <a:rPr lang="en-US" altLang="zh-CN" sz="1000" dirty="0"/>
              <a:t>Wide and Short: A single node holds many keys, drastically reducing the tree's height.</a:t>
            </a:r>
            <a:endParaRPr lang="en-US" altLang="zh-CN" sz="1000" dirty="0"/>
          </a:p>
          <a:p>
            <a:pPr lvl="1"/>
            <a:r>
              <a:rPr lang="en-US" altLang="zh-CN" sz="1000" dirty="0"/>
              <a:t>Efficient I/O: Loading one node (one disk block) provides a lot of information for the next step.</a:t>
            </a:r>
            <a:endParaRPr lang="zh-CN" alt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B-Tree Example &amp; Mechanics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Example: Inserting into a B-Tree of Order 5</a:t>
            </a:r>
            <a:endParaRPr lang="en-US" altLang="zh-CN" dirty="0"/>
          </a:p>
          <a:p>
            <a:pPr lvl="1"/>
            <a:r>
              <a:rPr lang="en-US" altLang="zh-CN" dirty="0"/>
              <a:t>Each node can have up to 4 keys and 5 children.</a:t>
            </a:r>
            <a:endParaRPr lang="en-US" altLang="zh-CN" dirty="0"/>
          </a:p>
          <a:p>
            <a:pPr lvl="1"/>
            <a:r>
              <a:rPr lang="en-US" altLang="zh-CN" dirty="0"/>
              <a:t>Insertion: Find the leaf. If the leaf is full, split it and promote the middle key to the parent.</a:t>
            </a:r>
            <a:endParaRPr lang="en-US" altLang="zh-CN" dirty="0"/>
          </a:p>
          <a:p>
            <a:pPr lvl="1"/>
            <a:r>
              <a:rPr lang="en-US" altLang="zh-CN" dirty="0"/>
              <a:t>Splitting propagates upwards, which is how the tree grows in height and stays balanced.</a:t>
            </a:r>
            <a:endParaRPr lang="en-US" altLang="zh-CN" dirty="0"/>
          </a:p>
          <a:p>
            <a:r>
              <a:rPr lang="en-US" altLang="zh-CN" dirty="0"/>
              <a:t>Key Point:</a:t>
            </a:r>
            <a:endParaRPr lang="en-US" altLang="zh-CN" dirty="0"/>
          </a:p>
          <a:p>
            <a:pPr lvl="1"/>
            <a:r>
              <a:rPr lang="en-US" altLang="zh-CN" dirty="0"/>
              <a:t>In a B-Tree, every node contains both keys and the associated data (or pointers to data).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247650" lvl="1" indent="0">
              <a:buNone/>
            </a:pPr>
            <a:r>
              <a:rPr lang="en-US" altLang="zh-CN" dirty="0"/>
              <a:t>https://www.cs.usfca.edu/~galles/visualization/BTree.html</a:t>
            </a:r>
            <a:endParaRPr lang="zh-CN" altLang="en-US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Identifying B-Tree's Limitations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While B-Trees are excellent, we can optimize further.</a:t>
            </a:r>
            <a:endParaRPr lang="en-US" altLang="zh-CN" dirty="0"/>
          </a:p>
          <a:p>
            <a:r>
              <a:rPr lang="en-US" altLang="zh-CN" dirty="0"/>
              <a:t>Limitation 1: Inefficient Range Queries</a:t>
            </a:r>
            <a:endParaRPr lang="en-US" altLang="zh-CN" dirty="0"/>
          </a:p>
          <a:p>
            <a:pPr lvl="1"/>
            <a:r>
              <a:rPr lang="en-US" altLang="zh-CN" dirty="0"/>
              <a:t>To perform a range query (e.g., "find all keys between 10 and 100"), you must perform a new tree traversal for each potential key or do an in-order traversal that jumps between different levels of the tree. This is inefficient.</a:t>
            </a:r>
            <a:endParaRPr lang="en-US" altLang="zh-CN" dirty="0"/>
          </a:p>
          <a:p>
            <a:r>
              <a:rPr lang="en-US" altLang="zh-CN" dirty="0"/>
              <a:t>Limitation 2: Lower Fan-Out</a:t>
            </a:r>
            <a:endParaRPr lang="en-US" altLang="zh-CN" dirty="0"/>
          </a:p>
          <a:p>
            <a:pPr lvl="1"/>
            <a:r>
              <a:rPr lang="en-US" altLang="zh-CN" dirty="0"/>
              <a:t>Since internal nodes store both keys and data pointers, they can hold fewer keys per node.</a:t>
            </a:r>
            <a:endParaRPr lang="en-US" altLang="zh-CN" dirty="0"/>
          </a:p>
          <a:p>
            <a:r>
              <a:rPr lang="en-US" altLang="zh-CN" dirty="0"/>
              <a:t>This can make the tree slightly taller than a theoretically optimal structure.</a:t>
            </a:r>
            <a:endParaRPr lang="en-US" altLang="zh-C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Pinnacle: </a:t>
            </a:r>
            <a:r>
              <a:rPr lang="en-US" altLang="zh-CN" dirty="0" err="1"/>
              <a:t>B+Tree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Core Concept:</a:t>
            </a:r>
            <a:endParaRPr lang="en-US" altLang="zh-CN" dirty="0"/>
          </a:p>
          <a:p>
            <a:pPr lvl="1"/>
            <a:r>
              <a:rPr lang="en-US" altLang="zh-CN" dirty="0"/>
              <a:t>A </a:t>
            </a:r>
            <a:r>
              <a:rPr lang="en-US" altLang="zh-CN" dirty="0" err="1"/>
              <a:t>B+Tree</a:t>
            </a:r>
            <a:r>
              <a:rPr lang="en-US" altLang="zh-CN" dirty="0"/>
              <a:t> is a refinement of the B-Tree with one critical distinction:</a:t>
            </a:r>
            <a:endParaRPr lang="en-US" altLang="zh-CN" dirty="0"/>
          </a:p>
          <a:p>
            <a:pPr lvl="2"/>
            <a:r>
              <a:rPr lang="en-US" altLang="zh-CN" dirty="0"/>
              <a:t>1. Data is only stored in the leaf nodes.</a:t>
            </a:r>
            <a:endParaRPr lang="en-US" altLang="zh-CN" dirty="0"/>
          </a:p>
          <a:p>
            <a:pPr lvl="2"/>
            <a:r>
              <a:rPr lang="en-US" altLang="zh-CN" dirty="0"/>
              <a:t>2. Internal nodes act solely as a navigation index, storing only keys.</a:t>
            </a:r>
            <a:endParaRPr lang="en-US" altLang="zh-CN" dirty="0"/>
          </a:p>
          <a:p>
            <a:pPr lvl="2"/>
            <a:r>
              <a:rPr lang="en-US" altLang="zh-CN" dirty="0"/>
              <a:t>3. Leaf nodes are linked together in a sorted, singly-linked list.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</a:t>
            </a:r>
            <a:r>
              <a:rPr lang="en-US" altLang="zh-CN" dirty="0" err="1"/>
              <a:t>B+Tree</a:t>
            </a:r>
            <a:r>
              <a:rPr lang="en-US" altLang="zh-CN" dirty="0"/>
              <a:t> is the Winner for Databases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1. Higher Fan-Out</a:t>
            </a:r>
            <a:endParaRPr lang="en-US" altLang="zh-CN" sz="1800" dirty="0"/>
          </a:p>
          <a:p>
            <a:pPr lvl="1"/>
            <a:r>
              <a:rPr lang="en-US" altLang="zh-CN" sz="1800" dirty="0"/>
              <a:t>Since internal nodes only store keys, more keys fit in a single disk block.</a:t>
            </a:r>
            <a:endParaRPr lang="en-US" altLang="zh-CN" sz="1800" dirty="0"/>
          </a:p>
          <a:p>
            <a:pPr lvl="1"/>
            <a:r>
              <a:rPr lang="en-US" altLang="zh-CN" sz="1800" dirty="0"/>
              <a:t>Result: An even shorter, fatter tree than a B-Tree, leading to fewer I/</a:t>
            </a:r>
            <a:r>
              <a:rPr lang="en-US" altLang="zh-CN" sz="1800" dirty="0" err="1"/>
              <a:t>Os</a:t>
            </a:r>
            <a:r>
              <a:rPr lang="en-US" altLang="zh-CN" sz="1800" dirty="0"/>
              <a:t>.</a:t>
            </a:r>
            <a:endParaRPr lang="en-US" altLang="zh-CN" sz="1800" dirty="0"/>
          </a:p>
          <a:p>
            <a:r>
              <a:rPr lang="en-US" altLang="zh-CN" sz="1800" dirty="0"/>
              <a:t>2. Blazing-Fast Range &amp; Full Scan Queries</a:t>
            </a:r>
            <a:endParaRPr lang="en-US" altLang="zh-CN" sz="1800" dirty="0"/>
          </a:p>
          <a:p>
            <a:pPr lvl="1"/>
            <a:r>
              <a:rPr lang="en-US" altLang="zh-CN" sz="1800" dirty="0"/>
              <a:t>To do a range query, find the starting key in a leaf, then simply follow the leaf node pointers. No need to traverse back up the tree.</a:t>
            </a:r>
            <a:endParaRPr lang="en-US" altLang="zh-CN" sz="1800" dirty="0"/>
          </a:p>
          <a:p>
            <a:pPr lvl="1"/>
            <a:r>
              <a:rPr lang="en-US" altLang="zh-CN" sz="1800" dirty="0"/>
              <a:t>A full table scan is incredibly efficient—just traverse the linear list of leaves.</a:t>
            </a:r>
            <a:endParaRPr lang="en-US" altLang="zh-CN" sz="1800" dirty="0"/>
          </a:p>
          <a:p>
            <a:r>
              <a:rPr lang="en-US" altLang="zh-CN" sz="1800" dirty="0"/>
              <a:t>3. Stable Performance</a:t>
            </a:r>
            <a:endParaRPr lang="en-US" altLang="zh-CN" sz="1800" dirty="0"/>
          </a:p>
          <a:p>
            <a:pPr lvl="1"/>
            <a:r>
              <a:rPr lang="en-US" altLang="zh-CN" sz="1800" dirty="0"/>
              <a:t>Every search always goes from the root to a leaf. The I/O cost is predictable and stable.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Index Files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8825" y="771550"/>
            <a:ext cx="5631391" cy="346066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400" dirty="0"/>
              <a:t>Disadvantage of indexed-sequential files</a:t>
            </a:r>
            <a:endParaRPr lang="en-US" altLang="en-US" sz="1400" dirty="0"/>
          </a:p>
          <a:p>
            <a:pPr lvl="1">
              <a:lnSpc>
                <a:spcPct val="90000"/>
              </a:lnSpc>
            </a:pPr>
            <a:r>
              <a:rPr lang="en-US" altLang="en-US" sz="1400" dirty="0"/>
              <a:t>Performance degrades as file grows, since many overflow blocks get created.  </a:t>
            </a:r>
            <a:endParaRPr lang="en-US" altLang="en-US" sz="1400" dirty="0"/>
          </a:p>
          <a:p>
            <a:pPr lvl="1">
              <a:lnSpc>
                <a:spcPct val="90000"/>
              </a:lnSpc>
            </a:pPr>
            <a:r>
              <a:rPr lang="en-US" altLang="en-US" sz="1400" dirty="0"/>
              <a:t>Periodic reorganization of entire file is required.</a:t>
            </a:r>
            <a:endParaRPr lang="en-US" altLang="en-US" sz="1400" dirty="0"/>
          </a:p>
          <a:p>
            <a:pPr>
              <a:lnSpc>
                <a:spcPct val="90000"/>
              </a:lnSpc>
            </a:pPr>
            <a:r>
              <a:rPr lang="en-US" altLang="en-US" sz="1400" dirty="0"/>
              <a:t>Advantage of B</a:t>
            </a:r>
            <a:r>
              <a:rPr lang="en-US" altLang="en-US" sz="1400" baseline="30000" dirty="0"/>
              <a:t>+</a:t>
            </a:r>
            <a:r>
              <a:rPr lang="en-US" altLang="en-US" sz="1400" dirty="0"/>
              <a:t>-tree index files:  </a:t>
            </a:r>
            <a:endParaRPr lang="en-US" altLang="en-US" sz="1400" dirty="0"/>
          </a:p>
          <a:p>
            <a:pPr lvl="1">
              <a:lnSpc>
                <a:spcPct val="90000"/>
              </a:lnSpc>
            </a:pPr>
            <a:r>
              <a:rPr lang="en-US" altLang="en-US" sz="1400" dirty="0"/>
              <a:t>Automatically reorganizes itself with small, local, changes, in the face of insertions and deletions.  </a:t>
            </a:r>
            <a:endParaRPr lang="en-US" altLang="en-US" sz="1400" dirty="0"/>
          </a:p>
          <a:p>
            <a:pPr lvl="1">
              <a:lnSpc>
                <a:spcPct val="90000"/>
              </a:lnSpc>
            </a:pPr>
            <a:r>
              <a:rPr lang="en-US" altLang="en-US" sz="1400" dirty="0"/>
              <a:t>Reorganization of entire file is not required to maintain performance.</a:t>
            </a:r>
            <a:endParaRPr lang="en-US" altLang="en-US" sz="1400" dirty="0"/>
          </a:p>
          <a:p>
            <a:pPr>
              <a:lnSpc>
                <a:spcPct val="90000"/>
              </a:lnSpc>
            </a:pPr>
            <a:r>
              <a:rPr lang="en-US" altLang="en-US" sz="1400" dirty="0"/>
              <a:t>(Minor) disadvantage of B</a:t>
            </a:r>
            <a:r>
              <a:rPr lang="en-US" altLang="en-US" sz="1400" baseline="30000" dirty="0"/>
              <a:t>+</a:t>
            </a:r>
            <a:r>
              <a:rPr lang="en-US" altLang="en-US" sz="1400" dirty="0"/>
              <a:t>-trees: </a:t>
            </a:r>
            <a:endParaRPr lang="en-US" altLang="en-US" sz="1400" dirty="0"/>
          </a:p>
          <a:p>
            <a:pPr lvl="1">
              <a:lnSpc>
                <a:spcPct val="90000"/>
              </a:lnSpc>
            </a:pPr>
            <a:r>
              <a:rPr lang="en-US" altLang="en-US" sz="1400" dirty="0"/>
              <a:t>Extra insertion and deletion overhead, space overhead.</a:t>
            </a:r>
            <a:endParaRPr lang="en-US" altLang="en-US" sz="1400" dirty="0"/>
          </a:p>
          <a:p>
            <a:pPr>
              <a:lnSpc>
                <a:spcPct val="90000"/>
              </a:lnSpc>
            </a:pPr>
            <a:r>
              <a:rPr lang="en-US" altLang="en-US" sz="1400" dirty="0"/>
              <a:t>Advantages of B</a:t>
            </a:r>
            <a:r>
              <a:rPr lang="en-US" altLang="en-US" sz="1400" baseline="30000" dirty="0"/>
              <a:t>+</a:t>
            </a:r>
            <a:r>
              <a:rPr lang="en-US" altLang="en-US" sz="1400" dirty="0"/>
              <a:t>-trees outweigh disadvantages</a:t>
            </a:r>
            <a:endParaRPr lang="en-US" altLang="en-US" sz="1400" dirty="0"/>
          </a:p>
          <a:p>
            <a:pPr lvl="1">
              <a:lnSpc>
                <a:spcPct val="90000"/>
              </a:lnSpc>
            </a:pPr>
            <a:r>
              <a:rPr lang="en-US" altLang="en-US" sz="1400" dirty="0"/>
              <a:t>B</a:t>
            </a:r>
            <a:r>
              <a:rPr lang="en-US" altLang="en-US" sz="1400" baseline="30000" dirty="0"/>
              <a:t>+</a:t>
            </a:r>
            <a:r>
              <a:rPr lang="en-US" altLang="en-US" sz="1400" dirty="0"/>
              <a:t>-trees are used extensively</a:t>
            </a:r>
            <a:endParaRPr lang="en-US" altLang="en-US" sz="1400" dirty="0"/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Example of B</a:t>
            </a:r>
            <a:r>
              <a:rPr lang="en-US" altLang="en-US" baseline="30000">
                <a:effectLst/>
              </a:rPr>
              <a:t>+</a:t>
            </a:r>
            <a:r>
              <a:rPr lang="en-US" altLang="en-US">
                <a:effectLst/>
              </a:rPr>
              <a:t>-Tree</a:t>
            </a:r>
            <a:endParaRPr lang="en-US" altLang="en-US">
              <a:effectLst/>
            </a:endParaRPr>
          </a:p>
        </p:txBody>
      </p:sp>
      <p:cxnSp>
        <p:nvCxnSpPr>
          <p:cNvPr id="39939" name="Straight Connector 2"/>
          <p:cNvCxnSpPr>
            <a:cxnSpLocks noChangeShapeType="1"/>
          </p:cNvCxnSpPr>
          <p:nvPr/>
        </p:nvCxnSpPr>
        <p:spPr bwMode="auto">
          <a:xfrm flipH="1">
            <a:off x="2093119" y="4269581"/>
            <a:ext cx="35123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0" name="Straight Connector 4"/>
          <p:cNvCxnSpPr>
            <a:cxnSpLocks noChangeShapeType="1"/>
          </p:cNvCxnSpPr>
          <p:nvPr/>
        </p:nvCxnSpPr>
        <p:spPr bwMode="auto">
          <a:xfrm flipH="1">
            <a:off x="2095500" y="2246710"/>
            <a:ext cx="14288" cy="2014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9941" name="Group 11"/>
          <p:cNvGrpSpPr/>
          <p:nvPr/>
        </p:nvGrpSpPr>
        <p:grpSpPr bwMode="auto">
          <a:xfrm>
            <a:off x="1248966" y="882254"/>
            <a:ext cx="6668690" cy="3773090"/>
            <a:chOff x="141288" y="1176338"/>
            <a:chExt cx="8891587" cy="5030787"/>
          </a:xfrm>
        </p:grpSpPr>
        <p:pic>
          <p:nvPicPr>
            <p:cNvPr id="39942" name="Picture 5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288" y="1176338"/>
              <a:ext cx="8891587" cy="5030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43" name="Rectangle 10"/>
            <p:cNvSpPr>
              <a:spLocks noChangeArrowheads="1"/>
            </p:cNvSpPr>
            <p:nvPr/>
          </p:nvSpPr>
          <p:spPr bwMode="auto">
            <a:xfrm>
              <a:off x="1684609" y="3051960"/>
              <a:ext cx="64794" cy="22419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825"/>
            </a:p>
          </p:txBody>
        </p:sp>
        <p:sp>
          <p:nvSpPr>
            <p:cNvPr id="39944" name="Rectangle 13"/>
            <p:cNvSpPr>
              <a:spLocks noChangeArrowheads="1"/>
            </p:cNvSpPr>
            <p:nvPr/>
          </p:nvSpPr>
          <p:spPr bwMode="auto">
            <a:xfrm>
              <a:off x="1658717" y="5315675"/>
              <a:ext cx="100548" cy="3688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825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Index Files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3791" y="1189430"/>
            <a:ext cx="5435203" cy="3183731"/>
          </a:xfrm>
        </p:spPr>
        <p:txBody>
          <a:bodyPr/>
          <a:lstStyle/>
          <a:p>
            <a:r>
              <a:rPr lang="en-US" altLang="en-US" sz="1600" dirty="0"/>
              <a:t>All paths from root to leaf are of the same length</a:t>
            </a:r>
            <a:endParaRPr lang="en-US" altLang="en-US" sz="1600" dirty="0"/>
          </a:p>
          <a:p>
            <a:r>
              <a:rPr lang="en-US" altLang="en-US" sz="1600" dirty="0"/>
              <a:t>Each node that is not a root or a leaf has between </a:t>
            </a:r>
            <a:r>
              <a:rPr lang="en-US" altLang="en-US" sz="1600" dirty="0">
                <a:sym typeface="Symbol" panose="05050102010706020507" pitchFamily="18" charset="2"/>
              </a:rPr>
              <a:t></a:t>
            </a:r>
            <a:r>
              <a:rPr lang="en-US" altLang="en-US" sz="1600" i="1" dirty="0"/>
              <a:t>n</a:t>
            </a:r>
            <a:r>
              <a:rPr lang="en-US" altLang="en-US" sz="1600" dirty="0"/>
              <a:t>/2</a:t>
            </a:r>
            <a:r>
              <a:rPr lang="en-US" altLang="en-US" sz="1600" dirty="0">
                <a:sym typeface="Symbol" panose="05050102010706020507" pitchFamily="18" charset="2"/>
              </a:rPr>
              <a:t></a:t>
            </a:r>
            <a:r>
              <a:rPr lang="en-US" altLang="en-US" sz="1600" dirty="0"/>
              <a:t> and </a:t>
            </a:r>
            <a:r>
              <a:rPr lang="en-US" altLang="en-US" sz="1600" i="1" dirty="0"/>
              <a:t>n</a:t>
            </a:r>
            <a:r>
              <a:rPr lang="en-US" altLang="en-US" sz="1600" dirty="0"/>
              <a:t> children.</a:t>
            </a:r>
            <a:endParaRPr lang="en-US" altLang="en-US" sz="1600" dirty="0"/>
          </a:p>
          <a:p>
            <a:r>
              <a:rPr lang="en-US" altLang="en-US" sz="1600" dirty="0"/>
              <a:t>A leaf node has between </a:t>
            </a:r>
            <a:r>
              <a:rPr lang="en-US" altLang="en-US" sz="1600" dirty="0">
                <a:sym typeface="Symbol" panose="05050102010706020507" pitchFamily="18" charset="2"/>
              </a:rPr>
              <a:t></a:t>
            </a:r>
            <a:r>
              <a:rPr lang="en-US" altLang="en-US" sz="1600" dirty="0"/>
              <a:t>(</a:t>
            </a:r>
            <a:r>
              <a:rPr lang="en-US" altLang="en-US" sz="1600" i="1" dirty="0"/>
              <a:t>n</a:t>
            </a:r>
            <a:r>
              <a:rPr lang="en-US" altLang="en-US" sz="1600" dirty="0"/>
              <a:t>–1)/2</a:t>
            </a:r>
            <a:r>
              <a:rPr lang="en-US" altLang="en-US" sz="1600" dirty="0">
                <a:sym typeface="Symbol" panose="05050102010706020507" pitchFamily="18" charset="2"/>
              </a:rPr>
              <a:t></a:t>
            </a:r>
            <a:r>
              <a:rPr lang="en-US" altLang="en-US" sz="1600" dirty="0"/>
              <a:t> and </a:t>
            </a:r>
            <a:r>
              <a:rPr lang="en-US" altLang="en-US" sz="1600" i="1" dirty="0"/>
              <a:t>n</a:t>
            </a:r>
            <a:r>
              <a:rPr lang="en-US" altLang="en-US" sz="1600" dirty="0"/>
              <a:t>–1 values</a:t>
            </a:r>
            <a:endParaRPr lang="en-US" altLang="en-US" sz="1600" dirty="0"/>
          </a:p>
          <a:p>
            <a:r>
              <a:rPr lang="en-US" altLang="en-US" sz="1600" dirty="0"/>
              <a:t>Special cases: </a:t>
            </a:r>
            <a:endParaRPr lang="en-US" altLang="en-US" sz="1600" dirty="0"/>
          </a:p>
          <a:p>
            <a:pPr lvl="1"/>
            <a:r>
              <a:rPr lang="en-US" altLang="en-US" sz="1600" dirty="0"/>
              <a:t>If the root is not a leaf, it has at least 2 children.</a:t>
            </a:r>
            <a:endParaRPr lang="en-US" altLang="en-US" sz="1600" dirty="0"/>
          </a:p>
          <a:p>
            <a:pPr lvl="1"/>
            <a:r>
              <a:rPr lang="en-US" altLang="en-US" sz="1600" dirty="0"/>
              <a:t>If the root is a leaf (that is, there are no other nodes in the tree), it can have between 0 and (</a:t>
            </a:r>
            <a:r>
              <a:rPr lang="en-US" altLang="en-US" sz="1600" i="1" dirty="0"/>
              <a:t>n</a:t>
            </a:r>
            <a:r>
              <a:rPr lang="en-US" altLang="en-US" sz="1600" dirty="0"/>
              <a:t>–1) values.</a:t>
            </a:r>
            <a:endParaRPr lang="en-US" altLang="en-US" sz="1600" dirty="0"/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1753791" y="857171"/>
            <a:ext cx="4953000" cy="288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275" dirty="0"/>
              <a:t>A B</a:t>
            </a:r>
            <a:r>
              <a:rPr kumimoji="0" lang="en-US" altLang="en-US" sz="1275" baseline="30000" dirty="0"/>
              <a:t>+</a:t>
            </a:r>
            <a:r>
              <a:rPr kumimoji="0" lang="en-US" altLang="en-US" sz="1275" dirty="0"/>
              <a:t>-tree is a rooted tree satisfying the following properties:</a:t>
            </a:r>
            <a:endParaRPr kumimoji="0" lang="en-US" altLang="en-US" sz="127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Node Structure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00747"/>
            <a:ext cx="5809790" cy="3947602"/>
          </a:xfrm>
        </p:spPr>
        <p:txBody>
          <a:bodyPr/>
          <a:lstStyle/>
          <a:p>
            <a:pPr>
              <a:tabLst>
                <a:tab pos="1655445" algn="l"/>
              </a:tabLst>
            </a:pPr>
            <a:r>
              <a:rPr lang="en-US" altLang="en-US" sz="1400" dirty="0"/>
              <a:t>Typical node</a:t>
            </a:r>
            <a:br>
              <a:rPr lang="en-US" altLang="en-US" sz="1400" dirty="0"/>
            </a:br>
            <a:br>
              <a:rPr lang="en-US" altLang="en-US" sz="1400" dirty="0"/>
            </a:br>
            <a:br>
              <a:rPr lang="en-US" altLang="en-US" sz="1400" dirty="0"/>
            </a:br>
            <a:endParaRPr lang="en-US" altLang="en-US" sz="1400" dirty="0"/>
          </a:p>
          <a:p>
            <a:pPr lvl="1">
              <a:tabLst>
                <a:tab pos="1655445" algn="l"/>
              </a:tabLst>
            </a:pPr>
            <a:r>
              <a:rPr lang="en-US" altLang="en-US" sz="1400" dirty="0"/>
              <a:t>K</a:t>
            </a:r>
            <a:r>
              <a:rPr lang="en-US" altLang="en-US" sz="1400" baseline="-25000" dirty="0"/>
              <a:t>i</a:t>
            </a:r>
            <a:r>
              <a:rPr lang="en-US" altLang="en-US" sz="1400" dirty="0"/>
              <a:t> are the search-key values </a:t>
            </a:r>
            <a:endParaRPr lang="en-US" altLang="en-US" sz="1400" dirty="0"/>
          </a:p>
          <a:p>
            <a:pPr lvl="1">
              <a:tabLst>
                <a:tab pos="1655445" algn="l"/>
              </a:tabLst>
            </a:pPr>
            <a:r>
              <a:rPr lang="en-US" altLang="en-US" sz="1400" dirty="0"/>
              <a:t>P</a:t>
            </a:r>
            <a:r>
              <a:rPr lang="en-US" altLang="en-US" sz="1400" baseline="-25000" dirty="0"/>
              <a:t>i</a:t>
            </a:r>
            <a:r>
              <a:rPr lang="en-US" altLang="en-US" sz="1400" dirty="0"/>
              <a:t> are pointers to children (for non-leaf nodes) or pointers to records or buckets of records (for leaf nodes).</a:t>
            </a:r>
            <a:endParaRPr lang="en-US" altLang="en-US" sz="1400" dirty="0"/>
          </a:p>
          <a:p>
            <a:pPr>
              <a:tabLst>
                <a:tab pos="1655445" algn="l"/>
              </a:tabLst>
            </a:pPr>
            <a:r>
              <a:rPr lang="en-US" altLang="en-US" sz="1400" dirty="0"/>
              <a:t>The search-keys in a node are ordered </a:t>
            </a:r>
            <a:endParaRPr lang="en-US" altLang="en-US" sz="1400" dirty="0"/>
          </a:p>
          <a:p>
            <a:pPr>
              <a:buFont typeface="Monotype Sorts" pitchFamily="-65" charset="2"/>
              <a:buNone/>
              <a:tabLst>
                <a:tab pos="1655445" algn="l"/>
              </a:tabLst>
            </a:pPr>
            <a:r>
              <a:rPr lang="en-US" altLang="en-US" sz="1400" dirty="0"/>
              <a:t>		 </a:t>
            </a:r>
            <a:r>
              <a:rPr lang="en-US" altLang="en-US" sz="1400" i="1" dirty="0"/>
              <a:t>K</a:t>
            </a:r>
            <a:r>
              <a:rPr lang="en-US" altLang="en-US" sz="1400" baseline="-25000" dirty="0"/>
              <a:t>1 </a:t>
            </a:r>
            <a:r>
              <a:rPr lang="en-US" altLang="en-US" sz="1400" dirty="0">
                <a:sym typeface="Symbol" panose="05050102010706020507" pitchFamily="18" charset="2"/>
              </a:rPr>
              <a:t>&lt;</a:t>
            </a:r>
            <a:r>
              <a:rPr lang="en-US" altLang="en-US" sz="1400" dirty="0"/>
              <a:t> </a:t>
            </a:r>
            <a:r>
              <a:rPr lang="en-US" altLang="en-US" sz="1400" i="1" dirty="0"/>
              <a:t>K</a:t>
            </a:r>
            <a:r>
              <a:rPr lang="en-US" altLang="en-US" sz="1400" baseline="-25000" dirty="0"/>
              <a:t>2 </a:t>
            </a:r>
            <a:r>
              <a:rPr lang="en-US" altLang="en-US" sz="1400" dirty="0">
                <a:sym typeface="Symbol" panose="05050102010706020507" pitchFamily="18" charset="2"/>
              </a:rPr>
              <a:t>&lt;</a:t>
            </a:r>
            <a:r>
              <a:rPr lang="en-US" altLang="en-US" sz="1400" dirty="0"/>
              <a:t> </a:t>
            </a:r>
            <a:r>
              <a:rPr lang="en-US" altLang="en-US" sz="1400" i="1" dirty="0"/>
              <a:t>K</a:t>
            </a:r>
            <a:r>
              <a:rPr lang="en-US" altLang="en-US" sz="1400" baseline="-25000" dirty="0"/>
              <a:t>3 </a:t>
            </a:r>
            <a:r>
              <a:rPr lang="en-US" altLang="en-US" sz="1400" dirty="0">
                <a:sym typeface="Symbol" panose="05050102010706020507" pitchFamily="18" charset="2"/>
              </a:rPr>
              <a:t>&lt;</a:t>
            </a:r>
            <a:r>
              <a:rPr lang="en-US" altLang="en-US" sz="1400" dirty="0"/>
              <a:t> </a:t>
            </a:r>
            <a:r>
              <a:rPr lang="en-US" altLang="en-US" sz="1400" i="1" dirty="0"/>
              <a:t>. . .</a:t>
            </a:r>
            <a:r>
              <a:rPr lang="en-US" altLang="en-US" sz="1400" baseline="-25000" dirty="0"/>
              <a:t> </a:t>
            </a:r>
            <a:r>
              <a:rPr lang="en-US" altLang="en-US" sz="1400" dirty="0">
                <a:sym typeface="Symbol" panose="05050102010706020507" pitchFamily="18" charset="2"/>
              </a:rPr>
              <a:t>&lt;</a:t>
            </a:r>
            <a:r>
              <a:rPr lang="en-US" altLang="en-US" sz="1400" dirty="0"/>
              <a:t> </a:t>
            </a:r>
            <a:r>
              <a:rPr lang="en-US" altLang="en-US" sz="1400" i="1" dirty="0" err="1"/>
              <a:t>K</a:t>
            </a:r>
            <a:r>
              <a:rPr lang="en-US" altLang="en-US" sz="1400" i="1" baseline="-25000" dirty="0" err="1"/>
              <a:t>n</a:t>
            </a:r>
            <a:r>
              <a:rPr lang="en-US" altLang="en-US" sz="1400" i="1" baseline="-25000" dirty="0"/>
              <a:t>–</a:t>
            </a:r>
            <a:r>
              <a:rPr lang="en-US" altLang="en-US" sz="1400" baseline="-25000" dirty="0"/>
              <a:t>1</a:t>
            </a:r>
            <a:endParaRPr lang="en-US" altLang="en-US" sz="1400" baseline="-25000" dirty="0"/>
          </a:p>
          <a:p>
            <a:pPr>
              <a:buFont typeface="Monotype Sorts" pitchFamily="-65" charset="2"/>
              <a:buNone/>
              <a:tabLst>
                <a:tab pos="1655445" algn="l"/>
              </a:tabLst>
            </a:pPr>
            <a:r>
              <a:rPr lang="en-US" altLang="en-US" sz="1400" baseline="-25000" dirty="0"/>
              <a:t>        </a:t>
            </a:r>
            <a:r>
              <a:rPr lang="en-US" altLang="en-US" sz="1400" dirty="0"/>
              <a:t>(Initially assume no duplicate keys, address duplicates later)</a:t>
            </a:r>
            <a:endParaRPr lang="en-US" altLang="en-US" sz="1400" dirty="0"/>
          </a:p>
          <a:p>
            <a:pPr>
              <a:buFont typeface="Monotype Sorts" pitchFamily="-65" charset="2"/>
              <a:buNone/>
              <a:tabLst>
                <a:tab pos="1655445" algn="l"/>
              </a:tabLst>
            </a:pPr>
            <a:endParaRPr lang="en-US" altLang="en-US" sz="1400" dirty="0"/>
          </a:p>
          <a:p>
            <a:pPr>
              <a:buFont typeface="Monotype Sorts" pitchFamily="-65" charset="2"/>
              <a:buNone/>
              <a:tabLst>
                <a:tab pos="1655445" algn="l"/>
              </a:tabLst>
            </a:pPr>
            <a:endParaRPr lang="en-US" altLang="en-US" sz="1400" dirty="0"/>
          </a:p>
          <a:p>
            <a:pPr>
              <a:buFont typeface="Monotype Sorts" pitchFamily="-65" charset="2"/>
              <a:buNone/>
              <a:tabLst>
                <a:tab pos="1655445" algn="l"/>
              </a:tabLst>
            </a:pPr>
            <a:endParaRPr lang="en-US" altLang="en-US" sz="1400" dirty="0"/>
          </a:p>
        </p:txBody>
      </p:sp>
      <p:pic>
        <p:nvPicPr>
          <p:cNvPr id="43012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003" y="1236047"/>
            <a:ext cx="4360068" cy="337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Leaf Nodes in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34" y="1191816"/>
            <a:ext cx="5950432" cy="3657600"/>
          </a:xfrm>
        </p:spPr>
        <p:txBody>
          <a:bodyPr/>
          <a:lstStyle/>
          <a:p>
            <a:r>
              <a:rPr lang="en-US" altLang="en-US" sz="1100" dirty="0"/>
              <a:t>For </a:t>
            </a:r>
            <a:r>
              <a:rPr lang="en-US" altLang="en-US" sz="1100" i="1" dirty="0" err="1"/>
              <a:t>i</a:t>
            </a:r>
            <a:r>
              <a:rPr lang="en-US" altLang="en-US" sz="1100" dirty="0"/>
              <a:t> = 1, 2, . . ., </a:t>
            </a:r>
            <a:r>
              <a:rPr lang="en-US" altLang="en-US" sz="1100" i="1" dirty="0"/>
              <a:t>n–</a:t>
            </a:r>
            <a:r>
              <a:rPr lang="en-US" altLang="en-US" sz="1100" dirty="0"/>
              <a:t>1, pointer </a:t>
            </a:r>
            <a:r>
              <a:rPr lang="en-US" altLang="en-US" sz="1100" i="1" dirty="0"/>
              <a:t>P</a:t>
            </a:r>
            <a:r>
              <a:rPr lang="en-US" altLang="en-US" sz="1100" i="1" baseline="-25000" dirty="0"/>
              <a:t>i</a:t>
            </a:r>
            <a:r>
              <a:rPr lang="en-US" altLang="en-US" sz="1100" dirty="0"/>
              <a:t> points to a file record with search-key value </a:t>
            </a:r>
            <a:r>
              <a:rPr lang="en-US" altLang="en-US" sz="1100" i="1" dirty="0"/>
              <a:t>K</a:t>
            </a:r>
            <a:r>
              <a:rPr lang="en-US" altLang="en-US" sz="1100" i="1" baseline="-25000" dirty="0"/>
              <a:t>i</a:t>
            </a:r>
            <a:r>
              <a:rPr lang="en-US" altLang="en-US" sz="1100" dirty="0"/>
              <a:t>, </a:t>
            </a:r>
            <a:endParaRPr lang="en-US" altLang="en-US" sz="1100" dirty="0"/>
          </a:p>
          <a:p>
            <a:r>
              <a:rPr lang="en-US" altLang="en-US" sz="1100" dirty="0"/>
              <a:t>If </a:t>
            </a:r>
            <a:r>
              <a:rPr lang="en-US" altLang="en-US" sz="1100" i="1" dirty="0"/>
              <a:t>L</a:t>
            </a:r>
            <a:r>
              <a:rPr lang="en-US" altLang="en-US" sz="1100" i="1" baseline="-25000" dirty="0"/>
              <a:t>i</a:t>
            </a:r>
            <a:r>
              <a:rPr lang="en-US" altLang="en-US" sz="1100" i="1" dirty="0"/>
              <a:t>, </a:t>
            </a:r>
            <a:r>
              <a:rPr lang="en-US" altLang="en-US" sz="1100" i="1" dirty="0" err="1"/>
              <a:t>L</a:t>
            </a:r>
            <a:r>
              <a:rPr lang="en-US" altLang="en-US" sz="1100" i="1" baseline="-25000" dirty="0" err="1"/>
              <a:t>j</a:t>
            </a:r>
            <a:r>
              <a:rPr lang="en-US" altLang="en-US" sz="1100" dirty="0"/>
              <a:t> are leaf nodes and </a:t>
            </a:r>
            <a:r>
              <a:rPr lang="en-US" altLang="en-US" sz="1100" i="1" dirty="0" err="1"/>
              <a:t>i</a:t>
            </a:r>
            <a:r>
              <a:rPr lang="en-US" altLang="en-US" sz="1100" i="1" dirty="0"/>
              <a:t> </a:t>
            </a:r>
            <a:r>
              <a:rPr lang="en-US" altLang="en-US" sz="1100" dirty="0"/>
              <a:t>&lt; </a:t>
            </a:r>
            <a:r>
              <a:rPr lang="en-US" altLang="en-US" sz="1100" i="1" dirty="0"/>
              <a:t>j, L</a:t>
            </a:r>
            <a:r>
              <a:rPr lang="en-US" altLang="en-US" sz="1100" i="1" baseline="-25000" dirty="0"/>
              <a:t>i</a:t>
            </a:r>
            <a:r>
              <a:rPr lang="ja-JP" altLang="en-US" sz="1100" dirty="0"/>
              <a:t>’</a:t>
            </a:r>
            <a:r>
              <a:rPr lang="en-US" altLang="ja-JP" sz="1100" dirty="0"/>
              <a:t>s search-key values are less than or equal to </a:t>
            </a:r>
            <a:r>
              <a:rPr lang="en-US" altLang="ja-JP" sz="1100" i="1" dirty="0" err="1"/>
              <a:t>L</a:t>
            </a:r>
            <a:r>
              <a:rPr lang="en-US" altLang="ja-JP" sz="1100" i="1" baseline="-25000" dirty="0" err="1"/>
              <a:t>j</a:t>
            </a:r>
            <a:r>
              <a:rPr lang="ja-JP" altLang="en-US" sz="1100" dirty="0"/>
              <a:t>’</a:t>
            </a:r>
            <a:r>
              <a:rPr lang="en-US" altLang="ja-JP" sz="1100" dirty="0"/>
              <a:t>s search-key values</a:t>
            </a:r>
            <a:endParaRPr lang="en-US" altLang="ja-JP" sz="1100" dirty="0"/>
          </a:p>
          <a:p>
            <a:r>
              <a:rPr lang="en-US" altLang="en-US" sz="1100" i="1" dirty="0" err="1"/>
              <a:t>P</a:t>
            </a:r>
            <a:r>
              <a:rPr lang="en-US" altLang="en-US" sz="1100" i="1" baseline="-25000" dirty="0" err="1"/>
              <a:t>n</a:t>
            </a:r>
            <a:r>
              <a:rPr lang="en-US" altLang="en-US" sz="1100" dirty="0"/>
              <a:t> points to next leaf node in search-key order</a:t>
            </a:r>
            <a:endParaRPr lang="en-US" altLang="en-US" sz="1100" dirty="0"/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1775534" y="859864"/>
            <a:ext cx="2342332" cy="288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275" dirty="0"/>
              <a:t>Properties of a leaf node:</a:t>
            </a:r>
            <a:endParaRPr kumimoji="0" lang="en-US" altLang="en-US" sz="1275" dirty="0"/>
          </a:p>
        </p:txBody>
      </p:sp>
      <p:grpSp>
        <p:nvGrpSpPr>
          <p:cNvPr id="45061" name="Group 7"/>
          <p:cNvGrpSpPr/>
          <p:nvPr/>
        </p:nvGrpSpPr>
        <p:grpSpPr bwMode="auto">
          <a:xfrm>
            <a:off x="1968104" y="2289191"/>
            <a:ext cx="5629275" cy="2471738"/>
            <a:chOff x="961" y="2239"/>
            <a:chExt cx="4527" cy="1961"/>
          </a:xfrm>
        </p:grpSpPr>
        <p:pic>
          <p:nvPicPr>
            <p:cNvPr id="45062" name="Picture 8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48" b="9171"/>
            <a:stretch>
              <a:fillRect/>
            </a:stretch>
          </p:blipFill>
          <p:spPr bwMode="auto">
            <a:xfrm>
              <a:off x="961" y="2537"/>
              <a:ext cx="4521" cy="1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063" name="Picture 8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8744"/>
            <a:stretch>
              <a:fillRect/>
            </a:stretch>
          </p:blipFill>
          <p:spPr bwMode="auto">
            <a:xfrm>
              <a:off x="967" y="2239"/>
              <a:ext cx="4521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Non-Leaf Nodes in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00747"/>
            <a:ext cx="5809790" cy="3947602"/>
          </a:xfrm>
        </p:spPr>
        <p:txBody>
          <a:bodyPr/>
          <a:lstStyle/>
          <a:p>
            <a:r>
              <a:rPr lang="en-US" altLang="en-US" sz="1050" dirty="0"/>
              <a:t>Non leaf nodes form a multi-level sparse index on the leaf nodes.  For a non-leaf node with </a:t>
            </a:r>
            <a:r>
              <a:rPr lang="en-US" altLang="en-US" sz="1050" i="1" dirty="0"/>
              <a:t>m</a:t>
            </a:r>
            <a:r>
              <a:rPr lang="en-US" altLang="en-US" sz="1050" dirty="0"/>
              <a:t> pointers:</a:t>
            </a:r>
            <a:endParaRPr lang="en-US" altLang="en-US" sz="1050" dirty="0"/>
          </a:p>
          <a:p>
            <a:pPr lvl="1"/>
            <a:r>
              <a:rPr lang="en-US" altLang="en-US" sz="1050" dirty="0"/>
              <a:t>All the search-keys in the subtree to which </a:t>
            </a:r>
            <a:r>
              <a:rPr lang="en-US" altLang="en-US" sz="1050" i="1" dirty="0"/>
              <a:t>P</a:t>
            </a:r>
            <a:r>
              <a:rPr lang="en-US" altLang="en-US" sz="1050" baseline="-25000" dirty="0"/>
              <a:t>1</a:t>
            </a:r>
            <a:r>
              <a:rPr lang="en-US" altLang="en-US" sz="1050" dirty="0"/>
              <a:t> points are less than </a:t>
            </a:r>
            <a:r>
              <a:rPr lang="en-US" altLang="en-US" sz="1050" i="1" dirty="0"/>
              <a:t>K</a:t>
            </a:r>
            <a:r>
              <a:rPr lang="en-US" altLang="en-US" sz="1050" baseline="-25000" dirty="0"/>
              <a:t>1 </a:t>
            </a:r>
            <a:endParaRPr lang="en-US" altLang="en-US" sz="1050" dirty="0"/>
          </a:p>
          <a:p>
            <a:pPr lvl="1"/>
            <a:r>
              <a:rPr lang="en-US" altLang="en-US" sz="1050" dirty="0"/>
              <a:t>For 2 </a:t>
            </a:r>
            <a:r>
              <a:rPr lang="en-US" altLang="en-US" sz="1050" dirty="0">
                <a:sym typeface="Symbol" panose="05050102010706020507" pitchFamily="18" charset="2"/>
              </a:rPr>
              <a:t> </a:t>
            </a:r>
            <a:r>
              <a:rPr lang="en-US" altLang="en-US" sz="1050" i="1" dirty="0" err="1">
                <a:sym typeface="Symbol" panose="05050102010706020507" pitchFamily="18" charset="2"/>
              </a:rPr>
              <a:t>i</a:t>
            </a:r>
            <a:r>
              <a:rPr lang="en-US" altLang="en-US" sz="1050" i="1" dirty="0">
                <a:sym typeface="Symbol" panose="05050102010706020507" pitchFamily="18" charset="2"/>
              </a:rPr>
              <a:t> </a:t>
            </a:r>
            <a:r>
              <a:rPr lang="en-US" altLang="en-US" sz="1050" dirty="0">
                <a:sym typeface="Symbol" panose="05050102010706020507" pitchFamily="18" charset="2"/>
              </a:rPr>
              <a:t> </a:t>
            </a:r>
            <a:r>
              <a:rPr lang="en-US" altLang="en-US" sz="1050" i="1" dirty="0">
                <a:sym typeface="Symbol" panose="05050102010706020507" pitchFamily="18" charset="2"/>
              </a:rPr>
              <a:t>n </a:t>
            </a:r>
            <a:r>
              <a:rPr lang="en-US" altLang="en-US" sz="1050" dirty="0">
                <a:sym typeface="Symbol" panose="05050102010706020507" pitchFamily="18" charset="2"/>
              </a:rPr>
              <a:t>– 1, all the search-keys in the subtree to which </a:t>
            </a:r>
            <a:r>
              <a:rPr lang="en-US" altLang="en-US" sz="1050" i="1" dirty="0">
                <a:sym typeface="Symbol" panose="05050102010706020507" pitchFamily="18" charset="2"/>
              </a:rPr>
              <a:t>P</a:t>
            </a:r>
            <a:r>
              <a:rPr lang="en-US" altLang="en-US" sz="1050" i="1" baseline="-25000" dirty="0">
                <a:sym typeface="Symbol" panose="05050102010706020507" pitchFamily="18" charset="2"/>
              </a:rPr>
              <a:t>i</a:t>
            </a:r>
            <a:r>
              <a:rPr lang="en-US" altLang="en-US" sz="1050" dirty="0">
                <a:sym typeface="Symbol" panose="05050102010706020507" pitchFamily="18" charset="2"/>
              </a:rPr>
              <a:t> points have values greater than or equal to </a:t>
            </a:r>
            <a:r>
              <a:rPr lang="en-US" altLang="en-US" sz="1050" i="1" dirty="0">
                <a:sym typeface="Symbol" panose="05050102010706020507" pitchFamily="18" charset="2"/>
              </a:rPr>
              <a:t>K</a:t>
            </a:r>
            <a:r>
              <a:rPr lang="en-US" altLang="en-US" sz="1050" i="1" baseline="-25000" dirty="0">
                <a:sym typeface="Symbol" panose="05050102010706020507" pitchFamily="18" charset="2"/>
              </a:rPr>
              <a:t>i</a:t>
            </a:r>
            <a:r>
              <a:rPr lang="en-US" altLang="en-US" sz="1050" baseline="-25000" dirty="0">
                <a:sym typeface="Symbol" panose="05050102010706020507" pitchFamily="18" charset="2"/>
              </a:rPr>
              <a:t>–1</a:t>
            </a:r>
            <a:r>
              <a:rPr lang="en-US" altLang="en-US" sz="1050" dirty="0">
                <a:sym typeface="Symbol" panose="05050102010706020507" pitchFamily="18" charset="2"/>
              </a:rPr>
              <a:t> and less than </a:t>
            </a:r>
            <a:r>
              <a:rPr lang="en-US" altLang="en-US" sz="1050" i="1" dirty="0">
                <a:sym typeface="Symbol" panose="05050102010706020507" pitchFamily="18" charset="2"/>
              </a:rPr>
              <a:t>K</a:t>
            </a:r>
            <a:r>
              <a:rPr lang="en-US" altLang="en-US" sz="1050" i="1" baseline="-25000" dirty="0">
                <a:sym typeface="Symbol" panose="05050102010706020507" pitchFamily="18" charset="2"/>
              </a:rPr>
              <a:t>i </a:t>
            </a:r>
            <a:endParaRPr lang="en-US" altLang="en-US" sz="1050" i="1" baseline="-25000" dirty="0">
              <a:sym typeface="Symbol" panose="05050102010706020507" pitchFamily="18" charset="2"/>
            </a:endParaRPr>
          </a:p>
          <a:p>
            <a:pPr lvl="1"/>
            <a:r>
              <a:rPr lang="en-US" altLang="en-US" sz="1050" dirty="0">
                <a:sym typeface="Symbol" panose="05050102010706020507" pitchFamily="18" charset="2"/>
              </a:rPr>
              <a:t>All the search-keys in the subtree to which </a:t>
            </a:r>
            <a:r>
              <a:rPr lang="en-US" altLang="en-US" sz="1050" i="1" dirty="0" err="1">
                <a:sym typeface="Symbol" panose="05050102010706020507" pitchFamily="18" charset="2"/>
              </a:rPr>
              <a:t>P</a:t>
            </a:r>
            <a:r>
              <a:rPr lang="en-US" altLang="en-US" sz="105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1050" dirty="0">
                <a:sym typeface="Symbol" panose="05050102010706020507" pitchFamily="18" charset="2"/>
              </a:rPr>
              <a:t> points have values greater than or equal to </a:t>
            </a:r>
            <a:r>
              <a:rPr lang="en-US" altLang="en-US" sz="1050" i="1" dirty="0" err="1">
                <a:sym typeface="Symbol" panose="05050102010706020507" pitchFamily="18" charset="2"/>
              </a:rPr>
              <a:t>K</a:t>
            </a:r>
            <a:r>
              <a:rPr lang="en-US" altLang="en-US" sz="105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1050" baseline="-25000" dirty="0">
                <a:sym typeface="Symbol" panose="05050102010706020507" pitchFamily="18" charset="2"/>
              </a:rPr>
              <a:t>–1</a:t>
            </a:r>
            <a:endParaRPr lang="en-US" altLang="en-US" sz="1050" dirty="0">
              <a:sym typeface="Symbol" panose="05050102010706020507" pitchFamily="18" charset="2"/>
            </a:endParaRPr>
          </a:p>
          <a:p>
            <a:pPr lvl="1"/>
            <a:r>
              <a:rPr lang="en-US" altLang="en-US" sz="1050" dirty="0">
                <a:sym typeface="Symbol" panose="05050102010706020507" pitchFamily="18" charset="2"/>
              </a:rPr>
              <a:t>General structure</a:t>
            </a:r>
            <a:endParaRPr lang="en-US" altLang="en-US" sz="1050" dirty="0">
              <a:sym typeface="Symbol" panose="05050102010706020507" pitchFamily="18" charset="2"/>
            </a:endParaRPr>
          </a:p>
        </p:txBody>
      </p:sp>
      <p:pic>
        <p:nvPicPr>
          <p:cNvPr id="47108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626" y="2813000"/>
            <a:ext cx="3860371" cy="29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4274" y="988209"/>
            <a:ext cx="5210173" cy="3190885"/>
          </a:xfrm>
        </p:spPr>
        <p:txBody>
          <a:bodyPr/>
          <a:lstStyle/>
          <a:p>
            <a:r>
              <a:rPr kumimoji="0" lang="en-US" altLang="en-US" sz="1100" dirty="0"/>
              <a:t>B</a:t>
            </a:r>
            <a:r>
              <a:rPr kumimoji="0" lang="en-US" altLang="en-US" sz="1100" baseline="30000" dirty="0"/>
              <a:t>+</a:t>
            </a:r>
            <a:r>
              <a:rPr kumimoji="0" lang="en-US" altLang="en-US" sz="1100" dirty="0"/>
              <a:t>-tree for </a:t>
            </a:r>
            <a:r>
              <a:rPr kumimoji="0" lang="en-US" altLang="en-US" sz="1100" i="1" dirty="0"/>
              <a:t>instructor </a:t>
            </a:r>
            <a:r>
              <a:rPr kumimoji="0" lang="en-US" altLang="en-US" sz="1100" dirty="0"/>
              <a:t>file (</a:t>
            </a:r>
            <a:r>
              <a:rPr kumimoji="0" lang="en-US" altLang="en-US" sz="1100" i="1" dirty="0"/>
              <a:t>n</a:t>
            </a:r>
            <a:r>
              <a:rPr kumimoji="0" lang="en-US" altLang="en-US" sz="1100" dirty="0"/>
              <a:t> = 6)</a:t>
            </a:r>
            <a:endParaRPr kumimoji="0" lang="en-US" altLang="en-US" sz="1100" dirty="0"/>
          </a:p>
          <a:p>
            <a:endParaRPr lang="en-US" altLang="en-US" sz="1100" dirty="0"/>
          </a:p>
          <a:p>
            <a:endParaRPr lang="en-US" altLang="en-US" sz="1100" dirty="0"/>
          </a:p>
          <a:p>
            <a:endParaRPr lang="en-US" altLang="en-US" sz="1100" dirty="0"/>
          </a:p>
          <a:p>
            <a:endParaRPr lang="en-US" altLang="en-US" sz="1100" dirty="0"/>
          </a:p>
          <a:p>
            <a:pPr marL="0" indent="0">
              <a:buNone/>
            </a:pPr>
            <a:endParaRPr lang="en-US" altLang="en-US" sz="1100" dirty="0"/>
          </a:p>
          <a:p>
            <a:r>
              <a:rPr lang="en-US" altLang="en-US" sz="1100" dirty="0"/>
              <a:t>Leaf nodes must have between 3 and 5 values </a:t>
            </a:r>
            <a:br>
              <a:rPr lang="en-US" altLang="en-US" sz="1100" dirty="0"/>
            </a:br>
            <a:r>
              <a:rPr lang="en-US" altLang="en-US" sz="1100" dirty="0"/>
              <a:t>(</a:t>
            </a:r>
            <a:r>
              <a:rPr lang="en-US" altLang="en-US" sz="1100" dirty="0">
                <a:sym typeface="Symbol" panose="05050102010706020507" pitchFamily="18" charset="2"/>
              </a:rPr>
              <a:t>(</a:t>
            </a:r>
            <a:r>
              <a:rPr lang="en-US" altLang="en-US" sz="1100" i="1" dirty="0">
                <a:sym typeface="Symbol" panose="05050102010706020507" pitchFamily="18" charset="2"/>
              </a:rPr>
              <a:t>n</a:t>
            </a:r>
            <a:r>
              <a:rPr lang="en-US" altLang="en-US" sz="1100" dirty="0">
                <a:sym typeface="Symbol" panose="05050102010706020507" pitchFamily="18" charset="2"/>
              </a:rPr>
              <a:t>–1)/2 and </a:t>
            </a:r>
            <a:r>
              <a:rPr lang="en-US" altLang="en-US" sz="1100" i="1" dirty="0">
                <a:sym typeface="Symbol" panose="05050102010706020507" pitchFamily="18" charset="2"/>
              </a:rPr>
              <a:t>n </a:t>
            </a:r>
            <a:r>
              <a:rPr lang="en-US" altLang="en-US" sz="1100" dirty="0">
                <a:sym typeface="Symbol" panose="05050102010706020507" pitchFamily="18" charset="2"/>
              </a:rPr>
              <a:t>–1, with </a:t>
            </a:r>
            <a:r>
              <a:rPr lang="en-US" altLang="en-US" sz="1100" i="1" dirty="0">
                <a:sym typeface="Symbol" panose="05050102010706020507" pitchFamily="18" charset="2"/>
              </a:rPr>
              <a:t>n</a:t>
            </a:r>
            <a:r>
              <a:rPr lang="en-US" altLang="en-US" sz="1100" dirty="0">
                <a:sym typeface="Symbol" panose="05050102010706020507" pitchFamily="18" charset="2"/>
              </a:rPr>
              <a:t> = 6).</a:t>
            </a:r>
            <a:endParaRPr lang="en-US" altLang="en-US" sz="1100" dirty="0">
              <a:sym typeface="Symbol" panose="05050102010706020507" pitchFamily="18" charset="2"/>
            </a:endParaRPr>
          </a:p>
          <a:p>
            <a:r>
              <a:rPr lang="en-US" altLang="en-US" sz="1100" dirty="0">
                <a:sym typeface="Symbol" panose="05050102010706020507" pitchFamily="18" charset="2"/>
              </a:rPr>
              <a:t>Non-leaf nodes other than root must have between 3 and 6 children </a:t>
            </a:r>
            <a:r>
              <a:rPr lang="en-US" altLang="en-US" sz="1100" dirty="0"/>
              <a:t>(</a:t>
            </a:r>
            <a:r>
              <a:rPr lang="en-US" altLang="en-US" sz="1100" dirty="0">
                <a:sym typeface="Symbol" panose="05050102010706020507" pitchFamily="18" charset="2"/>
              </a:rPr>
              <a:t>(</a:t>
            </a:r>
            <a:r>
              <a:rPr lang="en-US" altLang="en-US" sz="1100" i="1" dirty="0">
                <a:sym typeface="Symbol" panose="05050102010706020507" pitchFamily="18" charset="2"/>
              </a:rPr>
              <a:t>n</a:t>
            </a:r>
            <a:r>
              <a:rPr lang="en-US" altLang="en-US" sz="1100" dirty="0">
                <a:sym typeface="Symbol" panose="05050102010706020507" pitchFamily="18" charset="2"/>
              </a:rPr>
              <a:t>/2 and </a:t>
            </a:r>
            <a:r>
              <a:rPr lang="en-US" altLang="en-US" sz="1100" i="1" dirty="0">
                <a:sym typeface="Symbol" panose="05050102010706020507" pitchFamily="18" charset="2"/>
              </a:rPr>
              <a:t>n </a:t>
            </a:r>
            <a:r>
              <a:rPr lang="en-US" altLang="en-US" sz="1100" dirty="0">
                <a:sym typeface="Symbol" panose="05050102010706020507" pitchFamily="18" charset="2"/>
              </a:rPr>
              <a:t>with </a:t>
            </a:r>
            <a:r>
              <a:rPr lang="en-US" altLang="en-US" sz="1100" i="1" dirty="0">
                <a:sym typeface="Symbol" panose="05050102010706020507" pitchFamily="18" charset="2"/>
              </a:rPr>
              <a:t>n</a:t>
            </a:r>
            <a:r>
              <a:rPr lang="en-US" altLang="en-US" sz="1100" dirty="0">
                <a:sym typeface="Symbol" panose="05050102010706020507" pitchFamily="18" charset="2"/>
              </a:rPr>
              <a:t> =6).</a:t>
            </a:r>
            <a:endParaRPr lang="en-US" altLang="en-US" sz="1100" dirty="0">
              <a:sym typeface="Symbol" panose="05050102010706020507" pitchFamily="18" charset="2"/>
            </a:endParaRPr>
          </a:p>
          <a:p>
            <a:r>
              <a:rPr lang="en-US" altLang="en-US" sz="1100" dirty="0">
                <a:sym typeface="Symbol" panose="05050102010706020507" pitchFamily="18" charset="2"/>
              </a:rPr>
              <a:t>Root must have at least 2 children.</a:t>
            </a:r>
            <a:endParaRPr lang="en-US" altLang="en-US" sz="1100" dirty="0">
              <a:sym typeface="Symbol" panose="05050102010706020507" pitchFamily="18" charset="2"/>
            </a:endParaRPr>
          </a:p>
        </p:txBody>
      </p:sp>
      <p:pic>
        <p:nvPicPr>
          <p:cNvPr id="48133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931" y="1419218"/>
            <a:ext cx="6405563" cy="870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Observations about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00747"/>
            <a:ext cx="5809790" cy="3947602"/>
          </a:xfrm>
        </p:spPr>
        <p:txBody>
          <a:bodyPr/>
          <a:lstStyle/>
          <a:p>
            <a:r>
              <a:rPr lang="en-US" altLang="en-US" sz="1400" dirty="0"/>
              <a:t>Since the inter-node connections are done by pointers, </a:t>
            </a:r>
            <a:r>
              <a:rPr lang="ja-JP" altLang="en-US" sz="1400" dirty="0"/>
              <a:t>“</a:t>
            </a:r>
            <a:r>
              <a:rPr lang="en-US" altLang="ja-JP" sz="1400" dirty="0"/>
              <a:t>logically</a:t>
            </a:r>
            <a:r>
              <a:rPr lang="ja-JP" altLang="en-US" sz="1400" dirty="0"/>
              <a:t>”</a:t>
            </a:r>
            <a:r>
              <a:rPr lang="en-US" altLang="ja-JP" sz="1400" dirty="0"/>
              <a:t> close blocks need not be </a:t>
            </a:r>
            <a:r>
              <a:rPr lang="ja-JP" altLang="en-US" sz="1400" dirty="0"/>
              <a:t>“</a:t>
            </a:r>
            <a:r>
              <a:rPr lang="en-US" altLang="ja-JP" sz="1400" dirty="0"/>
              <a:t>physically</a:t>
            </a:r>
            <a:r>
              <a:rPr lang="ja-JP" altLang="en-US" sz="1400" dirty="0"/>
              <a:t>”</a:t>
            </a:r>
            <a:r>
              <a:rPr lang="en-US" altLang="ja-JP" sz="1400" dirty="0"/>
              <a:t> close.</a:t>
            </a:r>
            <a:endParaRPr lang="en-US" altLang="ja-JP" sz="1400" dirty="0"/>
          </a:p>
          <a:p>
            <a:r>
              <a:rPr lang="en-US" altLang="en-US" sz="1400" dirty="0"/>
              <a:t>The non-leaf levels of the B</a:t>
            </a:r>
            <a:r>
              <a:rPr lang="en-US" altLang="en-US" sz="1400" baseline="30000" dirty="0"/>
              <a:t>+</a:t>
            </a:r>
            <a:r>
              <a:rPr lang="en-US" altLang="en-US" sz="1400" dirty="0"/>
              <a:t>-tree form a hierarchy of sparse indices.</a:t>
            </a:r>
            <a:endParaRPr lang="en-US" altLang="en-US" sz="1400" dirty="0"/>
          </a:p>
          <a:p>
            <a:r>
              <a:rPr lang="en-US" altLang="en-US" sz="1400" dirty="0"/>
              <a:t>The B</a:t>
            </a:r>
            <a:r>
              <a:rPr lang="en-US" altLang="en-US" sz="1400" baseline="30000" dirty="0"/>
              <a:t>+</a:t>
            </a:r>
            <a:r>
              <a:rPr lang="en-US" altLang="en-US" sz="1400" dirty="0"/>
              <a:t>-tree contains a relatively small number of levels</a:t>
            </a:r>
            <a:endParaRPr lang="en-US" altLang="en-US" sz="1400" dirty="0"/>
          </a:p>
          <a:p>
            <a:pPr lvl="2"/>
            <a:r>
              <a:rPr lang="en-US" altLang="en-US" sz="1400" dirty="0"/>
              <a:t>Level below root has at least 2* </a:t>
            </a:r>
            <a:r>
              <a:rPr lang="en-US" altLang="en-US" sz="1400" dirty="0">
                <a:sym typeface="Symbol" panose="05050102010706020507" pitchFamily="18" charset="2"/>
              </a:rPr>
              <a:t></a:t>
            </a:r>
            <a:r>
              <a:rPr lang="en-US" altLang="en-US" sz="1400" dirty="0"/>
              <a:t>n/2</a:t>
            </a:r>
            <a:r>
              <a:rPr lang="en-US" altLang="en-US" sz="1400" dirty="0">
                <a:sym typeface="Symbol" panose="05050102010706020507" pitchFamily="18" charset="2"/>
              </a:rPr>
              <a:t> </a:t>
            </a:r>
            <a:r>
              <a:rPr lang="en-US" altLang="en-US" sz="1400" dirty="0"/>
              <a:t>values</a:t>
            </a:r>
            <a:endParaRPr lang="en-US" altLang="en-US" sz="1400" dirty="0"/>
          </a:p>
          <a:p>
            <a:pPr lvl="2"/>
            <a:r>
              <a:rPr lang="en-US" altLang="en-US" sz="1400" dirty="0"/>
              <a:t>Next level has at least 2* </a:t>
            </a:r>
            <a:r>
              <a:rPr lang="en-US" altLang="en-US" sz="1400" dirty="0">
                <a:sym typeface="Symbol" panose="05050102010706020507" pitchFamily="18" charset="2"/>
              </a:rPr>
              <a:t></a:t>
            </a:r>
            <a:r>
              <a:rPr lang="en-US" altLang="en-US" sz="1400" dirty="0"/>
              <a:t>n/2</a:t>
            </a:r>
            <a:r>
              <a:rPr lang="en-US" altLang="en-US" sz="1400" dirty="0">
                <a:sym typeface="Symbol" panose="05050102010706020507" pitchFamily="18" charset="2"/>
              </a:rPr>
              <a:t> * </a:t>
            </a:r>
            <a:r>
              <a:rPr lang="en-US" altLang="en-US" sz="1400" dirty="0"/>
              <a:t>n/2</a:t>
            </a:r>
            <a:r>
              <a:rPr lang="en-US" altLang="en-US" sz="1400" dirty="0">
                <a:sym typeface="Symbol" panose="05050102010706020507" pitchFamily="18" charset="2"/>
              </a:rPr>
              <a:t></a:t>
            </a:r>
            <a:r>
              <a:rPr lang="en-US" altLang="en-US" sz="1400" dirty="0"/>
              <a:t> values</a:t>
            </a:r>
            <a:endParaRPr lang="en-US" altLang="en-US" sz="1400" dirty="0"/>
          </a:p>
          <a:p>
            <a:pPr lvl="2"/>
            <a:r>
              <a:rPr lang="en-US" altLang="en-US" sz="1400" dirty="0"/>
              <a:t>.. etc.</a:t>
            </a:r>
            <a:endParaRPr lang="en-US" altLang="en-US" sz="1400" dirty="0"/>
          </a:p>
          <a:p>
            <a:pPr lvl="1"/>
            <a:r>
              <a:rPr lang="en-US" altLang="en-US" sz="1400" dirty="0"/>
              <a:t>If there are </a:t>
            </a:r>
            <a:r>
              <a:rPr lang="en-US" altLang="en-US" sz="1400" i="1" dirty="0"/>
              <a:t>K</a:t>
            </a:r>
            <a:r>
              <a:rPr lang="en-US" altLang="en-US" sz="1400" dirty="0"/>
              <a:t> search-key values in the file, the tree height is no more than </a:t>
            </a:r>
            <a:r>
              <a:rPr lang="en-US" altLang="en-US" sz="1400" dirty="0">
                <a:sym typeface="Symbol" panose="05050102010706020507" pitchFamily="18" charset="2"/>
              </a:rPr>
              <a:t> </a:t>
            </a:r>
            <a:r>
              <a:rPr lang="en-US" altLang="en-US" sz="1400" dirty="0" err="1">
                <a:sym typeface="Symbol" panose="05050102010706020507" pitchFamily="18" charset="2"/>
              </a:rPr>
              <a:t>log</a:t>
            </a:r>
            <a:r>
              <a:rPr lang="en-US" altLang="en-US" sz="1400" baseline="-25000" dirty="0" err="1">
                <a:sym typeface="Symbol" panose="05050102010706020507" pitchFamily="18" charset="2"/>
              </a:rPr>
              <a:t></a:t>
            </a:r>
            <a:r>
              <a:rPr lang="en-US" altLang="en-US" sz="14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1400" baseline="-25000" dirty="0">
                <a:sym typeface="Symbol" panose="05050102010706020507" pitchFamily="18" charset="2"/>
              </a:rPr>
              <a:t>/2</a:t>
            </a:r>
            <a:r>
              <a:rPr lang="en-US" altLang="en-US" sz="1400" dirty="0">
                <a:sym typeface="Symbol" panose="05050102010706020507" pitchFamily="18" charset="2"/>
              </a:rPr>
              <a:t>(</a:t>
            </a:r>
            <a:r>
              <a:rPr lang="en-US" altLang="en-US" sz="1400" i="1" dirty="0">
                <a:sym typeface="Symbol" panose="05050102010706020507" pitchFamily="18" charset="2"/>
              </a:rPr>
              <a:t>K</a:t>
            </a:r>
            <a:r>
              <a:rPr lang="en-US" altLang="en-US" sz="1400" dirty="0">
                <a:sym typeface="Symbol" panose="05050102010706020507" pitchFamily="18" charset="2"/>
              </a:rPr>
              <a:t>)</a:t>
            </a:r>
            <a:endParaRPr lang="en-US" altLang="en-US" sz="1400" dirty="0"/>
          </a:p>
          <a:p>
            <a:pPr lvl="1"/>
            <a:r>
              <a:rPr lang="en-US" altLang="en-US" sz="1400" dirty="0"/>
              <a:t>thus searches can be conducted efficiently.</a:t>
            </a:r>
            <a:endParaRPr lang="en-US" altLang="en-US" sz="1400" dirty="0"/>
          </a:p>
          <a:p>
            <a:r>
              <a:rPr lang="en-US" altLang="en-US" sz="1400" dirty="0"/>
              <a:t>Insertions and deletions to the main file can be handled efficiently, as the index can be restructured in logarithmic time (as we shall see).</a:t>
            </a:r>
            <a:endParaRPr lang="en-US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Queries on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7591" y="878889"/>
            <a:ext cx="6057900" cy="2297699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700" b="1" dirty="0"/>
              <a:t>   function</a:t>
            </a:r>
            <a:r>
              <a:rPr lang="en-US" altLang="en-US" sz="700" dirty="0"/>
              <a:t> </a:t>
            </a:r>
            <a:r>
              <a:rPr lang="en-US" altLang="en-US" sz="700" i="1" dirty="0"/>
              <a:t>find</a:t>
            </a:r>
            <a:r>
              <a:rPr lang="en-US" altLang="en-US" sz="700" dirty="0"/>
              <a:t>(</a:t>
            </a:r>
            <a:r>
              <a:rPr lang="en-US" altLang="en-US" sz="700" i="1" dirty="0"/>
              <a:t>v)</a:t>
            </a:r>
            <a:endParaRPr lang="en-US" altLang="en-US" sz="700" i="1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sz="700" dirty="0">
                <a:solidFill>
                  <a:srgbClr val="FF9933"/>
                </a:solidFill>
              </a:rPr>
              <a:t>1.</a:t>
            </a:r>
            <a:r>
              <a:rPr lang="en-US" altLang="en-US" sz="700" dirty="0"/>
              <a:t>    </a:t>
            </a:r>
            <a:r>
              <a:rPr lang="en-US" altLang="en-US" sz="700" i="1" dirty="0"/>
              <a:t>C=root</a:t>
            </a:r>
            <a:endParaRPr lang="en-US" altLang="en-US" sz="700" i="1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sz="700" dirty="0">
                <a:solidFill>
                  <a:srgbClr val="FF9933"/>
                </a:solidFill>
              </a:rPr>
              <a:t>2.</a:t>
            </a:r>
            <a:r>
              <a:rPr lang="en-US" altLang="en-US" sz="700" dirty="0"/>
              <a:t>    </a:t>
            </a:r>
            <a:r>
              <a:rPr lang="en-US" altLang="en-US" sz="700" b="1" dirty="0"/>
              <a:t>while</a:t>
            </a:r>
            <a:r>
              <a:rPr lang="en-US" altLang="en-US" sz="700" dirty="0"/>
              <a:t> (C is not a leaf node)</a:t>
            </a:r>
            <a:endParaRPr lang="en-US" altLang="en-US" sz="700" dirty="0"/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sz="700" dirty="0"/>
              <a:t>Let </a:t>
            </a:r>
            <a:r>
              <a:rPr lang="en-US" altLang="en-US" sz="700" i="1" dirty="0" err="1"/>
              <a:t>i</a:t>
            </a:r>
            <a:r>
              <a:rPr lang="en-US" altLang="en-US" sz="700" i="1" dirty="0"/>
              <a:t> </a:t>
            </a:r>
            <a:r>
              <a:rPr lang="en-US" altLang="en-US" sz="700" dirty="0"/>
              <a:t>be least number </a:t>
            </a:r>
            <a:r>
              <a:rPr lang="en-US" altLang="en-US" sz="700" dirty="0" err="1"/>
              <a:t>s.t.</a:t>
            </a:r>
            <a:r>
              <a:rPr lang="en-US" altLang="en-US" sz="700" dirty="0"/>
              <a:t> </a:t>
            </a:r>
            <a:r>
              <a:rPr lang="en-US" altLang="en-US" sz="700" i="1" dirty="0"/>
              <a:t>V </a:t>
            </a:r>
            <a:r>
              <a:rPr lang="en-US" altLang="en-US" sz="700" i="1" dirty="0">
                <a:sym typeface="Symbol" panose="05050102010706020507" pitchFamily="18" charset="2"/>
              </a:rPr>
              <a:t> </a:t>
            </a:r>
            <a:r>
              <a:rPr lang="en-US" altLang="en-US" sz="700" i="1" dirty="0"/>
              <a:t>K</a:t>
            </a:r>
            <a:r>
              <a:rPr lang="en-US" altLang="en-US" sz="700" i="1" baseline="-25000" dirty="0"/>
              <a:t>i</a:t>
            </a:r>
            <a:r>
              <a:rPr lang="en-US" altLang="en-US" sz="700" i="1" dirty="0"/>
              <a:t>.</a:t>
            </a:r>
            <a:endParaRPr lang="en-US" altLang="en-US" sz="700" dirty="0"/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sz="700" b="1" dirty="0"/>
              <a:t>if</a:t>
            </a:r>
            <a:r>
              <a:rPr lang="en-US" altLang="en-US" sz="700" dirty="0"/>
              <a:t> there is no such number </a:t>
            </a:r>
            <a:r>
              <a:rPr lang="en-US" altLang="en-US" sz="700" i="1" dirty="0" err="1"/>
              <a:t>i</a:t>
            </a:r>
            <a:r>
              <a:rPr lang="en-US" altLang="en-US" sz="700" i="1" dirty="0"/>
              <a:t> then </a:t>
            </a:r>
            <a:endParaRPr lang="en-US" altLang="en-US" sz="700" i="1" dirty="0"/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sz="700" i="1" dirty="0"/>
              <a:t>     S</a:t>
            </a:r>
            <a:r>
              <a:rPr lang="en-US" altLang="en-US" sz="700" dirty="0"/>
              <a:t>et </a:t>
            </a:r>
            <a:r>
              <a:rPr lang="en-US" altLang="en-US" sz="700" i="1" dirty="0"/>
              <a:t>C</a:t>
            </a:r>
            <a:r>
              <a:rPr lang="en-US" altLang="en-US" sz="700" dirty="0"/>
              <a:t> = </a:t>
            </a:r>
            <a:r>
              <a:rPr lang="en-US" altLang="en-US" sz="700" i="1" dirty="0">
                <a:sym typeface="Symbol" panose="05050102010706020507" pitchFamily="18" charset="2"/>
              </a:rPr>
              <a:t>last non-null pointer in C</a:t>
            </a:r>
            <a:r>
              <a:rPr lang="en-US" altLang="en-US" sz="700" dirty="0">
                <a:sym typeface="Symbol" panose="05050102010706020507" pitchFamily="18" charset="2"/>
              </a:rPr>
              <a:t> </a:t>
            </a:r>
            <a:endParaRPr lang="en-US" altLang="en-US" sz="700" dirty="0">
              <a:sym typeface="Symbol" panose="05050102010706020507" pitchFamily="18" charset="2"/>
            </a:endParaRPr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sz="700" b="1" dirty="0"/>
              <a:t>else</a:t>
            </a:r>
            <a:r>
              <a:rPr lang="en-US" altLang="en-US" sz="700" dirty="0"/>
              <a:t> </a:t>
            </a:r>
            <a:r>
              <a:rPr lang="en-US" altLang="en-US" sz="700" b="1" dirty="0"/>
              <a:t>if</a:t>
            </a:r>
            <a:r>
              <a:rPr lang="en-US" altLang="en-US" sz="700" dirty="0"/>
              <a:t> (</a:t>
            </a:r>
            <a:r>
              <a:rPr lang="en-US" altLang="en-US" sz="700" i="1" dirty="0"/>
              <a:t>v</a:t>
            </a:r>
            <a:r>
              <a:rPr lang="en-US" altLang="en-US" sz="700" dirty="0"/>
              <a:t> = </a:t>
            </a:r>
            <a:r>
              <a:rPr lang="en-US" altLang="en-US" sz="700" dirty="0" err="1"/>
              <a:t>C.</a:t>
            </a:r>
            <a:r>
              <a:rPr lang="en-US" altLang="en-US" sz="700" i="1" dirty="0" err="1"/>
              <a:t>K</a:t>
            </a:r>
            <a:r>
              <a:rPr lang="en-US" altLang="en-US" sz="700" i="1" baseline="-25000" dirty="0" err="1"/>
              <a:t>i</a:t>
            </a:r>
            <a:r>
              <a:rPr lang="en-US" altLang="en-US" sz="700" dirty="0"/>
              <a:t> ) Set C = </a:t>
            </a:r>
            <a:r>
              <a:rPr lang="en-US" altLang="en-US" sz="700" i="1" dirty="0"/>
              <a:t>P</a:t>
            </a:r>
            <a:r>
              <a:rPr lang="en-US" altLang="en-US" sz="700" i="1" baseline="-25000" dirty="0"/>
              <a:t>i +1  </a:t>
            </a:r>
            <a:endParaRPr lang="en-US" altLang="en-US" sz="700" i="1" baseline="-25000" dirty="0"/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sz="700" b="1" dirty="0"/>
              <a:t>else</a:t>
            </a:r>
            <a:r>
              <a:rPr lang="en-US" altLang="en-US" sz="700" dirty="0"/>
              <a:t> </a:t>
            </a:r>
            <a:r>
              <a:rPr lang="en-US" altLang="en-US" sz="700" b="1" dirty="0">
                <a:sym typeface="Symbol" panose="05050102010706020507" pitchFamily="18" charset="2"/>
              </a:rPr>
              <a:t>set</a:t>
            </a:r>
            <a:r>
              <a:rPr lang="en-US" altLang="en-US" sz="700" dirty="0">
                <a:sym typeface="Symbol" panose="05050102010706020507" pitchFamily="18" charset="2"/>
              </a:rPr>
              <a:t> </a:t>
            </a:r>
            <a:r>
              <a:rPr lang="en-US" altLang="en-US" sz="700" i="1" dirty="0">
                <a:sym typeface="Symbol" panose="05050102010706020507" pitchFamily="18" charset="2"/>
              </a:rPr>
              <a:t>C</a:t>
            </a:r>
            <a:r>
              <a:rPr lang="en-US" altLang="en-US" sz="700" dirty="0">
                <a:sym typeface="Symbol" panose="05050102010706020507" pitchFamily="18" charset="2"/>
              </a:rPr>
              <a:t> = </a:t>
            </a:r>
            <a:r>
              <a:rPr lang="en-US" altLang="en-US" sz="700" dirty="0" err="1">
                <a:sym typeface="Symbol" panose="05050102010706020507" pitchFamily="18" charset="2"/>
              </a:rPr>
              <a:t>C.</a:t>
            </a:r>
            <a:r>
              <a:rPr lang="en-US" altLang="en-US" sz="700" i="1" dirty="0" err="1"/>
              <a:t>P</a:t>
            </a:r>
            <a:r>
              <a:rPr lang="en-US" altLang="en-US" sz="700" i="1" baseline="-25000" dirty="0" err="1"/>
              <a:t>i</a:t>
            </a:r>
            <a:endParaRPr lang="en-US" altLang="en-US" sz="700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sz="700" dirty="0">
                <a:solidFill>
                  <a:srgbClr val="FF9933"/>
                </a:solidFill>
              </a:rPr>
              <a:t>3.</a:t>
            </a:r>
            <a:r>
              <a:rPr lang="en-US" altLang="en-US" sz="700" b="1" dirty="0"/>
              <a:t>    if</a:t>
            </a:r>
            <a:r>
              <a:rPr lang="en-US" altLang="en-US" sz="700" dirty="0"/>
              <a:t> for some </a:t>
            </a:r>
            <a:r>
              <a:rPr lang="en-US" altLang="en-US" sz="700" i="1" dirty="0" err="1"/>
              <a:t>i</a:t>
            </a:r>
            <a:r>
              <a:rPr lang="en-US" altLang="en-US" sz="700" i="1" dirty="0"/>
              <a:t>, K</a:t>
            </a:r>
            <a:r>
              <a:rPr lang="en-US" altLang="en-US" sz="700" i="1" baseline="-25000" dirty="0"/>
              <a:t>i</a:t>
            </a:r>
            <a:r>
              <a:rPr lang="en-US" altLang="en-US" sz="700" i="1" dirty="0"/>
              <a:t> = V  </a:t>
            </a:r>
            <a:r>
              <a:rPr lang="en-US" altLang="en-US" sz="700" b="1" dirty="0"/>
              <a:t>then </a:t>
            </a:r>
            <a:r>
              <a:rPr lang="en-US" altLang="en-US" sz="700" dirty="0"/>
              <a:t>return </a:t>
            </a:r>
            <a:r>
              <a:rPr lang="en-US" altLang="en-US" sz="700" dirty="0" err="1">
                <a:sym typeface="Symbol" panose="05050102010706020507" pitchFamily="18" charset="2"/>
              </a:rPr>
              <a:t>C.</a:t>
            </a:r>
            <a:r>
              <a:rPr lang="en-US" altLang="en-US" sz="700" i="1" dirty="0" err="1"/>
              <a:t>P</a:t>
            </a:r>
            <a:r>
              <a:rPr lang="en-US" altLang="en-US" sz="700" i="1" baseline="-25000" dirty="0" err="1"/>
              <a:t>i</a:t>
            </a:r>
            <a:endParaRPr lang="en-US" altLang="en-US" sz="700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sz="700" dirty="0">
                <a:solidFill>
                  <a:srgbClr val="FF9933"/>
                </a:solidFill>
              </a:rPr>
              <a:t>4.</a:t>
            </a:r>
            <a:r>
              <a:rPr lang="en-US" altLang="en-US" sz="700" b="1" dirty="0"/>
              <a:t>    else</a:t>
            </a:r>
            <a:r>
              <a:rPr lang="en-US" altLang="en-US" sz="700" dirty="0"/>
              <a:t> return null /* no record with search-key value </a:t>
            </a:r>
            <a:r>
              <a:rPr lang="en-US" altLang="en-US" sz="700" i="1" dirty="0"/>
              <a:t>v</a:t>
            </a:r>
            <a:r>
              <a:rPr lang="en-US" altLang="en-US" sz="700" dirty="0"/>
              <a:t> exists. */</a:t>
            </a:r>
            <a:endParaRPr lang="en-US" altLang="en-US" sz="700" dirty="0"/>
          </a:p>
        </p:txBody>
      </p:sp>
      <p:pic>
        <p:nvPicPr>
          <p:cNvPr id="52228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182" y="3292709"/>
            <a:ext cx="659963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Queries on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-Trees (Cont.)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8876" y="800747"/>
            <a:ext cx="5619565" cy="3947602"/>
          </a:xfrm>
        </p:spPr>
        <p:txBody>
          <a:bodyPr/>
          <a:lstStyle/>
          <a:p>
            <a:r>
              <a:rPr lang="en-IN" sz="1400" b="1" dirty="0">
                <a:solidFill>
                  <a:srgbClr val="002060"/>
                </a:solidFill>
              </a:rPr>
              <a:t>Range queries </a:t>
            </a:r>
            <a:r>
              <a:rPr lang="en-IN" sz="1400" dirty="0"/>
              <a:t>find all records with search key values in a given range</a:t>
            </a:r>
            <a:endParaRPr lang="en-IN" sz="1400" dirty="0"/>
          </a:p>
          <a:p>
            <a:pPr lvl="1"/>
            <a:r>
              <a:rPr lang="en-IN" sz="1400" dirty="0"/>
              <a:t>See book for details of </a:t>
            </a:r>
            <a:r>
              <a:rPr lang="en-IN" sz="1400" b="1" dirty="0"/>
              <a:t>function</a:t>
            </a:r>
            <a:r>
              <a:rPr lang="en-IN" sz="1400" dirty="0"/>
              <a:t> </a:t>
            </a:r>
            <a:r>
              <a:rPr lang="en-IN" sz="1400" i="1" dirty="0" err="1"/>
              <a:t>findRange</a:t>
            </a:r>
            <a:r>
              <a:rPr lang="en-IN" sz="1400" dirty="0"/>
              <a:t>(</a:t>
            </a:r>
            <a:r>
              <a:rPr lang="en-IN" sz="1400" i="1" dirty="0"/>
              <a:t>lb, </a:t>
            </a:r>
            <a:r>
              <a:rPr lang="en-IN" sz="1400" i="1" dirty="0" err="1"/>
              <a:t>ub</a:t>
            </a:r>
            <a:r>
              <a:rPr lang="en-IN" sz="1400" dirty="0"/>
              <a:t>) which returns set of all such records</a:t>
            </a:r>
            <a:endParaRPr lang="en-IN" sz="1400" dirty="0"/>
          </a:p>
          <a:p>
            <a:pPr lvl="1"/>
            <a:r>
              <a:rPr lang="en-IN" sz="1400" dirty="0"/>
              <a:t>Real implementations usually provide an iterator interface to fetch matching records one at a time, using a </a:t>
            </a:r>
            <a:r>
              <a:rPr lang="en-IN" sz="1400" i="1" dirty="0"/>
              <a:t>next</a:t>
            </a:r>
            <a:r>
              <a:rPr lang="en-IN" sz="1400" dirty="0"/>
              <a:t>() function</a:t>
            </a:r>
            <a:endParaRPr lang="en-IN" sz="14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182" y="3052480"/>
            <a:ext cx="659963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Queries on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+-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Trees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1788851" y="800747"/>
            <a:ext cx="5740202" cy="3947602"/>
          </a:xfrm>
        </p:spPr>
        <p:txBody>
          <a:bodyPr/>
          <a:lstStyle/>
          <a:p>
            <a:r>
              <a:rPr lang="en-US" altLang="en-US" sz="1600" dirty="0"/>
              <a:t>If there are </a:t>
            </a:r>
            <a:r>
              <a:rPr lang="en-US" altLang="en-US" sz="1600" i="1" dirty="0"/>
              <a:t>K</a:t>
            </a:r>
            <a:r>
              <a:rPr lang="en-US" altLang="en-US" sz="1600" dirty="0"/>
              <a:t> search-key values in the file, the height of the tree is no more than </a:t>
            </a:r>
            <a:r>
              <a:rPr lang="en-US" altLang="en-US" sz="1600" dirty="0">
                <a:sym typeface="Symbol" panose="05050102010706020507" pitchFamily="18" charset="2"/>
              </a:rPr>
              <a:t></a:t>
            </a:r>
            <a:r>
              <a:rPr lang="en-US" altLang="en-US" sz="1600" dirty="0" err="1">
                <a:sym typeface="Symbol" panose="05050102010706020507" pitchFamily="18" charset="2"/>
              </a:rPr>
              <a:t>log</a:t>
            </a:r>
            <a:r>
              <a:rPr lang="en-US" altLang="en-US" sz="1600" baseline="-25000" dirty="0" err="1">
                <a:sym typeface="Symbol" panose="05050102010706020507" pitchFamily="18" charset="2"/>
              </a:rPr>
              <a:t></a:t>
            </a:r>
            <a:r>
              <a:rPr lang="en-US" altLang="en-US" sz="16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1600" baseline="-25000" dirty="0">
                <a:sym typeface="Symbol" panose="05050102010706020507" pitchFamily="18" charset="2"/>
              </a:rPr>
              <a:t>/2</a:t>
            </a:r>
            <a:r>
              <a:rPr lang="en-US" altLang="en-US" sz="1600" dirty="0">
                <a:sym typeface="Symbol" panose="05050102010706020507" pitchFamily="18" charset="2"/>
              </a:rPr>
              <a:t>(</a:t>
            </a:r>
            <a:r>
              <a:rPr lang="en-US" altLang="en-US" sz="1600" i="1" dirty="0">
                <a:sym typeface="Symbol" panose="05050102010706020507" pitchFamily="18" charset="2"/>
              </a:rPr>
              <a:t>K</a:t>
            </a:r>
            <a:r>
              <a:rPr lang="en-US" altLang="en-US" sz="1600" dirty="0">
                <a:sym typeface="Symbol" panose="05050102010706020507" pitchFamily="18" charset="2"/>
              </a:rPr>
              <a:t>).</a:t>
            </a:r>
            <a:endParaRPr lang="en-US" altLang="en-US" sz="1600" dirty="0">
              <a:sym typeface="Symbol" panose="05050102010706020507" pitchFamily="18" charset="2"/>
            </a:endParaRPr>
          </a:p>
          <a:p>
            <a:r>
              <a:rPr lang="en-US" altLang="en-US" sz="1600" dirty="0">
                <a:sym typeface="Symbol" panose="05050102010706020507" pitchFamily="18" charset="2"/>
              </a:rPr>
              <a:t>A node is generally the same size as a disk block, typically 4 kilobytes</a:t>
            </a:r>
            <a:endParaRPr lang="en-US" altLang="en-US" sz="1600" dirty="0">
              <a:sym typeface="Symbol" panose="05050102010706020507" pitchFamily="18" charset="2"/>
            </a:endParaRPr>
          </a:p>
          <a:p>
            <a:pPr lvl="1"/>
            <a:r>
              <a:rPr lang="en-US" altLang="en-US" sz="1600" dirty="0">
                <a:sym typeface="Symbol" panose="05050102010706020507" pitchFamily="18" charset="2"/>
              </a:rPr>
              <a:t>and </a:t>
            </a:r>
            <a:r>
              <a:rPr lang="en-US" altLang="en-US" sz="1600" i="1" dirty="0">
                <a:sym typeface="Symbol" panose="05050102010706020507" pitchFamily="18" charset="2"/>
              </a:rPr>
              <a:t>n</a:t>
            </a:r>
            <a:r>
              <a:rPr lang="en-US" altLang="en-US" sz="1600" dirty="0">
                <a:sym typeface="Symbol" panose="05050102010706020507" pitchFamily="18" charset="2"/>
              </a:rPr>
              <a:t> is typically around 100 (40 bytes per index entry).</a:t>
            </a:r>
            <a:endParaRPr lang="en-US" altLang="en-US" sz="1600" dirty="0">
              <a:sym typeface="Symbol" panose="05050102010706020507" pitchFamily="18" charset="2"/>
            </a:endParaRPr>
          </a:p>
          <a:p>
            <a:r>
              <a:rPr lang="en-US" altLang="en-US" sz="1600" dirty="0">
                <a:sym typeface="Symbol" panose="05050102010706020507" pitchFamily="18" charset="2"/>
              </a:rPr>
              <a:t>With 1 million search key values and </a:t>
            </a:r>
            <a:r>
              <a:rPr lang="en-US" altLang="en-US" sz="1600" i="1" dirty="0">
                <a:sym typeface="Symbol" panose="05050102010706020507" pitchFamily="18" charset="2"/>
              </a:rPr>
              <a:t>n</a:t>
            </a:r>
            <a:r>
              <a:rPr lang="en-US" altLang="en-US" sz="1600" dirty="0">
                <a:sym typeface="Symbol" panose="05050102010706020507" pitchFamily="18" charset="2"/>
              </a:rPr>
              <a:t> = 100</a:t>
            </a:r>
            <a:endParaRPr lang="en-US" altLang="en-US" sz="1600" dirty="0">
              <a:sym typeface="Symbol" panose="05050102010706020507" pitchFamily="18" charset="2"/>
            </a:endParaRPr>
          </a:p>
          <a:p>
            <a:pPr lvl="1"/>
            <a:r>
              <a:rPr lang="en-US" altLang="en-US" sz="1600" dirty="0">
                <a:sym typeface="Symbol" panose="05050102010706020507" pitchFamily="18" charset="2"/>
              </a:rPr>
              <a:t>at most </a:t>
            </a:r>
            <a:r>
              <a:rPr lang="en-US" altLang="en-US" sz="1600" i="1" dirty="0">
                <a:sym typeface="Symbol" panose="05050102010706020507" pitchFamily="18" charset="2"/>
              </a:rPr>
              <a:t> log</a:t>
            </a:r>
            <a:r>
              <a:rPr lang="en-US" altLang="en-US" sz="1600" baseline="-25000" dirty="0">
                <a:sym typeface="Symbol" panose="05050102010706020507" pitchFamily="18" charset="2"/>
              </a:rPr>
              <a:t>50</a:t>
            </a:r>
            <a:r>
              <a:rPr lang="en-US" altLang="en-US" sz="1600" dirty="0">
                <a:sym typeface="Symbol" panose="05050102010706020507" pitchFamily="18" charset="2"/>
              </a:rPr>
              <a:t>(1,000,000) = 4 nodes are accessed in a lookup traversal from root to leaf.</a:t>
            </a:r>
            <a:endParaRPr lang="en-US" altLang="en-US" sz="1600" dirty="0">
              <a:sym typeface="Symbol" panose="05050102010706020507" pitchFamily="18" charset="2"/>
            </a:endParaRPr>
          </a:p>
          <a:p>
            <a:r>
              <a:rPr lang="en-US" altLang="en-US" sz="1600" dirty="0">
                <a:sym typeface="Symbol" panose="05050102010706020507" pitchFamily="18" charset="2"/>
              </a:rPr>
              <a:t>Contrast this with a balanced binary tree with 1 million search key values — around 20 nodes are accessed in a lookup</a:t>
            </a:r>
            <a:endParaRPr lang="en-US" altLang="en-US" sz="1600" dirty="0">
              <a:sym typeface="Symbol" panose="05050102010706020507" pitchFamily="18" charset="2"/>
            </a:endParaRPr>
          </a:p>
          <a:p>
            <a:pPr lvl="1"/>
            <a:r>
              <a:rPr lang="en-US" altLang="en-US" sz="1600" dirty="0"/>
              <a:t>above difference is significant since every node access may need a disk I/O, costing around 20 milliseconds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Non-Unique Keys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8876" y="800747"/>
            <a:ext cx="5760177" cy="3947602"/>
          </a:xfrm>
        </p:spPr>
        <p:txBody>
          <a:bodyPr/>
          <a:lstStyle/>
          <a:p>
            <a:r>
              <a:rPr lang="en-IN" sz="1600" dirty="0"/>
              <a:t>If a search key </a:t>
            </a:r>
            <a:r>
              <a:rPr lang="en-IN" sz="1600" i="1" dirty="0"/>
              <a:t>a</a:t>
            </a:r>
            <a:r>
              <a:rPr lang="en-IN" sz="1200" i="1" baseline="-25000" dirty="0"/>
              <a:t>i</a:t>
            </a:r>
            <a:r>
              <a:rPr lang="en-IN" sz="1600" i="1" dirty="0"/>
              <a:t> </a:t>
            </a:r>
            <a:r>
              <a:rPr lang="en-IN" sz="1600" dirty="0"/>
              <a:t> is not unique, create instead an index on a composite key (</a:t>
            </a:r>
            <a:r>
              <a:rPr lang="en-IN" sz="1600" i="1" dirty="0"/>
              <a:t>a</a:t>
            </a:r>
            <a:r>
              <a:rPr lang="en-IN" sz="1600" i="1" baseline="-25000" dirty="0"/>
              <a:t>i </a:t>
            </a:r>
            <a:r>
              <a:rPr lang="en-IN" sz="1600" dirty="0"/>
              <a:t>, </a:t>
            </a:r>
            <a:r>
              <a:rPr lang="en-IN" sz="1600" i="1" dirty="0"/>
              <a:t>A</a:t>
            </a:r>
            <a:r>
              <a:rPr lang="en-IN" sz="1200" i="1" baseline="-25000" dirty="0"/>
              <a:t>p</a:t>
            </a:r>
            <a:r>
              <a:rPr lang="en-IN" sz="1600" dirty="0"/>
              <a:t>), which is unique</a:t>
            </a:r>
            <a:endParaRPr lang="en-IN" sz="1600" dirty="0"/>
          </a:p>
          <a:p>
            <a:pPr lvl="1"/>
            <a:r>
              <a:rPr lang="en-IN" sz="1600" i="1" dirty="0"/>
              <a:t>A</a:t>
            </a:r>
            <a:r>
              <a:rPr lang="en-IN" sz="1200" i="1" baseline="-25000" dirty="0"/>
              <a:t>p</a:t>
            </a:r>
            <a:r>
              <a:rPr lang="en-IN" sz="1600" dirty="0"/>
              <a:t> could be a primary key, record ID, or any other attribute that guarantees uniqueness</a:t>
            </a:r>
            <a:endParaRPr lang="en-IN" sz="1600" dirty="0"/>
          </a:p>
          <a:p>
            <a:r>
              <a:rPr lang="en-IN" sz="1600" dirty="0"/>
              <a:t>Search for </a:t>
            </a:r>
            <a:r>
              <a:rPr lang="en-IN" sz="1600" i="1" dirty="0"/>
              <a:t>a</a:t>
            </a:r>
            <a:r>
              <a:rPr lang="en-IN" sz="1200" i="1" baseline="-25000" dirty="0"/>
              <a:t>i</a:t>
            </a:r>
            <a:r>
              <a:rPr lang="en-IN" sz="1600" i="1" dirty="0"/>
              <a:t> = v </a:t>
            </a:r>
            <a:r>
              <a:rPr lang="en-IN" sz="1600" dirty="0"/>
              <a:t>can be implemented by a range search on composite key, with range (</a:t>
            </a:r>
            <a:r>
              <a:rPr lang="en-IN" sz="1600" i="1" dirty="0"/>
              <a:t>v, </a:t>
            </a:r>
            <a:r>
              <a:rPr lang="en-IN" sz="1200" i="1" dirty="0"/>
              <a:t>-</a:t>
            </a:r>
            <a:r>
              <a:rPr lang="en-IN" sz="1200" dirty="0"/>
              <a:t> ∞</a:t>
            </a:r>
            <a:r>
              <a:rPr lang="en-IN" sz="1600" dirty="0"/>
              <a:t>) to (</a:t>
            </a:r>
            <a:r>
              <a:rPr lang="en-IN" sz="1600" i="1" dirty="0"/>
              <a:t>v, </a:t>
            </a:r>
            <a:r>
              <a:rPr lang="en-IN" sz="1200" i="1" dirty="0"/>
              <a:t>+</a:t>
            </a:r>
            <a:r>
              <a:rPr lang="en-IN" sz="1200" dirty="0"/>
              <a:t> ∞</a:t>
            </a:r>
            <a:r>
              <a:rPr lang="en-IN" sz="1600" dirty="0"/>
              <a:t>)</a:t>
            </a:r>
            <a:endParaRPr lang="en-IN" sz="1600" dirty="0"/>
          </a:p>
          <a:p>
            <a:r>
              <a:rPr lang="en-US" altLang="en-US" sz="1600" dirty="0"/>
              <a:t>But more I/O operations are needed to fetch the actual records</a:t>
            </a:r>
            <a:endParaRPr lang="en-US" altLang="en-US" sz="1600" dirty="0"/>
          </a:p>
          <a:p>
            <a:pPr lvl="1"/>
            <a:r>
              <a:rPr lang="en-US" altLang="en-US" sz="1600" dirty="0"/>
              <a:t>If the index is clustering, all accesses are sequential</a:t>
            </a:r>
            <a:endParaRPr lang="en-US" altLang="en-US" sz="1600" dirty="0"/>
          </a:p>
          <a:p>
            <a:pPr lvl="1"/>
            <a:r>
              <a:rPr lang="en-US" altLang="en-US" sz="1600" dirty="0"/>
              <a:t>If the index is non-clustering, each record access may need an I/O operation</a:t>
            </a:r>
            <a:endParaRPr lang="en-US" altLang="en-US" sz="1600" dirty="0"/>
          </a:p>
          <a:p>
            <a:endParaRPr lang="en-US" alt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Updates on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-Trees:  Insertion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00747"/>
            <a:ext cx="5809790" cy="3947602"/>
          </a:xfrm>
        </p:spPr>
        <p:txBody>
          <a:bodyPr/>
          <a:lstStyle/>
          <a:p>
            <a:pPr marL="0" indent="0">
              <a:buFont typeface="Monotype Sorts" charset="0"/>
              <a:buNone/>
              <a:defRPr/>
            </a:pPr>
            <a:r>
              <a:rPr lang="en-US" sz="1800" dirty="0">
                <a:ea typeface="MS PGothic" panose="020B0600070205080204" pitchFamily="34" charset="-128"/>
              </a:rPr>
              <a:t>Assume record already added to the file.  Let </a:t>
            </a:r>
            <a:endParaRPr lang="en-US" sz="1800" dirty="0">
              <a:ea typeface="MS PGothic" panose="020B0600070205080204" pitchFamily="34" charset="-128"/>
            </a:endParaRPr>
          </a:p>
          <a:p>
            <a:pPr lvl="1">
              <a:buFont typeface="Monotype Sorts" charset="0"/>
              <a:buChar char="l"/>
              <a:defRPr/>
            </a:pPr>
            <a:r>
              <a:rPr lang="en-US" sz="1800" i="1" dirty="0" err="1">
                <a:ea typeface="MS PGothic" panose="020B0600070205080204" pitchFamily="34" charset="-128"/>
              </a:rPr>
              <a:t>pr</a:t>
            </a:r>
            <a:r>
              <a:rPr lang="en-US" sz="1800" dirty="0">
                <a:ea typeface="MS PGothic" panose="020B0600070205080204" pitchFamily="34" charset="-128"/>
              </a:rPr>
              <a:t> be pointer to the record, and let </a:t>
            </a:r>
            <a:endParaRPr lang="en-US" sz="1800" dirty="0">
              <a:ea typeface="MS PGothic" panose="020B0600070205080204" pitchFamily="34" charset="-128"/>
            </a:endParaRPr>
          </a:p>
          <a:p>
            <a:pPr lvl="1">
              <a:buFont typeface="Monotype Sorts" charset="0"/>
              <a:buChar char="l"/>
              <a:defRPr/>
            </a:pPr>
            <a:r>
              <a:rPr lang="en-US" sz="1800" dirty="0">
                <a:ea typeface="MS PGothic" panose="020B0600070205080204" pitchFamily="34" charset="-128"/>
              </a:rPr>
              <a:t>v be the search key value of the record</a:t>
            </a:r>
            <a:endParaRPr lang="en-US" sz="1800" dirty="0">
              <a:ea typeface="MS PGothic" panose="020B0600070205080204" pitchFamily="34" charset="-128"/>
            </a:endParaRPr>
          </a:p>
          <a:p>
            <a:pPr>
              <a:buFont typeface="Monotype Sorts" charset="0"/>
              <a:buAutoNum type="arabicPeriod"/>
              <a:defRPr/>
            </a:pPr>
            <a:r>
              <a:rPr lang="en-US" sz="1800" dirty="0">
                <a:ea typeface="MS PGothic" panose="020B0600070205080204" pitchFamily="34" charset="-128"/>
              </a:rPr>
              <a:t>Find the leaf node in which the search-key value would appear</a:t>
            </a:r>
            <a:endParaRPr lang="en-US" sz="1800" dirty="0">
              <a:ea typeface="MS PGothic" panose="020B0600070205080204" pitchFamily="34" charset="-128"/>
            </a:endParaRPr>
          </a:p>
          <a:p>
            <a:pPr marL="800100" lvl="1" indent="-342900">
              <a:buFont typeface="Monotype Sorts" charset="0"/>
              <a:buAutoNum type="arabicPeriod"/>
              <a:defRPr/>
            </a:pPr>
            <a:r>
              <a:rPr lang="en-US" sz="1800" dirty="0">
                <a:ea typeface="MS PGothic" panose="020B0600070205080204" pitchFamily="34" charset="-128"/>
              </a:rPr>
              <a:t>If there is room in the leaf node, insert (v, </a:t>
            </a:r>
            <a:r>
              <a:rPr lang="en-US" sz="1800" i="1" dirty="0" err="1">
                <a:ea typeface="MS PGothic" panose="020B0600070205080204" pitchFamily="34" charset="-128"/>
              </a:rPr>
              <a:t>pr</a:t>
            </a:r>
            <a:r>
              <a:rPr lang="en-US" sz="1800" dirty="0">
                <a:ea typeface="MS PGothic" panose="020B0600070205080204" pitchFamily="34" charset="-128"/>
              </a:rPr>
              <a:t>) pair in the leaf node</a:t>
            </a:r>
            <a:endParaRPr lang="en-US" sz="1800" dirty="0">
              <a:ea typeface="MS PGothic" panose="020B0600070205080204" pitchFamily="34" charset="-128"/>
            </a:endParaRPr>
          </a:p>
          <a:p>
            <a:pPr marL="800100" lvl="1" indent="-342900">
              <a:buFont typeface="Monotype Sorts" charset="0"/>
              <a:buAutoNum type="arabicPeriod"/>
              <a:defRPr/>
            </a:pPr>
            <a:r>
              <a:rPr lang="en-US" sz="1800" dirty="0">
                <a:ea typeface="MS PGothic" panose="020B0600070205080204" pitchFamily="34" charset="-128"/>
              </a:rPr>
              <a:t>Otherwise, split the node (along with the new (</a:t>
            </a:r>
            <a:r>
              <a:rPr lang="en-US" sz="1800" i="1" dirty="0">
                <a:ea typeface="MS PGothic" panose="020B0600070205080204" pitchFamily="34" charset="-128"/>
              </a:rPr>
              <a:t>v, </a:t>
            </a:r>
            <a:r>
              <a:rPr lang="en-US" sz="1800" i="1" dirty="0" err="1">
                <a:ea typeface="MS PGothic" panose="020B0600070205080204" pitchFamily="34" charset="-128"/>
              </a:rPr>
              <a:t>pr</a:t>
            </a:r>
            <a:r>
              <a:rPr lang="en-US" sz="1800" dirty="0">
                <a:ea typeface="MS PGothic" panose="020B0600070205080204" pitchFamily="34" charset="-128"/>
              </a:rPr>
              <a:t>)  entry) as discussed in the next slide, and propagate updates to parent nodes.</a:t>
            </a:r>
            <a:endParaRPr lang="en-US" sz="18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Updates on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-Trees:  Insertion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34" y="800747"/>
            <a:ext cx="5753519" cy="3947602"/>
          </a:xfrm>
        </p:spPr>
        <p:txBody>
          <a:bodyPr/>
          <a:lstStyle/>
          <a:p>
            <a:r>
              <a:rPr lang="en-US" altLang="en-US" sz="1200" dirty="0"/>
              <a:t>Splitting a leaf node:</a:t>
            </a:r>
            <a:endParaRPr lang="en-US" altLang="en-US" sz="1200" dirty="0"/>
          </a:p>
          <a:p>
            <a:pPr lvl="1"/>
            <a:r>
              <a:rPr lang="en-US" altLang="en-US" sz="1200" dirty="0"/>
              <a:t>take the </a:t>
            </a:r>
            <a:r>
              <a:rPr lang="en-US" altLang="en-US" sz="1200" i="1" dirty="0"/>
              <a:t>n </a:t>
            </a:r>
            <a:r>
              <a:rPr lang="en-US" altLang="en-US" sz="1200" dirty="0"/>
              <a:t>(search-key value, pointer) pairs (including the one being inserted) in sorted order.  Place the first </a:t>
            </a:r>
            <a:r>
              <a:rPr lang="en-US" altLang="en-US" sz="1200" dirty="0">
                <a:sym typeface="Symbol" panose="05050102010706020507" pitchFamily="18" charset="2"/>
              </a:rPr>
              <a:t></a:t>
            </a:r>
            <a:r>
              <a:rPr lang="en-US" altLang="en-US" sz="1200" i="1" dirty="0">
                <a:sym typeface="Symbol" panose="05050102010706020507" pitchFamily="18" charset="2"/>
              </a:rPr>
              <a:t>n</a:t>
            </a:r>
            <a:r>
              <a:rPr lang="en-US" altLang="en-US" sz="1200" dirty="0">
                <a:sym typeface="Symbol" panose="05050102010706020507" pitchFamily="18" charset="2"/>
              </a:rPr>
              <a:t>/2 in the original node, and the rest in a new node.</a:t>
            </a:r>
            <a:endParaRPr lang="en-US" altLang="en-US" sz="1200" dirty="0">
              <a:sym typeface="Symbol" panose="05050102010706020507" pitchFamily="18" charset="2"/>
            </a:endParaRPr>
          </a:p>
          <a:p>
            <a:pPr lvl="1"/>
            <a:r>
              <a:rPr lang="en-US" altLang="en-US" sz="1200" dirty="0">
                <a:sym typeface="Symbol" panose="05050102010706020507" pitchFamily="18" charset="2"/>
              </a:rPr>
              <a:t>let the new node be </a:t>
            </a:r>
            <a:r>
              <a:rPr lang="en-US" altLang="en-US" sz="1200" i="1" dirty="0">
                <a:sym typeface="Symbol" panose="05050102010706020507" pitchFamily="18" charset="2"/>
              </a:rPr>
              <a:t>p,</a:t>
            </a:r>
            <a:r>
              <a:rPr lang="en-US" altLang="en-US" sz="1200" dirty="0">
                <a:sym typeface="Symbol" panose="05050102010706020507" pitchFamily="18" charset="2"/>
              </a:rPr>
              <a:t> and let </a:t>
            </a:r>
            <a:r>
              <a:rPr lang="en-US" altLang="en-US" sz="1200" i="1" dirty="0">
                <a:sym typeface="Symbol" panose="05050102010706020507" pitchFamily="18" charset="2"/>
              </a:rPr>
              <a:t>k</a:t>
            </a:r>
            <a:r>
              <a:rPr lang="en-US" altLang="en-US" sz="1200" dirty="0">
                <a:sym typeface="Symbol" panose="05050102010706020507" pitchFamily="18" charset="2"/>
              </a:rPr>
              <a:t> be the least key value in </a:t>
            </a:r>
            <a:r>
              <a:rPr lang="en-US" altLang="en-US" sz="1200" i="1" dirty="0">
                <a:sym typeface="Symbol" panose="05050102010706020507" pitchFamily="18" charset="2"/>
              </a:rPr>
              <a:t>p.  </a:t>
            </a:r>
            <a:r>
              <a:rPr lang="en-US" altLang="en-US" sz="1200" dirty="0">
                <a:sym typeface="Symbol" panose="05050102010706020507" pitchFamily="18" charset="2"/>
              </a:rPr>
              <a:t>Insert (</a:t>
            </a:r>
            <a:r>
              <a:rPr lang="en-US" altLang="en-US" sz="1200" i="1" dirty="0" err="1">
                <a:sym typeface="Symbol" panose="05050102010706020507" pitchFamily="18" charset="2"/>
              </a:rPr>
              <a:t>k,p</a:t>
            </a:r>
            <a:r>
              <a:rPr lang="en-US" altLang="en-US" sz="1200" dirty="0">
                <a:sym typeface="Symbol" panose="05050102010706020507" pitchFamily="18" charset="2"/>
              </a:rPr>
              <a:t>) in the parent of the node being split. </a:t>
            </a:r>
            <a:endParaRPr lang="en-US" altLang="en-US" sz="1200" dirty="0">
              <a:sym typeface="Symbol" panose="05050102010706020507" pitchFamily="18" charset="2"/>
            </a:endParaRPr>
          </a:p>
          <a:p>
            <a:pPr lvl="1"/>
            <a:r>
              <a:rPr lang="en-US" altLang="en-US" sz="1200" dirty="0">
                <a:sym typeface="Symbol" panose="05050102010706020507" pitchFamily="18" charset="2"/>
              </a:rPr>
              <a:t>If the parent is full, split it and </a:t>
            </a:r>
            <a:r>
              <a:rPr lang="en-US" altLang="en-US" sz="1200" b="1" dirty="0">
                <a:sym typeface="Symbol" panose="05050102010706020507" pitchFamily="18" charset="2"/>
              </a:rPr>
              <a:t>propagate</a:t>
            </a:r>
            <a:r>
              <a:rPr lang="en-US" altLang="en-US" sz="1200" dirty="0">
                <a:sym typeface="Symbol" panose="05050102010706020507" pitchFamily="18" charset="2"/>
              </a:rPr>
              <a:t> the split further up.</a:t>
            </a:r>
            <a:endParaRPr lang="en-US" altLang="en-US" sz="1200" dirty="0">
              <a:sym typeface="Symbol" panose="05050102010706020507" pitchFamily="18" charset="2"/>
            </a:endParaRPr>
          </a:p>
          <a:p>
            <a:r>
              <a:rPr lang="en-US" altLang="en-US" sz="1200" dirty="0"/>
              <a:t>Splitting of nodes proceeds upwards till a node that is not full is found. </a:t>
            </a:r>
            <a:endParaRPr lang="en-US" altLang="en-US" sz="1200" dirty="0"/>
          </a:p>
          <a:p>
            <a:pPr lvl="1"/>
            <a:r>
              <a:rPr lang="en-US" altLang="en-US" sz="1200" dirty="0"/>
              <a:t>In the worst case the root node may be split increasing the height of the tree by 1. </a:t>
            </a:r>
            <a:endParaRPr lang="en-US" altLang="en-US" sz="1200" dirty="0"/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1938338" y="4308982"/>
            <a:ext cx="5825729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825" dirty="0"/>
              <a:t>Result of splitting node containing Brandt, </a:t>
            </a:r>
            <a:r>
              <a:rPr kumimoji="0" lang="en-US" altLang="en-US" sz="825" dirty="0" err="1"/>
              <a:t>Califieri</a:t>
            </a:r>
            <a:r>
              <a:rPr kumimoji="0" lang="en-US" altLang="en-US" sz="825" dirty="0"/>
              <a:t> and Crick on inserting Adams</a:t>
            </a:r>
            <a:endParaRPr kumimoji="0" lang="en-US" altLang="en-US" sz="825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825" dirty="0"/>
              <a:t>Next step: insert entry with (</a:t>
            </a:r>
            <a:r>
              <a:rPr kumimoji="0" lang="en-US" altLang="en-US" sz="825" dirty="0" err="1"/>
              <a:t>Califieri</a:t>
            </a:r>
            <a:r>
              <a:rPr kumimoji="0" lang="en-US" altLang="en-US" sz="825" dirty="0"/>
              <a:t>, pointer-to-new-node) into parent</a:t>
            </a:r>
            <a:endParaRPr kumimoji="0" lang="en-US" altLang="en-US" sz="825" dirty="0"/>
          </a:p>
        </p:txBody>
      </p:sp>
      <p:pic>
        <p:nvPicPr>
          <p:cNvPr id="6042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487" y="3664109"/>
            <a:ext cx="4570214" cy="437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7363" y="0"/>
            <a:ext cx="6057900" cy="4572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 Insertion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2851865" y="4434404"/>
            <a:ext cx="3475990" cy="288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275" dirty="0"/>
              <a:t>B</a:t>
            </a:r>
            <a:r>
              <a:rPr kumimoji="0" lang="en-US" altLang="en-US" sz="1275" baseline="30000" dirty="0"/>
              <a:t>+</a:t>
            </a:r>
            <a:r>
              <a:rPr kumimoji="0" lang="en-US" altLang="en-US" sz="1275" dirty="0"/>
              <a:t>-Tree before and after insertion of </a:t>
            </a:r>
            <a:r>
              <a:rPr kumimoji="0" lang="ja-JP" altLang="en-US" sz="1275" dirty="0"/>
              <a:t>“</a:t>
            </a:r>
            <a:r>
              <a:rPr kumimoji="0" lang="en-US" altLang="ja-JP" sz="1275" dirty="0"/>
              <a:t>Adams</a:t>
            </a:r>
            <a:r>
              <a:rPr kumimoji="0" lang="ja-JP" altLang="en-US" sz="1275" dirty="0"/>
              <a:t>”</a:t>
            </a:r>
            <a:endParaRPr kumimoji="0" lang="en-US" altLang="en-US" sz="1275" dirty="0"/>
          </a:p>
        </p:txBody>
      </p:sp>
      <p:pic>
        <p:nvPicPr>
          <p:cNvPr id="62468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2720579"/>
            <a:ext cx="659963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24"/>
          <a:stretch>
            <a:fillRect/>
          </a:stretch>
        </p:blipFill>
        <p:spPr bwMode="auto">
          <a:xfrm>
            <a:off x="1329929" y="702469"/>
            <a:ext cx="6486525" cy="1375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0" name="TextBox 4"/>
          <p:cNvSpPr txBox="1">
            <a:spLocks noChangeArrowheads="1"/>
          </p:cNvSpPr>
          <p:nvPr/>
        </p:nvSpPr>
        <p:spPr bwMode="auto">
          <a:xfrm>
            <a:off x="1229916" y="2867025"/>
            <a:ext cx="941705" cy="218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825" b="1" dirty="0">
                <a:solidFill>
                  <a:srgbClr val="002060"/>
                </a:solidFill>
              </a:rPr>
              <a:t>Affected nodes</a:t>
            </a:r>
            <a:endParaRPr kumimoji="0" lang="en-US" altLang="en-US" sz="825" b="1" dirty="0">
              <a:solidFill>
                <a:srgbClr val="002060"/>
              </a:solidFill>
            </a:endParaRPr>
          </a:p>
        </p:txBody>
      </p:sp>
      <p:cxnSp>
        <p:nvCxnSpPr>
          <p:cNvPr id="62471" name="Straight Arrow Connector 6"/>
          <p:cNvCxnSpPr>
            <a:cxnSpLocks noChangeShapeType="1"/>
          </p:cNvCxnSpPr>
          <p:nvPr/>
        </p:nvCxnSpPr>
        <p:spPr bwMode="auto">
          <a:xfrm flipH="1">
            <a:off x="1395413" y="3168254"/>
            <a:ext cx="457200" cy="700088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472" name="Straight Arrow Connector 9"/>
          <p:cNvCxnSpPr>
            <a:cxnSpLocks noChangeShapeType="1"/>
          </p:cNvCxnSpPr>
          <p:nvPr/>
        </p:nvCxnSpPr>
        <p:spPr bwMode="auto">
          <a:xfrm>
            <a:off x="1862138" y="3168254"/>
            <a:ext cx="525066" cy="145256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 Insertion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64516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741" y="2992041"/>
            <a:ext cx="6384131" cy="1460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835" y="816769"/>
            <a:ext cx="6599634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8" name="Text Box 3"/>
          <p:cNvSpPr txBox="1">
            <a:spLocks noChangeArrowheads="1"/>
          </p:cNvSpPr>
          <p:nvPr/>
        </p:nvSpPr>
        <p:spPr bwMode="auto">
          <a:xfrm>
            <a:off x="1315720" y="2558573"/>
            <a:ext cx="3807460" cy="288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275" b="1" dirty="0"/>
              <a:t>B</a:t>
            </a:r>
            <a:r>
              <a:rPr kumimoji="0" lang="en-US" altLang="en-US" sz="1275" b="1" baseline="30000" dirty="0"/>
              <a:t>+</a:t>
            </a:r>
            <a:r>
              <a:rPr kumimoji="0" lang="en-US" altLang="en-US" sz="1275" b="1" dirty="0"/>
              <a:t>-Tree before and after insertion of </a:t>
            </a:r>
            <a:r>
              <a:rPr kumimoji="0" lang="ja-JP" altLang="en-US" sz="1275" b="1" dirty="0"/>
              <a:t>“</a:t>
            </a:r>
            <a:r>
              <a:rPr kumimoji="0" lang="en-US" altLang="ja-JP" sz="1275" b="1" dirty="0" err="1"/>
              <a:t>Lamport</a:t>
            </a:r>
            <a:r>
              <a:rPr kumimoji="0" lang="ja-JP" altLang="en-US" sz="1275" b="1" dirty="0"/>
              <a:t>”</a:t>
            </a:r>
            <a:endParaRPr kumimoji="0" lang="en-US" altLang="en-US" sz="1275" b="1" dirty="0"/>
          </a:p>
        </p:txBody>
      </p:sp>
      <p:cxnSp>
        <p:nvCxnSpPr>
          <p:cNvPr id="64519" name="Straight Arrow Connector 17"/>
          <p:cNvCxnSpPr>
            <a:cxnSpLocks noChangeShapeType="1"/>
          </p:cNvCxnSpPr>
          <p:nvPr/>
        </p:nvCxnSpPr>
        <p:spPr bwMode="auto">
          <a:xfrm flipH="1" flipV="1">
            <a:off x="5642372" y="2507456"/>
            <a:ext cx="1244203" cy="261938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20" name="Straight Arrow Connector 18"/>
          <p:cNvCxnSpPr>
            <a:cxnSpLocks noChangeShapeType="1"/>
            <a:stCxn id="64523" idx="0"/>
          </p:cNvCxnSpPr>
          <p:nvPr/>
        </p:nvCxnSpPr>
        <p:spPr bwMode="auto">
          <a:xfrm flipH="1" flipV="1">
            <a:off x="4471829" y="4498181"/>
            <a:ext cx="629841" cy="222647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21" name="TextBox 19"/>
          <p:cNvSpPr txBox="1">
            <a:spLocks noChangeArrowheads="1"/>
          </p:cNvSpPr>
          <p:nvPr/>
        </p:nvSpPr>
        <p:spPr bwMode="auto">
          <a:xfrm>
            <a:off x="6615113" y="2769394"/>
            <a:ext cx="941705" cy="218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825" b="1" dirty="0">
                <a:solidFill>
                  <a:srgbClr val="002060"/>
                </a:solidFill>
              </a:rPr>
              <a:t>Affected nodes</a:t>
            </a:r>
            <a:endParaRPr kumimoji="0" lang="en-US" altLang="en-US" sz="825" b="1" dirty="0">
              <a:solidFill>
                <a:srgbClr val="002060"/>
              </a:solidFill>
            </a:endParaRPr>
          </a:p>
        </p:txBody>
      </p:sp>
      <p:cxnSp>
        <p:nvCxnSpPr>
          <p:cNvPr id="64522" name="Straight Arrow Connector 20"/>
          <p:cNvCxnSpPr>
            <a:cxnSpLocks noChangeShapeType="1"/>
            <a:stCxn id="64523" idx="0"/>
          </p:cNvCxnSpPr>
          <p:nvPr/>
        </p:nvCxnSpPr>
        <p:spPr bwMode="auto">
          <a:xfrm flipV="1">
            <a:off x="5101670" y="4524375"/>
            <a:ext cx="161925" cy="196454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23" name="TextBox 26"/>
          <p:cNvSpPr txBox="1">
            <a:spLocks noChangeArrowheads="1"/>
          </p:cNvSpPr>
          <p:nvPr/>
        </p:nvSpPr>
        <p:spPr bwMode="auto">
          <a:xfrm>
            <a:off x="4630341" y="4720829"/>
            <a:ext cx="941705" cy="218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825" b="1" dirty="0">
                <a:solidFill>
                  <a:srgbClr val="002060"/>
                </a:solidFill>
              </a:rPr>
              <a:t>Affected nodes</a:t>
            </a:r>
            <a:endParaRPr kumimoji="0" lang="en-US" altLang="en-US" sz="825" b="1" dirty="0">
              <a:solidFill>
                <a:srgbClr val="002060"/>
              </a:solidFill>
            </a:endParaRPr>
          </a:p>
        </p:txBody>
      </p:sp>
      <p:cxnSp>
        <p:nvCxnSpPr>
          <p:cNvPr id="64524" name="Straight Arrow Connector 31"/>
          <p:cNvCxnSpPr>
            <a:cxnSpLocks noChangeShapeType="1"/>
            <a:stCxn id="64521" idx="2"/>
          </p:cNvCxnSpPr>
          <p:nvPr/>
        </p:nvCxnSpPr>
        <p:spPr bwMode="auto">
          <a:xfrm flipH="1">
            <a:off x="4854179" y="2240756"/>
            <a:ext cx="1603772" cy="17026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25" name="Straight Arrow Connector 34"/>
          <p:cNvCxnSpPr>
            <a:cxnSpLocks noChangeShapeType="1"/>
            <a:stCxn id="64521" idx="2"/>
          </p:cNvCxnSpPr>
          <p:nvPr/>
        </p:nvCxnSpPr>
        <p:spPr bwMode="auto">
          <a:xfrm flipH="1">
            <a:off x="5330429" y="2240756"/>
            <a:ext cx="1127521" cy="39886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81175" y="800747"/>
            <a:ext cx="5747878" cy="3947602"/>
          </a:xfrm>
        </p:spPr>
        <p:txBody>
          <a:bodyPr/>
          <a:lstStyle/>
          <a:p>
            <a:r>
              <a:rPr lang="en-US" altLang="en-US" sz="1400" dirty="0"/>
              <a:t>Splitting a non-leaf node: when inserting (</a:t>
            </a:r>
            <a:r>
              <a:rPr lang="en-US" altLang="en-US" sz="1400" dirty="0" err="1"/>
              <a:t>k,p</a:t>
            </a:r>
            <a:r>
              <a:rPr lang="en-US" altLang="en-US" sz="1400" dirty="0"/>
              <a:t>) into an already full internal node N</a:t>
            </a:r>
            <a:endParaRPr lang="en-US" altLang="en-US" sz="1400" dirty="0"/>
          </a:p>
          <a:p>
            <a:pPr lvl="1"/>
            <a:r>
              <a:rPr lang="en-US" altLang="en-US" sz="1400" dirty="0"/>
              <a:t>Copy N to an in-memory area M with space for n+1 pointers and n keys</a:t>
            </a:r>
            <a:endParaRPr lang="en-US" altLang="en-US" sz="1400" dirty="0"/>
          </a:p>
          <a:p>
            <a:pPr lvl="1"/>
            <a:r>
              <a:rPr lang="en-US" altLang="en-US" sz="1400" dirty="0"/>
              <a:t>Insert (</a:t>
            </a:r>
            <a:r>
              <a:rPr lang="en-US" altLang="en-US" sz="1400" dirty="0" err="1"/>
              <a:t>k,p</a:t>
            </a:r>
            <a:r>
              <a:rPr lang="en-US" altLang="en-US" sz="1400" dirty="0"/>
              <a:t>) into M</a:t>
            </a:r>
            <a:endParaRPr lang="en-US" altLang="en-US" sz="1400" dirty="0"/>
          </a:p>
          <a:p>
            <a:pPr lvl="1"/>
            <a:r>
              <a:rPr lang="en-US" altLang="en-US" sz="1400" dirty="0"/>
              <a:t>Copy P</a:t>
            </a:r>
            <a:r>
              <a:rPr lang="en-US" altLang="en-US" sz="1400" baseline="-25000" dirty="0"/>
              <a:t>1</a:t>
            </a:r>
            <a:r>
              <a:rPr lang="en-US" altLang="en-US" sz="1400" dirty="0"/>
              <a:t>,K</a:t>
            </a:r>
            <a:r>
              <a:rPr lang="en-US" altLang="en-US" sz="1400" baseline="-25000" dirty="0"/>
              <a:t>1</a:t>
            </a:r>
            <a:r>
              <a:rPr lang="en-US" altLang="en-US" sz="1400" dirty="0"/>
              <a:t>, …, K </a:t>
            </a:r>
            <a:r>
              <a:rPr lang="en-US" altLang="en-US" sz="1400" baseline="-25000" dirty="0">
                <a:sym typeface="Symbol" panose="05050102010706020507" pitchFamily="18" charset="2"/>
              </a:rPr>
              <a:t></a:t>
            </a:r>
            <a:r>
              <a:rPr lang="en-US" altLang="en-US" sz="1400" baseline="-25000" dirty="0"/>
              <a:t>n/2</a:t>
            </a:r>
            <a:r>
              <a:rPr lang="en-US" altLang="en-US" sz="1400" baseline="-25000" dirty="0">
                <a:sym typeface="Symbol" panose="05050102010706020507" pitchFamily="18" charset="2"/>
              </a:rPr>
              <a:t></a:t>
            </a:r>
            <a:r>
              <a:rPr lang="en-US" altLang="en-US" sz="1400" baseline="-25000" dirty="0"/>
              <a:t>-1</a:t>
            </a:r>
            <a:r>
              <a:rPr lang="en-US" altLang="en-US" sz="1400" dirty="0"/>
              <a:t>,P </a:t>
            </a:r>
            <a:r>
              <a:rPr lang="en-US" altLang="en-US" sz="1400" baseline="-25000" dirty="0">
                <a:sym typeface="Symbol" panose="05050102010706020507" pitchFamily="18" charset="2"/>
              </a:rPr>
              <a:t></a:t>
            </a:r>
            <a:r>
              <a:rPr lang="en-US" altLang="en-US" sz="1400" baseline="-25000" dirty="0"/>
              <a:t>n/2</a:t>
            </a:r>
            <a:r>
              <a:rPr lang="en-US" altLang="en-US" sz="1400" baseline="-25000" dirty="0">
                <a:sym typeface="Symbol" panose="05050102010706020507" pitchFamily="18" charset="2"/>
              </a:rPr>
              <a:t></a:t>
            </a:r>
            <a:r>
              <a:rPr lang="en-US" altLang="en-US" sz="1400" dirty="0"/>
              <a:t> from M back into node N</a:t>
            </a:r>
            <a:endParaRPr lang="en-US" altLang="en-US" sz="1400" dirty="0"/>
          </a:p>
          <a:p>
            <a:pPr lvl="1"/>
            <a:r>
              <a:rPr lang="en-US" altLang="en-US" sz="1400" dirty="0"/>
              <a:t>Copy </a:t>
            </a:r>
            <a:r>
              <a:rPr lang="en-US" altLang="en-US" sz="1400" dirty="0" err="1"/>
              <a:t>P</a:t>
            </a:r>
            <a:r>
              <a:rPr lang="en-US" altLang="en-US" sz="1400" baseline="-25000" dirty="0" err="1">
                <a:sym typeface="Symbol" panose="05050102010706020507" pitchFamily="18" charset="2"/>
              </a:rPr>
              <a:t></a:t>
            </a:r>
            <a:r>
              <a:rPr lang="en-US" altLang="en-US" sz="1400" baseline="-25000" dirty="0" err="1"/>
              <a:t>n</a:t>
            </a:r>
            <a:r>
              <a:rPr lang="en-US" altLang="en-US" sz="1400" baseline="-25000" dirty="0"/>
              <a:t>/2</a:t>
            </a:r>
            <a:r>
              <a:rPr lang="en-US" altLang="en-US" sz="1400" baseline="-25000" dirty="0">
                <a:sym typeface="Symbol" panose="05050102010706020507" pitchFamily="18" charset="2"/>
              </a:rPr>
              <a:t></a:t>
            </a:r>
            <a:r>
              <a:rPr lang="en-US" altLang="en-US" sz="1400" baseline="-25000" dirty="0"/>
              <a:t>+1</a:t>
            </a:r>
            <a:r>
              <a:rPr lang="en-US" altLang="en-US" sz="1400" dirty="0"/>
              <a:t>,K</a:t>
            </a:r>
            <a:r>
              <a:rPr lang="en-US" altLang="en-US" sz="1400" baseline="-25000" dirty="0"/>
              <a:t> </a:t>
            </a:r>
            <a:r>
              <a:rPr lang="en-US" altLang="en-US" sz="1400" baseline="-25000" dirty="0">
                <a:sym typeface="Symbol" panose="05050102010706020507" pitchFamily="18" charset="2"/>
              </a:rPr>
              <a:t></a:t>
            </a:r>
            <a:r>
              <a:rPr lang="en-US" altLang="en-US" sz="1400" baseline="-25000" dirty="0"/>
              <a:t>n/2</a:t>
            </a:r>
            <a:r>
              <a:rPr lang="en-US" altLang="en-US" sz="1400" baseline="-25000" dirty="0">
                <a:sym typeface="Symbol" panose="05050102010706020507" pitchFamily="18" charset="2"/>
              </a:rPr>
              <a:t></a:t>
            </a:r>
            <a:r>
              <a:rPr lang="en-US" altLang="en-US" sz="1400" baseline="-25000" dirty="0"/>
              <a:t>+1</a:t>
            </a:r>
            <a:r>
              <a:rPr lang="en-US" altLang="en-US" sz="1400" dirty="0"/>
              <a:t>,…,K</a:t>
            </a:r>
            <a:r>
              <a:rPr lang="en-US" altLang="en-US" sz="1400" baseline="-25000" dirty="0"/>
              <a:t>n</a:t>
            </a:r>
            <a:r>
              <a:rPr lang="en-US" altLang="en-US" sz="1400" dirty="0"/>
              <a:t>,P</a:t>
            </a:r>
            <a:r>
              <a:rPr lang="en-US" altLang="en-US" sz="1400" baseline="-25000" dirty="0"/>
              <a:t>n+1</a:t>
            </a:r>
            <a:r>
              <a:rPr lang="en-US" altLang="en-US" sz="1400" dirty="0"/>
              <a:t> from M into newly allocated node N</a:t>
            </a:r>
            <a:r>
              <a:rPr lang="en-US" altLang="ja-JP" sz="1400" dirty="0"/>
              <a:t>'</a:t>
            </a:r>
            <a:endParaRPr lang="en-US" altLang="ja-JP" sz="1400" dirty="0"/>
          </a:p>
          <a:p>
            <a:pPr lvl="1"/>
            <a:r>
              <a:rPr lang="en-US" altLang="en-US" sz="1400" dirty="0"/>
              <a:t>Insert (K</a:t>
            </a:r>
            <a:r>
              <a:rPr lang="en-US" altLang="en-US" sz="1400" baseline="-25000" dirty="0"/>
              <a:t> </a:t>
            </a:r>
            <a:r>
              <a:rPr lang="en-US" altLang="en-US" sz="1400" baseline="-25000" dirty="0">
                <a:sym typeface="Symbol" panose="05050102010706020507" pitchFamily="18" charset="2"/>
              </a:rPr>
              <a:t></a:t>
            </a:r>
            <a:r>
              <a:rPr lang="en-US" altLang="en-US" sz="1400" baseline="-25000" dirty="0"/>
              <a:t>n/2</a:t>
            </a:r>
            <a:r>
              <a:rPr lang="en-US" altLang="en-US" sz="1400" baseline="-25000" dirty="0">
                <a:sym typeface="Symbol" panose="05050102010706020507" pitchFamily="18" charset="2"/>
              </a:rPr>
              <a:t></a:t>
            </a:r>
            <a:r>
              <a:rPr lang="en-US" altLang="en-US" sz="1400" dirty="0"/>
              <a:t>,N</a:t>
            </a:r>
            <a:r>
              <a:rPr lang="en-US" altLang="ja-JP" sz="1400" dirty="0"/>
              <a:t>') into parent N</a:t>
            </a:r>
            <a:endParaRPr lang="en-US" altLang="ja-JP" sz="1400" dirty="0"/>
          </a:p>
          <a:p>
            <a:r>
              <a:rPr lang="en-US" altLang="ja-JP" sz="1400" dirty="0"/>
              <a:t>Example</a:t>
            </a:r>
            <a:endParaRPr lang="en-US" altLang="ja-JP" sz="1400" dirty="0"/>
          </a:p>
          <a:p>
            <a:endParaRPr lang="en-US" altLang="ja-JP" sz="1400" dirty="0"/>
          </a:p>
          <a:p>
            <a:endParaRPr lang="en-US" altLang="ja-JP" sz="1400" dirty="0"/>
          </a:p>
          <a:p>
            <a:endParaRPr lang="en-US" altLang="ja-JP" sz="1400" dirty="0"/>
          </a:p>
          <a:p>
            <a:endParaRPr lang="en-US" altLang="ja-JP" sz="1400" dirty="0"/>
          </a:p>
          <a:p>
            <a:r>
              <a:rPr lang="en-US" altLang="en-US" sz="1400" b="1" dirty="0">
                <a:solidFill>
                  <a:srgbClr val="002060"/>
                </a:solidFill>
              </a:rPr>
              <a:t>Read pseudocode in book!</a:t>
            </a:r>
            <a:endParaRPr lang="en-US" altLang="en-US" sz="1400" b="1" dirty="0">
              <a:solidFill>
                <a:srgbClr val="002060"/>
              </a:solidFill>
            </a:endParaRPr>
          </a:p>
        </p:txBody>
      </p:sp>
      <p:sp>
        <p:nvSpPr>
          <p:cNvPr id="13864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Insertion in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6815" y="4065603"/>
            <a:ext cx="2950369" cy="764381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Examples of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Deletion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9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43063" y="4604147"/>
            <a:ext cx="5043488" cy="24407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200" dirty="0"/>
              <a:t>Deleting </a:t>
            </a:r>
            <a:r>
              <a:rPr lang="ja-JP" altLang="en-US" sz="1200" dirty="0"/>
              <a:t>“</a:t>
            </a:r>
            <a:r>
              <a:rPr lang="en-US" altLang="ja-JP" sz="1200" dirty="0"/>
              <a:t>Srinivasan</a:t>
            </a:r>
            <a:r>
              <a:rPr lang="ja-JP" altLang="en-US" sz="1200" dirty="0"/>
              <a:t>”</a:t>
            </a:r>
            <a:r>
              <a:rPr lang="en-US" altLang="ja-JP" sz="1200" dirty="0"/>
              <a:t> causes </a:t>
            </a:r>
            <a:r>
              <a:rPr lang="en-US" altLang="ja-JP" sz="1200" b="1" dirty="0">
                <a:solidFill>
                  <a:srgbClr val="002060"/>
                </a:solidFill>
              </a:rPr>
              <a:t>merging</a:t>
            </a:r>
            <a:r>
              <a:rPr lang="en-US" altLang="ja-JP" sz="1200" dirty="0">
                <a:solidFill>
                  <a:srgbClr val="000090"/>
                </a:solidFill>
              </a:rPr>
              <a:t> </a:t>
            </a:r>
            <a:r>
              <a:rPr lang="en-US" altLang="ja-JP" sz="1200" dirty="0"/>
              <a:t>of under-full leaves</a:t>
            </a:r>
            <a:endParaRPr lang="en-US" altLang="en-US" sz="1200" dirty="0"/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1176497" y="2390656"/>
            <a:ext cx="3290570" cy="299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350" b="1"/>
              <a:t>Before and after deleting </a:t>
            </a:r>
            <a:r>
              <a:rPr kumimoji="0" lang="ja-JP" altLang="en-US" sz="1350" b="1"/>
              <a:t>“</a:t>
            </a:r>
            <a:r>
              <a:rPr kumimoji="0" lang="en-US" altLang="ja-JP" sz="1350" b="1"/>
              <a:t>Srinivasan</a:t>
            </a:r>
            <a:r>
              <a:rPr kumimoji="0" lang="ja-JP" altLang="en-US" sz="1350" b="1"/>
              <a:t>”</a:t>
            </a:r>
            <a:endParaRPr kumimoji="0" lang="en-US" altLang="en-US" sz="1350" b="1"/>
          </a:p>
        </p:txBody>
      </p:sp>
      <p:pic>
        <p:nvPicPr>
          <p:cNvPr id="67589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366" y="745331"/>
            <a:ext cx="6599634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9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406" y="2711054"/>
            <a:ext cx="6360319" cy="177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7591" name="Straight Arrow Connector 2"/>
          <p:cNvCxnSpPr>
            <a:cxnSpLocks noChangeShapeType="1"/>
          </p:cNvCxnSpPr>
          <p:nvPr/>
        </p:nvCxnSpPr>
        <p:spPr bwMode="auto">
          <a:xfrm flipH="1" flipV="1">
            <a:off x="6488906" y="2351485"/>
            <a:ext cx="796529" cy="660797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592" name="Straight Arrow Connector 4"/>
          <p:cNvCxnSpPr>
            <a:cxnSpLocks noChangeShapeType="1"/>
            <a:stCxn id="67593" idx="0"/>
          </p:cNvCxnSpPr>
          <p:nvPr/>
        </p:nvCxnSpPr>
        <p:spPr bwMode="auto">
          <a:xfrm flipV="1">
            <a:off x="7134622" y="2332435"/>
            <a:ext cx="63103" cy="690563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593" name="TextBox 10"/>
          <p:cNvSpPr txBox="1">
            <a:spLocks noChangeArrowheads="1"/>
          </p:cNvSpPr>
          <p:nvPr/>
        </p:nvSpPr>
        <p:spPr bwMode="auto">
          <a:xfrm>
            <a:off x="6663929" y="3022997"/>
            <a:ext cx="941705" cy="218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825" b="1" dirty="0">
                <a:solidFill>
                  <a:srgbClr val="002060"/>
                </a:solidFill>
              </a:rPr>
              <a:t>Affected nodes</a:t>
            </a:r>
            <a:endParaRPr kumimoji="0" lang="en-US" altLang="en-US" sz="825" b="1" dirty="0">
              <a:solidFill>
                <a:srgbClr val="002060"/>
              </a:solidFill>
            </a:endParaRPr>
          </a:p>
        </p:txBody>
      </p:sp>
      <p:cxnSp>
        <p:nvCxnSpPr>
          <p:cNvPr id="67594" name="Straight Arrow Connector 6"/>
          <p:cNvCxnSpPr>
            <a:cxnSpLocks noChangeShapeType="1"/>
          </p:cNvCxnSpPr>
          <p:nvPr/>
        </p:nvCxnSpPr>
        <p:spPr bwMode="auto">
          <a:xfrm flipH="1">
            <a:off x="7149704" y="3294460"/>
            <a:ext cx="116681" cy="894159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4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Examples of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Deletion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73074" y="4170096"/>
            <a:ext cx="5702861" cy="608545"/>
          </a:xfrm>
        </p:spPr>
        <p:txBody>
          <a:bodyPr/>
          <a:lstStyle/>
          <a:p>
            <a:pPr>
              <a:buSzPct val="100000"/>
            </a:pPr>
            <a:r>
              <a:rPr lang="en-US" altLang="en-US" sz="1400" dirty="0"/>
              <a:t>Leaf containing Singh and Wu became </a:t>
            </a:r>
            <a:r>
              <a:rPr lang="en-US" altLang="en-US" sz="1400" dirty="0" err="1"/>
              <a:t>underfull</a:t>
            </a:r>
            <a:r>
              <a:rPr lang="en-US" altLang="en-US" sz="1400" dirty="0"/>
              <a:t>, and </a:t>
            </a:r>
            <a:r>
              <a:rPr lang="en-US" altLang="en-US" sz="1400" b="1" dirty="0">
                <a:solidFill>
                  <a:srgbClr val="002060"/>
                </a:solidFill>
              </a:rPr>
              <a:t>borrowed a value </a:t>
            </a:r>
            <a:r>
              <a:rPr lang="en-US" altLang="en-US" sz="1400" dirty="0"/>
              <a:t>Kim from its left sibling</a:t>
            </a:r>
            <a:endParaRPr lang="en-US" altLang="en-US" sz="1400" dirty="0"/>
          </a:p>
          <a:p>
            <a:pPr>
              <a:buSzPct val="100000"/>
            </a:pPr>
            <a:r>
              <a:rPr lang="en-US" altLang="en-US" sz="1400" dirty="0"/>
              <a:t>Search-key value in the parent changes as a result</a:t>
            </a:r>
            <a:endParaRPr lang="en-US" altLang="en-US" sz="1400" dirty="0"/>
          </a:p>
          <a:p>
            <a:endParaRPr lang="en-US" altLang="en-US" sz="1400" dirty="0"/>
          </a:p>
        </p:txBody>
      </p:sp>
      <p:sp>
        <p:nvSpPr>
          <p:cNvPr id="69635" name="Text Box 4"/>
          <p:cNvSpPr txBox="1">
            <a:spLocks noChangeArrowheads="1"/>
          </p:cNvSpPr>
          <p:nvPr/>
        </p:nvSpPr>
        <p:spPr bwMode="auto">
          <a:xfrm>
            <a:off x="1143000" y="2207300"/>
            <a:ext cx="4180285" cy="299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350" b="1"/>
              <a:t>Before and after deleting </a:t>
            </a:r>
            <a:r>
              <a:rPr kumimoji="0" lang="ja-JP" altLang="en-US" sz="1350" b="1"/>
              <a:t>“</a:t>
            </a:r>
            <a:r>
              <a:rPr kumimoji="0" lang="en-US" altLang="ja-JP" sz="1350" b="1"/>
              <a:t>Singh</a:t>
            </a:r>
            <a:r>
              <a:rPr kumimoji="0" lang="ja-JP" altLang="en-US" sz="1350" b="1"/>
              <a:t>”</a:t>
            </a:r>
            <a:r>
              <a:rPr kumimoji="0" lang="en-US" altLang="ja-JP" sz="1350" b="1"/>
              <a:t> and </a:t>
            </a:r>
            <a:r>
              <a:rPr kumimoji="0" lang="ja-JP" altLang="en-US" sz="1350" b="1"/>
              <a:t>“</a:t>
            </a:r>
            <a:r>
              <a:rPr kumimoji="0" lang="en-US" altLang="ja-JP" sz="1350" b="1"/>
              <a:t>Wu</a:t>
            </a:r>
            <a:r>
              <a:rPr kumimoji="0" lang="ja-JP" altLang="en-US" sz="1350" b="1"/>
              <a:t>”</a:t>
            </a:r>
            <a:endParaRPr kumimoji="0" lang="en-US" altLang="en-US" sz="1350" b="1"/>
          </a:p>
        </p:txBody>
      </p:sp>
      <p:pic>
        <p:nvPicPr>
          <p:cNvPr id="69636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074" y="2524125"/>
            <a:ext cx="5813588" cy="1615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6739" name="Rectangle 3"/>
          <p:cNvSpPr>
            <a:spLocks noChangeArrowheads="1"/>
          </p:cNvSpPr>
          <p:nvPr/>
        </p:nvSpPr>
        <p:spPr bwMode="auto">
          <a:xfrm>
            <a:off x="1589485" y="4168379"/>
            <a:ext cx="5886450" cy="859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002060"/>
              </a:buClr>
              <a:buSzPct val="100000"/>
            </a:pPr>
            <a:endParaRPr lang="en-US" altLang="en-US" sz="200" dirty="0"/>
          </a:p>
        </p:txBody>
      </p:sp>
      <p:pic>
        <p:nvPicPr>
          <p:cNvPr id="6963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13" y="572691"/>
            <a:ext cx="5545931" cy="1549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9639" name="Straight Arrow Connector 6"/>
          <p:cNvCxnSpPr>
            <a:cxnSpLocks noChangeShapeType="1"/>
          </p:cNvCxnSpPr>
          <p:nvPr/>
        </p:nvCxnSpPr>
        <p:spPr bwMode="auto">
          <a:xfrm flipH="1" flipV="1">
            <a:off x="6916341" y="2283619"/>
            <a:ext cx="452438" cy="43696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640" name="Straight Arrow Connector 7"/>
          <p:cNvCxnSpPr>
            <a:cxnSpLocks noChangeShapeType="1"/>
            <a:stCxn id="69641" idx="2"/>
          </p:cNvCxnSpPr>
          <p:nvPr/>
        </p:nvCxnSpPr>
        <p:spPr bwMode="auto">
          <a:xfrm flipH="1">
            <a:off x="6285151" y="2949337"/>
            <a:ext cx="933450" cy="57150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641" name="TextBox 8"/>
          <p:cNvSpPr txBox="1">
            <a:spLocks noChangeArrowheads="1"/>
          </p:cNvSpPr>
          <p:nvPr/>
        </p:nvSpPr>
        <p:spPr bwMode="auto">
          <a:xfrm>
            <a:off x="6747272" y="2731294"/>
            <a:ext cx="941705" cy="218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825" b="1" dirty="0">
                <a:solidFill>
                  <a:srgbClr val="002060"/>
                </a:solidFill>
              </a:rPr>
              <a:t>Affected nodes</a:t>
            </a:r>
            <a:endParaRPr kumimoji="0" lang="en-US" altLang="en-US" sz="825" b="1" dirty="0">
              <a:solidFill>
                <a:srgbClr val="002060"/>
              </a:solidFill>
            </a:endParaRPr>
          </a:p>
        </p:txBody>
      </p:sp>
      <p:cxnSp>
        <p:nvCxnSpPr>
          <p:cNvPr id="69642" name="Straight Arrow Connector 9"/>
          <p:cNvCxnSpPr>
            <a:cxnSpLocks noChangeShapeType="1"/>
          </p:cNvCxnSpPr>
          <p:nvPr/>
        </p:nvCxnSpPr>
        <p:spPr bwMode="auto">
          <a:xfrm flipH="1">
            <a:off x="7140179" y="3002756"/>
            <a:ext cx="209550" cy="719138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6739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Deletion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19263" y="3905385"/>
            <a:ext cx="6067425" cy="1144191"/>
          </a:xfrm>
        </p:spPr>
        <p:txBody>
          <a:bodyPr/>
          <a:lstStyle/>
          <a:p>
            <a:pPr>
              <a:lnSpc>
                <a:spcPct val="90000"/>
              </a:lnSpc>
              <a:buSzPct val="100000"/>
            </a:pPr>
            <a:r>
              <a:rPr lang="en-US" altLang="en-US" sz="1000" dirty="0"/>
              <a:t>Node with Gold and Katz became </a:t>
            </a:r>
            <a:r>
              <a:rPr lang="en-US" altLang="en-US" sz="1000" dirty="0" err="1"/>
              <a:t>underfull</a:t>
            </a:r>
            <a:r>
              <a:rPr lang="en-US" altLang="en-US" sz="1000" dirty="0"/>
              <a:t>, and was merged with its sibling </a:t>
            </a:r>
            <a:endParaRPr lang="en-US" altLang="en-US" sz="1000" dirty="0"/>
          </a:p>
          <a:p>
            <a:pPr>
              <a:lnSpc>
                <a:spcPct val="90000"/>
              </a:lnSpc>
              <a:buSzPct val="100000"/>
            </a:pPr>
            <a:r>
              <a:rPr lang="en-US" altLang="en-US" sz="1000" dirty="0"/>
              <a:t>Parent node becomes </a:t>
            </a:r>
            <a:r>
              <a:rPr lang="en-US" altLang="en-US" sz="1000" dirty="0" err="1"/>
              <a:t>underfull</a:t>
            </a:r>
            <a:r>
              <a:rPr lang="en-US" altLang="en-US" sz="1000" dirty="0"/>
              <a:t>, and is merged with its sibling</a:t>
            </a:r>
            <a:endParaRPr lang="en-US" altLang="en-US" sz="1000" dirty="0"/>
          </a:p>
          <a:p>
            <a:pPr lvl="1">
              <a:lnSpc>
                <a:spcPct val="90000"/>
              </a:lnSpc>
              <a:buSzPct val="90000"/>
            </a:pPr>
            <a:r>
              <a:rPr lang="en-US" altLang="en-US" sz="1000" dirty="0"/>
              <a:t>Value separating two nodes (at the parent) is pulled down when merging</a:t>
            </a:r>
            <a:endParaRPr lang="en-US" altLang="en-US" sz="1000" dirty="0"/>
          </a:p>
          <a:p>
            <a:pPr>
              <a:lnSpc>
                <a:spcPct val="90000"/>
              </a:lnSpc>
              <a:buSzPct val="100000"/>
            </a:pPr>
            <a:r>
              <a:rPr lang="en-US" altLang="en-US" sz="1000" dirty="0"/>
              <a:t>Root node then has only one child, and is deleted</a:t>
            </a:r>
            <a:endParaRPr lang="en-US" altLang="en-US" sz="1000" dirty="0"/>
          </a:p>
          <a:p>
            <a:endParaRPr lang="en-US" altLang="en-US" sz="1000" dirty="0"/>
          </a:p>
        </p:txBody>
      </p:sp>
      <p:sp>
        <p:nvSpPr>
          <p:cNvPr id="71683" name="Text Box 5"/>
          <p:cNvSpPr txBox="1">
            <a:spLocks noChangeArrowheads="1"/>
          </p:cNvSpPr>
          <p:nvPr/>
        </p:nvSpPr>
        <p:spPr bwMode="auto">
          <a:xfrm>
            <a:off x="1652593" y="2319338"/>
            <a:ext cx="5429250" cy="27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b="1" dirty="0"/>
              <a:t>Before and after deletion of </a:t>
            </a:r>
            <a:r>
              <a:rPr kumimoji="0" lang="ja-JP" altLang="en-US" sz="1200" b="1" dirty="0"/>
              <a:t>“</a:t>
            </a:r>
            <a:r>
              <a:rPr kumimoji="0" lang="en-US" altLang="ja-JP" sz="1200" b="1" dirty="0"/>
              <a:t>Gold</a:t>
            </a:r>
            <a:r>
              <a:rPr kumimoji="0" lang="ja-JP" altLang="en-US" sz="1200" b="1" dirty="0"/>
              <a:t>”</a:t>
            </a:r>
            <a:endParaRPr kumimoji="0" lang="ja-JP" altLang="en-US" sz="1200" b="1" dirty="0"/>
          </a:p>
        </p:txBody>
      </p:sp>
      <p:sp>
        <p:nvSpPr>
          <p:cNvPr id="1394691" name="Rectangle 3"/>
          <p:cNvSpPr>
            <a:spLocks noChangeArrowheads="1"/>
          </p:cNvSpPr>
          <p:nvPr/>
        </p:nvSpPr>
        <p:spPr bwMode="auto">
          <a:xfrm>
            <a:off x="1487091" y="3930254"/>
            <a:ext cx="6281738" cy="1213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buClr>
                <a:srgbClr val="002060"/>
              </a:buClr>
              <a:buSzPct val="100000"/>
            </a:pPr>
            <a:endParaRPr lang="en-US" altLang="en-US" sz="1350" dirty="0"/>
          </a:p>
        </p:txBody>
      </p:sp>
      <p:pic>
        <p:nvPicPr>
          <p:cNvPr id="7168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21" y="2712926"/>
            <a:ext cx="5539978" cy="101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379" y="643216"/>
            <a:ext cx="5874543" cy="1633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4691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Updates on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-Trees: Deletion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18085" y="851297"/>
            <a:ext cx="5794772" cy="3102769"/>
          </a:xfrm>
        </p:spPr>
        <p:txBody>
          <a:bodyPr/>
          <a:lstStyle/>
          <a:p>
            <a:pPr marL="0" indent="0">
              <a:buFont typeface="Monotype Sorts" pitchFamily="-65" charset="2"/>
              <a:buNone/>
            </a:pPr>
            <a:r>
              <a:rPr lang="en-US" altLang="en-US" sz="1600" dirty="0"/>
              <a:t>Assume record already deleted from file.  Let </a:t>
            </a:r>
            <a:r>
              <a:rPr lang="en-US" altLang="en-US" sz="1600" i="1" dirty="0"/>
              <a:t>V </a:t>
            </a:r>
            <a:r>
              <a:rPr lang="en-US" altLang="en-US" sz="1600" dirty="0"/>
              <a:t>be the search key value of the record, and </a:t>
            </a:r>
            <a:r>
              <a:rPr lang="en-US" altLang="en-US" sz="1600" i="1" dirty="0" err="1"/>
              <a:t>Pr</a:t>
            </a:r>
            <a:r>
              <a:rPr lang="en-US" altLang="en-US" sz="1600" i="1" dirty="0"/>
              <a:t> </a:t>
            </a:r>
            <a:r>
              <a:rPr lang="en-US" altLang="en-US" sz="1600" dirty="0"/>
              <a:t>be the pointer to the record.</a:t>
            </a:r>
            <a:endParaRPr lang="en-US" altLang="en-US" sz="1600" dirty="0"/>
          </a:p>
          <a:p>
            <a:r>
              <a:rPr lang="en-US" altLang="en-US" sz="1600" dirty="0"/>
              <a:t>Remove (</a:t>
            </a:r>
            <a:r>
              <a:rPr lang="en-US" altLang="en-US" sz="1600" i="1" dirty="0" err="1"/>
              <a:t>Pr</a:t>
            </a:r>
            <a:r>
              <a:rPr lang="en-US" altLang="en-US" sz="1600" i="1" dirty="0"/>
              <a:t>, V</a:t>
            </a:r>
            <a:r>
              <a:rPr lang="en-US" altLang="en-US" sz="1600" dirty="0"/>
              <a:t>) from the leaf node </a:t>
            </a:r>
            <a:endParaRPr lang="en-US" altLang="en-US" sz="1600" dirty="0"/>
          </a:p>
          <a:p>
            <a:r>
              <a:rPr lang="en-US" altLang="en-US" sz="1600" dirty="0"/>
              <a:t>If the node has too few entries due to the removal, and the entries in the node and a sibling fit into a single node, then </a:t>
            </a:r>
            <a:r>
              <a:rPr lang="en-US" altLang="en-US" sz="1600" b="1" i="1" dirty="0">
                <a:solidFill>
                  <a:srgbClr val="002060"/>
                </a:solidFill>
              </a:rPr>
              <a:t>merge siblings</a:t>
            </a:r>
            <a:r>
              <a:rPr lang="en-US" altLang="en-US" sz="1600" dirty="0"/>
              <a:t>:</a:t>
            </a:r>
            <a:endParaRPr lang="en-US" altLang="en-US" sz="1600" dirty="0"/>
          </a:p>
          <a:p>
            <a:pPr lvl="1"/>
            <a:r>
              <a:rPr lang="en-US" altLang="en-US" sz="1600" dirty="0"/>
              <a:t>Insert all the search-key values in the two nodes into a single node (the one on the left), and delete the other node.</a:t>
            </a:r>
            <a:endParaRPr lang="en-US" altLang="en-US" sz="1600" dirty="0"/>
          </a:p>
          <a:p>
            <a:pPr lvl="1"/>
            <a:r>
              <a:rPr lang="en-US" altLang="en-US" sz="1600" dirty="0"/>
              <a:t>Delete the pair (</a:t>
            </a:r>
            <a:r>
              <a:rPr lang="en-US" altLang="en-US" sz="1600" i="1" dirty="0"/>
              <a:t>K</a:t>
            </a:r>
            <a:r>
              <a:rPr lang="en-US" altLang="en-US" sz="1600" i="1" baseline="-25000" dirty="0"/>
              <a:t>i–</a:t>
            </a:r>
            <a:r>
              <a:rPr lang="en-US" altLang="en-US" sz="1600" baseline="-25000" dirty="0"/>
              <a:t>1</a:t>
            </a:r>
            <a:r>
              <a:rPr lang="en-US" altLang="en-US" sz="1600" dirty="0"/>
              <a:t>,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i</a:t>
            </a:r>
            <a:r>
              <a:rPr lang="en-US" altLang="en-US" sz="1600" i="1" dirty="0"/>
              <a:t>),</a:t>
            </a:r>
            <a:r>
              <a:rPr lang="en-US" altLang="en-US" sz="1600" dirty="0"/>
              <a:t> where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i</a:t>
            </a:r>
            <a:r>
              <a:rPr lang="en-US" altLang="en-US" sz="1600" dirty="0"/>
              <a:t> is the pointer to the deleted node, from its parent, recursively using the above procedure.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Updates on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-Trees:  Deletion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34" y="800747"/>
            <a:ext cx="5753519" cy="3947602"/>
          </a:xfrm>
        </p:spPr>
        <p:txBody>
          <a:bodyPr/>
          <a:lstStyle/>
          <a:p>
            <a:r>
              <a:rPr lang="en-US" altLang="en-US" sz="1600" dirty="0"/>
              <a:t>Otherwise, if the node has too few entries due to the removal, but the entries in the node and a sibling do not fit into a single node, then </a:t>
            </a:r>
            <a:r>
              <a:rPr lang="en-US" altLang="en-US" sz="1600" b="1" dirty="0"/>
              <a:t>redistribute pointers</a:t>
            </a:r>
            <a:r>
              <a:rPr lang="en-US" altLang="en-US" sz="1600" dirty="0"/>
              <a:t>:</a:t>
            </a:r>
            <a:endParaRPr lang="en-US" altLang="en-US" sz="1600" dirty="0"/>
          </a:p>
          <a:p>
            <a:pPr lvl="1"/>
            <a:r>
              <a:rPr lang="en-US" altLang="en-US" sz="1600" dirty="0"/>
              <a:t>Redistribute the pointers between the node and a sibling such that both have more than the minimum number of entries.</a:t>
            </a:r>
            <a:endParaRPr lang="en-US" altLang="en-US" sz="1600" dirty="0"/>
          </a:p>
          <a:p>
            <a:pPr lvl="1"/>
            <a:r>
              <a:rPr lang="en-US" altLang="en-US" sz="1600" dirty="0"/>
              <a:t>Update the corresponding search-key value in the parent of the node.</a:t>
            </a:r>
            <a:endParaRPr lang="en-US" altLang="en-US" sz="1600" dirty="0"/>
          </a:p>
          <a:p>
            <a:r>
              <a:rPr lang="en-US" altLang="en-US" sz="1600" dirty="0"/>
              <a:t>The node deletions may cascade upwards till a node which has  </a:t>
            </a:r>
            <a:r>
              <a:rPr lang="en-US" altLang="en-US" sz="1600" dirty="0">
                <a:sym typeface="Symbol" panose="05050102010706020507" pitchFamily="18" charset="2"/>
              </a:rPr>
              <a:t></a:t>
            </a:r>
            <a:r>
              <a:rPr lang="en-US" altLang="en-US" sz="1600" i="1" dirty="0">
                <a:sym typeface="Symbol" panose="05050102010706020507" pitchFamily="18" charset="2"/>
              </a:rPr>
              <a:t>n/2</a:t>
            </a:r>
            <a:r>
              <a:rPr lang="en-US" altLang="en-US" sz="1600" dirty="0">
                <a:sym typeface="Symbol" panose="05050102010706020507" pitchFamily="18" charset="2"/>
              </a:rPr>
              <a:t> or more pointers is found.  </a:t>
            </a:r>
            <a:endParaRPr lang="en-US" altLang="en-US" sz="1600" dirty="0">
              <a:sym typeface="Symbol" panose="05050102010706020507" pitchFamily="18" charset="2"/>
            </a:endParaRPr>
          </a:p>
          <a:p>
            <a:r>
              <a:rPr lang="en-US" altLang="en-US" sz="1600" dirty="0">
                <a:sym typeface="Symbol" panose="05050102010706020507" pitchFamily="18" charset="2"/>
              </a:rPr>
              <a:t>If the root node has only one pointer after deletion, it is deleted and the sole child becomes the root. </a:t>
            </a:r>
            <a:endParaRPr lang="en-US" altLang="en-US" sz="16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Complexity of Updates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167" y="800747"/>
            <a:ext cx="5726886" cy="3947602"/>
          </a:xfrm>
        </p:spPr>
        <p:txBody>
          <a:bodyPr/>
          <a:lstStyle/>
          <a:p>
            <a:r>
              <a:rPr lang="en-IN" sz="1600" dirty="0"/>
              <a:t>Cost (in terms of number of I/O operations) of insertion and deletion of a single entry proportional to height of the tree</a:t>
            </a:r>
            <a:endParaRPr lang="en-IN" sz="1600" dirty="0"/>
          </a:p>
          <a:p>
            <a:pPr lvl="1"/>
            <a:r>
              <a:rPr lang="en-IN" sz="1600" dirty="0"/>
              <a:t>With K entries and maximum fanout of n, worst case complexity of insert/delete of an entry is O(</a:t>
            </a:r>
            <a:r>
              <a:rPr lang="en-US" altLang="en-US" sz="1600" dirty="0" err="1">
                <a:sym typeface="Symbol" panose="05050102010706020507" pitchFamily="18" charset="2"/>
              </a:rPr>
              <a:t>log</a:t>
            </a:r>
            <a:r>
              <a:rPr lang="en-US" altLang="en-US" sz="1600" baseline="-25000" dirty="0" err="1">
                <a:sym typeface="Symbol" panose="05050102010706020507" pitchFamily="18" charset="2"/>
              </a:rPr>
              <a:t></a:t>
            </a:r>
            <a:r>
              <a:rPr lang="en-US" altLang="en-US" sz="16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1600" baseline="-25000" dirty="0">
                <a:sym typeface="Symbol" panose="05050102010706020507" pitchFamily="18" charset="2"/>
              </a:rPr>
              <a:t>/2</a:t>
            </a:r>
            <a:r>
              <a:rPr lang="en-US" altLang="en-US" sz="1600" dirty="0">
                <a:sym typeface="Symbol" panose="05050102010706020507" pitchFamily="18" charset="2"/>
              </a:rPr>
              <a:t>(</a:t>
            </a:r>
            <a:r>
              <a:rPr lang="en-US" altLang="en-US" sz="1600" i="1" dirty="0">
                <a:sym typeface="Symbol" panose="05050102010706020507" pitchFamily="18" charset="2"/>
              </a:rPr>
              <a:t>K</a:t>
            </a:r>
            <a:r>
              <a:rPr lang="en-US" altLang="en-US" sz="1600" dirty="0">
                <a:sym typeface="Symbol" panose="05050102010706020507" pitchFamily="18" charset="2"/>
              </a:rPr>
              <a:t>))</a:t>
            </a:r>
            <a:endParaRPr lang="en-US" altLang="en-US" sz="1600" dirty="0">
              <a:sym typeface="Symbol" panose="05050102010706020507" pitchFamily="18" charset="2"/>
            </a:endParaRPr>
          </a:p>
          <a:p>
            <a:r>
              <a:rPr lang="en-IN" sz="1600" dirty="0"/>
              <a:t>In practice, number of I/O operations is less:</a:t>
            </a:r>
            <a:endParaRPr lang="en-IN" sz="1600" dirty="0"/>
          </a:p>
          <a:p>
            <a:pPr lvl="1"/>
            <a:r>
              <a:rPr lang="en-IN" sz="1600" dirty="0"/>
              <a:t>Internal nodes tend to be in buffer</a:t>
            </a:r>
            <a:endParaRPr lang="en-IN" sz="1600" dirty="0"/>
          </a:p>
          <a:p>
            <a:pPr lvl="1"/>
            <a:r>
              <a:rPr lang="en-IN" sz="1600" dirty="0"/>
              <a:t>Splits/merges are rare, most insert/delete operations only affect a leaf node</a:t>
            </a:r>
            <a:endParaRPr lang="en-IN" sz="1600" dirty="0"/>
          </a:p>
          <a:p>
            <a:r>
              <a:rPr lang="en-IN" sz="1600" dirty="0"/>
              <a:t>Average node occupancy depends on insertion order</a:t>
            </a:r>
            <a:endParaRPr lang="en-IN" sz="1600" dirty="0"/>
          </a:p>
          <a:p>
            <a:pPr lvl="1"/>
            <a:r>
              <a:rPr lang="en-IN" sz="1600" dirty="0"/>
              <a:t>2/3rds with random, ½ with insertion in sorted order</a:t>
            </a:r>
            <a:endParaRPr lang="en-IN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demo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https://www.cs.usfca.edu/~galles/visualization/BPlusTree.html</a:t>
            </a:r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COMMONDATA" val="eyJoZGlkIjoiNTdiYTc4YjQwNjJlY2Q3MjUyYzQxMGNmZGE3NjA0ZDIifQ=="/>
  <p:tag name="RESOURCE_RECORD_KEY" val="{&quot;29&quot;:[50000049]}"/>
</p:tagLst>
</file>

<file path=ppt/theme/theme1.xml><?xml version="1.0" encoding="utf-8"?>
<a:theme xmlns:a="http://schemas.openxmlformats.org/drawingml/2006/main" name="23_ClassicWhit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FFFFFF"/>
      </a:accent3>
      <a:accent4>
        <a:srgbClr val="000000"/>
      </a:accent4>
      <a:accent5>
        <a:srgbClr val="AFBCE5"/>
      </a:accent5>
      <a:accent6>
        <a:srgbClr val="2DB2A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</a:spPr>
      <a:bodyPr vert="horz" wrap="square" lIns="50800" tIns="50800" rIns="50800" bIns="50800" numCol="1" anchor="ctr" anchorCtr="0" compatLnSpc="1">
        <a:spAutoFit/>
      </a:bodyPr>
      <a:lstStyle>
        <a:defPPr marL="0" marR="0" indent="0" algn="ctr" defTabSz="1733550" rtl="0" eaLnBrk="1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anela Text Regular" charset="0"/>
            <a:ea typeface="Canela Text Regular" charset="0"/>
            <a:cs typeface="Canela Text Regular" charset="0"/>
            <a:sym typeface="Canela Text Regular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</a:spPr>
      <a:bodyPr vert="horz" wrap="square" lIns="50800" tIns="50800" rIns="50800" bIns="50800" numCol="1" anchor="ctr" anchorCtr="0" compatLnSpc="1">
        <a:spAutoFit/>
      </a:bodyPr>
      <a:lstStyle>
        <a:defPPr marL="0" marR="0" indent="0" algn="ctr" defTabSz="1733550" rtl="0" eaLnBrk="1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anela Text Regular" charset="0"/>
            <a:ea typeface="Canela Text Regular" charset="0"/>
            <a:cs typeface="Canela Text Regular" charset="0"/>
            <a:sym typeface="Canela Text Regular" charset="0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FFFFFF"/>
      </a:accent3>
      <a:accent4>
        <a:srgbClr val="000000"/>
      </a:accent4>
      <a:accent5>
        <a:srgbClr val="AFBCE5"/>
      </a:accent5>
      <a:accent6>
        <a:srgbClr val="2DB2A7"/>
      </a:accent6>
      <a:hlink>
        <a:srgbClr val="0000FF"/>
      </a:hlink>
      <a:folHlink>
        <a:srgbClr val="FF00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24453</Words>
  <Application>WPS 演示</Application>
  <PresentationFormat>全屏显示(16:9)</PresentationFormat>
  <Paragraphs>679</Paragraphs>
  <Slides>61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81" baseType="lpstr">
      <vt:lpstr>Arial</vt:lpstr>
      <vt:lpstr>宋体</vt:lpstr>
      <vt:lpstr>Wingdings</vt:lpstr>
      <vt:lpstr>Canela Text Regular</vt:lpstr>
      <vt:lpstr>Segoe Print</vt:lpstr>
      <vt:lpstr>Helvetica</vt:lpstr>
      <vt:lpstr>Graphik</vt:lpstr>
      <vt:lpstr>Helvetica Neue</vt:lpstr>
      <vt:lpstr>MS PGothic</vt:lpstr>
      <vt:lpstr>Times New Roman</vt:lpstr>
      <vt:lpstr>微软雅黑</vt:lpstr>
      <vt:lpstr>Arial Unicode MS</vt:lpstr>
      <vt:lpstr>quote-cjk-patch</vt:lpstr>
      <vt:lpstr>Calibri</vt:lpstr>
      <vt:lpstr>Monotype Sorts</vt:lpstr>
      <vt:lpstr>Wingdings</vt:lpstr>
      <vt:lpstr>Webdings</vt:lpstr>
      <vt:lpstr>Symbol</vt:lpstr>
      <vt:lpstr>Monotype Sorts</vt:lpstr>
      <vt:lpstr>23_ClassicWhite</vt:lpstr>
      <vt:lpstr>DTS207TC Database Development and Design</vt:lpstr>
      <vt:lpstr>Outline</vt:lpstr>
      <vt:lpstr>The Core Problem: Search</vt:lpstr>
      <vt:lpstr>The Array &amp; Binary Search</vt:lpstr>
      <vt:lpstr>The Limitation of Arrays: Insertion/Deletion</vt:lpstr>
      <vt:lpstr>The Linked List</vt:lpstr>
      <vt:lpstr>The Limitation of Linked Lists: Search</vt:lpstr>
      <vt:lpstr>Classic Interview Question*</vt:lpstr>
      <vt:lpstr>The Binary Search Tree (BST)</vt:lpstr>
      <vt:lpstr>The Problem with BSTs: Degeneration</vt:lpstr>
      <vt:lpstr>Beyond Binary: M-way Search Trees</vt:lpstr>
      <vt:lpstr>Key Takeaways &amp; The Path Forward</vt:lpstr>
      <vt:lpstr>Algorithm Analysis: Understanding Time Complexity</vt:lpstr>
      <vt:lpstr>The Language of Growth: Big O Notation</vt:lpstr>
      <vt:lpstr>From Code to Complexity &amp; Practical Impact</vt:lpstr>
      <vt:lpstr>Operational Costs: Data Structure Efficiency</vt:lpstr>
      <vt:lpstr>Basic Concepts</vt:lpstr>
      <vt:lpstr>Index Evaluation Metrics</vt:lpstr>
      <vt:lpstr>Ordered Indices</vt:lpstr>
      <vt:lpstr>Dense Index Files</vt:lpstr>
      <vt:lpstr>Dense Index Files (Cont.)</vt:lpstr>
      <vt:lpstr>Sparse Index Files</vt:lpstr>
      <vt:lpstr>Sparse Index Files (Cont.)</vt:lpstr>
      <vt:lpstr>Secondary Indices Example</vt:lpstr>
      <vt:lpstr>Clustering vs Nonclustering Indices</vt:lpstr>
      <vt:lpstr>Multilevel Index</vt:lpstr>
      <vt:lpstr>Multilevel Index (Cont.)</vt:lpstr>
      <vt:lpstr>Index Update:  Deletion</vt:lpstr>
      <vt:lpstr>Index Update:  Insertion</vt:lpstr>
      <vt:lpstr>The Starting Point: Binary Search Tree (BST)</vt:lpstr>
      <vt:lpstr>The In-Memory Solution: Balanced BST (e.g., AVL)</vt:lpstr>
      <vt:lpstr>The Shift: Thinking in Terms of Disk Blocks</vt:lpstr>
      <vt:lpstr>The Bridge: B-Tree</vt:lpstr>
      <vt:lpstr>B-Tree Example &amp; Mechanics</vt:lpstr>
      <vt:lpstr>Identifying B-Tree's Limitations</vt:lpstr>
      <vt:lpstr>The Pinnacle: B+Tree</vt:lpstr>
      <vt:lpstr>Why B+Tree is the Winner for Databases</vt:lpstr>
      <vt:lpstr>B+-Tree Index Files</vt:lpstr>
      <vt:lpstr>Example of B+-Tree</vt:lpstr>
      <vt:lpstr>B+-Tree Index Files (Cont.)</vt:lpstr>
      <vt:lpstr>B+-Tree Node Structure</vt:lpstr>
      <vt:lpstr>Leaf Nodes in B+-Trees</vt:lpstr>
      <vt:lpstr>Non-Leaf Nodes in B+-Trees</vt:lpstr>
      <vt:lpstr>Example of B+-tree</vt:lpstr>
      <vt:lpstr>Observations about B+-trees</vt:lpstr>
      <vt:lpstr>Queries on B+-Trees</vt:lpstr>
      <vt:lpstr>Queries on B+-Trees (Cont.)</vt:lpstr>
      <vt:lpstr>Queries on B+-Trees (Cont.)</vt:lpstr>
      <vt:lpstr>Non-Unique Keys</vt:lpstr>
      <vt:lpstr>Updates on B+-Trees:  Insertion</vt:lpstr>
      <vt:lpstr>Updates on B+-Trees:  Insertion (Cont.)</vt:lpstr>
      <vt:lpstr>B+-Tree  Insertion</vt:lpstr>
      <vt:lpstr>B+-Tree  Insertion</vt:lpstr>
      <vt:lpstr>Insertion in B+-Trees (Cont.)</vt:lpstr>
      <vt:lpstr>Examples of B+-Tree Deletion</vt:lpstr>
      <vt:lpstr>Examples of B+-Tree Deletion (Cont.)</vt:lpstr>
      <vt:lpstr>Example of B+-tree Deletion (Cont.)</vt:lpstr>
      <vt:lpstr>Updates on B+-Trees: Deletion</vt:lpstr>
      <vt:lpstr>Updates on B+-Trees:  Deletion</vt:lpstr>
      <vt:lpstr>Complexity of Updates</vt:lpstr>
      <vt:lpstr>demo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DTS205TC High Performance Computing</dc:title>
  <dc:creator>andyz</dc:creator>
  <cp:lastModifiedBy>ZD</cp:lastModifiedBy>
  <cp:revision>3390</cp:revision>
  <dcterms:created xsi:type="dcterms:W3CDTF">2023-04-15T13:38:00Z</dcterms:created>
  <dcterms:modified xsi:type="dcterms:W3CDTF">2025-12-19T13:34:07Z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DF1EBEBD9B944AFB9BE2DA128EB57B57_13</vt:lpwstr>
  </property>
  <property fmtid="{D5CDD505-2E9C-101B-9397-08002B2CF9AE}" pid="3" name="KSOProductBuildVer">
    <vt:lpwstr>2052-12.1.0.24034</vt:lpwstr>
  </property>
</Properties>
</file>