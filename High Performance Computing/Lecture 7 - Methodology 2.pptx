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>
  <p:sldMasterIdLst>
    <p:sldMasterId id="2147483648" r:id="rId1"/>
  </p:sldMasterIdLst>
  <p:notesMasterIdLst>
    <p:notesMasterId r:id="rId33"/>
  </p:notesMasterIdLst>
  <p:sldIdLst>
    <p:sldId id="373" r:id="rId3"/>
    <p:sldId id="1515" r:id="rId4"/>
    <p:sldId id="1516" r:id="rId5"/>
    <p:sldId id="1517" r:id="rId6"/>
    <p:sldId id="1518" r:id="rId7"/>
    <p:sldId id="1519" r:id="rId8"/>
    <p:sldId id="1520" r:id="rId9"/>
    <p:sldId id="1521" r:id="rId10"/>
    <p:sldId id="1522" r:id="rId11"/>
    <p:sldId id="1523" r:id="rId12"/>
    <p:sldId id="1524" r:id="rId13"/>
    <p:sldId id="1525" r:id="rId14"/>
    <p:sldId id="1526" r:id="rId15"/>
    <p:sldId id="1527" r:id="rId16"/>
    <p:sldId id="1528" r:id="rId17"/>
    <p:sldId id="1529" r:id="rId18"/>
    <p:sldId id="1530" r:id="rId19"/>
    <p:sldId id="1531" r:id="rId20"/>
    <p:sldId id="1532" r:id="rId21"/>
    <p:sldId id="1533" r:id="rId22"/>
    <p:sldId id="1534" r:id="rId23"/>
    <p:sldId id="1535" r:id="rId24"/>
    <p:sldId id="1536" r:id="rId25"/>
    <p:sldId id="1537" r:id="rId26"/>
    <p:sldId id="1538" r:id="rId27"/>
    <p:sldId id="1539" r:id="rId28"/>
    <p:sldId id="1540" r:id="rId29"/>
    <p:sldId id="1541" r:id="rId30"/>
    <p:sldId id="1542" r:id="rId31"/>
    <p:sldId id="1543" r:id="rId32"/>
    <p:sldId id="1544" r:id="rId34"/>
    <p:sldId id="1545" r:id="rId35"/>
    <p:sldId id="1546" r:id="rId36"/>
    <p:sldId id="1547" r:id="rId37"/>
    <p:sldId id="1548" r:id="rId38"/>
    <p:sldId id="1549" r:id="rId39"/>
    <p:sldId id="1550" r:id="rId40"/>
    <p:sldId id="1551" r:id="rId41"/>
    <p:sldId id="1552" r:id="rId42"/>
    <p:sldId id="1553" r:id="rId43"/>
    <p:sldId id="1554" r:id="rId44"/>
    <p:sldId id="1555" r:id="rId45"/>
  </p:sldIdLst>
  <p:sldSz cx="13004800" cy="9753600"/>
  <p:notesSz cx="6858000" cy="9144000"/>
  <p:custDataLst>
    <p:tags r:id="rId49"/>
  </p:custDataLst>
  <p:defaultTextStyle>
    <a:defPPr>
      <a:defRPr lang="en-US"/>
    </a:defPPr>
    <a:lvl1pPr algn="l" defTabSz="1733550" rtl="0" eaLnBrk="0" fontAlgn="base" hangingPunct="0">
      <a:spcBef>
        <a:spcPct val="0"/>
      </a:spcBef>
      <a:spcAft>
        <a:spcPct val="0"/>
      </a:spcAft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1pPr>
    <a:lvl2pPr marL="457200" algn="l" defTabSz="1733550" rtl="0" eaLnBrk="0" fontAlgn="base" hangingPunct="0">
      <a:spcBef>
        <a:spcPct val="0"/>
      </a:spcBef>
      <a:spcAft>
        <a:spcPct val="0"/>
      </a:spcAft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2pPr>
    <a:lvl3pPr marL="914400" algn="l" defTabSz="1733550" rtl="0" eaLnBrk="0" fontAlgn="base" hangingPunct="0">
      <a:spcBef>
        <a:spcPct val="0"/>
      </a:spcBef>
      <a:spcAft>
        <a:spcPct val="0"/>
      </a:spcAft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3pPr>
    <a:lvl4pPr marL="1371600" algn="l" defTabSz="1733550" rtl="0" eaLnBrk="0" fontAlgn="base" hangingPunct="0">
      <a:spcBef>
        <a:spcPct val="0"/>
      </a:spcBef>
      <a:spcAft>
        <a:spcPct val="0"/>
      </a:spcAft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4pPr>
    <a:lvl5pPr marL="1828800" algn="l" defTabSz="1733550" rtl="0" eaLnBrk="0" fontAlgn="base" hangingPunct="0">
      <a:spcBef>
        <a:spcPct val="0"/>
      </a:spcBef>
      <a:spcAft>
        <a:spcPct val="0"/>
      </a:spcAft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5pPr>
    <a:lvl6pPr marL="2286000" algn="l" defTabSz="914400" rtl="0" eaLnBrk="1" latinLnBrk="0" hangingPunct="1"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6pPr>
    <a:lvl7pPr marL="2743200" algn="l" defTabSz="914400" rtl="0" eaLnBrk="1" latinLnBrk="0" hangingPunct="1"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7pPr>
    <a:lvl8pPr marL="3200400" algn="l" defTabSz="914400" rtl="0" eaLnBrk="1" latinLnBrk="0" hangingPunct="1"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8pPr>
    <a:lvl9pPr marL="3657600" algn="l" defTabSz="914400" rtl="0" eaLnBrk="1" latinLnBrk="0" hangingPunct="1">
      <a:defRPr sz="16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ed2a4a82-1372-4faa-a1b1-a35e39e9e707}">
          <p14:sldIdLst>
            <p14:sldId id="373"/>
          </p14:sldIdLst>
        </p14:section>
        <p14:section name="Mapping" id="{a3088304-296a-42e1-86ea-5e14d82d771b}">
          <p14:sldIdLst>
            <p14:sldId id="1515"/>
            <p14:sldId id="1516"/>
            <p14:sldId id="1517"/>
            <p14:sldId id="1518"/>
            <p14:sldId id="1519"/>
            <p14:sldId id="1520"/>
            <p14:sldId id="1521"/>
            <p14:sldId id="1522"/>
            <p14:sldId id="1523"/>
            <p14:sldId id="1524"/>
            <p14:sldId id="1525"/>
            <p14:sldId id="1526"/>
            <p14:sldId id="1527"/>
            <p14:sldId id="1528"/>
            <p14:sldId id="1529"/>
            <p14:sldId id="1530"/>
            <p14:sldId id="1531"/>
            <p14:sldId id="1532"/>
            <p14:sldId id="1533"/>
            <p14:sldId id="1534"/>
            <p14:sldId id="1535"/>
            <p14:sldId id="1536"/>
            <p14:sldId id="1537"/>
            <p14:sldId id="1538"/>
            <p14:sldId id="1539"/>
            <p14:sldId id="1540"/>
          </p14:sldIdLst>
        </p14:section>
        <p14:section name="Model" id="{7654892e-b19f-4e42-af9e-5a38c3f2e29b}">
          <p14:sldIdLst>
            <p14:sldId id="1541"/>
            <p14:sldId id="1542"/>
            <p14:sldId id="1543"/>
            <p14:sldId id="1544"/>
            <p14:sldId id="1545"/>
            <p14:sldId id="1546"/>
            <p14:sldId id="1547"/>
            <p14:sldId id="1548"/>
            <p14:sldId id="1549"/>
            <p14:sldId id="1550"/>
            <p14:sldId id="1551"/>
            <p14:sldId id="1552"/>
            <p14:sldId id="1553"/>
            <p14:sldId id="1554"/>
            <p14:sldId id="15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40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283" autoAdjust="0"/>
  </p:normalViewPr>
  <p:slideViewPr>
    <p:cSldViewPr showGuides="1">
      <p:cViewPr varScale="1">
        <p:scale>
          <a:sx n="76" d="100"/>
          <a:sy n="76" d="100"/>
        </p:scale>
        <p:origin x="1704" y="156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27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gs" Target="tags/tag1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" name="Rectangle 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noProof="0">
                <a:sym typeface="Helvetica Neue" charset="0"/>
              </a:rPr>
              <a:t>Click to edit Template text styles</a:t>
            </a:r>
            <a:endParaRPr lang="en-US" altLang="en-US" noProof="0">
              <a:sym typeface="Helvetica Neue" charset="0"/>
            </a:endParaRPr>
          </a:p>
          <a:p>
            <a:pPr lvl="1"/>
            <a:r>
              <a:rPr lang="en-US" altLang="en-US" noProof="0">
                <a:sym typeface="Helvetica Neue" charset="0"/>
              </a:rPr>
              <a:t>Second level</a:t>
            </a:r>
            <a:endParaRPr lang="en-US" altLang="en-US" noProof="0">
              <a:sym typeface="Helvetica Neue" charset="0"/>
            </a:endParaRPr>
          </a:p>
          <a:p>
            <a:pPr lvl="2"/>
            <a:r>
              <a:rPr lang="en-US" altLang="en-US" noProof="0">
                <a:sym typeface="Helvetica Neue" charset="0"/>
              </a:rPr>
              <a:t>Third level</a:t>
            </a:r>
            <a:endParaRPr lang="en-US" altLang="en-US" noProof="0">
              <a:sym typeface="Helvetica Neue" charset="0"/>
            </a:endParaRPr>
          </a:p>
          <a:p>
            <a:pPr lvl="3"/>
            <a:r>
              <a:rPr lang="en-US" altLang="en-US" noProof="0">
                <a:sym typeface="Helvetica Neue" charset="0"/>
              </a:rPr>
              <a:t>Fourth level</a:t>
            </a:r>
            <a:endParaRPr lang="en-US" altLang="en-US" noProof="0">
              <a:sym typeface="Helvetica Neue" charset="0"/>
            </a:endParaRPr>
          </a:p>
          <a:p>
            <a:pPr lvl="4"/>
            <a:r>
              <a:rPr lang="en-US" altLang="en-US" noProof="0">
                <a:sym typeface="Helvetica Neue" charset="0"/>
              </a:rPr>
              <a:t>Fifth level</a:t>
            </a:r>
            <a:endParaRPr lang="en-US" altLang="en-US" noProof="0">
              <a:sym typeface="Helvetica Neue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4572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6858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9144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200" b="0" i="0" kern="1200" dirty="0"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There are many complex patterns here, marked with asterisks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597025"/>
            <a:ext cx="9753600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63"/>
            <a:ext cx="9753600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7C7262-FF55-4610-9A25-667B2652BA5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37783A1-42D6-4213-9BA0-F0CAED590AF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413" y="2432050"/>
            <a:ext cx="11217275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413" y="6527800"/>
            <a:ext cx="11217275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F9C8FD0-AE1F-4279-961C-85B30E8EF35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363663"/>
            <a:ext cx="5929313" cy="7678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7013" y="1363663"/>
            <a:ext cx="5930900" cy="7678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BB24CF5-79F1-4B9F-ADBC-FD8468321F5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519113"/>
            <a:ext cx="11217275" cy="1885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350" y="2390775"/>
            <a:ext cx="55022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350" y="3562350"/>
            <a:ext cx="55022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363" y="2390775"/>
            <a:ext cx="5529262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363" y="3562350"/>
            <a:ext cx="5529262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1E3AAB-E94C-4BB3-991F-266A816450E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0B96DA-CC31-46CB-8F99-1CC45EAF401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CC0F4C5-4F58-496F-81D1-185E39074ED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7A5C2D-4DF0-4E9D-A3B4-66E7EA2348F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350" y="650875"/>
            <a:ext cx="4194175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29263" y="1404938"/>
            <a:ext cx="6583362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elvetica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350" y="2925763"/>
            <a:ext cx="4194175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D4E2809-2EBC-494C-80AA-8548A1F41DF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2CD714D-5A77-4A31-BC9B-06D645F830C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05950" y="176213"/>
            <a:ext cx="3001963" cy="8866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176213"/>
            <a:ext cx="8858250" cy="8866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3B9464-FA1B-47DD-AA1A-F451366C10A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0240" y="8882098"/>
            <a:ext cx="3034453" cy="677333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43307" y="8882098"/>
            <a:ext cx="4118187" cy="677333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94080" y="2596444"/>
            <a:ext cx="5527040" cy="29847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583680" y="2596444"/>
            <a:ext cx="5527040" cy="29847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94080" y="5797973"/>
            <a:ext cx="5527040" cy="29870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680" y="5797973"/>
            <a:ext cx="5527040" cy="29870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50240" y="8882098"/>
            <a:ext cx="3034453" cy="677333"/>
          </a:xfrm>
        </p:spPr>
        <p:txBody>
          <a:bodyPr/>
          <a:lstStyle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443307" y="8882098"/>
            <a:ext cx="4118187" cy="677333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0240" y="8882098"/>
            <a:ext cx="3034453" cy="677333"/>
          </a:xfrm>
        </p:spPr>
        <p:txBody>
          <a:bodyPr/>
          <a:lstStyle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43307" y="8882098"/>
            <a:ext cx="4118187" cy="677333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body" idx="1"/>
          </p:nvPr>
        </p:nvSpPr>
        <p:spPr bwMode="auto">
          <a:xfrm>
            <a:off x="495300" y="1363663"/>
            <a:ext cx="12012613" cy="7678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t" anchorCtr="0" compatLnSpc="1"/>
          <a:lstStyle/>
          <a:p>
            <a:pPr lvl="0"/>
            <a:r>
              <a:rPr lang="en-US" altLang="en-US">
                <a:sym typeface="Helvetica" charset="0"/>
              </a:rPr>
              <a:t>Click to edit Template text styles</a:t>
            </a:r>
            <a:endParaRPr lang="en-US" altLang="en-US">
              <a:sym typeface="Helvetica" charset="0"/>
            </a:endParaRPr>
          </a:p>
          <a:p>
            <a:pPr lvl="1"/>
            <a:r>
              <a:rPr lang="en-US" altLang="en-US">
                <a:sym typeface="Helvetica" charset="0"/>
              </a:rPr>
              <a:t>Second level</a:t>
            </a:r>
            <a:endParaRPr lang="en-US" altLang="en-US">
              <a:sym typeface="Helvetica" charset="0"/>
            </a:endParaRPr>
          </a:p>
          <a:p>
            <a:pPr lvl="2"/>
            <a:r>
              <a:rPr lang="en-US" altLang="en-US">
                <a:sym typeface="Helvetica" charset="0"/>
              </a:rPr>
              <a:t>Third level</a:t>
            </a:r>
            <a:endParaRPr lang="en-US" altLang="en-US">
              <a:sym typeface="Helvetica" charset="0"/>
            </a:endParaRPr>
          </a:p>
          <a:p>
            <a:pPr lvl="3"/>
            <a:r>
              <a:rPr lang="en-US" altLang="en-US">
                <a:sym typeface="Helvetica" charset="0"/>
              </a:rPr>
              <a:t>Fourth level</a:t>
            </a:r>
            <a:endParaRPr lang="en-US" altLang="en-US">
              <a:sym typeface="Helvetica" charset="0"/>
            </a:endParaRPr>
          </a:p>
          <a:p>
            <a:pPr lvl="4"/>
            <a:r>
              <a:rPr lang="en-US" altLang="en-US">
                <a:sym typeface="Helvetica" charset="0"/>
              </a:rPr>
              <a:t>Fifth level</a:t>
            </a:r>
            <a:endParaRPr lang="en-US" altLang="en-US">
              <a:sym typeface="Helvetica" charset="0"/>
            </a:endParaRPr>
          </a:p>
        </p:txBody>
      </p:sp>
      <p:sp>
        <p:nvSpPr>
          <p:cNvPr id="1027" name="Rectangle 2"/>
          <p:cNvSpPr>
            <a:spLocks noGrp="1"/>
          </p:cNvSpPr>
          <p:nvPr>
            <p:ph type="title"/>
          </p:nvPr>
        </p:nvSpPr>
        <p:spPr bwMode="auto">
          <a:xfrm>
            <a:off x="711200" y="176213"/>
            <a:ext cx="11582400" cy="852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t" anchorCtr="0" compatLnSpc="1"/>
          <a:lstStyle/>
          <a:p>
            <a:pPr lvl="0"/>
            <a:r>
              <a:rPr lang="en-US" altLang="en-US">
                <a:sym typeface="Helvetica" charset="0"/>
              </a:rPr>
              <a:t>Click to edit Template title style</a:t>
            </a:r>
            <a:endParaRPr lang="en-US" altLang="en-US">
              <a:sym typeface="Helvetica" charset="0"/>
            </a:endParaRPr>
          </a:p>
        </p:txBody>
      </p:sp>
      <p:pic>
        <p:nvPicPr>
          <p:cNvPr id="1028" name="Picture 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3150" y="131763"/>
            <a:ext cx="2632075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9" name="Line 4"/>
          <p:cNvSpPr>
            <a:spLocks noChangeShapeType="1"/>
          </p:cNvSpPr>
          <p:nvPr/>
        </p:nvSpPr>
        <p:spPr bwMode="auto">
          <a:xfrm>
            <a:off x="485775" y="1116013"/>
            <a:ext cx="1203166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en-US"/>
          </a:p>
        </p:txBody>
      </p:sp>
      <p:sp>
        <p:nvSpPr>
          <p:cNvPr id="2" name="Rectangle 5"/>
          <p:cNvSpPr>
            <a:spLocks noGrp="1"/>
          </p:cNvSpPr>
          <p:nvPr>
            <p:ph type="sldNum" sz="quarter" idx="2"/>
          </p:nvPr>
        </p:nvSpPr>
        <p:spPr bwMode="auto">
          <a:xfrm>
            <a:off x="6345238" y="9117013"/>
            <a:ext cx="306387" cy="3286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50800" tIns="50800" rIns="50800" bIns="50800" numCol="1" anchor="b" anchorCtr="0" compatLnSpc="1"/>
          <a:lstStyle>
            <a:lvl1pPr algn="ctr" defTabSz="1739900" eaLnBrk="1">
              <a:defRPr sz="1400">
                <a:solidFill>
                  <a:srgbClr val="5E5E5E"/>
                </a:solidFill>
                <a:latin typeface="Graphik" charset="0"/>
                <a:ea typeface="Graphik" charset="0"/>
                <a:cs typeface="Graphik" charset="0"/>
                <a:sym typeface="Graphik" charset="0"/>
              </a:defRPr>
            </a:lvl1pPr>
          </a:lstStyle>
          <a:p>
            <a:fld id="{0EF41DDE-95AD-41CE-B516-81F91E998433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173990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 kern="1200">
          <a:solidFill>
            <a:srgbClr val="AE0428"/>
          </a:solidFill>
          <a:latin typeface="+mj-lt"/>
          <a:ea typeface="+mj-ea"/>
          <a:cs typeface="+mj-cs"/>
          <a:sym typeface="Helvetica" charset="0"/>
        </a:defRPr>
      </a:lvl1pPr>
      <a:lvl2pPr algn="l" defTabSz="173990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>
          <a:solidFill>
            <a:srgbClr val="AE0428"/>
          </a:solidFill>
          <a:latin typeface="Helvetica" charset="0"/>
          <a:ea typeface="Helvetica" charset="0"/>
          <a:cs typeface="Helvetica" charset="0"/>
          <a:sym typeface="Helvetica" charset="0"/>
        </a:defRPr>
      </a:lvl2pPr>
      <a:lvl3pPr algn="l" defTabSz="173990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>
          <a:solidFill>
            <a:srgbClr val="AE0428"/>
          </a:solidFill>
          <a:latin typeface="Helvetica" charset="0"/>
          <a:ea typeface="Helvetica" charset="0"/>
          <a:cs typeface="Helvetica" charset="0"/>
          <a:sym typeface="Helvetica" charset="0"/>
        </a:defRPr>
      </a:lvl3pPr>
      <a:lvl4pPr algn="l" defTabSz="173990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>
          <a:solidFill>
            <a:srgbClr val="AE0428"/>
          </a:solidFill>
          <a:latin typeface="Helvetica" charset="0"/>
          <a:ea typeface="Helvetica" charset="0"/>
          <a:cs typeface="Helvetica" charset="0"/>
          <a:sym typeface="Helvetica" charset="0"/>
        </a:defRPr>
      </a:lvl4pPr>
      <a:lvl5pPr algn="l" defTabSz="173990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>
          <a:solidFill>
            <a:srgbClr val="AE0428"/>
          </a:solidFill>
          <a:latin typeface="Helvetica" charset="0"/>
          <a:ea typeface="Helvetica" charset="0"/>
          <a:cs typeface="Helvetica" charset="0"/>
          <a:sym typeface="Helvetica" charset="0"/>
        </a:defRPr>
      </a:lvl5pPr>
      <a:lvl6pPr marL="457200" algn="l" defTabSz="1739900" rtl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>
          <a:solidFill>
            <a:srgbClr val="AE0428"/>
          </a:solidFill>
          <a:latin typeface="Helvetica" charset="0"/>
          <a:ea typeface="Helvetica" charset="0"/>
          <a:cs typeface="Helvetica" charset="0"/>
          <a:sym typeface="Helvetica" charset="0"/>
        </a:defRPr>
      </a:lvl6pPr>
      <a:lvl7pPr marL="914400" algn="l" defTabSz="1739900" rtl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>
          <a:solidFill>
            <a:srgbClr val="AE0428"/>
          </a:solidFill>
          <a:latin typeface="Helvetica" charset="0"/>
          <a:ea typeface="Helvetica" charset="0"/>
          <a:cs typeface="Helvetica" charset="0"/>
          <a:sym typeface="Helvetica" charset="0"/>
        </a:defRPr>
      </a:lvl7pPr>
      <a:lvl8pPr marL="1371600" algn="l" defTabSz="1739900" rtl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>
          <a:solidFill>
            <a:srgbClr val="AE0428"/>
          </a:solidFill>
          <a:latin typeface="Helvetica" charset="0"/>
          <a:ea typeface="Helvetica" charset="0"/>
          <a:cs typeface="Helvetica" charset="0"/>
          <a:sym typeface="Helvetica" charset="0"/>
        </a:defRPr>
      </a:lvl8pPr>
      <a:lvl9pPr marL="1828800" algn="l" defTabSz="1739900" rtl="0" fontAlgn="base" hangingPunct="0">
        <a:lnSpc>
          <a:spcPct val="70000"/>
        </a:lnSpc>
        <a:spcBef>
          <a:spcPct val="0"/>
        </a:spcBef>
        <a:spcAft>
          <a:spcPct val="0"/>
        </a:spcAft>
        <a:defRPr sz="5800" b="1">
          <a:solidFill>
            <a:srgbClr val="AE0428"/>
          </a:solidFill>
          <a:latin typeface="Helvetica" charset="0"/>
          <a:ea typeface="Helvetica" charset="0"/>
          <a:cs typeface="Helvetica" charset="0"/>
          <a:sym typeface="Helvetica" charset="0"/>
        </a:defRPr>
      </a:lvl9pPr>
    </p:titleStyle>
    <p:bodyStyle>
      <a:lvl1pPr marL="421005" indent="-421005" algn="l" defTabSz="1739900" rtl="0" eaLnBrk="0" fontAlgn="base" hangingPunct="0">
        <a:spcBef>
          <a:spcPts val="2000"/>
        </a:spcBef>
        <a:spcAft>
          <a:spcPct val="0"/>
        </a:spcAft>
        <a:buSzPct val="75000"/>
        <a:buChar char="•"/>
        <a:defRPr sz="3000" kern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1pPr>
      <a:lvl2pPr marL="787400" indent="-393700" algn="l" defTabSz="1739900" rtl="0" eaLnBrk="0" fontAlgn="base" hangingPunct="0">
        <a:spcBef>
          <a:spcPts val="2000"/>
        </a:spcBef>
        <a:spcAft>
          <a:spcPct val="0"/>
        </a:spcAft>
        <a:buSzPct val="175000"/>
        <a:buChar char="•"/>
        <a:defRPr sz="3000" kern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2pPr>
      <a:lvl3pPr marL="1181100" indent="-393700" algn="l" defTabSz="1739900" rtl="0" eaLnBrk="0" fontAlgn="base" hangingPunct="0">
        <a:spcBef>
          <a:spcPts val="2000"/>
        </a:spcBef>
        <a:spcAft>
          <a:spcPct val="0"/>
        </a:spcAft>
        <a:buSzPct val="175000"/>
        <a:buChar char="•"/>
        <a:defRPr sz="3000" kern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3pPr>
      <a:lvl4pPr marL="1574800" indent="-393700" algn="l" defTabSz="1739900" rtl="0" eaLnBrk="0" fontAlgn="base" hangingPunct="0">
        <a:spcBef>
          <a:spcPts val="2000"/>
        </a:spcBef>
        <a:spcAft>
          <a:spcPct val="0"/>
        </a:spcAft>
        <a:buSzPct val="175000"/>
        <a:buChar char="•"/>
        <a:defRPr sz="3000" kern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4pPr>
      <a:lvl5pPr marL="1968500" indent="-393700" algn="l" defTabSz="1739900" rtl="0" eaLnBrk="0" fontAlgn="base" hangingPunct="0">
        <a:spcBef>
          <a:spcPts val="2000"/>
        </a:spcBef>
        <a:spcAft>
          <a:spcPct val="0"/>
        </a:spcAft>
        <a:buSzPct val="175000"/>
        <a:buChar char="•"/>
        <a:defRPr sz="3000" kern="1200">
          <a:solidFill>
            <a:srgbClr val="000000"/>
          </a:solidFill>
          <a:latin typeface="+mn-lt"/>
          <a:ea typeface="+mn-ea"/>
          <a:cs typeface="+mn-cs"/>
          <a:sym typeface="Helvetica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6" Type="http://schemas.openxmlformats.org/officeDocument/2006/relationships/slideLayout" Target="../slideLayouts/slideLayout13.xml"/><Relationship Id="rId15" Type="http://schemas.openxmlformats.org/officeDocument/2006/relationships/image" Target="../media/image20.png"/><Relationship Id="rId14" Type="http://schemas.openxmlformats.org/officeDocument/2006/relationships/image" Target="../media/image19.png"/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1"/>
          <p:cNvSpPr>
            <a:spLocks noGrp="1"/>
          </p:cNvSpPr>
          <p:nvPr>
            <p:ph type="ctrTitle"/>
          </p:nvPr>
        </p:nvSpPr>
        <p:spPr>
          <a:xfrm>
            <a:off x="711200" y="2197100"/>
            <a:ext cx="11582400" cy="1079500"/>
          </a:xfrm>
        </p:spPr>
        <p:txBody>
          <a:bodyPr/>
          <a:lstStyle/>
          <a:p>
            <a:pPr eaLnBrk="1">
              <a:lnSpc>
                <a:spcPct val="80000"/>
              </a:lnSpc>
            </a:pPr>
            <a:r>
              <a:rPr lang="en-US" altLang="en-US" sz="4500"/>
              <a:t>DTS205TC High Performance Computing</a:t>
            </a:r>
            <a:endParaRPr lang="en-US" altLang="en-US" sz="4500"/>
          </a:p>
        </p:txBody>
      </p:sp>
      <p:sp>
        <p:nvSpPr>
          <p:cNvPr id="88067" name="Rectangle 2"/>
          <p:cNvSpPr>
            <a:spLocks noGrp="1"/>
          </p:cNvSpPr>
          <p:nvPr>
            <p:ph type="subTitle" sz="quarter" idx="1"/>
          </p:nvPr>
        </p:nvSpPr>
        <p:spPr>
          <a:xfrm>
            <a:off x="711200" y="4611688"/>
            <a:ext cx="11582400" cy="730250"/>
          </a:xfrm>
        </p:spPr>
        <p:txBody>
          <a:bodyPr/>
          <a:lstStyle/>
          <a:p>
            <a:pPr defTabSz="584200" eaLnBrk="1">
              <a:spcBef>
                <a:spcPct val="0"/>
              </a:spcBef>
              <a:buSzTx/>
            </a:pPr>
            <a:r>
              <a:rPr lang="en-US" altLang="en-US" sz="3400" b="1" dirty="0">
                <a:solidFill>
                  <a:srgbClr val="AE0428"/>
                </a:solidFill>
              </a:rPr>
              <a:t>Lecture 7 Methodology 2</a:t>
            </a:r>
            <a:endParaRPr lang="en-US" altLang="en-US" sz="3400" b="1" dirty="0">
              <a:solidFill>
                <a:srgbClr val="AE0428"/>
              </a:solidFill>
            </a:endParaRPr>
          </a:p>
        </p:txBody>
      </p:sp>
      <p:sp>
        <p:nvSpPr>
          <p:cNvPr id="88068" name="Text Box 3"/>
          <p:cNvSpPr txBox="1"/>
          <p:nvPr/>
        </p:nvSpPr>
        <p:spPr bwMode="auto">
          <a:xfrm>
            <a:off x="711200" y="8410575"/>
            <a:ext cx="115824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/>
          <a:lstStyle>
            <a:lvl1pPr defTabSz="586105"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1pPr>
            <a:lvl2pPr marL="742950" indent="-285750" defTabSz="586105"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2pPr>
            <a:lvl3pPr marL="1143000" indent="-228600" defTabSz="586105"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3pPr>
            <a:lvl4pPr marL="1600200" indent="-228600" defTabSz="586105"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4pPr>
            <a:lvl5pPr marL="2057400" indent="-228600" defTabSz="586105"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5pPr>
            <a:lvl6pPr marL="25146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6pPr>
            <a:lvl7pPr marL="29718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7pPr>
            <a:lvl8pPr marL="34290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8pPr>
            <a:lvl9pPr marL="38862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9pPr>
          </a:lstStyle>
          <a:p>
            <a:pPr algn="ctr" eaLnBrk="1"/>
            <a:r>
              <a:rPr lang="en-US" altLang="zh-CN" sz="2000">
                <a:latin typeface="Helvetica" charset="0"/>
                <a:ea typeface="宋体" panose="02010600030101010101" pitchFamily="2" charset="-122"/>
                <a:sym typeface="Helvetica" charset="0"/>
              </a:rPr>
              <a:t>Di Zhang</a:t>
            </a:r>
            <a:r>
              <a:rPr lang="en-US" altLang="en-US" sz="2000">
                <a:latin typeface="Helvetica" charset="0"/>
                <a:ea typeface="Helvetica" charset="0"/>
                <a:cs typeface="Helvetica" charset="0"/>
                <a:sym typeface="Helvetica" charset="0"/>
              </a:rPr>
              <a:t>, Spring 2024</a:t>
            </a:r>
            <a:endParaRPr lang="en-US" altLang="en-US" sz="2000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Title 9216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Mapping Techniques </a:t>
            </a:r>
          </a:p>
        </p:txBody>
      </p:sp>
      <p:sp>
        <p:nvSpPr>
          <p:cNvPr id="92163" name="Text Placeholder 9216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Once a problem has been decomposed into concurrent tasks, these must be mapped to processes (that can be executed on a parallel platform). </a:t>
            </a:r>
          </a:p>
          <a:p>
            <a:r>
              <a:t>Mappings must minimize overheads. </a:t>
            </a:r>
          </a:p>
          <a:p>
            <a:r>
              <a:t>Primary overheads are communication and idling. </a:t>
            </a:r>
          </a:p>
          <a:p>
            <a:r>
              <a:t>Minimizing these overheads often represents contradicting objectives. </a:t>
            </a:r>
          </a:p>
          <a:p>
            <a:r>
              <a:t>Assigning all work to one processor trivially minimizes communication at the expense of significant idling.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9" name="Title 93188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Mapping Techniques for Minimum Idling </a:t>
            </a:r>
          </a:p>
        </p:txBody>
      </p:sp>
      <p:pic>
        <p:nvPicPr>
          <p:cNvPr id="93188" name="Content Placeholder 93187" descr="bgsynch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92107" y="3359573"/>
            <a:ext cx="10602524" cy="4533618"/>
          </a:xfrm>
        </p:spPr>
      </p:pic>
      <p:sp>
        <p:nvSpPr>
          <p:cNvPr id="93192" name="Rectangles 93191"/>
          <p:cNvSpPr/>
          <p:nvPr/>
        </p:nvSpPr>
        <p:spPr>
          <a:xfrm>
            <a:off x="650240" y="1474330"/>
            <a:ext cx="11704320" cy="134337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>
              <a:buNone/>
            </a:pPr>
            <a:r>
              <a:rPr sz="2845"/>
              <a:t>	Mapping must simultaneously minimize idling and load balance. Merely balancing load does not minimize idling. </a:t>
            </a:r>
            <a:endParaRPr sz="284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Title 9420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Mapping Techniques for Minimum Idling</a:t>
            </a:r>
          </a:p>
        </p:txBody>
      </p:sp>
      <p:sp>
        <p:nvSpPr>
          <p:cNvPr id="94211" name="Text Placeholder 94210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buNone/>
            </a:pPr>
            <a:r>
              <a:t>	Mapping techniques can be static or dynamic. </a:t>
            </a:r>
          </a:p>
          <a:p>
            <a:pPr>
              <a:buNone/>
            </a:pPr>
          </a:p>
          <a:p>
            <a:r>
              <a:t>Static Mapping: Tasks are mapped to processes a-priori. For this to work, we must have a good estimate of the size of each task. Even in these cases, the problem may be NP complete. </a:t>
            </a:r>
          </a:p>
          <a:p>
            <a:r>
              <a:t>Dynamic Mapping: Tasks are mapped to processes at runtime. This may be because the tasks are generated at runtime, or that their sizes are not known. </a:t>
            </a:r>
          </a:p>
          <a:p>
            <a:pPr>
              <a:buNone/>
            </a:pPr>
            <a:r>
              <a:t>	</a:t>
            </a:r>
          </a:p>
          <a:p>
            <a:pPr>
              <a:buNone/>
            </a:pPr>
            <a:r>
              <a:t>	Other factors that determine the choice of techniques include the</a:t>
            </a:r>
          </a:p>
          <a:p>
            <a:pPr>
              <a:buNone/>
            </a:pPr>
            <a:r>
              <a:t> size of data associated with a task and the nature of underlying</a:t>
            </a:r>
          </a:p>
          <a:p>
            <a:pPr>
              <a:buNone/>
            </a:pPr>
            <a:r>
              <a:t> domain.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Title 9523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Schemes for Static Mapping </a:t>
            </a:r>
          </a:p>
        </p:txBody>
      </p:sp>
      <p:sp>
        <p:nvSpPr>
          <p:cNvPr id="95235" name="Text Placeholder 9523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Mappings based on data partitioning. </a:t>
            </a:r>
          </a:p>
          <a:p>
            <a:r>
              <a:t>Mappings based on task graph partitioning. </a:t>
            </a:r>
          </a:p>
          <a:p>
            <a:r>
              <a:t>Hybrid mappings.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Title 9625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Mappings Based on Data Partitioning </a:t>
            </a:r>
          </a:p>
        </p:txBody>
      </p:sp>
      <p:pic>
        <p:nvPicPr>
          <p:cNvPr id="96260" name="Content Placeholder 96259" descr="img5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94365" y="4242365"/>
            <a:ext cx="10401582" cy="4644248"/>
          </a:xfrm>
        </p:spPr>
      </p:pic>
      <p:sp>
        <p:nvSpPr>
          <p:cNvPr id="96262" name="Rectangles 96261"/>
          <p:cNvSpPr/>
          <p:nvPr/>
        </p:nvSpPr>
        <p:spPr>
          <a:xfrm>
            <a:off x="650240" y="1474330"/>
            <a:ext cx="11704320" cy="199361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>
              <a:buNone/>
            </a:pPr>
            <a:r>
              <a:rPr sz="2845"/>
              <a:t>	We can combine data partitioning with the ``owner-computes'' rule to partition the computation into subtasks. The simplest data decomposition schemes for dense matrices are 1-D block distribution schemes. </a:t>
            </a:r>
            <a:endParaRPr sz="284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Title 9728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Block Array Distribution Schemes </a:t>
            </a:r>
          </a:p>
        </p:txBody>
      </p:sp>
      <p:sp>
        <p:nvSpPr>
          <p:cNvPr id="97283" name="Text Placeholder 97282"/>
          <p:cNvSpPr>
            <a:spLocks noGrp="1"/>
          </p:cNvSpPr>
          <p:nvPr>
            <p:ph type="body" sz="half" idx="1"/>
          </p:nvPr>
        </p:nvSpPr>
        <p:spPr>
          <a:xfrm>
            <a:off x="650240" y="1474330"/>
            <a:ext cx="11487573" cy="1885244"/>
          </a:xfrm>
        </p:spPr>
        <p:txBody>
          <a:bodyPr/>
          <a:p>
            <a:pPr>
              <a:buClrTx/>
              <a:buSzTx/>
              <a:buFontTx/>
              <a:buNone/>
            </a:pPr>
            <a:r>
              <a:t>		Block distribution schemes can be generalized to higher dimensions as well. </a:t>
            </a:r>
          </a:p>
        </p:txBody>
      </p:sp>
      <p:pic>
        <p:nvPicPr>
          <p:cNvPr id="97284" name="Content Placeholder 97283" descr="img52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408853" y="3251200"/>
            <a:ext cx="10401583" cy="4759396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Title 9830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Block Array Distribution Schemes: Examples </a:t>
            </a:r>
          </a:p>
        </p:txBody>
      </p:sp>
      <p:sp>
        <p:nvSpPr>
          <p:cNvPr id="98307" name="Text Placeholder 98306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For multiplying two dense matrices </a:t>
            </a:r>
            <a:r>
              <a:rPr b="1" i="1"/>
              <a:t>A</a:t>
            </a:r>
            <a:r>
              <a:t> and </a:t>
            </a:r>
            <a:r>
              <a:rPr b="1" i="1"/>
              <a:t>B</a:t>
            </a:r>
            <a:r>
              <a:t>, we can partition the output matrix </a:t>
            </a:r>
            <a:r>
              <a:rPr b="1" i="1"/>
              <a:t>C</a:t>
            </a:r>
            <a:r>
              <a:t> using a block decomposition. </a:t>
            </a:r>
          </a:p>
          <a:p>
            <a:r>
              <a:t>For load balance, we give each task the same number of elements of </a:t>
            </a:r>
            <a:r>
              <a:rPr b="1" i="1"/>
              <a:t>C</a:t>
            </a:r>
            <a:r>
              <a:t>. (Note that each element of </a:t>
            </a:r>
            <a:r>
              <a:rPr b="1" i="1"/>
              <a:t>C </a:t>
            </a:r>
            <a:r>
              <a:t>corresponds to a single dot product.) </a:t>
            </a:r>
          </a:p>
          <a:p>
            <a:r>
              <a:t>The choice of precise decomposition (1-D or 2-D) is determined by the associated communication overhead. </a:t>
            </a:r>
          </a:p>
          <a:p>
            <a:r>
              <a:t>In general, higher dimension decomposition allows the use of larger number of processes.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Title 9932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Data Sharing in Dense Matrix Multiplication </a:t>
            </a:r>
          </a:p>
        </p:txBody>
      </p:sp>
      <p:pic>
        <p:nvPicPr>
          <p:cNvPr id="99332" name="Content Placeholder 99331" descr="img5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17227" y="1474330"/>
            <a:ext cx="10401583" cy="7775787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Title 10035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Cyclic and Block Cyclic Distributions </a:t>
            </a:r>
          </a:p>
        </p:txBody>
      </p:sp>
      <p:sp>
        <p:nvSpPr>
          <p:cNvPr id="100355" name="Text Placeholder 10035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If the amount of computation associated with data items varies, a block decomposition may lead to significant load imbalances. </a:t>
            </a:r>
          </a:p>
          <a:p>
            <a:r>
              <a:t>A simple example of this is in LU decomposition (or Gaussian Elimination) of dense matrices.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Title 101377"/>
          <p:cNvSpPr>
            <a:spLocks noGrp="1"/>
          </p:cNvSpPr>
          <p:nvPr>
            <p:ph type="title" sz="quarter"/>
          </p:nvPr>
        </p:nvSpPr>
        <p:spPr/>
        <p:txBody>
          <a:bodyPr anchor="ctr" anchorCtr="0"/>
          <a:p>
            <a:r>
              <a:t>LU Factorization of a Dense Matrix </a:t>
            </a:r>
          </a:p>
        </p:txBody>
      </p:sp>
      <p:sp>
        <p:nvSpPr>
          <p:cNvPr id="101382" name="Rectangles 101381"/>
          <p:cNvSpPr/>
          <p:nvPr/>
        </p:nvSpPr>
        <p:spPr>
          <a:xfrm>
            <a:off x="650240" y="1474330"/>
            <a:ext cx="11704320" cy="112663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 algn="just">
              <a:buNone/>
            </a:pPr>
            <a:r>
              <a:rPr sz="2845"/>
              <a:t>	A decomposition of LU factorization into 14 tasks - notice the </a:t>
            </a:r>
            <a:endParaRPr sz="2845"/>
          </a:p>
          <a:p>
            <a:pPr lvl="0" algn="just">
              <a:buNone/>
            </a:pPr>
            <a:r>
              <a:rPr sz="2845"/>
              <a:t> significant load imbalance. </a:t>
            </a:r>
            <a:endParaRPr sz="2845"/>
          </a:p>
        </p:txBody>
      </p:sp>
      <p:graphicFrame>
        <p:nvGraphicFramePr>
          <p:cNvPr id="101608" name="Content Placeholder 101607"/>
          <p:cNvGraphicFramePr/>
          <p:nvPr>
            <p:ph sz="quarter" idx="2"/>
          </p:nvPr>
        </p:nvGraphicFramePr>
        <p:xfrm>
          <a:off x="541867" y="4705209"/>
          <a:ext cx="11920855" cy="3530600"/>
        </p:xfrm>
        <a:graphic>
          <a:graphicData uri="http://schemas.openxmlformats.org/drawingml/2006/table">
            <a:tbl>
              <a:tblPr/>
              <a:tblGrid>
                <a:gridCol w="3829050"/>
                <a:gridCol w="4046220"/>
                <a:gridCol w="4045585"/>
              </a:tblGrid>
              <a:tr h="35306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sz="2560"/>
                        <a:t>1:</a:t>
                      </a:r>
                      <a:endParaRPr sz="2560"/>
                    </a:p>
                    <a:p>
                      <a:pPr marL="0" lvl="0" indent="0">
                        <a:lnSpc>
                          <a:spcPct val="170000"/>
                        </a:lnSpc>
                        <a:buNone/>
                      </a:pPr>
                      <a:r>
                        <a:rPr sz="2560"/>
                        <a:t>2:</a:t>
                      </a:r>
                      <a:endParaRPr sz="2560"/>
                    </a:p>
                    <a:p>
                      <a:pPr marL="0" lvl="0" indent="0">
                        <a:lnSpc>
                          <a:spcPct val="170000"/>
                        </a:lnSpc>
                        <a:buNone/>
                      </a:pPr>
                      <a:r>
                        <a:rPr sz="2560"/>
                        <a:t>3:</a:t>
                      </a:r>
                      <a:endParaRPr sz="2560"/>
                    </a:p>
                    <a:p>
                      <a:pPr marL="0" lvl="0" indent="0">
                        <a:lnSpc>
                          <a:spcPct val="170000"/>
                        </a:lnSpc>
                        <a:buNone/>
                      </a:pPr>
                      <a:r>
                        <a:rPr sz="2560"/>
                        <a:t>4:</a:t>
                      </a:r>
                      <a:endParaRPr sz="2560"/>
                    </a:p>
                    <a:p>
                      <a:pPr marL="0" lvl="0" indent="0">
                        <a:lnSpc>
                          <a:spcPct val="170000"/>
                        </a:lnSpc>
                        <a:buNone/>
                      </a:pPr>
                      <a:r>
                        <a:rPr sz="2560"/>
                        <a:t>5:</a:t>
                      </a:r>
                      <a:endParaRPr lang="en-US" sz="2560"/>
                    </a:p>
                  </a:txBody>
                  <a:tcPr marL="130048" marR="130048" marT="65024" marB="65024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sz="2560"/>
                        <a:t>6:</a:t>
                      </a:r>
                      <a:endParaRPr sz="2560"/>
                    </a:p>
                    <a:p>
                      <a:pPr marL="0" lvl="0" indent="0">
                        <a:lnSpc>
                          <a:spcPct val="160000"/>
                        </a:lnSpc>
                        <a:buNone/>
                      </a:pPr>
                      <a:r>
                        <a:rPr sz="2560"/>
                        <a:t>7:</a:t>
                      </a:r>
                      <a:endParaRPr sz="2560"/>
                    </a:p>
                    <a:p>
                      <a:pPr marL="0" lvl="0" indent="0">
                        <a:lnSpc>
                          <a:spcPct val="170000"/>
                        </a:lnSpc>
                        <a:buNone/>
                      </a:pPr>
                      <a:r>
                        <a:rPr sz="2560"/>
                        <a:t>8:</a:t>
                      </a:r>
                      <a:endParaRPr sz="2560"/>
                    </a:p>
                    <a:p>
                      <a:pPr marL="0" lvl="0" indent="0">
                        <a:lnSpc>
                          <a:spcPct val="190000"/>
                        </a:lnSpc>
                        <a:buNone/>
                      </a:pPr>
                      <a:r>
                        <a:rPr sz="2560"/>
                        <a:t>9:</a:t>
                      </a:r>
                      <a:endParaRPr sz="2560"/>
                    </a:p>
                    <a:p>
                      <a:pPr marL="0" lvl="0" indent="0">
                        <a:lnSpc>
                          <a:spcPct val="160000"/>
                        </a:lnSpc>
                        <a:buNone/>
                      </a:pPr>
                      <a:r>
                        <a:rPr sz="2560"/>
                        <a:t>10:</a:t>
                      </a:r>
                      <a:endParaRPr lang="en-US" sz="2560"/>
                    </a:p>
                  </a:txBody>
                  <a:tcPr marL="130048" marR="130048" marT="65024" marB="650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lnSpc>
                          <a:spcPct val="120000"/>
                        </a:lnSpc>
                        <a:buNone/>
                      </a:pPr>
                      <a:r>
                        <a:rPr sz="2560"/>
                        <a:t>11:</a:t>
                      </a:r>
                      <a:endParaRPr sz="2560"/>
                    </a:p>
                    <a:p>
                      <a:pPr marL="0" lvl="0" indent="0">
                        <a:lnSpc>
                          <a:spcPct val="180000"/>
                        </a:lnSpc>
                        <a:buNone/>
                      </a:pPr>
                      <a:r>
                        <a:rPr sz="2560"/>
                        <a:t>12:</a:t>
                      </a:r>
                      <a:endParaRPr sz="2560"/>
                    </a:p>
                    <a:p>
                      <a:pPr marL="0" lvl="0" indent="0">
                        <a:lnSpc>
                          <a:spcPct val="170000"/>
                        </a:lnSpc>
                        <a:buNone/>
                      </a:pPr>
                      <a:r>
                        <a:rPr sz="2560"/>
                        <a:t>13:</a:t>
                      </a:r>
                      <a:endParaRPr sz="2560"/>
                    </a:p>
                    <a:p>
                      <a:pPr marL="0" lvl="0" indent="0">
                        <a:lnSpc>
                          <a:spcPct val="180000"/>
                        </a:lnSpc>
                        <a:buNone/>
                      </a:pPr>
                      <a:r>
                        <a:rPr sz="2560"/>
                        <a:t>14:</a:t>
                      </a:r>
                      <a:endParaRPr sz="2560"/>
                    </a:p>
                    <a:p>
                      <a:pPr marL="0" lvl="0" indent="0">
                        <a:buNone/>
                      </a:pPr>
                      <a:endParaRPr lang="en-US" sz="2560"/>
                    </a:p>
                  </a:txBody>
                  <a:tcPr marL="130048" marR="130048" marT="65024" marB="650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01380" name="Content Placeholder 101379" descr="img54"/>
          <p:cNvPicPr>
            <a:picLocks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760872" y="2770294"/>
            <a:ext cx="10401582" cy="1456266"/>
          </a:xfrm>
        </p:spPr>
      </p:pic>
      <p:grpSp>
        <p:nvGrpSpPr>
          <p:cNvPr id="101598" name="Group 101597"/>
          <p:cNvGrpSpPr/>
          <p:nvPr/>
        </p:nvGrpSpPr>
        <p:grpSpPr>
          <a:xfrm>
            <a:off x="1083733" y="4766170"/>
            <a:ext cx="11270827" cy="3578577"/>
            <a:chOff x="480" y="2016"/>
            <a:chExt cx="4992" cy="1585"/>
          </a:xfrm>
        </p:grpSpPr>
        <p:pic>
          <p:nvPicPr>
            <p:cNvPr id="101526" name="Picture 101525" descr="img6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1" y="2976"/>
              <a:ext cx="1417" cy="28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01596" name="Group 101595"/>
            <p:cNvGrpSpPr/>
            <p:nvPr/>
          </p:nvGrpSpPr>
          <p:grpSpPr>
            <a:xfrm>
              <a:off x="480" y="2016"/>
              <a:ext cx="4992" cy="1585"/>
              <a:chOff x="480" y="2495"/>
              <a:chExt cx="4992" cy="1585"/>
            </a:xfrm>
          </p:grpSpPr>
          <p:grpSp>
            <p:nvGrpSpPr>
              <p:cNvPr id="101531" name="Group 101530"/>
              <p:cNvGrpSpPr/>
              <p:nvPr/>
            </p:nvGrpSpPr>
            <p:grpSpPr>
              <a:xfrm>
                <a:off x="4055" y="2495"/>
                <a:ext cx="1417" cy="1297"/>
                <a:chOff x="3648" y="2496"/>
                <a:chExt cx="1417" cy="1297"/>
              </a:xfrm>
            </p:grpSpPr>
            <p:pic>
              <p:nvPicPr>
                <p:cNvPr id="101532" name="Picture 101531" descr="img57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48" y="2496"/>
                  <a:ext cx="939" cy="28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01533" name="Picture 101532" descr="img60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48" y="2832"/>
                  <a:ext cx="927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01534" name="Picture 101533" descr="img63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48" y="3168"/>
                  <a:ext cx="1417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01535" name="Picture 101534" descr="img66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48" y="3504"/>
                  <a:ext cx="1019" cy="28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grpSp>
            <p:nvGrpSpPr>
              <p:cNvPr id="101558" name="Group 101557"/>
              <p:cNvGrpSpPr/>
              <p:nvPr/>
            </p:nvGrpSpPr>
            <p:grpSpPr>
              <a:xfrm>
                <a:off x="480" y="2495"/>
                <a:ext cx="1019" cy="1585"/>
                <a:chOff x="864" y="2495"/>
                <a:chExt cx="1019" cy="1585"/>
              </a:xfrm>
            </p:grpSpPr>
            <p:grpSp>
              <p:nvGrpSpPr>
                <p:cNvPr id="101528" name="Group 101527"/>
                <p:cNvGrpSpPr/>
                <p:nvPr/>
              </p:nvGrpSpPr>
              <p:grpSpPr>
                <a:xfrm>
                  <a:off x="864" y="2495"/>
                  <a:ext cx="1019" cy="1248"/>
                  <a:chOff x="240" y="2496"/>
                  <a:chExt cx="1019" cy="1248"/>
                </a:xfrm>
              </p:grpSpPr>
              <p:pic>
                <p:nvPicPr>
                  <p:cNvPr id="101514" name="Content Placeholder 101513" descr="img55"/>
                  <p:cNvPicPr>
                    <a:picLocks noChangeAspect="1"/>
                  </p:cNvPicPr>
                  <p:nvPr>
                    <p:ph sz="quarter" idx="3"/>
                  </p:nvPr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240" y="2496"/>
                    <a:ext cx="1019" cy="288"/>
                  </a:xfrm>
                </p:spPr>
              </p:pic>
              <p:pic>
                <p:nvPicPr>
                  <p:cNvPr id="101519" name="Picture 101518" descr="img58"/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261" y="2784"/>
                    <a:ext cx="939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101522" name="Picture 101521" descr="img61"/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261" y="3120"/>
                    <a:ext cx="939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101525" name="Picture 101524" descr="img64"/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73" y="3456"/>
                    <a:ext cx="927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pic>
              <p:nvPicPr>
                <p:cNvPr id="101556" name="Picture 101555" descr="img67"/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2" y="3792"/>
                  <a:ext cx="927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grpSp>
            <p:nvGrpSpPr>
              <p:cNvPr id="101593" name="Group 101592"/>
              <p:cNvGrpSpPr/>
              <p:nvPr/>
            </p:nvGrpSpPr>
            <p:grpSpPr>
              <a:xfrm>
                <a:off x="2206" y="2496"/>
                <a:ext cx="1417" cy="1584"/>
                <a:chOff x="2206" y="2496"/>
                <a:chExt cx="1417" cy="1584"/>
              </a:xfrm>
            </p:grpSpPr>
            <p:pic>
              <p:nvPicPr>
                <p:cNvPr id="101516" name="Content Placeholder 101515" descr="img56"/>
                <p:cNvPicPr>
                  <a:picLocks noChangeAspect="1"/>
                </p:cNvPicPr>
                <p:nvPr>
                  <p:ph sz="quarter" idx="4"/>
                </p:nvPr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06" y="2496"/>
                  <a:ext cx="1417" cy="289"/>
                </a:xfrm>
              </p:spPr>
            </p:pic>
            <p:pic>
              <p:nvPicPr>
                <p:cNvPr id="101520" name="Picture 101519" descr="img59"/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06" y="2784"/>
                  <a:ext cx="1417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01523" name="Picture 101522" descr="img62"/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06" y="3120"/>
                  <a:ext cx="1417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01557" name="Picture 101556" descr="img68"/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34" y="3791"/>
                  <a:ext cx="1019" cy="28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8" name="Title 1024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Block Cyclic Distributions </a:t>
            </a:r>
          </a:p>
        </p:txBody>
      </p:sp>
      <p:sp>
        <p:nvSpPr>
          <p:cNvPr id="102442" name="Rectangles 102441"/>
          <p:cNvSpPr/>
          <p:nvPr/>
        </p:nvSpPr>
        <p:spPr>
          <a:xfrm>
            <a:off x="650240" y="1474330"/>
            <a:ext cx="11704320" cy="697879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sz="2845"/>
              <a:t>Variation of the block distribution scheme that can be used to alleviate the load-imbalance and idling problems. </a:t>
            </a:r>
            <a:endParaRPr sz="2845"/>
          </a:p>
          <a:p>
            <a:pPr lvl="0"/>
            <a:r>
              <a:rPr sz="2845"/>
              <a:t>Partition an array into many more blocks than the number of available processes. </a:t>
            </a:r>
            <a:endParaRPr sz="2845"/>
          </a:p>
          <a:p>
            <a:pPr lvl="0"/>
            <a:r>
              <a:rPr sz="2845"/>
              <a:t>Blocks are assigned to processes in a round-robin manner so that each process gets several non-adjacent blocks. </a:t>
            </a:r>
            <a:endParaRPr sz="2845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Title 10342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Block-Cyclic Distribution for Gaussian Elimination </a:t>
            </a:r>
          </a:p>
        </p:txBody>
      </p:sp>
      <p:pic>
        <p:nvPicPr>
          <p:cNvPr id="103428" name="Content Placeholder 103427" descr="c4f-gaus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19485" y="3598898"/>
            <a:ext cx="10401582" cy="5287716"/>
          </a:xfrm>
        </p:spPr>
      </p:pic>
      <p:sp>
        <p:nvSpPr>
          <p:cNvPr id="103430" name="Rectangles 103429"/>
          <p:cNvSpPr/>
          <p:nvPr/>
        </p:nvSpPr>
        <p:spPr>
          <a:xfrm>
            <a:off x="650240" y="1474330"/>
            <a:ext cx="11704320" cy="177687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>
              <a:buNone/>
            </a:pPr>
            <a:r>
              <a:rPr sz="2845"/>
              <a:t>		The active part of the matrix in Gaussian Elimination changes. By assigning blocks in a block-cyclic fashion, each processor receives blocks from different parts of the matrix. </a:t>
            </a:r>
            <a:endParaRPr sz="284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Title 10444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Block-Cyclic Distribution: Examples </a:t>
            </a:r>
          </a:p>
        </p:txBody>
      </p:sp>
      <p:pic>
        <p:nvPicPr>
          <p:cNvPr id="104452" name="Content Placeholder 104451" descr="gaussworkdis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59573" y="3034453"/>
            <a:ext cx="5849903" cy="5813778"/>
          </a:xfrm>
        </p:spPr>
      </p:pic>
      <p:sp>
        <p:nvSpPr>
          <p:cNvPr id="104454" name="Rectangles 104453"/>
          <p:cNvSpPr/>
          <p:nvPr/>
        </p:nvSpPr>
        <p:spPr>
          <a:xfrm>
            <a:off x="650240" y="1474330"/>
            <a:ext cx="11704320" cy="1560124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>
              <a:buNone/>
            </a:pPr>
            <a:r>
              <a:rPr sz="2845"/>
              <a:t>		One- and two-dimensional block-cyclic distributions among 4 processes. </a:t>
            </a:r>
            <a:endParaRPr sz="2845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Title 10547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Block-Cyclic Distribution </a:t>
            </a:r>
          </a:p>
        </p:txBody>
      </p:sp>
      <p:pic>
        <p:nvPicPr>
          <p:cNvPr id="105476" name="Content Placeholder 105475" descr="img7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0240" y="3955627"/>
            <a:ext cx="11704320" cy="5147733"/>
          </a:xfrm>
        </p:spPr>
      </p:pic>
      <p:sp>
        <p:nvSpPr>
          <p:cNvPr id="105478" name="Rectangles 105477"/>
          <p:cNvSpPr/>
          <p:nvPr/>
        </p:nvSpPr>
        <p:spPr>
          <a:xfrm>
            <a:off x="650240" y="1474330"/>
            <a:ext cx="11704320" cy="199361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sz="2845"/>
              <a:t>A cyclic distribution is a special case in which block size is one. </a:t>
            </a:r>
            <a:endParaRPr sz="2845"/>
          </a:p>
          <a:p>
            <a:pPr lvl="0"/>
            <a:r>
              <a:rPr sz="2845"/>
              <a:t>A block distribution is a special case in which block size is </a:t>
            </a:r>
            <a:r>
              <a:rPr sz="2845" b="1" i="1" err="1"/>
              <a:t>n/p</a:t>
            </a:r>
            <a:r>
              <a:rPr sz="2845"/>
              <a:t>  , where </a:t>
            </a:r>
            <a:r>
              <a:rPr sz="2845" b="1" i="1"/>
              <a:t>n</a:t>
            </a:r>
            <a:r>
              <a:rPr sz="2845"/>
              <a:t> is the dimension of the matrix and </a:t>
            </a:r>
            <a:r>
              <a:rPr sz="2845" b="1" i="1"/>
              <a:t>p</a:t>
            </a:r>
            <a:r>
              <a:rPr sz="2845"/>
              <a:t> is the number of processes. </a:t>
            </a:r>
            <a:endParaRPr sz="284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Title 10649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Graph Partitioning </a:t>
            </a:r>
            <a:r>
              <a:rPr dirty="0" err="1"/>
              <a:t>Dased</a:t>
            </a:r>
            <a:r>
              <a:t> Data Decomposition </a:t>
            </a:r>
          </a:p>
        </p:txBody>
      </p:sp>
      <p:sp>
        <p:nvSpPr>
          <p:cNvPr id="106499" name="Text Placeholder 106498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In case of sparse matrices, block decompositions are more complex. </a:t>
            </a:r>
          </a:p>
          <a:p>
            <a:r>
              <a:t>Consider the problem of multiplying a sparse matrix with a vector. </a:t>
            </a:r>
          </a:p>
          <a:p>
            <a:r>
              <a:t>The graph of the matrix is a useful indicator of the work (number of nodes) and communication (the degree of each node). </a:t>
            </a:r>
          </a:p>
          <a:p>
            <a:r>
              <a:t>In this case, we would like to partition the graph so as to assign equal number of nodes to each process, while minimizing edge count of the graph partition. </a:t>
            </a:r>
          </a:p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Title 10752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Partitioning the Graph of Lake Superior </a:t>
            </a:r>
          </a:p>
        </p:txBody>
      </p:sp>
      <p:pic>
        <p:nvPicPr>
          <p:cNvPr id="107524" name="Content Placeholder 107523" descr="superior-random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3467947" y="1408853"/>
            <a:ext cx="5743787" cy="2847058"/>
          </a:xfrm>
        </p:spPr>
      </p:pic>
      <p:pic>
        <p:nvPicPr>
          <p:cNvPr id="107526" name="Content Placeholder 107525" descr="superior-metis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686952" y="5418667"/>
            <a:ext cx="5199662" cy="2576125"/>
          </a:xfrm>
        </p:spPr>
      </p:pic>
      <p:sp>
        <p:nvSpPr>
          <p:cNvPr id="107529" name="Text Box 107528"/>
          <p:cNvSpPr txBox="1"/>
          <p:nvPr/>
        </p:nvSpPr>
        <p:spPr>
          <a:xfrm>
            <a:off x="758613" y="4551680"/>
            <a:ext cx="11595947" cy="529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sz="2845"/>
              <a:t>Random Partitioning</a:t>
            </a:r>
            <a:endParaRPr sz="2845"/>
          </a:p>
        </p:txBody>
      </p:sp>
      <p:sp>
        <p:nvSpPr>
          <p:cNvPr id="107530" name="Text Box 107529"/>
          <p:cNvSpPr txBox="1"/>
          <p:nvPr/>
        </p:nvSpPr>
        <p:spPr>
          <a:xfrm>
            <a:off x="758613" y="8105422"/>
            <a:ext cx="11595947" cy="4419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sz="2275"/>
              <a:t>Partitioning for minimum edge-cut.</a:t>
            </a:r>
            <a:endParaRPr sz="2275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6" name="Title 10854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Mappings Based on Task </a:t>
            </a:r>
            <a:r>
              <a:rPr dirty="0" err="1"/>
              <a:t>Paritioning</a:t>
            </a:r>
            <a:r>
              <a:t> </a:t>
            </a:r>
          </a:p>
        </p:txBody>
      </p:sp>
      <p:sp>
        <p:nvSpPr>
          <p:cNvPr id="108547" name="Text Placeholder 108546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Partitioning a given task-dependency graph across processes. </a:t>
            </a:r>
          </a:p>
          <a:p>
            <a:r>
              <a:t>Determining an optimal mapping for a general task-dependency graph is an NP-complete problem. </a:t>
            </a:r>
          </a:p>
          <a:p>
            <a:r>
              <a:t>Excellent heuristics exist for structured graphs.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Title 10956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Task </a:t>
            </a:r>
            <a:r>
              <a:rPr dirty="0" err="1"/>
              <a:t>Paritioning</a:t>
            </a:r>
            <a:r>
              <a:t>: Mapping a Binary Tree Dependency Graph</a:t>
            </a:r>
          </a:p>
        </p:txBody>
      </p:sp>
      <p:pic>
        <p:nvPicPr>
          <p:cNvPr id="109572" name="Content Placeholder 109571" descr="embe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17707" y="2926080"/>
            <a:ext cx="7800623" cy="6102774"/>
          </a:xfrm>
        </p:spPr>
      </p:pic>
      <p:sp>
        <p:nvSpPr>
          <p:cNvPr id="109574" name="Rectangles 109573"/>
          <p:cNvSpPr/>
          <p:nvPr/>
        </p:nvSpPr>
        <p:spPr>
          <a:xfrm>
            <a:off x="650240" y="1474330"/>
            <a:ext cx="11704320" cy="1235004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>
              <a:buNone/>
            </a:pPr>
            <a:r>
              <a:rPr sz="2845"/>
              <a:t>	Example illustrates the dependency graph of one view of quick-sort</a:t>
            </a:r>
            <a:endParaRPr sz="2845"/>
          </a:p>
          <a:p>
            <a:pPr lvl="0">
              <a:buNone/>
            </a:pPr>
            <a:r>
              <a:rPr sz="2845"/>
              <a:t> and how it can be assigned to processes in a hypercube. </a:t>
            </a:r>
            <a:endParaRPr sz="2845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Title 11059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Task </a:t>
            </a:r>
            <a:r>
              <a:rPr dirty="0" err="1"/>
              <a:t>Paritioning</a:t>
            </a:r>
            <a:r>
              <a:t>: Mapping a Sparse Graph </a:t>
            </a:r>
            <a:br/>
          </a:p>
        </p:txBody>
      </p:sp>
      <p:pic>
        <p:nvPicPr>
          <p:cNvPr id="110596" name="Content Placeholder 110595" descr="sparse-matvec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2384213" y="2156178"/>
            <a:ext cx="7150383" cy="2720622"/>
          </a:xfrm>
        </p:spPr>
      </p:pic>
      <p:pic>
        <p:nvPicPr>
          <p:cNvPr id="110598" name="Content Placeholder 110597" descr="sparse-matvec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384213" y="5122898"/>
            <a:ext cx="7150383" cy="4522328"/>
          </a:xfrm>
        </p:spPr>
      </p:pic>
      <p:sp>
        <p:nvSpPr>
          <p:cNvPr id="110600" name="Rectangles 110599"/>
          <p:cNvSpPr/>
          <p:nvPr/>
        </p:nvSpPr>
        <p:spPr>
          <a:xfrm>
            <a:off x="650240" y="1474330"/>
            <a:ext cx="11704320" cy="909884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>
              <a:buNone/>
            </a:pPr>
            <a:r>
              <a:rPr sz="2845"/>
              <a:t>		Sparse graph for computing a sparse matrix-vector product and its mapping. </a:t>
            </a:r>
            <a:endParaRPr sz="2845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Title 11161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Hierarchical Mappings </a:t>
            </a:r>
          </a:p>
        </p:txBody>
      </p:sp>
      <p:sp>
        <p:nvSpPr>
          <p:cNvPr id="111619" name="Text Placeholder 111618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Sometimes a single mapping technique is inadequate. </a:t>
            </a:r>
          </a:p>
          <a:p>
            <a:r>
              <a:t>For example, the task mapping of the binary tree (</a:t>
            </a:r>
            <a:r>
              <a:rPr dirty="0" err="1"/>
              <a:t>quicksort</a:t>
            </a:r>
            <a:r>
              <a:t>) cannot use a large number of processors. </a:t>
            </a:r>
          </a:p>
          <a:p>
            <a:r>
              <a:t>For this reason, task mapping can be used at the top level and data partitioning within each level. </a:t>
            </a:r>
          </a:p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5" name="Title 112644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endParaRPr dirty="0"/>
          </a:p>
        </p:txBody>
      </p:sp>
      <p:pic>
        <p:nvPicPr>
          <p:cNvPr id="112644" name="Content Placeholder 112643" descr="subtree-subcub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00480" y="2817707"/>
            <a:ext cx="11049564" cy="6053103"/>
          </a:xfrm>
        </p:spPr>
      </p:pic>
      <p:sp>
        <p:nvSpPr>
          <p:cNvPr id="112647" name="Rectangles 112646"/>
          <p:cNvSpPr/>
          <p:nvPr/>
        </p:nvSpPr>
        <p:spPr>
          <a:xfrm>
            <a:off x="650240" y="1474330"/>
            <a:ext cx="11704320" cy="1235004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>
              <a:buNone/>
            </a:pPr>
            <a:r>
              <a:rPr sz="2845"/>
              <a:t>		An example of task partitioning at top level with data partitioning at the lower level. </a:t>
            </a:r>
            <a:endParaRPr sz="2845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6" name="Title 11366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Schemes for Dynamic Mapping </a:t>
            </a:r>
          </a:p>
        </p:txBody>
      </p:sp>
      <p:sp>
        <p:nvSpPr>
          <p:cNvPr id="113667" name="Text Placeholder 113666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Dynamic mapping is sometimes also referred to as dynamic load balancing, since load balancing is the primary motivation for dynamic mapping. </a:t>
            </a:r>
          </a:p>
          <a:p>
            <a:r>
              <a:t>Dynamic mapping schemes can be centralized or distributed.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Title 11468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Centralized Dynamic Mapping </a:t>
            </a:r>
          </a:p>
        </p:txBody>
      </p:sp>
      <p:sp>
        <p:nvSpPr>
          <p:cNvPr id="114691" name="Text Placeholder 114690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Processes are designated as masters or slaves. </a:t>
            </a:r>
          </a:p>
          <a:p>
            <a:r>
              <a:t>When a process runs out of work, it requests the master for more work. </a:t>
            </a:r>
          </a:p>
          <a:p>
            <a:r>
              <a:t>When the number of processes increases, the master may become the bottleneck. </a:t>
            </a:r>
          </a:p>
          <a:p>
            <a:r>
              <a:t>To alleviate this, a process may pick up a number of tasks (a chunk) at one time. This is called Chunk scheduling. </a:t>
            </a:r>
          </a:p>
          <a:p>
            <a:r>
              <a:t>Selecting large chunk sizes may lead to significant load imbalances as well. </a:t>
            </a:r>
          </a:p>
          <a:p>
            <a:r>
              <a:t>A number of schemes have been used to gradually decrease chunk size as the computation progresses.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Title 1157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Distributed Dynamic Mapping </a:t>
            </a:r>
          </a:p>
        </p:txBody>
      </p:sp>
      <p:sp>
        <p:nvSpPr>
          <p:cNvPr id="115715" name="Text Placeholder 11571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Each process can send or receive work from other processes. </a:t>
            </a:r>
          </a:p>
          <a:p>
            <a:r>
              <a:t>This alleviates the bottleneck in centralized schemes. </a:t>
            </a:r>
          </a:p>
          <a:p>
            <a:r>
              <a:t>There are four critical questions: how are sensing and receiving processes paired together, who initiates work transfer, how much work is transferred, and when is a transfer triggered? </a:t>
            </a:r>
          </a:p>
          <a:p>
            <a:r>
              <a:t>Answers to these questions are generally application specific. We will look at some of these techniques later in this class.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Title 1167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Minimizing Interaction Overheads </a:t>
            </a:r>
          </a:p>
        </p:txBody>
      </p:sp>
      <p:sp>
        <p:nvSpPr>
          <p:cNvPr id="116739" name="Text Placeholder 116738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Maximize data locality: Where possible, reuse intermediate data. Restructure computation so that data can be reused in smaller time windows. </a:t>
            </a:r>
          </a:p>
          <a:p>
            <a:r>
              <a:t>Minimize volume of data exchange: There is a cost associated with each word that is communicated. For this reason, we must minimize the volume of data communicated. </a:t>
            </a:r>
          </a:p>
          <a:p>
            <a:r>
              <a:t>Minimize frequency of interactions: There is a startup cost associated with each interaction. Therefore, try to merge multiple interactions to one, where possible. </a:t>
            </a:r>
          </a:p>
          <a:p>
            <a:r>
              <a:t>Minimize contention and hot-spots: Use decentralized techniques, replicate data where necessary.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2" name="Title 11776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Minimizing Interaction Overheads (continued) </a:t>
            </a:r>
          </a:p>
        </p:txBody>
      </p:sp>
      <p:sp>
        <p:nvSpPr>
          <p:cNvPr id="117763" name="Text Placeholder 11776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Overlapping computations with interactions: Use non-blocking communications, multithreading, and </a:t>
            </a:r>
            <a:r>
              <a:rPr dirty="0" err="1"/>
              <a:t>prefetching</a:t>
            </a:r>
            <a:r>
              <a:t> to hide latencies. </a:t>
            </a:r>
          </a:p>
          <a:p>
            <a:r>
              <a:t>Replicating data or computations. </a:t>
            </a:r>
          </a:p>
          <a:p>
            <a:r>
              <a:t>Using group communications instead of point-to-point primitives. </a:t>
            </a:r>
          </a:p>
          <a:p>
            <a:r>
              <a:t>Overlap interactions with other interactions.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Title 11878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Parallel Algorithm Models </a:t>
            </a:r>
          </a:p>
        </p:txBody>
      </p:sp>
      <p:sp>
        <p:nvSpPr>
          <p:cNvPr id="118787" name="Text Placeholder 118786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buNone/>
            </a:pPr>
            <a:r>
              <a:t>	An algorithm model is a way of structuring a parallel algorithm by selecting a decomposition and mapping technique and applying the appropriate strategy to minimize interactions. </a:t>
            </a:r>
          </a:p>
          <a:p>
            <a:pPr>
              <a:buNone/>
            </a:pPr>
          </a:p>
          <a:p>
            <a:r>
              <a:t>Data Parallel Model: Tasks are statically (or semi-statically) mapped to processes and each task performs similar operations on different data. </a:t>
            </a:r>
          </a:p>
          <a:p>
            <a:r>
              <a:t>Task Graph Model: Starting from a task dependency graph, the interrelationships among the tasks are utilized to promote locality or to reduce interaction costs. </a:t>
            </a:r>
          </a:p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10" name="Title 11980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t>Parallel Algorithm Models (continued) </a:t>
            </a:r>
          </a:p>
        </p:txBody>
      </p:sp>
      <p:sp>
        <p:nvSpPr>
          <p:cNvPr id="119811" name="Text Placeholder 119810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Master-Slave Model: One or more processes generate work and allocate it to worker processes. This allocation may be static or dynamic. </a:t>
            </a:r>
          </a:p>
          <a:p>
            <a:r>
              <a:t>Pipeline / Producer-</a:t>
            </a:r>
            <a:r>
              <a:rPr dirty="0" err="1"/>
              <a:t>Comsumer</a:t>
            </a:r>
            <a:r>
              <a:t> Model: A stream of data is passed through a succession of processes, each of which perform some task on it. </a:t>
            </a:r>
          </a:p>
          <a:p>
            <a:r>
              <a:t>Hybrid Models: A hybrid model may be composed either of multiple models applied hierarchically or multiple models applied sequentially to different phases of a parallel algorithm. </a:t>
            </a:r>
          </a:p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00" dirty="0"/>
              <a:t>Gallery of patterns and models</a:t>
            </a:r>
            <a:endParaRPr 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363980"/>
            <a:ext cx="5189220" cy="8121650"/>
          </a:xfrm>
        </p:spPr>
        <p:txBody>
          <a:bodyPr numCol="2"/>
          <a:lstStyle/>
          <a:p>
            <a:r>
              <a:rPr lang="en-US" altLang="zh-CN" sz="2000" dirty="0"/>
              <a:t>Decomposition Patterns</a:t>
            </a:r>
            <a:endParaRPr lang="en-US" altLang="zh-CN" sz="2000" dirty="0"/>
          </a:p>
          <a:p>
            <a:pPr lvl="1"/>
            <a:r>
              <a:rPr lang="en-US" sz="2000" b="1" u="sng" dirty="0">
                <a:solidFill>
                  <a:schemeClr val="accent1"/>
                </a:solidFill>
              </a:rPr>
              <a:t>Data (DD)</a:t>
            </a:r>
            <a:endParaRPr lang="en-US" altLang="zh-CN" sz="2000" b="1" u="sng" dirty="0">
              <a:solidFill>
                <a:schemeClr val="accent1"/>
              </a:solidFill>
            </a:endParaRPr>
          </a:p>
          <a:p>
            <a:pPr lvl="1"/>
            <a:r>
              <a:rPr lang="en-US" altLang="zh-CN" sz="2000" b="1" u="sng" dirty="0">
                <a:solidFill>
                  <a:schemeClr val="accent1"/>
                </a:solidFill>
              </a:rPr>
              <a:t>Recursive (RD)</a:t>
            </a:r>
            <a:endParaRPr lang="en-US" altLang="zh-CN" sz="2000" b="1" u="sng" dirty="0">
              <a:solidFill>
                <a:schemeClr val="accent1"/>
              </a:solidFill>
            </a:endParaRPr>
          </a:p>
          <a:p>
            <a:pPr lvl="1"/>
            <a:r>
              <a:rPr lang="en-US" altLang="zh-CN" sz="2000" dirty="0"/>
              <a:t>*Exploratory</a:t>
            </a:r>
            <a:endParaRPr lang="en-US" altLang="zh-CN" sz="2000" dirty="0"/>
          </a:p>
          <a:p>
            <a:pPr lvl="1"/>
            <a:r>
              <a:rPr lang="en-US" altLang="zh-CN" sz="2000" dirty="0"/>
              <a:t>*Speculative</a:t>
            </a:r>
            <a:endParaRPr lang="en-US" altLang="zh-CN" sz="2000" dirty="0"/>
          </a:p>
          <a:p>
            <a:pPr lvl="1"/>
            <a:r>
              <a:rPr lang="en-US" altLang="zh-CN" sz="2000" dirty="0"/>
              <a:t>*</a:t>
            </a:r>
            <a:r>
              <a:rPr lang="en-US" sz="2000" dirty="0"/>
              <a:t>Hybrid</a:t>
            </a:r>
            <a:endParaRPr lang="en-US" altLang="zh-CN" sz="2000" dirty="0"/>
          </a:p>
          <a:p>
            <a:r>
              <a:rPr lang="en-US" altLang="zh-CN" sz="2000" dirty="0"/>
              <a:t>Mapping Patterns</a:t>
            </a:r>
            <a:endParaRPr lang="en-US" altLang="zh-CN" sz="2000" dirty="0"/>
          </a:p>
          <a:p>
            <a:pPr lvl="1"/>
            <a:r>
              <a:rPr lang="en-US" altLang="zh-CN" sz="2000" dirty="0"/>
              <a:t>Static</a:t>
            </a:r>
            <a:endParaRPr lang="en-US" altLang="zh-CN" sz="2000" dirty="0"/>
          </a:p>
          <a:p>
            <a:pPr lvl="2"/>
            <a:r>
              <a:rPr lang="en-US" altLang="zh-CN" sz="2000" b="1" u="sng" dirty="0">
                <a:solidFill>
                  <a:schemeClr val="accent1"/>
                </a:solidFill>
              </a:rPr>
              <a:t>Block distribution (BD)</a:t>
            </a:r>
            <a:endParaRPr lang="en-US" altLang="zh-CN" sz="2000" b="1" u="sng" dirty="0">
              <a:solidFill>
                <a:schemeClr val="accent1"/>
              </a:solidFill>
            </a:endParaRPr>
          </a:p>
          <a:p>
            <a:pPr lvl="2"/>
            <a:r>
              <a:rPr lang="en-US" altLang="zh-CN" sz="2000" dirty="0"/>
              <a:t>*Others</a:t>
            </a:r>
            <a:endParaRPr lang="en-US" altLang="zh-CN" sz="2000" dirty="0"/>
          </a:p>
          <a:p>
            <a:pPr lvl="1"/>
            <a:r>
              <a:rPr lang="en-US" altLang="zh-CN" sz="2000" dirty="0"/>
              <a:t>Dynamic</a:t>
            </a:r>
            <a:endParaRPr lang="en-US" altLang="zh-CN" sz="2000" dirty="0"/>
          </a:p>
          <a:p>
            <a:pPr lvl="2"/>
            <a:r>
              <a:rPr lang="en-US" sz="2000" b="1" u="sng" dirty="0">
                <a:solidFill>
                  <a:schemeClr val="accent1"/>
                </a:solidFill>
              </a:rPr>
              <a:t>Centralized Scheme (CS)</a:t>
            </a:r>
            <a:endParaRPr lang="en-US" sz="2000" b="1" u="sng" dirty="0">
              <a:solidFill>
                <a:schemeClr val="accent1"/>
              </a:solidFill>
            </a:endParaRPr>
          </a:p>
          <a:p>
            <a:pPr lvl="3"/>
            <a:r>
              <a:rPr lang="en-US" sz="2000" b="1" u="sng" dirty="0">
                <a:solidFill>
                  <a:schemeClr val="accent1"/>
                </a:solidFill>
              </a:rPr>
              <a:t>Worker pool (WP)</a:t>
            </a:r>
            <a:endParaRPr lang="en-US" sz="2000" b="1" u="sng" dirty="0">
              <a:solidFill>
                <a:schemeClr val="accent1"/>
              </a:solidFill>
            </a:endParaRPr>
          </a:p>
          <a:p>
            <a:pPr lvl="3"/>
            <a:r>
              <a:rPr lang="en-US" sz="2000" b="1" u="sng" dirty="0">
                <a:solidFill>
                  <a:schemeClr val="accent1"/>
                </a:solidFill>
              </a:rPr>
              <a:t>Master-slave (MS)</a:t>
            </a:r>
            <a:endParaRPr lang="en-US" sz="2000" b="1" u="sng" dirty="0">
              <a:solidFill>
                <a:schemeClr val="accent1"/>
              </a:solidFill>
            </a:endParaRPr>
          </a:p>
          <a:p>
            <a:pPr lvl="2"/>
            <a:r>
              <a:rPr lang="en-US" sz="2000" dirty="0"/>
              <a:t>*Distributed Scheme</a:t>
            </a:r>
            <a:endParaRPr lang="en-US" altLang="zh-CN" sz="2000" dirty="0"/>
          </a:p>
          <a:p>
            <a:pPr lvl="1"/>
            <a:endParaRPr lang="en-US" sz="2000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358384" y="1278424"/>
            <a:ext cx="4896544" cy="4536504"/>
          </a:xfrm>
          <a:prstGeom prst="rect">
            <a:avLst/>
          </a:prstGeom>
          <a:noFill/>
          <a:ln w="571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50800" tIns="50800" rIns="50800" bIns="50800" numCol="1" rtlCol="0" anchor="ctr" anchorCtr="0" compatLnSpc="1">
            <a:no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574155" y="1363980"/>
            <a:ext cx="5189220" cy="8121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0800" tIns="50800" rIns="50800" bIns="50800" numCol="2" anchor="t" anchorCtr="0" compatLnSpc="1"/>
          <a:lstStyle>
            <a:lvl1pPr marL="421005" indent="-421005" algn="l" defTabSz="1739900" rtl="0" eaLnBrk="0" fontAlgn="base" hangingPunct="0">
              <a:spcBef>
                <a:spcPts val="2000"/>
              </a:spcBef>
              <a:spcAft>
                <a:spcPct val="0"/>
              </a:spcAft>
              <a:buSzPct val="75000"/>
              <a:buChar char="•"/>
              <a:defRPr sz="3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charset="0"/>
              </a:defRPr>
            </a:lvl1pPr>
            <a:lvl2pPr marL="787400" indent="-393700" algn="l" defTabSz="1739900" rtl="0" eaLnBrk="0" fontAlgn="base" hangingPunct="0">
              <a:spcBef>
                <a:spcPts val="2000"/>
              </a:spcBef>
              <a:spcAft>
                <a:spcPct val="0"/>
              </a:spcAft>
              <a:buSzPct val="175000"/>
              <a:buChar char="•"/>
              <a:defRPr sz="3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charset="0"/>
              </a:defRPr>
            </a:lvl2pPr>
            <a:lvl3pPr marL="1181100" indent="-393700" algn="l" defTabSz="1739900" rtl="0" eaLnBrk="0" fontAlgn="base" hangingPunct="0">
              <a:spcBef>
                <a:spcPts val="2000"/>
              </a:spcBef>
              <a:spcAft>
                <a:spcPct val="0"/>
              </a:spcAft>
              <a:buSzPct val="175000"/>
              <a:buChar char="•"/>
              <a:defRPr sz="3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charset="0"/>
              </a:defRPr>
            </a:lvl3pPr>
            <a:lvl4pPr marL="1574800" indent="-393700" algn="l" defTabSz="1739900" rtl="0" eaLnBrk="0" fontAlgn="base" hangingPunct="0">
              <a:spcBef>
                <a:spcPts val="2000"/>
              </a:spcBef>
              <a:spcAft>
                <a:spcPct val="0"/>
              </a:spcAft>
              <a:buSzPct val="175000"/>
              <a:buChar char="•"/>
              <a:defRPr sz="3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charset="0"/>
              </a:defRPr>
            </a:lvl4pPr>
            <a:lvl5pPr marL="1968500" indent="-393700" algn="l" defTabSz="1739900" rtl="0" eaLnBrk="0" fontAlgn="base" hangingPunct="0">
              <a:spcBef>
                <a:spcPts val="2000"/>
              </a:spcBef>
              <a:spcAft>
                <a:spcPct val="0"/>
              </a:spcAft>
              <a:buSzPct val="175000"/>
              <a:buChar char="•"/>
              <a:defRPr sz="3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Models</a:t>
            </a:r>
            <a:endParaRPr lang="en-US" altLang="zh-CN" sz="2000" dirty="0"/>
          </a:p>
          <a:p>
            <a:pPr lvl="1"/>
            <a:r>
              <a:rPr lang="en-US" altLang="zh-CN" sz="2000" b="1" u="sng" dirty="0">
                <a:solidFill>
                  <a:schemeClr val="accent1"/>
                </a:solidFill>
              </a:rPr>
              <a:t>Embarrassingly parallel </a:t>
            </a:r>
            <a:endParaRPr lang="en-US" altLang="zh-CN" sz="2000" b="1" u="sng" dirty="0">
              <a:solidFill>
                <a:schemeClr val="accent1"/>
              </a:solidFill>
            </a:endParaRPr>
          </a:p>
          <a:p>
            <a:pPr marL="393700" lvl="1" indent="0">
              <a:buNone/>
            </a:pPr>
            <a:r>
              <a:rPr lang="en-US" altLang="zh-CN" sz="2000" dirty="0"/>
              <a:t>	= DD + BD/CS</a:t>
            </a:r>
            <a:endParaRPr lang="en-US" altLang="zh-CN" sz="2000" dirty="0"/>
          </a:p>
          <a:p>
            <a:pPr lvl="1"/>
            <a:r>
              <a:rPr lang="en-US" sz="2000" b="1" u="sng" dirty="0">
                <a:solidFill>
                  <a:schemeClr val="accent1"/>
                </a:solidFill>
              </a:rPr>
              <a:t>Fork–join</a:t>
            </a:r>
            <a:endParaRPr lang="en-US" sz="2000" b="1" u="sng" dirty="0">
              <a:solidFill>
                <a:schemeClr val="accent1"/>
              </a:solidFill>
            </a:endParaRPr>
          </a:p>
          <a:p>
            <a:pPr marL="393700" lvl="1" indent="0">
              <a:buNone/>
            </a:pPr>
            <a:r>
              <a:rPr lang="en-US" sz="2000" dirty="0"/>
              <a:t>	= RD + BD/CS</a:t>
            </a:r>
            <a:endParaRPr lang="en-US" sz="2000" dirty="0"/>
          </a:p>
          <a:p>
            <a:pPr lvl="1"/>
            <a:r>
              <a:rPr lang="en-US" sz="2000" dirty="0"/>
              <a:t>*Pipeline</a:t>
            </a:r>
            <a:endParaRPr lang="en-US" sz="2000" dirty="0"/>
          </a:p>
          <a:p>
            <a:pPr lvl="1"/>
            <a:r>
              <a:rPr lang="en-US" sz="2000" b="1" u="sng" dirty="0">
                <a:solidFill>
                  <a:schemeClr val="accent1"/>
                </a:solidFill>
              </a:rPr>
              <a:t>Geometric</a:t>
            </a:r>
            <a:endParaRPr lang="en-US" sz="2000" b="1" u="sng" dirty="0">
              <a:solidFill>
                <a:schemeClr val="accent1"/>
              </a:solidFill>
            </a:endParaRPr>
          </a:p>
          <a:p>
            <a:pPr marL="393700" lvl="1" indent="0">
              <a:buNone/>
            </a:pPr>
            <a:r>
              <a:rPr lang="en-US" sz="2000" dirty="0"/>
              <a:t>	= DD + BD</a:t>
            </a:r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393700" lvl="1" indent="0">
              <a:buNone/>
            </a:pPr>
            <a:r>
              <a:rPr lang="en-US" sz="2000" dirty="0"/>
              <a:t>* </a:t>
            </a:r>
            <a:r>
              <a:rPr lang="en-US" altLang="zh-CN" sz="2000" dirty="0"/>
              <a:t>Will not be discussed in this course</a:t>
            </a:r>
            <a:endParaRPr lang="en-US" sz="2000" dirty="0"/>
          </a:p>
          <a:p>
            <a:pPr lvl="1"/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Embarrassingly parallel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here is little or no dependency or need for communication between 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its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parallel tasks.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Example: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Monte Carlo sampling
Relational database queries
Brute force search, grid search
Predict many instance by one model
Random forest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parallelism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5956920"/>
            <a:ext cx="12012613" cy="3085480"/>
          </a:xfrm>
        </p:spPr>
        <p:txBody>
          <a:bodyPr/>
          <a:lstStyle/>
          <a:p>
            <a:r>
              <a:rPr lang="en-US" altLang="zh-CN" dirty="0"/>
              <a:t>Data parallelism refers to scenarios in which the same operation is performed concurrently (that is, in parallel) on elements in a source collection or array. </a:t>
            </a:r>
            <a:endParaRPr lang="en-US" altLang="zh-CN" dirty="0"/>
          </a:p>
          <a:p>
            <a:r>
              <a:rPr lang="en-US" altLang="zh-CN" dirty="0"/>
              <a:t>In data parallel operations, the source collection is partitioned so that multiple threads can operate on different segments concurrently.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8224" y="2782175"/>
            <a:ext cx="3528392" cy="1260140"/>
          </a:xfrm>
          <a:prstGeom prst="rect">
            <a:avLst/>
          </a:prstGeom>
        </p:spPr>
      </p:pic>
      <p:sp>
        <p:nvSpPr>
          <p:cNvPr id="6" name="Isosceles Triangle 5"/>
          <p:cNvSpPr/>
          <p:nvPr/>
        </p:nvSpPr>
        <p:spPr bwMode="auto">
          <a:xfrm>
            <a:off x="7150472" y="4042315"/>
            <a:ext cx="144016" cy="330429"/>
          </a:xfrm>
          <a:prstGeom prst="triangl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50800" tIns="50800" rIns="50800" bIns="50800" numCol="1" rtlCol="0" anchor="ctr" anchorCtr="0" compatLnSpc="1">
            <a:no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42360" y="4516760"/>
            <a:ext cx="2191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</a:rPr>
              <a:t>Any function to apply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Master-slave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5740896"/>
            <a:ext cx="12012613" cy="3301504"/>
          </a:xfrm>
        </p:spPr>
        <p:txBody>
          <a:bodyPr/>
          <a:lstStyle/>
          <a:p>
            <a:r>
              <a:rPr lang="en-US" dirty="0"/>
              <a:t>There are 1 master and K slaves</a:t>
            </a:r>
            <a:endParaRPr lang="en-US" dirty="0"/>
          </a:p>
          <a:p>
            <a:r>
              <a:rPr lang="en-US" dirty="0"/>
              <a:t>Master splits the data into K </a:t>
            </a:r>
            <a:r>
              <a:rPr lang="en-US" altLang="zh-CN" dirty="0"/>
              <a:t>portions,</a:t>
            </a:r>
            <a:r>
              <a:rPr lang="zh-CN" altLang="en-US" dirty="0"/>
              <a:t> </a:t>
            </a:r>
            <a:r>
              <a:rPr lang="en-US" altLang="zh-CN" dirty="0"/>
              <a:t>and assigns them to K slaves</a:t>
            </a:r>
            <a:endParaRPr lang="en-US" altLang="zh-CN" dirty="0"/>
          </a:p>
          <a:p>
            <a:pPr lvl="1"/>
            <a:r>
              <a:rPr lang="en-US" altLang="zh-CN" dirty="0"/>
              <a:t>This can also be the input parameter of processing function</a:t>
            </a:r>
            <a:endParaRPr lang="en-US" altLang="zh-CN" dirty="0"/>
          </a:p>
          <a:p>
            <a:r>
              <a:rPr lang="en-US" altLang="zh-CN" dirty="0"/>
              <a:t>After the calculation is completed, the result is returned to the master for the reduce operation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8836" y="3402054"/>
            <a:ext cx="6411220" cy="85737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 bwMode="auto">
          <a:xfrm>
            <a:off x="5134248" y="1430052"/>
            <a:ext cx="1080120" cy="108012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50800" tIns="50800" rIns="50800" bIns="50800" numCol="1" rtlCol="0" anchor="ctr" anchorCtr="0" compatLnSpc="1">
            <a:no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rPr>
              <a:t>Master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 flipH="1">
            <a:off x="3478064" y="2351992"/>
            <a:ext cx="1656184" cy="1050062"/>
          </a:xfrm>
          <a:prstGeom prst="straightConnector1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/>
          <p:nvPr/>
        </p:nvCxnSpPr>
        <p:spPr bwMode="auto">
          <a:xfrm flipH="1">
            <a:off x="4400004" y="2492916"/>
            <a:ext cx="967973" cy="909138"/>
          </a:xfrm>
          <a:prstGeom prst="straightConnector1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/>
          <p:cNvCxnSpPr/>
          <p:nvPr/>
        </p:nvCxnSpPr>
        <p:spPr bwMode="auto">
          <a:xfrm flipH="1">
            <a:off x="5407322" y="2590800"/>
            <a:ext cx="180678" cy="811254"/>
          </a:xfrm>
          <a:prstGeom prst="straightConnector1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/>
          <p:cNvCxnSpPr/>
          <p:nvPr/>
        </p:nvCxnSpPr>
        <p:spPr bwMode="auto">
          <a:xfrm>
            <a:off x="6019590" y="2510172"/>
            <a:ext cx="381880" cy="891882"/>
          </a:xfrm>
          <a:prstGeom prst="straightConnector1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/>
          <p:cNvCxnSpPr/>
          <p:nvPr/>
        </p:nvCxnSpPr>
        <p:spPr bwMode="auto">
          <a:xfrm>
            <a:off x="6228532" y="2351992"/>
            <a:ext cx="2218210" cy="1050062"/>
          </a:xfrm>
          <a:prstGeom prst="straightConnector1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Interactive diagram and code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720" y="1924472"/>
            <a:ext cx="5534797" cy="40486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580" y="1564432"/>
            <a:ext cx="5534796" cy="7465540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96093" y="6460108"/>
            <a:ext cx="5646267" cy="3301504"/>
          </a:xfrm>
        </p:spPr>
        <p:txBody>
          <a:bodyPr/>
          <a:lstStyle/>
          <a:p>
            <a:r>
              <a:rPr lang="en-US" altLang="zh-CN" dirty="0"/>
              <a:t>Please extend the program to more processes (task1)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Workpool</a:t>
            </a:r>
            <a:r>
              <a:rPr lang="en-US" altLang="zh-CN" dirty="0"/>
              <a:t> </a:t>
            </a:r>
            <a:r>
              <a:rPr lang="en-US" dirty="0"/>
              <a:t>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5884912"/>
            <a:ext cx="12012613" cy="3157488"/>
          </a:xfrm>
        </p:spPr>
        <p:txBody>
          <a:bodyPr/>
          <a:lstStyle/>
          <a:p>
            <a:r>
              <a:rPr lang="en-US" dirty="0"/>
              <a:t>There are 1 manager and M worker</a:t>
            </a:r>
            <a:endParaRPr lang="en-US" dirty="0"/>
          </a:p>
          <a:p>
            <a:r>
              <a:rPr lang="en-US" dirty="0"/>
              <a:t>Workers fetch their own task from a task pool. </a:t>
            </a:r>
            <a:r>
              <a:rPr lang="en-US" altLang="zh-CN" dirty="0"/>
              <a:t>It must determine by itself whether there are still tasks and update the status of the tasks it has processed.</a:t>
            </a:r>
            <a:endParaRPr lang="en-US" altLang="zh-CN" dirty="0"/>
          </a:p>
          <a:p>
            <a:r>
              <a:rPr lang="en-US" altLang="zh-CN" dirty="0"/>
              <a:t>After the calculation is completed, it is returned to the manager for the reduce operation</a:t>
            </a:r>
            <a:endParaRPr lang="en-US" dirty="0"/>
          </a:p>
          <a:p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3190032" y="1348408"/>
            <a:ext cx="5426368" cy="4536008"/>
            <a:chOff x="3190032" y="1348408"/>
            <a:chExt cx="5426368" cy="453600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558184" y="1511831"/>
              <a:ext cx="4058216" cy="4372585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 bwMode="auto">
            <a:xfrm>
              <a:off x="3622080" y="1348408"/>
              <a:ext cx="2304256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50800" tIns="50800" rIns="50800" bIns="50800" numCol="1" rtlCol="0" anchor="ctr" anchorCtr="0" compatLnSpc="1">
              <a:noAutofit/>
            </a:bodyPr>
            <a:lstStyle/>
            <a:p>
              <a:pPr marL="0" marR="0" indent="0" algn="ctr" defTabSz="1733550" rtl="0" eaLnBrk="1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190032" y="2479610"/>
              <a:ext cx="2304256" cy="16051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50800" tIns="50800" rIns="50800" bIns="50800" numCol="1" rtlCol="0" anchor="ctr" anchorCtr="0" compatLnSpc="1">
              <a:noAutofit/>
            </a:bodyPr>
            <a:lstStyle/>
            <a:p>
              <a:pPr marL="0" marR="0" indent="0" algn="ctr" defTabSz="1733550" rtl="0" eaLnBrk="1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Interactive diagram and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1204392"/>
            <a:ext cx="5315692" cy="64779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567" y="1200865"/>
            <a:ext cx="6262819" cy="8376522"/>
          </a:xfrm>
          <a:prstGeom prst="rect">
            <a:avLst/>
          </a:prstGeom>
        </p:spPr>
      </p:pic>
      <p:sp>
        <p:nvSpPr>
          <p:cNvPr id="8" name="Content Placeholder 2"/>
          <p:cNvSpPr txBox="1"/>
          <p:nvPr/>
        </p:nvSpPr>
        <p:spPr bwMode="auto">
          <a:xfrm>
            <a:off x="438073" y="7901136"/>
            <a:ext cx="5646267" cy="3301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t" anchorCtr="0" compatLnSpc="1"/>
          <a:lstStyle>
            <a:lvl1pPr marL="421005" indent="-421005" algn="l" defTabSz="1739900" rtl="0" eaLnBrk="0" fontAlgn="base" hangingPunct="0">
              <a:spcBef>
                <a:spcPts val="2000"/>
              </a:spcBef>
              <a:spcAft>
                <a:spcPct val="0"/>
              </a:spcAft>
              <a:buSzPct val="75000"/>
              <a:buChar char="•"/>
              <a:defRPr sz="3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charset="0"/>
              </a:defRPr>
            </a:lvl1pPr>
            <a:lvl2pPr marL="787400" indent="-393700" algn="l" defTabSz="1739900" rtl="0" eaLnBrk="0" fontAlgn="base" hangingPunct="0">
              <a:spcBef>
                <a:spcPts val="2000"/>
              </a:spcBef>
              <a:spcAft>
                <a:spcPct val="0"/>
              </a:spcAft>
              <a:buSzPct val="175000"/>
              <a:buChar char="•"/>
              <a:defRPr sz="3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charset="0"/>
              </a:defRPr>
            </a:lvl2pPr>
            <a:lvl3pPr marL="1181100" indent="-393700" algn="l" defTabSz="1739900" rtl="0" eaLnBrk="0" fontAlgn="base" hangingPunct="0">
              <a:spcBef>
                <a:spcPts val="2000"/>
              </a:spcBef>
              <a:spcAft>
                <a:spcPct val="0"/>
              </a:spcAft>
              <a:buSzPct val="175000"/>
              <a:buChar char="•"/>
              <a:defRPr sz="3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charset="0"/>
              </a:defRPr>
            </a:lvl3pPr>
            <a:lvl4pPr marL="1574800" indent="-393700" algn="l" defTabSz="1739900" rtl="0" eaLnBrk="0" fontAlgn="base" hangingPunct="0">
              <a:spcBef>
                <a:spcPts val="2000"/>
              </a:spcBef>
              <a:spcAft>
                <a:spcPct val="0"/>
              </a:spcAft>
              <a:buSzPct val="175000"/>
              <a:buChar char="•"/>
              <a:defRPr sz="3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charset="0"/>
              </a:defRPr>
            </a:lvl4pPr>
            <a:lvl5pPr marL="1968500" indent="-393700" algn="l" defTabSz="1739900" rtl="0" eaLnBrk="0" fontAlgn="base" hangingPunct="0">
              <a:spcBef>
                <a:spcPts val="2000"/>
              </a:spcBef>
              <a:spcAft>
                <a:spcPct val="0"/>
              </a:spcAft>
              <a:buSzPct val="175000"/>
              <a:buChar char="•"/>
              <a:defRPr sz="3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/>
              <a:t>Please extend the program to more processes and add logic of judging whether all tasks are completed (task3)</a:t>
            </a:r>
            <a:endParaRPr lang="en-US" sz="2800" dirty="0"/>
          </a:p>
        </p:txBody>
      </p:sp>
      <p:sp>
        <p:nvSpPr>
          <p:cNvPr id="9" name="Rectangle 8"/>
          <p:cNvSpPr/>
          <p:nvPr/>
        </p:nvSpPr>
        <p:spPr>
          <a:xfrm>
            <a:off x="11473852" y="5596880"/>
            <a:ext cx="1283621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16600" b="1" cap="none" spc="0" dirty="0">
                <a:ln w="22225">
                  <a:solidFill>
                    <a:srgbClr val="FF0000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？</a:t>
            </a:r>
            <a:endParaRPr lang="en-US" sz="16600" b="1" cap="none" spc="0" dirty="0">
              <a:ln w="22225">
                <a:solidFill>
                  <a:srgbClr val="FF0000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66896" y="7757120"/>
            <a:ext cx="13429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Explain later…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MPI</a:t>
            </a:r>
            <a:r>
              <a:rPr lang="zh-CN" altLang="en-US" dirty="0"/>
              <a:t> </a:t>
            </a:r>
            <a:r>
              <a:rPr lang="en-US" altLang="zh-CN" dirty="0"/>
              <a:t>One-side Communication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One-Sided Communications</a:t>
            </a:r>
            <a:endParaRPr lang="en-US" altLang="en-US" dirty="0"/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Lato" panose="020F0502020204030203" pitchFamily="34" charset="0"/>
              </a:rPr>
              <a:t>One-sided communications</a:t>
            </a:r>
            <a:endParaRPr lang="en-US" b="0" i="0" dirty="0">
              <a:solidFill>
                <a:schemeClr val="tx1"/>
              </a:solidFill>
              <a:effectLst/>
              <a:latin typeface="Lato" panose="020F0502020204030203" pitchFamily="34" charset="0"/>
            </a:endParaRPr>
          </a:p>
          <a:p>
            <a:pPr lvl="1"/>
            <a:r>
              <a:rPr lang="en-US" altLang="zh-CN" dirty="0"/>
              <a:t>Allows the communication process to be invisible to one of the parties, that is, it’s ok to write related code on one side</a:t>
            </a:r>
            <a:endParaRPr lang="en-US" altLang="zh-CN" dirty="0"/>
          </a:p>
          <a:p>
            <a:r>
              <a:rPr lang="en-US" altLang="zh-CN" dirty="0"/>
              <a:t>Advantage:</a:t>
            </a:r>
            <a:endParaRPr lang="en-US" altLang="zh-CN" dirty="0"/>
          </a:p>
          <a:p>
            <a:pPr lvl="1"/>
            <a:r>
              <a:rPr lang="en-US" altLang="zh-CN" dirty="0"/>
              <a:t>Simplified procedures, just like shared storage, can be read and written directly, eliminating the need to transfer data back and forth
Leverage underlying hardware support, if available</a:t>
            </a:r>
            <a:endParaRPr lang="en-US" altLang="zh-CN" dirty="0"/>
          </a:p>
          <a:p>
            <a:r>
              <a:rPr lang="en-US" altLang="zh-CN" dirty="0"/>
              <a:t>Notes</a:t>
            </a:r>
            <a:endParaRPr lang="en-US" altLang="zh-CN" dirty="0"/>
          </a:p>
          <a:p>
            <a:pPr lvl="1"/>
            <a:r>
              <a:rPr lang="en-US" altLang="zh-CN" dirty="0"/>
              <a:t>It is necessary to be mutually exclusive, especially write. Thus, you need to set a lock.</a:t>
            </a:r>
            <a:endParaRPr lang="en-US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Main steps
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5020816"/>
            <a:ext cx="11407699" cy="4021584"/>
          </a:xfrm>
        </p:spPr>
        <p:txBody>
          <a:bodyPr/>
          <a:lstStyle/>
          <a:p>
            <a:r>
              <a:rPr lang="en-US" altLang="zh-CN" dirty="0"/>
              <a:t>Create a window</a:t>
            </a:r>
            <a:endParaRPr lang="en-US" altLang="zh-CN" dirty="0"/>
          </a:p>
          <a:p>
            <a:pPr lvl="1"/>
            <a:r>
              <a:rPr lang="en-US" altLang="zh-CN" dirty="0"/>
              <a:t>The window length here can only be calculated in bytes, so the size of the data structure must be estimated</a:t>
            </a:r>
            <a:endParaRPr lang="en-US" altLang="zh-CN" dirty="0"/>
          </a:p>
          <a:p>
            <a:r>
              <a:rPr lang="en-US" altLang="zh-CN" dirty="0"/>
              <a:t>The key data structure (</a:t>
            </a:r>
            <a:r>
              <a:rPr lang="en-US" altLang="zh-CN" dirty="0" err="1"/>
              <a:t>num_tasks_done</a:t>
            </a:r>
            <a:r>
              <a:rPr lang="en-US" altLang="zh-CN" dirty="0"/>
              <a:t>) here is stored in the rank=0 process, so it only needs to be allocated in this process; But other processes also declare the window, with the size set to 0</a:t>
            </a:r>
            <a:endParaRPr lang="en-US" altLang="zh-C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t="20396" b="47807"/>
          <a:stretch>
            <a:fillRect/>
          </a:stretch>
        </p:blipFill>
        <p:spPr>
          <a:xfrm>
            <a:off x="3910112" y="1852464"/>
            <a:ext cx="6264696" cy="26642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auto">
          <a:xfrm>
            <a:off x="1749872" y="2284512"/>
            <a:ext cx="9577064" cy="1872208"/>
          </a:xfrm>
          <a:prstGeom prst="rect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50800" tIns="50800" rIns="50800" bIns="50800" numCol="1" rtlCol="0" anchor="ctr" anchorCtr="0" compatLnSpc="1">
            <a:no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"/>
          <a:srcRect t="67912"/>
          <a:stretch>
            <a:fillRect/>
          </a:stretch>
        </p:blipFill>
        <p:spPr>
          <a:xfrm>
            <a:off x="3118024" y="2428528"/>
            <a:ext cx="6262819" cy="26878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Main steps
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1" y="6604992"/>
            <a:ext cx="12001500" cy="2437408"/>
          </a:xfrm>
        </p:spPr>
        <p:txBody>
          <a:bodyPr/>
          <a:lstStyle/>
          <a:p>
            <a:r>
              <a:rPr lang="en-US" altLang="zh-CN" dirty="0"/>
              <a:t>Get exclusive access</a:t>
            </a:r>
            <a:endParaRPr lang="en-US" altLang="zh-CN" dirty="0"/>
          </a:p>
          <a:p>
            <a:pPr lvl="1"/>
            <a:r>
              <a:rPr lang="en-US" dirty="0"/>
              <a:t>only the origin process calls the </a:t>
            </a:r>
            <a:r>
              <a:rPr lang="en-US" dirty="0" err="1"/>
              <a:t>Win.Lock</a:t>
            </a:r>
            <a:r>
              <a:rPr lang="en-US" dirty="0"/>
              <a:t> and </a:t>
            </a:r>
            <a:r>
              <a:rPr lang="en-US" dirty="0" err="1"/>
              <a:t>Win.Unlock</a:t>
            </a:r>
            <a:r>
              <a:rPr lang="en-US" dirty="0"/>
              <a:t> methods. Locks are used to protect remote accesses to the locked remote window and to protect local load/store accesses to a locked local window.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 bwMode="auto">
          <a:xfrm>
            <a:off x="1749872" y="2932584"/>
            <a:ext cx="9577064" cy="852487"/>
          </a:xfrm>
          <a:prstGeom prst="rect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50800" tIns="50800" rIns="50800" bIns="50800" numCol="1" rtlCol="0" anchor="ctr" anchorCtr="0" compatLnSpc="1">
            <a:no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Main steps
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5236840"/>
            <a:ext cx="12012613" cy="3073870"/>
          </a:xfrm>
        </p:spPr>
        <p:txBody>
          <a:bodyPr/>
          <a:lstStyle/>
          <a:p>
            <a:r>
              <a:rPr lang="en-US" altLang="zh-CN" sz="2800" dirty="0"/>
              <a:t>R</a:t>
            </a:r>
            <a:r>
              <a:rPr lang="en-US" sz="2800" dirty="0"/>
              <a:t>emote write, read and reduction are available through calling the methods </a:t>
            </a:r>
            <a:r>
              <a:rPr lang="en-US" sz="2800" dirty="0" err="1"/>
              <a:t>Win.Put</a:t>
            </a:r>
            <a:r>
              <a:rPr lang="en-US" sz="2800" dirty="0"/>
              <a:t>, </a:t>
            </a:r>
            <a:r>
              <a:rPr lang="en-US" sz="2800" dirty="0" err="1"/>
              <a:t>Win.Get</a:t>
            </a:r>
            <a:r>
              <a:rPr lang="en-US" sz="2800" dirty="0"/>
              <a:t>, and </a:t>
            </a:r>
            <a:r>
              <a:rPr lang="en-US" sz="2800" dirty="0" err="1"/>
              <a:t>Win.Accumulate</a:t>
            </a:r>
            <a:r>
              <a:rPr lang="en-US" sz="2800" dirty="0"/>
              <a:t> respectively within a Win instance. </a:t>
            </a:r>
            <a:endParaRPr lang="en-US" sz="2800" dirty="0"/>
          </a:p>
          <a:p>
            <a:r>
              <a:rPr lang="en-US" sz="2800" dirty="0"/>
              <a:t>These methods need an integer rank identifying the target process and an integer offset relative the base address of the remote memory block being accessed.</a:t>
            </a:r>
            <a:endParaRPr lang="en-US" sz="2800" dirty="0"/>
          </a:p>
          <a:p>
            <a:r>
              <a:rPr lang="en-US" altLang="zh-CN" sz="2800" dirty="0">
                <a:solidFill>
                  <a:srgbClr val="FF0000"/>
                </a:solidFill>
              </a:rPr>
              <a:t>Note: After calling </a:t>
            </a:r>
            <a:r>
              <a:rPr lang="en-US" altLang="zh-CN" sz="2800" dirty="0" err="1">
                <a:solidFill>
                  <a:srgbClr val="FF0000"/>
                </a:solidFill>
              </a:rPr>
              <a:t>Win.</a:t>
            </a:r>
            <a:r>
              <a:rPr lang="en-US" altLang="zh-CN" sz="2800" dirty="0" err="1">
                <a:solidFill>
                  <a:srgbClr val="FF0000"/>
                </a:solidFill>
              </a:rPr>
              <a:t>Pet</a:t>
            </a:r>
            <a:r>
              <a:rPr lang="en-US" altLang="zh-CN" sz="2800" dirty="0">
                <a:solidFill>
                  <a:srgbClr val="FF0000"/>
                </a:solidFill>
              </a:rPr>
              <a:t>, the </a:t>
            </a:r>
            <a:r>
              <a:rPr lang="en-US" altLang="zh-CN" sz="2800" dirty="0" err="1">
                <a:solidFill>
                  <a:srgbClr val="FF0000"/>
                </a:solidFill>
              </a:rPr>
              <a:t>num_tasks_done</a:t>
            </a:r>
            <a:r>
              <a:rPr lang="en-US" altLang="zh-CN" sz="2800" dirty="0">
                <a:solidFill>
                  <a:srgbClr val="FF0000"/>
                </a:solidFill>
              </a:rPr>
              <a:t> will not be updated immediately! The </a:t>
            </a:r>
            <a:r>
              <a:rPr lang="en-US" altLang="zh-CN" sz="2800" dirty="0" err="1">
                <a:solidFill>
                  <a:srgbClr val="FF0000"/>
                </a:solidFill>
              </a:rPr>
              <a:t>num_tasks_done</a:t>
            </a:r>
            <a:r>
              <a:rPr lang="en-US" altLang="zh-CN" sz="2800" dirty="0">
                <a:solidFill>
                  <a:srgbClr val="FF0000"/>
                </a:solidFill>
              </a:rPr>
              <a:t> will be updated only after </a:t>
            </a:r>
            <a:r>
              <a:rPr lang="en-US" altLang="zh-CN" sz="2800" dirty="0" err="1">
                <a:solidFill>
                  <a:srgbClr val="FF0000"/>
                </a:solidFill>
              </a:rPr>
              <a:t>Win.Unlock</a:t>
            </a:r>
            <a:r>
              <a:rPr lang="en-US" altLang="zh-CN" sz="2800" dirty="0">
                <a:solidFill>
                  <a:srgbClr val="FF0000"/>
                </a:solidFill>
              </a:rPr>
              <a:t> is called.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t="67912"/>
          <a:stretch>
            <a:fillRect/>
          </a:stretch>
        </p:blipFill>
        <p:spPr>
          <a:xfrm>
            <a:off x="3118024" y="2428528"/>
            <a:ext cx="6262819" cy="26878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auto">
          <a:xfrm>
            <a:off x="1749872" y="3220617"/>
            <a:ext cx="9577064" cy="360040"/>
          </a:xfrm>
          <a:prstGeom prst="rect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50800" tIns="50800" rIns="50800" bIns="50800" numCol="1" rtlCol="0" anchor="ctr" anchorCtr="0" compatLnSpc="1">
            <a:noAutofit/>
          </a:bodyPr>
          <a:lstStyle/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366635" y="4012565"/>
            <a:ext cx="720090" cy="360045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50800" tIns="50800" rIns="50800" bIns="50800" numCol="1" rtlCol="0" anchor="ctr" anchorCtr="0" compatLnSpc="1">
            <a:noAutofit/>
          </a:bodyPr>
          <a:p>
            <a:pPr marL="0" marR="0" indent="0" algn="ctr" defTabSz="1733550" rtl="0" eaLnBrk="1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nela Text Regular" charset="0"/>
              <a:ea typeface="Canela Text Regular" charset="0"/>
              <a:cs typeface="Canela Text Regular" charset="0"/>
              <a:sym typeface="Canela Text Regular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*Hardware support</a:t>
            </a:r>
            <a:endParaRPr lang="en-US" altLang="en-US" dirty="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495300" y="6477000"/>
            <a:ext cx="12012613" cy="25654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Bypasses network protocol-related computation 
The burden on the CPU is lightened because the network card takes over the transfer process</a:t>
            </a:r>
            <a:endParaRPr lang="en-US" altLang="en-US" dirty="0"/>
          </a:p>
        </p:txBody>
      </p:sp>
      <p:pic>
        <p:nvPicPr>
          <p:cNvPr id="3379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784" y="1985566"/>
            <a:ext cx="10715476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jJjNTFkOTdkODM4ZDJhZTE0NWNhZWEyMDljZmVjZjEifQ=="/>
</p:tagLst>
</file>

<file path=ppt/theme/theme1.xml><?xml version="1.0" encoding="utf-8"?>
<a:theme xmlns:a="http://schemas.openxmlformats.org/drawingml/2006/main" name="23_ClassicWhit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FFFFFF"/>
      </a:accent3>
      <a:accent4>
        <a:srgbClr val="000000"/>
      </a:accent4>
      <a:accent5>
        <a:srgbClr val="AFBCE5"/>
      </a:accent5>
      <a:accent6>
        <a:srgbClr val="2DB2A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50800" tIns="50800" rIns="50800" bIns="50800" numCol="1" rtlCol="0" anchor="ctr" anchorCtr="0" compatLnSpc="1">
        <a:noAutofit/>
      </a:bodyPr>
      <a:lstStyle>
        <a:defPPr marL="0" marR="0" indent="0" algn="ctr" defTabSz="1733550" rtl="0" eaLnBrk="1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sz="1600" b="0" i="0" u="none" strike="noStrike" cap="none" normalizeH="0" baseline="0" dirty="0" smtClean="0">
            <a:ln>
              <a:noFill/>
            </a:ln>
            <a:solidFill>
              <a:srgbClr val="000000"/>
            </a:solidFill>
            <a:effectLst/>
            <a:latin typeface="Canela Text Regular" charset="0"/>
            <a:ea typeface="Canela Text Regular" charset="0"/>
            <a:cs typeface="Canela Text Regular" charset="0"/>
            <a:sym typeface="Canela Text Regular" charset="0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</a:spPr>
      <a:bodyPr vert="horz" wrap="square" lIns="50800" tIns="50800" rIns="50800" bIns="50800" numCol="1" anchor="ctr" anchorCtr="0" compatLnSpc="1">
        <a:spAutoFit/>
      </a:bodyPr>
      <a:lstStyle>
        <a:defPPr marL="0" marR="0" indent="0" algn="ctr" defTabSz="1733550" rtl="0" eaLnBrk="1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nela Text Regular" charset="0"/>
            <a:ea typeface="Canela Text Regular" charset="0"/>
            <a:cs typeface="Canela Text Regular" charset="0"/>
            <a:sym typeface="Canela Text Regular" charset="0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FFFFFF"/>
      </a:accent3>
      <a:accent4>
        <a:srgbClr val="000000"/>
      </a:accent4>
      <a:accent5>
        <a:srgbClr val="AFBCE5"/>
      </a:accent5>
      <a:accent6>
        <a:srgbClr val="2DB2A7"/>
      </a:accent6>
      <a:hlink>
        <a:srgbClr val="0000FF"/>
      </a:hlink>
      <a:folHlink>
        <a:srgbClr val="FF00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11529</Words>
  <Application>WPS 演示</Application>
  <PresentationFormat>Custom</PresentationFormat>
  <Paragraphs>294</Paragraphs>
  <Slides>42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5" baseType="lpstr">
      <vt:lpstr>Arial</vt:lpstr>
      <vt:lpstr>宋体</vt:lpstr>
      <vt:lpstr>Wingdings</vt:lpstr>
      <vt:lpstr>Canela Text Regular</vt:lpstr>
      <vt:lpstr>Segoe Print</vt:lpstr>
      <vt:lpstr>Helvetica</vt:lpstr>
      <vt:lpstr>Graphik</vt:lpstr>
      <vt:lpstr>Helvetica Neue</vt:lpstr>
      <vt:lpstr>微软雅黑</vt:lpstr>
      <vt:lpstr>Arial Unicode MS</vt:lpstr>
      <vt:lpstr>Lato</vt:lpstr>
      <vt:lpstr>Calibri</vt:lpstr>
      <vt:lpstr>23_ClassicWhite</vt:lpstr>
      <vt:lpstr>DTS205TC High Performance Computing</vt:lpstr>
      <vt:lpstr>Mapping Techniques </vt:lpstr>
      <vt:lpstr>Mapping Techniques for Minimum Idling </vt:lpstr>
      <vt:lpstr>Mapping Techniques for Minimum Idling</vt:lpstr>
      <vt:lpstr>Schemes for Static Mapping </vt:lpstr>
      <vt:lpstr>Mappings Based on Data Partitioning </vt:lpstr>
      <vt:lpstr>Block Array Distribution Schemes </vt:lpstr>
      <vt:lpstr>Block Array Distribution Schemes: Examples </vt:lpstr>
      <vt:lpstr>Data Sharing in Dense Matrix Multiplication </vt:lpstr>
      <vt:lpstr>Cyclic and Block Cyclic Distributions </vt:lpstr>
      <vt:lpstr>LU Factorization of a Dense Matrix </vt:lpstr>
      <vt:lpstr>Block Cyclic Distributions </vt:lpstr>
      <vt:lpstr>Block-Cyclic Distribution for Gaussian Elimination </vt:lpstr>
      <vt:lpstr>Block-Cyclic Distribution: Examples </vt:lpstr>
      <vt:lpstr>Block-Cyclic Distribution </vt:lpstr>
      <vt:lpstr>Graph Partitioning Dased Data Decomposition </vt:lpstr>
      <vt:lpstr>Partitioning the Graph of Lake Superior </vt:lpstr>
      <vt:lpstr>Mappings Based on Task Paritioning </vt:lpstr>
      <vt:lpstr>Task Paritioning: Mapping a Binary Tree Dependency Graph</vt:lpstr>
      <vt:lpstr>Task Paritioning: Mapping a Sparse Graph  </vt:lpstr>
      <vt:lpstr>Hierarchical Mappings </vt:lpstr>
      <vt:lpstr>PowerPoint 演示文稿</vt:lpstr>
      <vt:lpstr>Schemes for Dynamic Mapping </vt:lpstr>
      <vt:lpstr>Centralized Dynamic Mapping </vt:lpstr>
      <vt:lpstr>Distributed Dynamic Mapping </vt:lpstr>
      <vt:lpstr>Minimizing Interaction Overheads </vt:lpstr>
      <vt:lpstr>Minimizing Interaction Overheads (continued) </vt:lpstr>
      <vt:lpstr>Parallel Algorithm Models </vt:lpstr>
      <vt:lpstr>Parallel Algorithm Models (continued) </vt:lpstr>
      <vt:lpstr>Gallery of patterns and models</vt:lpstr>
      <vt:lpstr>Embarrassingly parallel</vt:lpstr>
      <vt:lpstr>Data parallelism</vt:lpstr>
      <vt:lpstr>Master-slave Model</vt:lpstr>
      <vt:lpstr>Interactive diagram and code</vt:lpstr>
      <vt:lpstr>Workpool Model</vt:lpstr>
      <vt:lpstr>Interactive diagram and code</vt:lpstr>
      <vt:lpstr>Section</vt:lpstr>
      <vt:lpstr>One-Sided Communications</vt:lpstr>
      <vt:lpstr>Main steps
</vt:lpstr>
      <vt:lpstr>Main steps
</vt:lpstr>
      <vt:lpstr>Main steps
</vt:lpstr>
      <vt:lpstr>*Hardware support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DTS205TC High Performance Computing</dc:title>
  <dc:creator>andyz</dc:creator>
  <cp:lastModifiedBy>ZD</cp:lastModifiedBy>
  <cp:revision>2337</cp:revision>
  <dcterms:created xsi:type="dcterms:W3CDTF">2024-02-15T03:27:00Z</dcterms:created>
  <dcterms:modified xsi:type="dcterms:W3CDTF">2024-03-27T08:11:42Z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8FA666E67423457585ADB5FE9400F888_13</vt:lpwstr>
  </property>
  <property fmtid="{D5CDD505-2E9C-101B-9397-08002B2CF9AE}" pid="3" name="KSOProductBuildVer">
    <vt:lpwstr>2052-12.1.0.16417</vt:lpwstr>
  </property>
</Properties>
</file>