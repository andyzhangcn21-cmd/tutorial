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erverZoom="100000" strictFirstAndLastChars="0">
  <p:sldMasterIdLst>
    <p:sldMasterId id="2147483648" r:id="rId1"/>
  </p:sldMasterIdLst>
  <p:notesMasterIdLst>
    <p:notesMasterId r:id="rId24"/>
  </p:notesMasterIdLst>
  <p:sldIdLst>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3" r:id="rId16"/>
    <p:sldId id="274" r:id="rId17"/>
    <p:sldId id="275" r:id="rId18"/>
    <p:sldId id="276" r:id="rId19"/>
    <p:sldId id="277" r:id="rId20"/>
    <p:sldId id="278" r:id="rId21"/>
    <p:sldId id="279" r:id="rId22"/>
    <p:sldId id="280" r:id="rId23"/>
  </p:sldIdLst>
  <p:sldSz cx="13004800" cy="9753600"/>
  <p:notesSz cx="6858000" cy="9144000"/>
  <p:custDataLst>
    <p:tags r:id="rId28"/>
  </p:custDataLst>
  <p:defaultTextStyle>
    <a:defPPr>
      <a:defRPr lang="en-US"/>
    </a:defPPr>
    <a:lvl1pPr algn="l" defTabSz="1733550" rtl="0" eaLnBrk="0" fontAlgn="base" hangingPunct="0">
      <a:spcBef>
        <a:spcPct val="0"/>
      </a:spcBef>
      <a:spcAft>
        <a:spcPct val="0"/>
      </a:spcAft>
      <a:defRPr sz="1600" kern="1200">
        <a:solidFill>
          <a:srgbClr val="000000"/>
        </a:solidFill>
        <a:latin typeface="Canela Text Regular" charset="0"/>
        <a:ea typeface="Canela Text Regular" charset="0"/>
        <a:cs typeface="Canela Text Regular" charset="0"/>
        <a:sym typeface="Canela Text Regular" charset="0"/>
      </a:defRPr>
    </a:lvl1pPr>
    <a:lvl2pPr marL="457200" algn="l" defTabSz="1733550" rtl="0" eaLnBrk="0" fontAlgn="base" hangingPunct="0">
      <a:spcBef>
        <a:spcPct val="0"/>
      </a:spcBef>
      <a:spcAft>
        <a:spcPct val="0"/>
      </a:spcAft>
      <a:defRPr sz="1600" kern="1200">
        <a:solidFill>
          <a:srgbClr val="000000"/>
        </a:solidFill>
        <a:latin typeface="Canela Text Regular" charset="0"/>
        <a:ea typeface="Canela Text Regular" charset="0"/>
        <a:cs typeface="Canela Text Regular" charset="0"/>
        <a:sym typeface="Canela Text Regular" charset="0"/>
      </a:defRPr>
    </a:lvl2pPr>
    <a:lvl3pPr marL="914400" algn="l" defTabSz="1733550" rtl="0" eaLnBrk="0" fontAlgn="base" hangingPunct="0">
      <a:spcBef>
        <a:spcPct val="0"/>
      </a:spcBef>
      <a:spcAft>
        <a:spcPct val="0"/>
      </a:spcAft>
      <a:defRPr sz="1600" kern="1200">
        <a:solidFill>
          <a:srgbClr val="000000"/>
        </a:solidFill>
        <a:latin typeface="Canela Text Regular" charset="0"/>
        <a:ea typeface="Canela Text Regular" charset="0"/>
        <a:cs typeface="Canela Text Regular" charset="0"/>
        <a:sym typeface="Canela Text Regular" charset="0"/>
      </a:defRPr>
    </a:lvl3pPr>
    <a:lvl4pPr marL="1371600" algn="l" defTabSz="1733550" rtl="0" eaLnBrk="0" fontAlgn="base" hangingPunct="0">
      <a:spcBef>
        <a:spcPct val="0"/>
      </a:spcBef>
      <a:spcAft>
        <a:spcPct val="0"/>
      </a:spcAft>
      <a:defRPr sz="1600" kern="1200">
        <a:solidFill>
          <a:srgbClr val="000000"/>
        </a:solidFill>
        <a:latin typeface="Canela Text Regular" charset="0"/>
        <a:ea typeface="Canela Text Regular" charset="0"/>
        <a:cs typeface="Canela Text Regular" charset="0"/>
        <a:sym typeface="Canela Text Regular" charset="0"/>
      </a:defRPr>
    </a:lvl4pPr>
    <a:lvl5pPr marL="1828800" algn="l" defTabSz="1733550" rtl="0" eaLnBrk="0" fontAlgn="base" hangingPunct="0">
      <a:spcBef>
        <a:spcPct val="0"/>
      </a:spcBef>
      <a:spcAft>
        <a:spcPct val="0"/>
      </a:spcAft>
      <a:defRPr sz="1600" kern="1200">
        <a:solidFill>
          <a:srgbClr val="000000"/>
        </a:solidFill>
        <a:latin typeface="Canela Text Regular" charset="0"/>
        <a:ea typeface="Canela Text Regular" charset="0"/>
        <a:cs typeface="Canela Text Regular" charset="0"/>
        <a:sym typeface="Canela Text Regular" charset="0"/>
      </a:defRPr>
    </a:lvl5pPr>
    <a:lvl6pPr marL="2286000" algn="l" defTabSz="914400" rtl="0" eaLnBrk="1" latinLnBrk="0" hangingPunct="1">
      <a:defRPr sz="1600" kern="1200">
        <a:solidFill>
          <a:srgbClr val="000000"/>
        </a:solidFill>
        <a:latin typeface="Canela Text Regular" charset="0"/>
        <a:ea typeface="Canela Text Regular" charset="0"/>
        <a:cs typeface="Canela Text Regular" charset="0"/>
        <a:sym typeface="Canela Text Regular" charset="0"/>
      </a:defRPr>
    </a:lvl6pPr>
    <a:lvl7pPr marL="2743200" algn="l" defTabSz="914400" rtl="0" eaLnBrk="1" latinLnBrk="0" hangingPunct="1">
      <a:defRPr sz="1600" kern="1200">
        <a:solidFill>
          <a:srgbClr val="000000"/>
        </a:solidFill>
        <a:latin typeface="Canela Text Regular" charset="0"/>
        <a:ea typeface="Canela Text Regular" charset="0"/>
        <a:cs typeface="Canela Text Regular" charset="0"/>
        <a:sym typeface="Canela Text Regular" charset="0"/>
      </a:defRPr>
    </a:lvl7pPr>
    <a:lvl8pPr marL="3200400" algn="l" defTabSz="914400" rtl="0" eaLnBrk="1" latinLnBrk="0" hangingPunct="1">
      <a:defRPr sz="1600" kern="1200">
        <a:solidFill>
          <a:srgbClr val="000000"/>
        </a:solidFill>
        <a:latin typeface="Canela Text Regular" charset="0"/>
        <a:ea typeface="Canela Text Regular" charset="0"/>
        <a:cs typeface="Canela Text Regular" charset="0"/>
        <a:sym typeface="Canela Text Regular" charset="0"/>
      </a:defRPr>
    </a:lvl8pPr>
    <a:lvl9pPr marL="3657600" algn="l" defTabSz="914400" rtl="0" eaLnBrk="1" latinLnBrk="0" hangingPunct="1">
      <a:defRPr sz="1600" kern="1200">
        <a:solidFill>
          <a:srgbClr val="000000"/>
        </a:solidFill>
        <a:latin typeface="Canela Text Regular" charset="0"/>
        <a:ea typeface="Canela Text Regular" charset="0"/>
        <a:cs typeface="Canela Text Regular" charset="0"/>
        <a:sym typeface="Canela Text Regular" charset="0"/>
      </a:defRPr>
    </a:lvl9pPr>
  </p:defaultTextStyle>
  <p:extLst>
    <p:ext uri="{521415D9-36F7-43E2-AB2F-B90AF26B5E84}">
      <p14:sectionLst xmlns:p14="http://schemas.microsoft.com/office/powerpoint/2010/main">
        <p14:section name="Default Section" id="{3BEB6ED2-8DBF-4430-ACE7-30372CE77CAB}">
          <p14:sldIdLst>
            <p14:sldId id="256"/>
            <p14:sldId id="258"/>
            <p14:sldId id="259"/>
            <p14:sldId id="260"/>
            <p14:sldId id="261"/>
            <p14:sldId id="262"/>
            <p14:sldId id="263"/>
            <p14:sldId id="264"/>
            <p14:sldId id="265"/>
            <p14:sldId id="266"/>
            <p14:sldId id="267"/>
            <p14:sldId id="268"/>
            <p14:sldId id="269"/>
          </p14:sldIdLst>
        </p14:section>
        <p14:section name="无标题节" id="{7072eec0-d6c9-4461-ae1e-cc693586b8b1}">
          <p14:sldIdLst>
            <p14:sldId id="273"/>
            <p14:sldId id="274"/>
            <p14:sldId id="275"/>
            <p14:sldId id="276"/>
            <p14:sldId id="277"/>
            <p14:sldId id="278"/>
            <p14:sldId id="279"/>
            <p14:sldId id="280"/>
          </p14:sldIdLst>
        </p14:section>
      </p14:sectionLst>
    </p:ext>
    <p:ext uri="{EFAFB233-063F-42B5-8137-9DF3F51BA10A}">
      <p15:sldGuideLst xmlns:p15="http://schemas.microsoft.com/office/powerpoint/2012/main">
        <p15:guide id="1" orient="horz" pos="3072" userDrawn="1">
          <p15:clr>
            <a:srgbClr val="A4A3A4"/>
          </p15:clr>
        </p15:guide>
        <p15:guide id="2" pos="413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30" autoAdjust="0"/>
    <p:restoredTop sz="94125" autoAdjust="0"/>
  </p:normalViewPr>
  <p:slideViewPr>
    <p:cSldViewPr showGuides="1">
      <p:cViewPr varScale="1">
        <p:scale>
          <a:sx n="79" d="100"/>
          <a:sy n="79" d="100"/>
        </p:scale>
        <p:origin x="1596" y="150"/>
      </p:cViewPr>
      <p:guideLst>
        <p:guide orient="horz" pos="3072"/>
        <p:guide pos="4130"/>
      </p:guideLst>
    </p:cSldViewPr>
  </p:slideViewPr>
  <p:outlineViewPr>
    <p:cViewPr>
      <p:scale>
        <a:sx n="33" d="100"/>
        <a:sy n="33" d="100"/>
      </p:scale>
      <p:origin x="0" y="176"/>
    </p:cViewPr>
  </p:outlineViewPr>
  <p:notesTextViewPr>
    <p:cViewPr>
      <p:scale>
        <a:sx n="1" d="1"/>
        <a:sy n="1" d="1"/>
      </p:scale>
      <p:origin x="0" y="0"/>
    </p:cViewPr>
  </p:notesTextViewPr>
  <p:sorterViewPr>
    <p:cViewPr>
      <p:scale>
        <a:sx n="100" d="100"/>
        <a:sy n="100" d="100"/>
      </p:scale>
      <p:origin x="0" y="-1453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gs" Target="tags/tag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notesMaster" Target="notesMasters/notesMaster1.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1"/>
          <p:cNvSpPr>
            <a:spLocks noGrp="1" noRot="1" noChangeAspect="1"/>
          </p:cNvSpPr>
          <p:nvPr>
            <p:ph type="sldImg"/>
          </p:nvPr>
        </p:nvSpPr>
        <p:spPr bwMode="auto">
          <a:xfrm>
            <a:off x="1143000" y="685800"/>
            <a:ext cx="4572000"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 name="Rectangle 2"/>
          <p:cNvSpPr>
            <a:spLocks noGrp="1"/>
          </p:cNvSpPr>
          <p:nvPr>
            <p:ph type="body" sz="quarter" idx="1"/>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lvl="0"/>
            <a:r>
              <a:rPr lang="en-US" altLang="en-US" noProof="0">
                <a:sym typeface="Helvetica Neue" charset="0"/>
              </a:rPr>
              <a:t>Click to edit Template text styles</a:t>
            </a:r>
            <a:endParaRPr lang="en-US" altLang="en-US" noProof="0">
              <a:sym typeface="Helvetica Neue" charset="0"/>
            </a:endParaRPr>
          </a:p>
          <a:p>
            <a:pPr lvl="1"/>
            <a:r>
              <a:rPr lang="en-US" altLang="en-US" noProof="0">
                <a:sym typeface="Helvetica Neue" charset="0"/>
              </a:rPr>
              <a:t>Second level</a:t>
            </a:r>
            <a:endParaRPr lang="en-US" altLang="en-US" noProof="0">
              <a:sym typeface="Helvetica Neue" charset="0"/>
            </a:endParaRPr>
          </a:p>
          <a:p>
            <a:pPr lvl="2"/>
            <a:r>
              <a:rPr lang="en-US" altLang="en-US" noProof="0">
                <a:sym typeface="Helvetica Neue" charset="0"/>
              </a:rPr>
              <a:t>Third level</a:t>
            </a:r>
            <a:endParaRPr lang="en-US" altLang="en-US" noProof="0">
              <a:sym typeface="Helvetica Neue" charset="0"/>
            </a:endParaRPr>
          </a:p>
          <a:p>
            <a:pPr lvl="3"/>
            <a:r>
              <a:rPr lang="en-US" altLang="en-US" noProof="0">
                <a:sym typeface="Helvetica Neue" charset="0"/>
              </a:rPr>
              <a:t>Fourth level</a:t>
            </a:r>
            <a:endParaRPr lang="en-US" altLang="en-US" noProof="0">
              <a:sym typeface="Helvetica Neue" charset="0"/>
            </a:endParaRPr>
          </a:p>
          <a:p>
            <a:pPr lvl="4"/>
            <a:r>
              <a:rPr lang="en-US" altLang="en-US" noProof="0">
                <a:sym typeface="Helvetica Neue" charset="0"/>
              </a:rPr>
              <a:t>Fifth level</a:t>
            </a:r>
            <a:endParaRPr lang="en-US" altLang="en-US" noProof="0">
              <a:sym typeface="Helvetica Neue" charset="0"/>
            </a:endParaRPr>
          </a:p>
        </p:txBody>
      </p:sp>
    </p:spTree>
  </p:cSld>
  <p:clrMap bg1="lt1" tx1="dk1" bg2="lt2" tx2="dk2" accent1="accent1" accent2="accent2" accent3="accent3" accent4="accent4" accent5="accent5" accent6="accent6" hlink="hlink" folHlink="folHlink"/>
  <p:notesStyle>
    <a:lvl1pPr algn="l" defTabSz="457200" rtl="0" eaLnBrk="0" fontAlgn="base" hangingPunct="0">
      <a:lnSpc>
        <a:spcPct val="117000"/>
      </a:lnSpc>
      <a:spcBef>
        <a:spcPct val="0"/>
      </a:spcBef>
      <a:spcAft>
        <a:spcPct val="0"/>
      </a:spcAft>
      <a:defRPr sz="2200" kern="1200">
        <a:solidFill>
          <a:srgbClr val="000000"/>
        </a:solidFill>
        <a:latin typeface="Helvetica Neue" charset="0"/>
        <a:ea typeface="Helvetica Neue" charset="0"/>
        <a:cs typeface="Helvetica Neue" charset="0"/>
        <a:sym typeface="Helvetica Neue" charset="0"/>
      </a:defRPr>
    </a:lvl1pPr>
    <a:lvl2pPr indent="228600" algn="l" defTabSz="457200" rtl="0" eaLnBrk="0" fontAlgn="base" hangingPunct="0">
      <a:lnSpc>
        <a:spcPct val="117000"/>
      </a:lnSpc>
      <a:spcBef>
        <a:spcPct val="0"/>
      </a:spcBef>
      <a:spcAft>
        <a:spcPct val="0"/>
      </a:spcAft>
      <a:defRPr sz="2200" kern="1200">
        <a:solidFill>
          <a:srgbClr val="000000"/>
        </a:solidFill>
        <a:latin typeface="Helvetica Neue" charset="0"/>
        <a:ea typeface="Helvetica Neue" charset="0"/>
        <a:cs typeface="Helvetica Neue" charset="0"/>
        <a:sym typeface="Helvetica Neue" charset="0"/>
      </a:defRPr>
    </a:lvl2pPr>
    <a:lvl3pPr indent="457200" algn="l" defTabSz="457200" rtl="0" eaLnBrk="0" fontAlgn="base" hangingPunct="0">
      <a:lnSpc>
        <a:spcPct val="117000"/>
      </a:lnSpc>
      <a:spcBef>
        <a:spcPct val="0"/>
      </a:spcBef>
      <a:spcAft>
        <a:spcPct val="0"/>
      </a:spcAft>
      <a:defRPr sz="2200" kern="1200">
        <a:solidFill>
          <a:srgbClr val="000000"/>
        </a:solidFill>
        <a:latin typeface="Helvetica Neue" charset="0"/>
        <a:ea typeface="Helvetica Neue" charset="0"/>
        <a:cs typeface="Helvetica Neue" charset="0"/>
        <a:sym typeface="Helvetica Neue" charset="0"/>
      </a:defRPr>
    </a:lvl3pPr>
    <a:lvl4pPr indent="685800" algn="l" defTabSz="457200" rtl="0" eaLnBrk="0" fontAlgn="base" hangingPunct="0">
      <a:lnSpc>
        <a:spcPct val="117000"/>
      </a:lnSpc>
      <a:spcBef>
        <a:spcPct val="0"/>
      </a:spcBef>
      <a:spcAft>
        <a:spcPct val="0"/>
      </a:spcAft>
      <a:defRPr sz="2200" kern="1200">
        <a:solidFill>
          <a:srgbClr val="000000"/>
        </a:solidFill>
        <a:latin typeface="Helvetica Neue" charset="0"/>
        <a:ea typeface="Helvetica Neue" charset="0"/>
        <a:cs typeface="Helvetica Neue" charset="0"/>
        <a:sym typeface="Helvetica Neue" charset="0"/>
      </a:defRPr>
    </a:lvl4pPr>
    <a:lvl5pPr indent="914400" algn="l" defTabSz="457200" rtl="0" eaLnBrk="0" fontAlgn="base" hangingPunct="0">
      <a:lnSpc>
        <a:spcPct val="117000"/>
      </a:lnSpc>
      <a:spcBef>
        <a:spcPct val="0"/>
      </a:spcBef>
      <a:spcAft>
        <a:spcPct val="0"/>
      </a:spcAft>
      <a:defRPr sz="2200" kern="1200">
        <a:solidFill>
          <a:srgbClr val="000000"/>
        </a:solidFill>
        <a:latin typeface="Helvetica Neue" charset="0"/>
        <a:ea typeface="Helvetica Neue" charset="0"/>
        <a:cs typeface="Helvetica Neue" charset="0"/>
        <a:sym typeface="Helvetica Neue"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25600" y="1597025"/>
            <a:ext cx="9753600" cy="3395663"/>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625600" y="5122863"/>
            <a:ext cx="9753600" cy="23542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Rectangle 5"/>
          <p:cNvSpPr>
            <a:spLocks noGrp="1"/>
          </p:cNvSpPr>
          <p:nvPr>
            <p:ph type="sldNum" sz="quarter" idx="10"/>
          </p:nvPr>
        </p:nvSpPr>
        <p:spPr/>
        <p:txBody>
          <a:bodyPr/>
          <a:lstStyle>
            <a:lvl1pPr>
              <a:defRPr/>
            </a:lvl1pPr>
          </a:lstStyle>
          <a:p>
            <a:fld id="{0EE485F7-8B3F-44D2-9483-7CCE0C286517}" type="slidenum">
              <a:rPr lang="en-US" altLang="en-US"/>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7D648EAD-E64D-4FD3-8246-9FFFEFBD41E4}" type="slidenum">
              <a:rPr lang="en-US" altLang="en-US"/>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87413" y="2432050"/>
            <a:ext cx="11217275" cy="4056063"/>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87413" y="6527800"/>
            <a:ext cx="11217275" cy="2133600"/>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endParaRPr lang="en-US"/>
          </a:p>
        </p:txBody>
      </p:sp>
      <p:sp>
        <p:nvSpPr>
          <p:cNvPr id="4" name="Rectangle 5"/>
          <p:cNvSpPr>
            <a:spLocks noGrp="1"/>
          </p:cNvSpPr>
          <p:nvPr>
            <p:ph type="sldNum" sz="quarter" idx="10"/>
          </p:nvPr>
        </p:nvSpPr>
        <p:spPr/>
        <p:txBody>
          <a:bodyPr/>
          <a:lstStyle>
            <a:lvl1pPr>
              <a:defRPr/>
            </a:lvl1pPr>
          </a:lstStyle>
          <a:p>
            <a:fld id="{0C48F3BF-A057-4814-8124-0C9EF6BE8D58}" type="slidenum">
              <a:rPr lang="en-US" altLang="en-US"/>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95300" y="1363663"/>
            <a:ext cx="5929313" cy="767873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577013" y="1363663"/>
            <a:ext cx="5930900" cy="767873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5"/>
          <p:cNvSpPr>
            <a:spLocks noGrp="1"/>
          </p:cNvSpPr>
          <p:nvPr>
            <p:ph type="sldNum" sz="quarter" idx="10"/>
          </p:nvPr>
        </p:nvSpPr>
        <p:spPr/>
        <p:txBody>
          <a:bodyPr/>
          <a:lstStyle>
            <a:lvl1pPr>
              <a:defRPr/>
            </a:lvl1pPr>
          </a:lstStyle>
          <a:p>
            <a:fld id="{BC78F811-5D7F-4DE3-82AD-88DBEF76ED82}" type="slidenum">
              <a:rPr lang="en-US" altLang="en-US"/>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95350" y="519113"/>
            <a:ext cx="11217275" cy="1885950"/>
          </a:xfrm>
        </p:spPr>
        <p:txBody>
          <a:bodyPr/>
          <a:lstStyle/>
          <a:p>
            <a:r>
              <a:rPr lang="en-US"/>
              <a:t>Click to edit Master title style</a:t>
            </a:r>
            <a:endParaRPr lang="en-US"/>
          </a:p>
        </p:txBody>
      </p:sp>
      <p:sp>
        <p:nvSpPr>
          <p:cNvPr id="3" name="Text Placeholder 2"/>
          <p:cNvSpPr>
            <a:spLocks noGrp="1"/>
          </p:cNvSpPr>
          <p:nvPr>
            <p:ph type="body" idx="1"/>
          </p:nvPr>
        </p:nvSpPr>
        <p:spPr>
          <a:xfrm>
            <a:off x="895350" y="2390775"/>
            <a:ext cx="5502275" cy="11715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95350" y="3562350"/>
            <a:ext cx="5502275" cy="5240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583363" y="2390775"/>
            <a:ext cx="5529262" cy="11715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83363" y="3562350"/>
            <a:ext cx="5529262" cy="5240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5"/>
          <p:cNvSpPr>
            <a:spLocks noGrp="1"/>
          </p:cNvSpPr>
          <p:nvPr>
            <p:ph type="sldNum" sz="quarter" idx="10"/>
          </p:nvPr>
        </p:nvSpPr>
        <p:spPr/>
        <p:txBody>
          <a:bodyPr/>
          <a:lstStyle>
            <a:lvl1pPr>
              <a:defRPr/>
            </a:lvl1pPr>
          </a:lstStyle>
          <a:p>
            <a:fld id="{7FA3018A-FAA3-4632-BEEB-E4154ED6FB66}" type="slidenum">
              <a:rPr lang="en-US" altLang="en-US"/>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5"/>
          <p:cNvSpPr>
            <a:spLocks noGrp="1"/>
          </p:cNvSpPr>
          <p:nvPr>
            <p:ph type="sldNum" sz="quarter" idx="10"/>
          </p:nvPr>
        </p:nvSpPr>
        <p:spPr/>
        <p:txBody>
          <a:bodyPr/>
          <a:lstStyle>
            <a:lvl1pPr>
              <a:defRPr/>
            </a:lvl1pPr>
          </a:lstStyle>
          <a:p>
            <a:fld id="{26730C55-3F79-498A-B3E5-C85A13D9B0C1}" type="slidenum">
              <a:rPr lang="en-US" altLang="en-US"/>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p:cNvSpPr>
          <p:nvPr>
            <p:ph type="sldNum" sz="quarter" idx="10"/>
          </p:nvPr>
        </p:nvSpPr>
        <p:spPr/>
        <p:txBody>
          <a:bodyPr/>
          <a:lstStyle>
            <a:lvl1pPr>
              <a:defRPr/>
            </a:lvl1pPr>
          </a:lstStyle>
          <a:p>
            <a:fld id="{F5069C70-CB42-41A0-9588-82E668E8A057}" type="slidenum">
              <a:rPr lang="en-US" altLang="en-US"/>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5350" y="650875"/>
            <a:ext cx="4194175" cy="2274888"/>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529263" y="1404938"/>
            <a:ext cx="6583362" cy="69310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95350" y="2925763"/>
            <a:ext cx="4194175" cy="54213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Rectangle 5"/>
          <p:cNvSpPr>
            <a:spLocks noGrp="1"/>
          </p:cNvSpPr>
          <p:nvPr>
            <p:ph type="sldNum" sz="quarter" idx="10"/>
          </p:nvPr>
        </p:nvSpPr>
        <p:spPr/>
        <p:txBody>
          <a:bodyPr/>
          <a:lstStyle>
            <a:lvl1pPr>
              <a:defRPr/>
            </a:lvl1pPr>
          </a:lstStyle>
          <a:p>
            <a:fld id="{88552A1A-AEF3-4AEC-9F0C-570CAB595215}" type="slidenum">
              <a:rPr lang="en-US" altLang="en-US"/>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5350" y="650875"/>
            <a:ext cx="4194175" cy="2274888"/>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529263" y="1404938"/>
            <a:ext cx="6583362" cy="69310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sym typeface="Helvetica" charset="0"/>
            </a:endParaRPr>
          </a:p>
        </p:txBody>
      </p:sp>
      <p:sp>
        <p:nvSpPr>
          <p:cNvPr id="4" name="Text Placeholder 3"/>
          <p:cNvSpPr>
            <a:spLocks noGrp="1"/>
          </p:cNvSpPr>
          <p:nvPr>
            <p:ph type="body" sz="half" idx="2"/>
          </p:nvPr>
        </p:nvSpPr>
        <p:spPr>
          <a:xfrm>
            <a:off x="895350" y="2925763"/>
            <a:ext cx="4194175" cy="54213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Rectangle 5"/>
          <p:cNvSpPr>
            <a:spLocks noGrp="1"/>
          </p:cNvSpPr>
          <p:nvPr>
            <p:ph type="sldNum" sz="quarter" idx="10"/>
          </p:nvPr>
        </p:nvSpPr>
        <p:spPr/>
        <p:txBody>
          <a:bodyPr/>
          <a:lstStyle>
            <a:lvl1pPr>
              <a:defRPr/>
            </a:lvl1pPr>
          </a:lstStyle>
          <a:p>
            <a:fld id="{1088E2A5-A343-417D-8CD2-AA05F3762C8B}" type="slidenum">
              <a:rPr lang="en-US" altLang="en-US"/>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7B6A6D73-63EF-4B46-9FCB-97F4A3449F51}" type="slidenum">
              <a:rPr lang="en-US" altLang="en-US"/>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05950" y="176213"/>
            <a:ext cx="3001963" cy="8866187"/>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95300" y="176213"/>
            <a:ext cx="8858250" cy="8866187"/>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F19E688A-EC4A-4F69-B755-8FC8D0011BEB}" type="slidenum">
              <a:rPr lang="en-US" altLang="en-US"/>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894080" y="2596444"/>
            <a:ext cx="5527040" cy="618857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583680" y="2596444"/>
            <a:ext cx="5527040" cy="618857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a:xfrm>
            <a:off x="650240" y="8882098"/>
            <a:ext cx="3034453" cy="677333"/>
          </a:xfrm>
        </p:spPr>
        <p:txBody>
          <a:bodyPr/>
          <a:lstStyle/>
          <a:p>
            <a:pPr lvl="0"/>
            <a:endParaRPr lang="en-US"/>
          </a:p>
        </p:txBody>
      </p:sp>
      <p:sp>
        <p:nvSpPr>
          <p:cNvPr id="6" name="Footer Placeholder 5"/>
          <p:cNvSpPr>
            <a:spLocks noGrp="1"/>
          </p:cNvSpPr>
          <p:nvPr>
            <p:ph type="ftr" sz="quarter" idx="11"/>
          </p:nvPr>
        </p:nvSpPr>
        <p:spPr>
          <a:xfrm>
            <a:off x="4443307" y="8882098"/>
            <a:ext cx="4118187" cy="677333"/>
          </a:xfrm>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894080" y="2596444"/>
            <a:ext cx="5527040" cy="618857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quarter" idx="2"/>
          </p:nvPr>
        </p:nvSpPr>
        <p:spPr>
          <a:xfrm>
            <a:off x="6583680" y="2596444"/>
            <a:ext cx="5527040" cy="298478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Content Placeholder 4"/>
          <p:cNvSpPr>
            <a:spLocks noGrp="1"/>
          </p:cNvSpPr>
          <p:nvPr>
            <p:ph sz="quarter" idx="3"/>
          </p:nvPr>
        </p:nvSpPr>
        <p:spPr>
          <a:xfrm>
            <a:off x="6583680" y="5797973"/>
            <a:ext cx="5527040" cy="2987041"/>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Date Placeholder 5"/>
          <p:cNvSpPr>
            <a:spLocks noGrp="1"/>
          </p:cNvSpPr>
          <p:nvPr>
            <p:ph type="dt" sz="half" idx="10"/>
          </p:nvPr>
        </p:nvSpPr>
        <p:spPr>
          <a:xfrm>
            <a:off x="650240" y="8882098"/>
            <a:ext cx="3034453" cy="677333"/>
          </a:xfrm>
        </p:spPr>
        <p:txBody>
          <a:bodyPr/>
          <a:lstStyle/>
          <a:p>
            <a:pPr lvl="0"/>
            <a:fld id="{BB962C8B-B14F-4D97-AF65-F5344CB8AC3E}" type="datetime1">
              <a:rPr lang="en-US"/>
            </a:fld>
            <a:endParaRPr lang="en-US"/>
          </a:p>
        </p:txBody>
      </p:sp>
      <p:sp>
        <p:nvSpPr>
          <p:cNvPr id="7" name="Footer Placeholder 6"/>
          <p:cNvSpPr>
            <a:spLocks noGrp="1"/>
          </p:cNvSpPr>
          <p:nvPr>
            <p:ph type="ftr" sz="quarter" idx="11"/>
          </p:nvPr>
        </p:nvSpPr>
        <p:spPr>
          <a:xfrm>
            <a:off x="4443307" y="8882098"/>
            <a:ext cx="4118187" cy="677333"/>
          </a:xfrm>
        </p:spPr>
        <p:txBody>
          <a:bodyPr/>
          <a:lstStyle/>
          <a:p>
            <a:pPr lvl="0"/>
            <a:endParaRPr lang="en-US"/>
          </a:p>
        </p:txBody>
      </p:sp>
      <p:sp>
        <p:nvSpPr>
          <p:cNvPr id="8" name="Slide Number Placeholder 7"/>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94080" y="2596444"/>
            <a:ext cx="5527040" cy="618857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quarter" idx="2"/>
          </p:nvPr>
        </p:nvSpPr>
        <p:spPr>
          <a:xfrm>
            <a:off x="6583680" y="2596444"/>
            <a:ext cx="5527040" cy="298478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Content Placeholder 4"/>
          <p:cNvSpPr>
            <a:spLocks noGrp="1"/>
          </p:cNvSpPr>
          <p:nvPr>
            <p:ph sz="quarter" idx="3"/>
          </p:nvPr>
        </p:nvSpPr>
        <p:spPr>
          <a:xfrm>
            <a:off x="6583680" y="5797973"/>
            <a:ext cx="5527040" cy="2987041"/>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Date Placeholder 5"/>
          <p:cNvSpPr>
            <a:spLocks noGrp="1"/>
          </p:cNvSpPr>
          <p:nvPr>
            <p:ph type="dt" sz="half" idx="10"/>
          </p:nvPr>
        </p:nvSpPr>
        <p:spPr>
          <a:xfrm>
            <a:off x="650240" y="8882098"/>
            <a:ext cx="3034453" cy="677333"/>
          </a:xfrm>
        </p:spPr>
        <p:txBody>
          <a:bodyPr/>
          <a:lstStyle/>
          <a:p>
            <a:pPr lvl="0"/>
            <a:fld id="{BB962C8B-B14F-4D97-AF65-F5344CB8AC3E}" type="datetime1">
              <a:rPr lang="en-US"/>
            </a:fld>
            <a:endParaRPr lang="en-US"/>
          </a:p>
        </p:txBody>
      </p:sp>
      <p:sp>
        <p:nvSpPr>
          <p:cNvPr id="7" name="Footer Placeholder 6"/>
          <p:cNvSpPr>
            <a:spLocks noGrp="1"/>
          </p:cNvSpPr>
          <p:nvPr>
            <p:ph type="ftr" sz="quarter" idx="11"/>
          </p:nvPr>
        </p:nvSpPr>
        <p:spPr>
          <a:xfrm>
            <a:off x="4443307" y="8882098"/>
            <a:ext cx="4118187" cy="677333"/>
          </a:xfrm>
        </p:spPr>
        <p:txBody>
          <a:bodyPr/>
          <a:lstStyle/>
          <a:p>
            <a:pPr lvl="0"/>
            <a:endParaRPr lang="en-US"/>
          </a:p>
        </p:txBody>
      </p:sp>
      <p:sp>
        <p:nvSpPr>
          <p:cNvPr id="8" name="Slide Number Placeholder 7"/>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p:cNvSpPr>
          <p:nvPr>
            <p:ph type="body" idx="1"/>
          </p:nvPr>
        </p:nvSpPr>
        <p:spPr bwMode="auto">
          <a:xfrm>
            <a:off x="495300" y="1363663"/>
            <a:ext cx="12012613" cy="7678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50800" tIns="50800" rIns="50800" bIns="50800" numCol="1" anchor="t" anchorCtr="0" compatLnSpc="1"/>
          <a:lstStyle/>
          <a:p>
            <a:pPr lvl="0"/>
            <a:r>
              <a:rPr lang="en-US" altLang="en-US">
                <a:sym typeface="Helvetica" charset="0"/>
              </a:rPr>
              <a:t>Click to edit Template text styles</a:t>
            </a:r>
            <a:endParaRPr lang="en-US" altLang="en-US">
              <a:sym typeface="Helvetica" charset="0"/>
            </a:endParaRPr>
          </a:p>
          <a:p>
            <a:pPr lvl="1"/>
            <a:r>
              <a:rPr lang="en-US" altLang="en-US">
                <a:sym typeface="Helvetica" charset="0"/>
              </a:rPr>
              <a:t>Second level</a:t>
            </a:r>
            <a:endParaRPr lang="en-US" altLang="en-US">
              <a:sym typeface="Helvetica" charset="0"/>
            </a:endParaRPr>
          </a:p>
          <a:p>
            <a:pPr lvl="2"/>
            <a:r>
              <a:rPr lang="en-US" altLang="en-US">
                <a:sym typeface="Helvetica" charset="0"/>
              </a:rPr>
              <a:t>Third level</a:t>
            </a:r>
            <a:endParaRPr lang="en-US" altLang="en-US">
              <a:sym typeface="Helvetica" charset="0"/>
            </a:endParaRPr>
          </a:p>
          <a:p>
            <a:pPr lvl="3"/>
            <a:r>
              <a:rPr lang="en-US" altLang="en-US">
                <a:sym typeface="Helvetica" charset="0"/>
              </a:rPr>
              <a:t>Fourth level</a:t>
            </a:r>
            <a:endParaRPr lang="en-US" altLang="en-US">
              <a:sym typeface="Helvetica" charset="0"/>
            </a:endParaRPr>
          </a:p>
          <a:p>
            <a:pPr lvl="4"/>
            <a:r>
              <a:rPr lang="en-US" altLang="en-US">
                <a:sym typeface="Helvetica" charset="0"/>
              </a:rPr>
              <a:t>Fifth level</a:t>
            </a:r>
            <a:endParaRPr lang="en-US" altLang="en-US">
              <a:sym typeface="Helvetica" charset="0"/>
            </a:endParaRPr>
          </a:p>
        </p:txBody>
      </p:sp>
      <p:sp>
        <p:nvSpPr>
          <p:cNvPr id="1027" name="Rectangle 2"/>
          <p:cNvSpPr>
            <a:spLocks noGrp="1"/>
          </p:cNvSpPr>
          <p:nvPr>
            <p:ph type="title"/>
          </p:nvPr>
        </p:nvSpPr>
        <p:spPr bwMode="auto">
          <a:xfrm>
            <a:off x="711200" y="176213"/>
            <a:ext cx="11582400" cy="852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50800" tIns="50800" rIns="50800" bIns="50800" numCol="1" anchor="t" anchorCtr="0" compatLnSpc="1"/>
          <a:lstStyle/>
          <a:p>
            <a:pPr lvl="0"/>
            <a:r>
              <a:rPr lang="en-US" altLang="en-US">
                <a:sym typeface="Helvetica" charset="0"/>
              </a:rPr>
              <a:t>Click to edit Template title style</a:t>
            </a:r>
            <a:endParaRPr lang="en-US" altLang="en-US">
              <a:sym typeface="Helvetica" charset="0"/>
            </a:endParaRPr>
          </a:p>
        </p:txBody>
      </p:sp>
      <p:pic>
        <p:nvPicPr>
          <p:cNvPr id="1028" name="Picture 3"/>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9963150" y="131763"/>
            <a:ext cx="2632075"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9" name="Line 4"/>
          <p:cNvSpPr>
            <a:spLocks noChangeShapeType="1"/>
          </p:cNvSpPr>
          <p:nvPr/>
        </p:nvSpPr>
        <p:spPr bwMode="auto">
          <a:xfrm>
            <a:off x="485775" y="1116013"/>
            <a:ext cx="12031663"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0800" tIns="50800" rIns="50800" bIns="50800" anchor="ctr"/>
          <a:lstStyle/>
          <a:p>
            <a:endParaRPr lang="en-US"/>
          </a:p>
        </p:txBody>
      </p:sp>
      <p:sp>
        <p:nvSpPr>
          <p:cNvPr id="2" name="Rectangle 5"/>
          <p:cNvSpPr>
            <a:spLocks noGrp="1"/>
          </p:cNvSpPr>
          <p:nvPr>
            <p:ph type="sldNum" sz="quarter" idx="2"/>
          </p:nvPr>
        </p:nvSpPr>
        <p:spPr bwMode="auto">
          <a:xfrm>
            <a:off x="6345238" y="9117013"/>
            <a:ext cx="306387" cy="328612"/>
          </a:xfrm>
          <a:prstGeom prst="rect">
            <a:avLst/>
          </a:prstGeom>
          <a:noFill/>
          <a:ln>
            <a:noFill/>
          </a:ln>
          <a:effectLst/>
        </p:spPr>
        <p:txBody>
          <a:bodyPr vert="horz" wrap="none" lIns="50800" tIns="50800" rIns="50800" bIns="50800" numCol="1" anchor="b" anchorCtr="0" compatLnSpc="1"/>
          <a:lstStyle>
            <a:lvl1pPr algn="ctr" defTabSz="1739900" eaLnBrk="1">
              <a:defRPr sz="1400">
                <a:solidFill>
                  <a:srgbClr val="5E5E5E"/>
                </a:solidFill>
                <a:latin typeface="Graphik" charset="0"/>
                <a:ea typeface="Graphik" charset="0"/>
                <a:cs typeface="Graphik" charset="0"/>
                <a:sym typeface="Graphik" charset="0"/>
              </a:defRPr>
            </a:lvl1pPr>
          </a:lstStyle>
          <a:p>
            <a:fld id="{F799D05F-DECC-400F-A1ED-519A6F6EDC51}"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1739900" rtl="0" eaLnBrk="0" fontAlgn="base" hangingPunct="0">
        <a:lnSpc>
          <a:spcPct val="70000"/>
        </a:lnSpc>
        <a:spcBef>
          <a:spcPct val="0"/>
        </a:spcBef>
        <a:spcAft>
          <a:spcPct val="0"/>
        </a:spcAft>
        <a:defRPr sz="5800" b="1" kern="1200">
          <a:solidFill>
            <a:srgbClr val="AE0428"/>
          </a:solidFill>
          <a:latin typeface="+mj-lt"/>
          <a:ea typeface="+mj-ea"/>
          <a:cs typeface="+mj-cs"/>
          <a:sym typeface="Helvetica" charset="0"/>
        </a:defRPr>
      </a:lvl1pPr>
      <a:lvl2pPr algn="l" defTabSz="1739900" rtl="0" eaLnBrk="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2pPr>
      <a:lvl3pPr algn="l" defTabSz="1739900" rtl="0" eaLnBrk="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3pPr>
      <a:lvl4pPr algn="l" defTabSz="1739900" rtl="0" eaLnBrk="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4pPr>
      <a:lvl5pPr algn="l" defTabSz="1739900" rtl="0" eaLnBrk="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5pPr>
      <a:lvl6pPr marL="457200" algn="l" defTabSz="1739900" rtl="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6pPr>
      <a:lvl7pPr marL="914400" algn="l" defTabSz="1739900" rtl="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7pPr>
      <a:lvl8pPr marL="1371600" algn="l" defTabSz="1739900" rtl="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8pPr>
      <a:lvl9pPr marL="1828800" algn="l" defTabSz="1739900" rtl="0" fontAlgn="base" hangingPunct="0">
        <a:lnSpc>
          <a:spcPct val="70000"/>
        </a:lnSpc>
        <a:spcBef>
          <a:spcPct val="0"/>
        </a:spcBef>
        <a:spcAft>
          <a:spcPct val="0"/>
        </a:spcAft>
        <a:defRPr sz="5800" b="1">
          <a:solidFill>
            <a:srgbClr val="AE0428"/>
          </a:solidFill>
          <a:latin typeface="Helvetica" charset="0"/>
          <a:ea typeface="Helvetica" charset="0"/>
          <a:cs typeface="Helvetica" charset="0"/>
          <a:sym typeface="Helvetica" charset="0"/>
        </a:defRPr>
      </a:lvl9pPr>
    </p:titleStyle>
    <p:bodyStyle>
      <a:lvl1pPr marL="421005" indent="-421005" algn="l" defTabSz="1739900" rtl="0" eaLnBrk="0" fontAlgn="base" hangingPunct="0">
        <a:spcBef>
          <a:spcPts val="2000"/>
        </a:spcBef>
        <a:spcAft>
          <a:spcPct val="0"/>
        </a:spcAft>
        <a:buSzPct val="75000"/>
        <a:buChar char="•"/>
        <a:defRPr sz="3000" kern="1200">
          <a:solidFill>
            <a:srgbClr val="000000"/>
          </a:solidFill>
          <a:latin typeface="+mn-lt"/>
          <a:ea typeface="+mn-ea"/>
          <a:cs typeface="+mn-cs"/>
          <a:sym typeface="Helvetica" charset="0"/>
        </a:defRPr>
      </a:lvl1pPr>
      <a:lvl2pPr marL="787400" indent="-393700" algn="l" defTabSz="1739900" rtl="0" eaLnBrk="0" fontAlgn="base" hangingPunct="0">
        <a:spcBef>
          <a:spcPts val="2000"/>
        </a:spcBef>
        <a:spcAft>
          <a:spcPct val="0"/>
        </a:spcAft>
        <a:buSzPct val="175000"/>
        <a:buChar char="•"/>
        <a:defRPr sz="3000" kern="1200">
          <a:solidFill>
            <a:srgbClr val="000000"/>
          </a:solidFill>
          <a:latin typeface="+mn-lt"/>
          <a:ea typeface="+mn-ea"/>
          <a:cs typeface="+mn-cs"/>
          <a:sym typeface="Helvetica" charset="0"/>
        </a:defRPr>
      </a:lvl2pPr>
      <a:lvl3pPr marL="1181100" indent="-393700" algn="l" defTabSz="1739900" rtl="0" eaLnBrk="0" fontAlgn="base" hangingPunct="0">
        <a:spcBef>
          <a:spcPts val="2000"/>
        </a:spcBef>
        <a:spcAft>
          <a:spcPct val="0"/>
        </a:spcAft>
        <a:buSzPct val="175000"/>
        <a:buChar char="•"/>
        <a:defRPr sz="3000" kern="1200">
          <a:solidFill>
            <a:srgbClr val="000000"/>
          </a:solidFill>
          <a:latin typeface="+mn-lt"/>
          <a:ea typeface="+mn-ea"/>
          <a:cs typeface="+mn-cs"/>
          <a:sym typeface="Helvetica" charset="0"/>
        </a:defRPr>
      </a:lvl3pPr>
      <a:lvl4pPr marL="1574800" indent="-393700" algn="l" defTabSz="1739900" rtl="0" eaLnBrk="0" fontAlgn="base" hangingPunct="0">
        <a:spcBef>
          <a:spcPts val="2000"/>
        </a:spcBef>
        <a:spcAft>
          <a:spcPct val="0"/>
        </a:spcAft>
        <a:buSzPct val="175000"/>
        <a:buChar char="•"/>
        <a:defRPr sz="3000" kern="1200">
          <a:solidFill>
            <a:srgbClr val="000000"/>
          </a:solidFill>
          <a:latin typeface="+mn-lt"/>
          <a:ea typeface="+mn-ea"/>
          <a:cs typeface="+mn-cs"/>
          <a:sym typeface="Helvetica" charset="0"/>
        </a:defRPr>
      </a:lvl4pPr>
      <a:lvl5pPr marL="1968500" indent="-393700" algn="l" defTabSz="1739900" rtl="0" eaLnBrk="0" fontAlgn="base" hangingPunct="0">
        <a:spcBef>
          <a:spcPts val="2000"/>
        </a:spcBef>
        <a:spcAft>
          <a:spcPct val="0"/>
        </a:spcAft>
        <a:buSzPct val="175000"/>
        <a:buChar char="•"/>
        <a:defRPr sz="3000" kern="1200">
          <a:solidFill>
            <a:srgbClr val="000000"/>
          </a:solidFill>
          <a:latin typeface="+mn-lt"/>
          <a:ea typeface="+mn-ea"/>
          <a:cs typeface="+mn-cs"/>
          <a:sym typeface="Helvetica"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0.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1"/>
          <p:cNvSpPr>
            <a:spLocks noGrp="1"/>
          </p:cNvSpPr>
          <p:nvPr>
            <p:ph type="ctrTitle"/>
          </p:nvPr>
        </p:nvSpPr>
        <p:spPr>
          <a:xfrm>
            <a:off x="711200" y="2197100"/>
            <a:ext cx="11582400" cy="1079500"/>
          </a:xfrm>
        </p:spPr>
        <p:txBody>
          <a:bodyPr/>
          <a:lstStyle/>
          <a:p>
            <a:pPr eaLnBrk="1">
              <a:lnSpc>
                <a:spcPct val="80000"/>
              </a:lnSpc>
            </a:pPr>
            <a:r>
              <a:rPr lang="en-US" altLang="en-US" sz="4500"/>
              <a:t>DTS205TC High Performance Computing</a:t>
            </a:r>
            <a:endParaRPr lang="en-US" altLang="en-US" sz="4500"/>
          </a:p>
        </p:txBody>
      </p:sp>
      <p:sp>
        <p:nvSpPr>
          <p:cNvPr id="2051" name="Rectangle 2"/>
          <p:cNvSpPr>
            <a:spLocks noGrp="1"/>
          </p:cNvSpPr>
          <p:nvPr>
            <p:ph type="subTitle" sz="quarter" idx="1"/>
          </p:nvPr>
        </p:nvSpPr>
        <p:spPr>
          <a:xfrm>
            <a:off x="711200" y="4611688"/>
            <a:ext cx="11582400" cy="730250"/>
          </a:xfrm>
        </p:spPr>
        <p:txBody>
          <a:bodyPr/>
          <a:lstStyle/>
          <a:p>
            <a:pPr defTabSz="584200" eaLnBrk="1">
              <a:spcBef>
                <a:spcPct val="0"/>
              </a:spcBef>
              <a:buSzTx/>
            </a:pPr>
            <a:r>
              <a:rPr lang="en-US" altLang="en-US" sz="3400" b="1" dirty="0">
                <a:solidFill>
                  <a:srgbClr val="AE0428"/>
                </a:solidFill>
              </a:rPr>
              <a:t>Lecture 8 </a:t>
            </a:r>
            <a:r>
              <a:rPr lang="en-US" altLang="en-US" sz="3400" b="1" dirty="0">
                <a:solidFill>
                  <a:srgbClr val="AE0428"/>
                </a:solidFill>
                <a:sym typeface="+mn-ea"/>
              </a:rPr>
              <a:t>Methodology 3</a:t>
            </a:r>
            <a:endParaRPr lang="en-US" altLang="en-US" sz="3400" b="1" dirty="0">
              <a:solidFill>
                <a:srgbClr val="AE0428"/>
              </a:solidFill>
            </a:endParaRPr>
          </a:p>
        </p:txBody>
      </p:sp>
      <p:sp>
        <p:nvSpPr>
          <p:cNvPr id="2052" name="Text Box 3"/>
          <p:cNvSpPr txBox="1"/>
          <p:nvPr/>
        </p:nvSpPr>
        <p:spPr bwMode="auto">
          <a:xfrm>
            <a:off x="711200" y="8410575"/>
            <a:ext cx="11582400"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0800" tIns="50800" rIns="50800" bIns="50800"/>
          <a:lstStyle>
            <a:lvl1pPr defTabSz="586105">
              <a:defRPr sz="1600">
                <a:solidFill>
                  <a:srgbClr val="000000"/>
                </a:solidFill>
                <a:latin typeface="Canela Text Regular" charset="0"/>
                <a:ea typeface="Canela Text Regular" charset="0"/>
                <a:cs typeface="Canela Text Regular" charset="0"/>
                <a:sym typeface="Canela Text Regular" charset="0"/>
              </a:defRPr>
            </a:lvl1pPr>
            <a:lvl2pPr marL="742950" indent="-285750" defTabSz="586105">
              <a:defRPr sz="1600">
                <a:solidFill>
                  <a:srgbClr val="000000"/>
                </a:solidFill>
                <a:latin typeface="Canela Text Regular" charset="0"/>
                <a:ea typeface="Canela Text Regular" charset="0"/>
                <a:cs typeface="Canela Text Regular" charset="0"/>
                <a:sym typeface="Canela Text Regular" charset="0"/>
              </a:defRPr>
            </a:lvl2pPr>
            <a:lvl3pPr marL="1143000" indent="-228600" defTabSz="586105">
              <a:defRPr sz="1600">
                <a:solidFill>
                  <a:srgbClr val="000000"/>
                </a:solidFill>
                <a:latin typeface="Canela Text Regular" charset="0"/>
                <a:ea typeface="Canela Text Regular" charset="0"/>
                <a:cs typeface="Canela Text Regular" charset="0"/>
                <a:sym typeface="Canela Text Regular" charset="0"/>
              </a:defRPr>
            </a:lvl3pPr>
            <a:lvl4pPr marL="1600200" indent="-228600" defTabSz="586105">
              <a:defRPr sz="1600">
                <a:solidFill>
                  <a:srgbClr val="000000"/>
                </a:solidFill>
                <a:latin typeface="Canela Text Regular" charset="0"/>
                <a:ea typeface="Canela Text Regular" charset="0"/>
                <a:cs typeface="Canela Text Regular" charset="0"/>
                <a:sym typeface="Canela Text Regular" charset="0"/>
              </a:defRPr>
            </a:lvl4pPr>
            <a:lvl5pPr marL="2057400" indent="-228600" defTabSz="586105">
              <a:defRPr sz="1600">
                <a:solidFill>
                  <a:srgbClr val="000000"/>
                </a:solidFill>
                <a:latin typeface="Canela Text Regular" charset="0"/>
                <a:ea typeface="Canela Text Regular" charset="0"/>
                <a:cs typeface="Canela Text Regular" charset="0"/>
                <a:sym typeface="Canela Text Regular" charset="0"/>
              </a:defRPr>
            </a:lvl5pPr>
            <a:lvl6pPr marL="2514600" indent="-228600" defTabSz="586105" eaLnBrk="0" fontAlgn="base" hangingPunct="0">
              <a:spcBef>
                <a:spcPct val="0"/>
              </a:spcBef>
              <a:spcAft>
                <a:spcPct val="0"/>
              </a:spcAft>
              <a:defRPr sz="1600">
                <a:solidFill>
                  <a:srgbClr val="000000"/>
                </a:solidFill>
                <a:latin typeface="Canela Text Regular" charset="0"/>
                <a:ea typeface="Canela Text Regular" charset="0"/>
                <a:cs typeface="Canela Text Regular" charset="0"/>
                <a:sym typeface="Canela Text Regular" charset="0"/>
              </a:defRPr>
            </a:lvl6pPr>
            <a:lvl7pPr marL="2971800" indent="-228600" defTabSz="586105" eaLnBrk="0" fontAlgn="base" hangingPunct="0">
              <a:spcBef>
                <a:spcPct val="0"/>
              </a:spcBef>
              <a:spcAft>
                <a:spcPct val="0"/>
              </a:spcAft>
              <a:defRPr sz="1600">
                <a:solidFill>
                  <a:srgbClr val="000000"/>
                </a:solidFill>
                <a:latin typeface="Canela Text Regular" charset="0"/>
                <a:ea typeface="Canela Text Regular" charset="0"/>
                <a:cs typeface="Canela Text Regular" charset="0"/>
                <a:sym typeface="Canela Text Regular" charset="0"/>
              </a:defRPr>
            </a:lvl7pPr>
            <a:lvl8pPr marL="3429000" indent="-228600" defTabSz="586105" eaLnBrk="0" fontAlgn="base" hangingPunct="0">
              <a:spcBef>
                <a:spcPct val="0"/>
              </a:spcBef>
              <a:spcAft>
                <a:spcPct val="0"/>
              </a:spcAft>
              <a:defRPr sz="1600">
                <a:solidFill>
                  <a:srgbClr val="000000"/>
                </a:solidFill>
                <a:latin typeface="Canela Text Regular" charset="0"/>
                <a:ea typeface="Canela Text Regular" charset="0"/>
                <a:cs typeface="Canela Text Regular" charset="0"/>
                <a:sym typeface="Canela Text Regular" charset="0"/>
              </a:defRPr>
            </a:lvl8pPr>
            <a:lvl9pPr marL="3886200" indent="-228600" defTabSz="586105" eaLnBrk="0" fontAlgn="base" hangingPunct="0">
              <a:spcBef>
                <a:spcPct val="0"/>
              </a:spcBef>
              <a:spcAft>
                <a:spcPct val="0"/>
              </a:spcAft>
              <a:defRPr sz="1600">
                <a:solidFill>
                  <a:srgbClr val="000000"/>
                </a:solidFill>
                <a:latin typeface="Canela Text Regular" charset="0"/>
                <a:ea typeface="Canela Text Regular" charset="0"/>
                <a:cs typeface="Canela Text Regular" charset="0"/>
                <a:sym typeface="Canela Text Regular" charset="0"/>
              </a:defRPr>
            </a:lvl9pPr>
          </a:lstStyle>
          <a:p>
            <a:pPr algn="ctr" eaLnBrk="1"/>
            <a:r>
              <a:rPr lang="en-US" altLang="zh-CN" sz="2000">
                <a:latin typeface="Helvetica" charset="0"/>
                <a:ea typeface="宋体" panose="02010600030101010101" pitchFamily="2" charset="-122"/>
                <a:sym typeface="Helvetica" charset="0"/>
              </a:rPr>
              <a:t>Di Zhang</a:t>
            </a:r>
            <a:r>
              <a:rPr lang="en-US" altLang="en-US" sz="2000">
                <a:latin typeface="Helvetica" charset="0"/>
                <a:ea typeface="Helvetica" charset="0"/>
                <a:cs typeface="Helvetica" charset="0"/>
                <a:sym typeface="Helvetica" charset="0"/>
              </a:rPr>
              <a:t>, Spring 2024</a:t>
            </a:r>
            <a:endParaRPr lang="en-US" altLang="en-US" sz="2000">
              <a:latin typeface="Helvetica" charset="0"/>
              <a:ea typeface="Helvetica" charset="0"/>
              <a:cs typeface="Helvetica" charset="0"/>
              <a:sym typeface="Helvetica" charset="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Title 4097"/>
          <p:cNvSpPr>
            <a:spLocks noGrp="1"/>
          </p:cNvSpPr>
          <p:nvPr>
            <p:ph type="title"/>
          </p:nvPr>
        </p:nvSpPr>
        <p:spPr/>
        <p:txBody>
          <a:bodyPr anchor="ctr" anchorCtr="0"/>
          <a:p>
            <a:r>
              <a:t>Analytical Modeling - Basics </a:t>
            </a:r>
          </a:p>
        </p:txBody>
      </p:sp>
      <p:sp>
        <p:nvSpPr>
          <p:cNvPr id="4099" name="Text Placeholder 4098"/>
          <p:cNvSpPr>
            <a:spLocks noGrp="1"/>
          </p:cNvSpPr>
          <p:nvPr>
            <p:ph type="body" idx="1"/>
          </p:nvPr>
        </p:nvSpPr>
        <p:spPr>
          <a:xfrm>
            <a:off x="650240" y="1582703"/>
            <a:ext cx="11704320" cy="6872676"/>
          </a:xfrm>
        </p:spPr>
        <p:txBody>
          <a:bodyPr/>
          <a:p>
            <a:pPr>
              <a:lnSpc>
                <a:spcPct val="80000"/>
              </a:lnSpc>
            </a:pPr>
            <a:r>
              <a:t>A sequential algorithm is evaluated by its runtime (in general, asymptotic runtime as a function of input size). </a:t>
            </a:r>
          </a:p>
          <a:p>
            <a:pPr>
              <a:lnSpc>
                <a:spcPct val="80000"/>
              </a:lnSpc>
            </a:pPr>
          </a:p>
          <a:p>
            <a:pPr>
              <a:lnSpc>
                <a:spcPct val="80000"/>
              </a:lnSpc>
            </a:pPr>
            <a:r>
              <a:t>The asymptotic runtime of a sequential program is identical on any serial platform. </a:t>
            </a:r>
          </a:p>
          <a:p>
            <a:pPr>
              <a:lnSpc>
                <a:spcPct val="80000"/>
              </a:lnSpc>
            </a:pPr>
          </a:p>
          <a:p>
            <a:pPr>
              <a:lnSpc>
                <a:spcPct val="80000"/>
              </a:lnSpc>
            </a:pPr>
            <a:r>
              <a:t>The parallel runtime of a program depends on the input size, the number of processors, and the communication parameters of the machine. </a:t>
            </a:r>
          </a:p>
          <a:p>
            <a:pPr>
              <a:lnSpc>
                <a:spcPct val="80000"/>
              </a:lnSpc>
            </a:pPr>
          </a:p>
          <a:p>
            <a:pPr>
              <a:lnSpc>
                <a:spcPct val="80000"/>
              </a:lnSpc>
            </a:pPr>
            <a:r>
              <a:t>An algorithm must therefore be analyzed in the context of the underlying platform. </a:t>
            </a:r>
          </a:p>
          <a:p>
            <a:pPr>
              <a:lnSpc>
                <a:spcPct val="80000"/>
              </a:lnSpc>
            </a:pPr>
          </a:p>
          <a:p>
            <a:pPr>
              <a:lnSpc>
                <a:spcPct val="80000"/>
              </a:lnSpc>
            </a:pPr>
            <a:r>
              <a:t>A parallel system is a combination of a parallel algorithm and an underlying platform. </a:t>
            </a:r>
          </a:p>
          <a:p>
            <a:pPr>
              <a:lnSpc>
                <a:spcPct val="80000"/>
              </a:lnSpc>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Title 5121"/>
          <p:cNvSpPr>
            <a:spLocks noGrp="1"/>
          </p:cNvSpPr>
          <p:nvPr>
            <p:ph type="title"/>
          </p:nvPr>
        </p:nvSpPr>
        <p:spPr/>
        <p:txBody>
          <a:bodyPr anchor="ctr" anchorCtr="0"/>
          <a:p>
            <a:r>
              <a:t>Analytical Modeling - Basics </a:t>
            </a:r>
          </a:p>
        </p:txBody>
      </p:sp>
      <p:sp>
        <p:nvSpPr>
          <p:cNvPr id="5123" name="Text Placeholder 5122"/>
          <p:cNvSpPr>
            <a:spLocks noGrp="1"/>
          </p:cNvSpPr>
          <p:nvPr>
            <p:ph type="body" idx="1"/>
          </p:nvPr>
        </p:nvSpPr>
        <p:spPr/>
        <p:txBody>
          <a:bodyPr/>
          <a:p>
            <a:pPr>
              <a:lnSpc>
                <a:spcPct val="80000"/>
              </a:lnSpc>
            </a:pPr>
            <a:r>
              <a:t>A number of performance measures are intuitive. </a:t>
            </a:r>
          </a:p>
          <a:p>
            <a:pPr>
              <a:lnSpc>
                <a:spcPct val="80000"/>
              </a:lnSpc>
            </a:pPr>
          </a:p>
          <a:p>
            <a:pPr>
              <a:lnSpc>
                <a:spcPct val="80000"/>
              </a:lnSpc>
            </a:pPr>
            <a:r>
              <a:t>Wall clock time - the time from the start of the first processor to the stopping time of the last processor in a parallel ensemble. But how does this scale when the number of processors is changed of the program is ported to another machine altogether? </a:t>
            </a:r>
          </a:p>
          <a:p>
            <a:pPr>
              <a:lnSpc>
                <a:spcPct val="80000"/>
              </a:lnSpc>
            </a:pPr>
          </a:p>
          <a:p>
            <a:pPr>
              <a:lnSpc>
                <a:spcPct val="80000"/>
              </a:lnSpc>
            </a:pPr>
            <a:r>
              <a:t>How much faster is the parallel version? This begs the obvious </a:t>
            </a:r>
            <a:r>
              <a:rPr err="1"/>
              <a:t>followup</a:t>
            </a:r>
            <a:r>
              <a:t> question - </a:t>
            </a:r>
            <a:r>
              <a:rPr err="1"/>
              <a:t>whats</a:t>
            </a:r>
            <a:r>
              <a:t> the baseline serial version with which we compare? Can we use a suboptimal serial program to make our parallel program look </a:t>
            </a:r>
          </a:p>
          <a:p>
            <a:pPr>
              <a:lnSpc>
                <a:spcPct val="80000"/>
              </a:lnSpc>
            </a:pPr>
          </a:p>
          <a:p>
            <a:pPr>
              <a:lnSpc>
                <a:spcPct val="80000"/>
              </a:lnSpc>
            </a:pPr>
            <a:r>
              <a:t>Raw FLOP count - What good are FLOP counts when they </a:t>
            </a:r>
            <a:r>
              <a:rPr err="1"/>
              <a:t>dont</a:t>
            </a:r>
            <a:r>
              <a:t> solve a problem? </a:t>
            </a:r>
          </a:p>
          <a:p>
            <a:pPr>
              <a:lnSpc>
                <a:spcPct val="80000"/>
              </a:lnSpc>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Title 6145"/>
          <p:cNvSpPr>
            <a:spLocks noGrp="1"/>
          </p:cNvSpPr>
          <p:nvPr>
            <p:ph type="title"/>
          </p:nvPr>
        </p:nvSpPr>
        <p:spPr/>
        <p:txBody>
          <a:bodyPr anchor="ctr" anchorCtr="0"/>
          <a:p>
            <a:r>
              <a:t>Sources of Overhead in Parallel Programs </a:t>
            </a:r>
          </a:p>
        </p:txBody>
      </p:sp>
      <p:sp>
        <p:nvSpPr>
          <p:cNvPr id="6147" name="Text Placeholder 6146"/>
          <p:cNvSpPr>
            <a:spLocks noGrp="1"/>
          </p:cNvSpPr>
          <p:nvPr>
            <p:ph type="body" sz="half" idx="1"/>
          </p:nvPr>
        </p:nvSpPr>
        <p:spPr>
          <a:xfrm>
            <a:off x="650240" y="1582703"/>
            <a:ext cx="11812693" cy="2101990"/>
          </a:xfrm>
        </p:spPr>
        <p:txBody>
          <a:bodyPr/>
          <a:p>
            <a:pPr>
              <a:lnSpc>
                <a:spcPct val="80000"/>
              </a:lnSpc>
              <a:buClrTx/>
              <a:buSzTx/>
              <a:buFontTx/>
            </a:pPr>
            <a:r>
              <a:t>If I use two processors, </a:t>
            </a:r>
            <a:r>
              <a:rPr err="1"/>
              <a:t>shouldnt</a:t>
            </a:r>
            <a:r>
              <a:t> my program run twice as fast? </a:t>
            </a:r>
          </a:p>
          <a:p>
            <a:pPr>
              <a:lnSpc>
                <a:spcPct val="80000"/>
              </a:lnSpc>
              <a:buClrTx/>
              <a:buSzTx/>
              <a:buFontTx/>
            </a:pPr>
            <a:r>
              <a:t>No - a number of overheads, including wasted computation, communication, idling, and contention cause degradation in performance. 		</a:t>
            </a:r>
          </a:p>
        </p:txBody>
      </p:sp>
      <p:pic>
        <p:nvPicPr>
          <p:cNvPr id="6148" name="Content Placeholder 6147" descr="exec_prof"/>
          <p:cNvPicPr>
            <a:picLocks noChangeAspect="1"/>
          </p:cNvPicPr>
          <p:nvPr>
            <p:ph sz="half" idx="2"/>
          </p:nvPr>
        </p:nvPicPr>
        <p:blipFill>
          <a:blip r:embed="rId1"/>
          <a:stretch>
            <a:fillRect/>
          </a:stretch>
        </p:blipFill>
        <p:spPr>
          <a:xfrm>
            <a:off x="2541905" y="3623310"/>
            <a:ext cx="7513955" cy="4227195"/>
          </a:xfrm>
        </p:spPr>
      </p:pic>
      <p:sp>
        <p:nvSpPr>
          <p:cNvPr id="6151" name="Rectangles 6150"/>
          <p:cNvSpPr/>
          <p:nvPr/>
        </p:nvSpPr>
        <p:spPr>
          <a:xfrm>
            <a:off x="650240" y="8076213"/>
            <a:ext cx="11812693" cy="1451750"/>
          </a:xfrm>
          <a:prstGeom prst="rect">
            <a:avLst/>
          </a:prstGeom>
          <a:noFill/>
          <a:ln w="9525">
            <a:noFill/>
          </a:ln>
        </p:spPr>
        <p:txBody>
          <a:bodyPr/>
          <a:lstStyle>
            <a:lvl1pPr marL="342900" lvl="0" indent="-342900" algn="just" defTabSz="914400" rtl="0" eaLnBrk="1" fontAlgn="base" latinLnBrk="0" hangingPunct="1">
              <a:lnSpc>
                <a:spcPct val="90000"/>
              </a:lnSpc>
              <a:spcBef>
                <a:spcPct val="20000"/>
              </a:spcBef>
              <a:spcAft>
                <a:spcPct val="0"/>
              </a:spcAft>
              <a:buClrTx/>
              <a:buSzTx/>
              <a:buFontTx/>
              <a:buChar char="•"/>
              <a:defRPr sz="1800" u="none" kern="1200" baseline="0">
                <a:solidFill>
                  <a:schemeClr val="tx1"/>
                </a:solidFill>
                <a:latin typeface="Arial" panose="020B0604020202020204" pitchFamily="34" charset="0"/>
              </a:defRPr>
            </a:lvl1pPr>
            <a:lvl2pPr marL="742950" lvl="1" indent="-285750" algn="just" defTabSz="914400" rtl="0" eaLnBrk="1" fontAlgn="base" latinLnBrk="0" hangingPunct="1">
              <a:lnSpc>
                <a:spcPct val="90000"/>
              </a:lnSpc>
              <a:spcBef>
                <a:spcPct val="20000"/>
              </a:spcBef>
              <a:spcAft>
                <a:spcPct val="0"/>
              </a:spcAft>
              <a:buClrTx/>
              <a:buSzTx/>
              <a:buFontTx/>
              <a:buChar char="–"/>
              <a:defRPr sz="1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14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2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000" b="0" i="0" u="none" kern="1200" baseline="0">
                <a:solidFill>
                  <a:schemeClr val="tx1"/>
                </a:solidFill>
                <a:latin typeface="Arial" panose="020B0604020202020204" pitchFamily="34" charset="0"/>
              </a:defRPr>
            </a:lvl5pPr>
          </a:lstStyle>
          <a:p>
            <a:pPr lvl="0">
              <a:lnSpc>
                <a:spcPct val="80000"/>
              </a:lnSpc>
              <a:buNone/>
            </a:pPr>
            <a:r>
              <a:rPr sz="2845"/>
              <a:t>		The execution profile of a hypothetical parallel program executing on eight processing elements. Profile indicates times spent performing computation (both essential and excess), communication, and idling.</a:t>
            </a:r>
            <a:r>
              <a:rPr sz="2560"/>
              <a:t> 		</a:t>
            </a:r>
            <a:endParaRPr sz="256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7169"/>
          <p:cNvSpPr>
            <a:spLocks noGrp="1"/>
          </p:cNvSpPr>
          <p:nvPr>
            <p:ph type="title"/>
          </p:nvPr>
        </p:nvSpPr>
        <p:spPr/>
        <p:txBody>
          <a:bodyPr anchor="ctr" anchorCtr="0"/>
          <a:p>
            <a:r>
              <a:t>Sources of Overheads in Parallel Programs </a:t>
            </a:r>
          </a:p>
        </p:txBody>
      </p:sp>
      <p:sp>
        <p:nvSpPr>
          <p:cNvPr id="7171" name="Text Placeholder 7170"/>
          <p:cNvSpPr>
            <a:spLocks noGrp="1"/>
          </p:cNvSpPr>
          <p:nvPr>
            <p:ph type="body" idx="1"/>
          </p:nvPr>
        </p:nvSpPr>
        <p:spPr/>
        <p:txBody>
          <a:bodyPr/>
          <a:p>
            <a:pPr>
              <a:lnSpc>
                <a:spcPct val="80000"/>
              </a:lnSpc>
            </a:pPr>
            <a:r>
              <a:rPr err="1"/>
              <a:t>Interprocess</a:t>
            </a:r>
            <a:r>
              <a:t> interactions: Processors working on any non-trivial parallel problem will need to talk to each other. </a:t>
            </a:r>
          </a:p>
          <a:p>
            <a:pPr>
              <a:lnSpc>
                <a:spcPct val="80000"/>
              </a:lnSpc>
            </a:pPr>
          </a:p>
          <a:p>
            <a:pPr>
              <a:lnSpc>
                <a:spcPct val="80000"/>
              </a:lnSpc>
            </a:pPr>
            <a:r>
              <a:t>Idling: Processes may idle because of load imbalance, synchronization, or serial components. </a:t>
            </a:r>
          </a:p>
          <a:p>
            <a:pPr>
              <a:lnSpc>
                <a:spcPct val="80000"/>
              </a:lnSpc>
            </a:pPr>
          </a:p>
          <a:p>
            <a:pPr>
              <a:lnSpc>
                <a:spcPct val="80000"/>
              </a:lnSpc>
            </a:pPr>
            <a:r>
              <a:t>Excess Computation: This is computation not performed by the serial version. This might be because the serial algorithm is difficult to parallelize, or that some computations are repeated across processors to minimize communication. </a:t>
            </a:r>
          </a:p>
          <a:p>
            <a:pPr>
              <a:lnSpc>
                <a:spcPct val="80000"/>
              </a:lnSpc>
            </a:p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itle 8193"/>
          <p:cNvSpPr>
            <a:spLocks noGrp="1"/>
          </p:cNvSpPr>
          <p:nvPr>
            <p:ph type="title"/>
          </p:nvPr>
        </p:nvSpPr>
        <p:spPr>
          <a:xfrm>
            <a:off x="650240" y="390596"/>
            <a:ext cx="11704320" cy="1343377"/>
          </a:xfrm>
        </p:spPr>
        <p:txBody>
          <a:bodyPr anchor="ctr" anchorCtr="0"/>
          <a:p>
            <a:r>
              <a:t>Performance Metrics for Parallel Systems: Execution </a:t>
            </a:r>
            <a:br/>
            <a:r>
              <a:t>Time </a:t>
            </a:r>
          </a:p>
        </p:txBody>
      </p:sp>
      <p:sp>
        <p:nvSpPr>
          <p:cNvPr id="8195" name="Text Placeholder 8194"/>
          <p:cNvSpPr>
            <a:spLocks noGrp="1"/>
          </p:cNvSpPr>
          <p:nvPr>
            <p:ph type="body" idx="1"/>
          </p:nvPr>
        </p:nvSpPr>
        <p:spPr>
          <a:xfrm>
            <a:off x="650240" y="2016196"/>
            <a:ext cx="11704320" cy="7087164"/>
          </a:xfrm>
        </p:spPr>
        <p:txBody>
          <a:bodyPr/>
          <a:p>
            <a:pPr>
              <a:lnSpc>
                <a:spcPct val="80000"/>
              </a:lnSpc>
            </a:pPr>
            <a:r>
              <a:t>Serial runtime of a program is the time elapsed between the beginning and the end of its execution on a sequential computer. </a:t>
            </a:r>
          </a:p>
          <a:p>
            <a:pPr>
              <a:lnSpc>
                <a:spcPct val="80000"/>
              </a:lnSpc>
            </a:pPr>
          </a:p>
          <a:p>
            <a:pPr>
              <a:lnSpc>
                <a:spcPct val="80000"/>
              </a:lnSpc>
            </a:pPr>
            <a:r>
              <a:t>The parallel runtime is the time that elapses from the moment the first processor starts to the moment the last processor finishes execution. </a:t>
            </a:r>
          </a:p>
          <a:p>
            <a:pPr>
              <a:lnSpc>
                <a:spcPct val="80000"/>
              </a:lnSpc>
            </a:pPr>
          </a:p>
          <a:p>
            <a:pPr>
              <a:lnSpc>
                <a:spcPct val="80000"/>
              </a:lnSpc>
            </a:pPr>
            <a:r>
              <a:t>We denote the serial runtime by   and the parallel runtime by </a:t>
            </a:r>
            <a:r>
              <a:rPr b="1" i="1"/>
              <a:t>T</a:t>
            </a:r>
            <a:r>
              <a:rPr b="1" i="1" baseline="-25000"/>
              <a:t>P </a:t>
            </a:r>
            <a:r>
              <a:t>.</a:t>
            </a:r>
            <a:endParaRPr baseline="-25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itle 9217"/>
          <p:cNvSpPr>
            <a:spLocks noGrp="1"/>
          </p:cNvSpPr>
          <p:nvPr>
            <p:ph type="title"/>
          </p:nvPr>
        </p:nvSpPr>
        <p:spPr>
          <a:xfrm>
            <a:off x="650240" y="390596"/>
            <a:ext cx="11704320" cy="1343377"/>
          </a:xfrm>
        </p:spPr>
        <p:txBody>
          <a:bodyPr anchor="ctr" anchorCtr="0"/>
          <a:p>
            <a:r>
              <a:t>Performance Metrics for Parallel Systems: Total Parallel Overhead </a:t>
            </a:r>
          </a:p>
        </p:txBody>
      </p:sp>
      <p:sp>
        <p:nvSpPr>
          <p:cNvPr id="9219" name="Text Placeholder 9218"/>
          <p:cNvSpPr>
            <a:spLocks noGrp="1"/>
          </p:cNvSpPr>
          <p:nvPr>
            <p:ph type="body" idx="1"/>
          </p:nvPr>
        </p:nvSpPr>
        <p:spPr>
          <a:xfrm>
            <a:off x="650240" y="2016196"/>
            <a:ext cx="11704320" cy="7087164"/>
          </a:xfrm>
        </p:spPr>
        <p:txBody>
          <a:bodyPr/>
          <a:p>
            <a:pPr>
              <a:lnSpc>
                <a:spcPct val="80000"/>
              </a:lnSpc>
            </a:pPr>
            <a:r>
              <a:t>Let </a:t>
            </a:r>
            <a:r>
              <a:rPr b="1" i="1"/>
              <a:t>T</a:t>
            </a:r>
            <a:r>
              <a:rPr b="1" i="1" baseline="-25000"/>
              <a:t>all </a:t>
            </a:r>
            <a:r>
              <a:t>be the total time collectively spent by all the processing elements. </a:t>
            </a:r>
          </a:p>
          <a:p>
            <a:pPr>
              <a:lnSpc>
                <a:spcPct val="80000"/>
              </a:lnSpc>
            </a:pPr>
          </a:p>
          <a:p>
            <a:pPr>
              <a:lnSpc>
                <a:spcPct val="80000"/>
              </a:lnSpc>
            </a:pPr>
            <a:r>
              <a:rPr b="1" i="1"/>
              <a:t>T</a:t>
            </a:r>
            <a:r>
              <a:rPr b="1" i="1" baseline="-25000"/>
              <a:t>S</a:t>
            </a:r>
            <a:r>
              <a:t>  is the serial time. </a:t>
            </a:r>
          </a:p>
          <a:p>
            <a:pPr>
              <a:lnSpc>
                <a:spcPct val="80000"/>
              </a:lnSpc>
            </a:pPr>
          </a:p>
          <a:p>
            <a:pPr>
              <a:lnSpc>
                <a:spcPct val="80000"/>
              </a:lnSpc>
            </a:pPr>
            <a:r>
              <a:t>Observe that </a:t>
            </a:r>
            <a:r>
              <a:rPr b="1" i="1"/>
              <a:t>T</a:t>
            </a:r>
            <a:r>
              <a:rPr b="1" i="1" baseline="-25000"/>
              <a:t>all</a:t>
            </a:r>
            <a:r>
              <a:t>  - </a:t>
            </a:r>
            <a:r>
              <a:rPr b="1" i="1"/>
              <a:t>T</a:t>
            </a:r>
            <a:r>
              <a:rPr b="1" i="1" baseline="-25000"/>
              <a:t>S</a:t>
            </a:r>
            <a:r>
              <a:t> is then the total time spend by all processors combined in non-useful work. This is called the </a:t>
            </a:r>
            <a:r>
              <a:rPr i="1"/>
              <a:t>total overhead</a:t>
            </a:r>
            <a:r>
              <a:t>. </a:t>
            </a:r>
          </a:p>
          <a:p>
            <a:pPr>
              <a:lnSpc>
                <a:spcPct val="80000"/>
              </a:lnSpc>
            </a:pPr>
          </a:p>
          <a:p>
            <a:pPr>
              <a:lnSpc>
                <a:spcPct val="80000"/>
              </a:lnSpc>
            </a:pPr>
            <a:r>
              <a:t>The total time collectively spent by all the processing elements </a:t>
            </a:r>
          </a:p>
          <a:p>
            <a:pPr lvl="1">
              <a:lnSpc>
                <a:spcPct val="80000"/>
              </a:lnSpc>
              <a:buNone/>
            </a:pPr>
            <a:r>
              <a:rPr b="1" i="1"/>
              <a:t>T</a:t>
            </a:r>
            <a:r>
              <a:rPr b="1" i="1" baseline="-25000"/>
              <a:t>all</a:t>
            </a:r>
            <a:r>
              <a:t> = </a:t>
            </a:r>
            <a:r>
              <a:rPr b="1" i="1"/>
              <a:t>p T</a:t>
            </a:r>
            <a:r>
              <a:rPr b="1" i="1" baseline="-25000"/>
              <a:t>P  	</a:t>
            </a:r>
            <a:r>
              <a:t>(</a:t>
            </a:r>
            <a:r>
              <a:rPr b="1" i="1"/>
              <a:t>p</a:t>
            </a:r>
            <a:r>
              <a:t> is the number of processors). </a:t>
            </a:r>
          </a:p>
          <a:p>
            <a:pPr>
              <a:lnSpc>
                <a:spcPct val="80000"/>
              </a:lnSpc>
            </a:pPr>
          </a:p>
          <a:p>
            <a:pPr>
              <a:lnSpc>
                <a:spcPct val="80000"/>
              </a:lnSpc>
            </a:pPr>
            <a:r>
              <a:t>The overhead function (</a:t>
            </a:r>
            <a:r>
              <a:rPr b="1" i="1"/>
              <a:t>T</a:t>
            </a:r>
            <a:r>
              <a:rPr b="1" i="1" baseline="-25000"/>
              <a:t>o</a:t>
            </a:r>
            <a:r>
              <a:t>) is therefore given by  </a:t>
            </a:r>
          </a:p>
          <a:p>
            <a:pPr>
              <a:lnSpc>
                <a:spcPct val="80000"/>
              </a:lnSpc>
            </a:pPr>
          </a:p>
          <a:p>
            <a:pPr algn="ctr">
              <a:lnSpc>
                <a:spcPct val="80000"/>
              </a:lnSpc>
              <a:buNone/>
            </a:pPr>
            <a:r>
              <a:t>            			 </a:t>
            </a:r>
            <a:r>
              <a:rPr b="1" i="1"/>
              <a:t>T</a:t>
            </a:r>
            <a:r>
              <a:rPr b="1" i="1" baseline="-25000"/>
              <a:t>o</a:t>
            </a:r>
            <a:r>
              <a:t> = </a:t>
            </a:r>
            <a:r>
              <a:rPr b="1" i="1"/>
              <a:t>p T</a:t>
            </a:r>
            <a:r>
              <a:rPr b="1" i="1" baseline="-25000"/>
              <a:t>P</a:t>
            </a:r>
            <a:r>
              <a:t> - </a:t>
            </a:r>
            <a:r>
              <a:rPr b="1" i="1"/>
              <a:t>T</a:t>
            </a:r>
            <a:r>
              <a:rPr b="1" i="1" baseline="-25000"/>
              <a:t>S</a:t>
            </a:r>
            <a:r>
              <a:t> 				     (1)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itle 10241"/>
          <p:cNvSpPr>
            <a:spLocks noGrp="1"/>
          </p:cNvSpPr>
          <p:nvPr>
            <p:ph type="title"/>
          </p:nvPr>
        </p:nvSpPr>
        <p:spPr/>
        <p:txBody>
          <a:bodyPr anchor="ctr" anchorCtr="0"/>
          <a:p>
            <a:r>
              <a:t>Performance Metrics for Parallel Systems: Speedup </a:t>
            </a:r>
          </a:p>
        </p:txBody>
      </p:sp>
      <p:sp>
        <p:nvSpPr>
          <p:cNvPr id="10243" name="Text Placeholder 10242"/>
          <p:cNvSpPr>
            <a:spLocks noGrp="1"/>
          </p:cNvSpPr>
          <p:nvPr>
            <p:ph type="body" idx="1"/>
          </p:nvPr>
        </p:nvSpPr>
        <p:spPr>
          <a:xfrm>
            <a:off x="650240" y="1625600"/>
            <a:ext cx="11704320" cy="7087165"/>
          </a:xfrm>
        </p:spPr>
        <p:txBody>
          <a:bodyPr/>
          <a:p>
            <a:pPr>
              <a:lnSpc>
                <a:spcPct val="80000"/>
              </a:lnSpc>
            </a:pPr>
            <a:r>
              <a:t>What is the benefit from parallelism? </a:t>
            </a:r>
          </a:p>
          <a:p>
            <a:pPr>
              <a:lnSpc>
                <a:spcPct val="80000"/>
              </a:lnSpc>
            </a:pPr>
          </a:p>
          <a:p>
            <a:pPr>
              <a:lnSpc>
                <a:spcPct val="80000"/>
              </a:lnSpc>
            </a:pPr>
            <a:r>
              <a:t>Speedup (</a:t>
            </a:r>
            <a:r>
              <a:rPr b="1" i="1"/>
              <a:t>S</a:t>
            </a:r>
            <a:r>
              <a:t>) is the ratio of the time taken to solve a problem on a single processor to the time required to solve the same problem on a parallel computer with </a:t>
            </a:r>
            <a:r>
              <a:rPr b="1" i="1"/>
              <a:t>p</a:t>
            </a:r>
            <a:r>
              <a:t> identical processing elements. </a:t>
            </a:r>
          </a:p>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itle 15361"/>
          <p:cNvSpPr>
            <a:spLocks noGrp="1"/>
          </p:cNvSpPr>
          <p:nvPr>
            <p:ph type="title"/>
          </p:nvPr>
        </p:nvSpPr>
        <p:spPr/>
        <p:txBody>
          <a:bodyPr anchor="ctr" anchorCtr="0"/>
          <a:p>
            <a:r>
              <a:t>Performance Metrics: Example </a:t>
            </a:r>
          </a:p>
        </p:txBody>
      </p:sp>
      <p:sp>
        <p:nvSpPr>
          <p:cNvPr id="15363" name="Text Placeholder 15362"/>
          <p:cNvSpPr>
            <a:spLocks noGrp="1"/>
          </p:cNvSpPr>
          <p:nvPr>
            <p:ph type="body" idx="1"/>
          </p:nvPr>
        </p:nvSpPr>
        <p:spPr/>
        <p:txBody>
          <a:bodyPr/>
          <a:p>
            <a:r>
              <a:t>Consider the problem of adding </a:t>
            </a:r>
            <a:r>
              <a:rPr b="1" i="1"/>
              <a:t>n</a:t>
            </a:r>
            <a:r>
              <a:t> numbers by using </a:t>
            </a:r>
            <a:r>
              <a:rPr b="1" i="1"/>
              <a:t>n</a:t>
            </a:r>
            <a:r>
              <a:t> processing elements. </a:t>
            </a:r>
          </a:p>
          <a:p/>
          <a:p>
            <a:r>
              <a:t>If </a:t>
            </a:r>
            <a:r>
              <a:rPr b="1" i="1"/>
              <a:t>n</a:t>
            </a:r>
            <a:r>
              <a:t> is a power of two, we can perform this operation in </a:t>
            </a:r>
            <a:r>
              <a:rPr b="1"/>
              <a:t>log</a:t>
            </a:r>
            <a:r>
              <a:rPr b="1" i="1"/>
              <a:t> n</a:t>
            </a:r>
            <a:r>
              <a:t> steps by propagating partial sums up a logical binary tree of processors. </a:t>
            </a:r>
          </a:p>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itle 16385"/>
          <p:cNvSpPr>
            <a:spLocks noGrp="1"/>
          </p:cNvSpPr>
          <p:nvPr>
            <p:ph type="title"/>
          </p:nvPr>
        </p:nvSpPr>
        <p:spPr/>
        <p:txBody>
          <a:bodyPr anchor="ctr" anchorCtr="0"/>
          <a:p>
            <a:r>
              <a:t>Performance Metrics: Example </a:t>
            </a:r>
          </a:p>
        </p:txBody>
      </p:sp>
      <p:sp>
        <p:nvSpPr>
          <p:cNvPr id="16387" name="Text Placeholder 16386"/>
          <p:cNvSpPr>
            <a:spLocks noGrp="1"/>
          </p:cNvSpPr>
          <p:nvPr>
            <p:ph type="body" sz="half" idx="1"/>
          </p:nvPr>
        </p:nvSpPr>
        <p:spPr>
          <a:xfrm>
            <a:off x="650240" y="7261013"/>
            <a:ext cx="11595947" cy="1842347"/>
          </a:xfrm>
        </p:spPr>
        <p:txBody>
          <a:bodyPr/>
          <a:p>
            <a:pPr algn="l">
              <a:buClrTx/>
              <a:buSzTx/>
              <a:buFontTx/>
              <a:buNone/>
            </a:pPr>
            <a:r>
              <a:rPr sz="2560"/>
              <a:t>		</a:t>
            </a:r>
            <a:r>
              <a:t>Computing the </a:t>
            </a:r>
            <a:r>
              <a:rPr err="1"/>
              <a:t>globalsum</a:t>
            </a:r>
            <a:r>
              <a:t> of 16 partial sums using 16 processing elements .  </a:t>
            </a:r>
            <a:r>
              <a:rPr lang="el-GR" altLang="x-none" sz="3415" b="1" dirty="0">
                <a:cs typeface="Arial" panose="020B0604020202020204" pitchFamily="34" charset="0"/>
              </a:rPr>
              <a:t>Σ</a:t>
            </a:r>
            <a:r>
              <a:rPr sz="3415" b="1" baseline="30000" err="1">
                <a:cs typeface="Arial" panose="020B0604020202020204" pitchFamily="34" charset="0"/>
              </a:rPr>
              <a:t>j</a:t>
            </a:r>
            <a:r>
              <a:rPr sz="3415" b="1" baseline="-25000" err="1">
                <a:cs typeface="Arial" panose="020B0604020202020204" pitchFamily="34" charset="0"/>
              </a:rPr>
              <a:t>i</a:t>
            </a:r>
            <a:r>
              <a:rPr>
                <a:cs typeface="Arial" panose="020B0604020202020204" pitchFamily="34" charset="0"/>
              </a:rPr>
              <a:t> </a:t>
            </a:r>
            <a:r>
              <a:t>denotes the sum of numbers with consecutive labels from </a:t>
            </a:r>
            <a:r>
              <a:rPr b="1" i="1"/>
              <a:t>i</a:t>
            </a:r>
            <a:r>
              <a:t> to </a:t>
            </a:r>
            <a:r>
              <a:rPr b="1" i="1"/>
              <a:t>j</a:t>
            </a:r>
            <a:r>
              <a:t>. </a:t>
            </a:r>
          </a:p>
        </p:txBody>
      </p:sp>
      <p:pic>
        <p:nvPicPr>
          <p:cNvPr id="16388" name="Content Placeholder 16387" descr="c3f1"/>
          <p:cNvPicPr>
            <a:picLocks noChangeAspect="1"/>
          </p:cNvPicPr>
          <p:nvPr>
            <p:ph sz="half" idx="2"/>
          </p:nvPr>
        </p:nvPicPr>
        <p:blipFill>
          <a:blip r:embed="rId1"/>
          <a:stretch>
            <a:fillRect/>
          </a:stretch>
        </p:blipFill>
        <p:spPr>
          <a:xfrm>
            <a:off x="4009813" y="1192107"/>
            <a:ext cx="5199663" cy="5802489"/>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itle 17409"/>
          <p:cNvSpPr>
            <a:spLocks noGrp="1"/>
          </p:cNvSpPr>
          <p:nvPr>
            <p:ph type="title"/>
          </p:nvPr>
        </p:nvSpPr>
        <p:spPr/>
        <p:txBody>
          <a:bodyPr anchor="ctr" anchorCtr="0"/>
          <a:p>
            <a:r>
              <a:t>Performance Metrics: Example (continued) </a:t>
            </a:r>
          </a:p>
        </p:txBody>
      </p:sp>
      <p:sp>
        <p:nvSpPr>
          <p:cNvPr id="17411" name="Text Placeholder 17410"/>
          <p:cNvSpPr>
            <a:spLocks noGrp="1"/>
          </p:cNvSpPr>
          <p:nvPr>
            <p:ph type="body" idx="1"/>
          </p:nvPr>
        </p:nvSpPr>
        <p:spPr/>
        <p:txBody>
          <a:bodyPr/>
          <a:p>
            <a:r>
              <a:t>If an addition takes constant time, say, </a:t>
            </a:r>
            <a:r>
              <a:rPr b="1" i="1" err="1"/>
              <a:t>t</a:t>
            </a:r>
            <a:r>
              <a:rPr b="1" i="1" baseline="-25000" err="1"/>
              <a:t>c</a:t>
            </a:r>
            <a:r>
              <a:rPr b="1" i="1" baseline="-25000"/>
              <a:t> </a:t>
            </a:r>
            <a:r>
              <a:t>and communication </a:t>
            </a:r>
          </a:p>
          <a:p>
            <a:pPr>
              <a:buNone/>
            </a:pPr>
            <a:r>
              <a:t>	of a single word takes time </a:t>
            </a:r>
            <a:r>
              <a:rPr b="1" i="1" err="1"/>
              <a:t>t</a:t>
            </a:r>
            <a:r>
              <a:rPr b="1" i="1" baseline="-25000" err="1"/>
              <a:t>s</a:t>
            </a:r>
            <a:r>
              <a:t> + </a:t>
            </a:r>
            <a:r>
              <a:rPr b="1" i="1" err="1"/>
              <a:t>t</a:t>
            </a:r>
            <a:r>
              <a:rPr b="1" i="1" baseline="-25000" err="1"/>
              <a:t>w</a:t>
            </a:r>
            <a:r>
              <a:t>, we have the parallel time </a:t>
            </a:r>
          </a:p>
          <a:p>
            <a:pPr>
              <a:buNone/>
            </a:pPr>
            <a:r>
              <a:t>	</a:t>
            </a:r>
            <a:r>
              <a:rPr b="1" i="1"/>
              <a:t>T</a:t>
            </a:r>
            <a:r>
              <a:rPr b="1" i="1" baseline="-25000"/>
              <a:t>P</a:t>
            </a:r>
            <a:r>
              <a:t> = </a:t>
            </a:r>
            <a:r>
              <a:rPr lang="el-GR" altLang="x-none" dirty="0">
                <a:cs typeface="Arial" panose="020B0604020202020204" pitchFamily="34" charset="0"/>
              </a:rPr>
              <a:t>Θ</a:t>
            </a:r>
            <a:r>
              <a:t> (</a:t>
            </a:r>
            <a:r>
              <a:rPr b="1"/>
              <a:t>log</a:t>
            </a:r>
            <a:r>
              <a:rPr b="1" i="1"/>
              <a:t> n</a:t>
            </a:r>
            <a:r>
              <a:t>)</a:t>
            </a:r>
          </a:p>
          <a:p>
            <a:pPr>
              <a:buNone/>
            </a:pPr>
            <a:endParaRPr b="1" i="1" baseline="-25000"/>
          </a:p>
          <a:p/>
          <a:p>
            <a:r>
              <a:t>We know that </a:t>
            </a:r>
            <a:r>
              <a:rPr b="1" i="1"/>
              <a:t>T</a:t>
            </a:r>
            <a:r>
              <a:rPr b="1" i="1" baseline="-25000"/>
              <a:t>S </a:t>
            </a:r>
            <a:r>
              <a:t>= </a:t>
            </a:r>
            <a:r>
              <a:rPr lang="el-GR" altLang="x-none" dirty="0">
                <a:cs typeface="Arial" panose="020B0604020202020204" pitchFamily="34" charset="0"/>
              </a:rPr>
              <a:t>Θ</a:t>
            </a:r>
            <a:r>
              <a:t> (</a:t>
            </a:r>
            <a:r>
              <a:rPr b="1" i="1"/>
              <a:t>n</a:t>
            </a:r>
            <a:r>
              <a:t>)</a:t>
            </a:r>
            <a:endParaRPr baseline="-25000"/>
          </a:p>
          <a:p/>
          <a:p>
            <a:r>
              <a:t>Speedup </a:t>
            </a:r>
            <a:r>
              <a:rPr b="1" i="1"/>
              <a:t>S</a:t>
            </a:r>
            <a:r>
              <a:t> is given by </a:t>
            </a:r>
            <a:r>
              <a:rPr b="1" i="1"/>
              <a:t>S</a:t>
            </a:r>
            <a:r>
              <a:t> = </a:t>
            </a:r>
            <a:r>
              <a:rPr lang="el-GR" altLang="x-none" dirty="0">
                <a:cs typeface="Arial" panose="020B0604020202020204" pitchFamily="34" charset="0"/>
              </a:rPr>
              <a:t>Θ</a:t>
            </a:r>
            <a:r>
              <a:t> (</a:t>
            </a:r>
            <a:r>
              <a:rPr b="1" i="1"/>
              <a:t>n </a:t>
            </a:r>
            <a:r>
              <a:rPr i="1"/>
              <a:t>/</a:t>
            </a:r>
            <a:r>
              <a:rPr b="1" i="1"/>
              <a:t> </a:t>
            </a:r>
            <a:r>
              <a:rPr b="1"/>
              <a:t>log</a:t>
            </a:r>
            <a:r>
              <a:rPr b="1" i="1"/>
              <a:t> n</a:t>
            </a:r>
            <a:r>
              <a:t>)</a:t>
            </a:r>
          </a:p>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itle 18433"/>
          <p:cNvSpPr>
            <a:spLocks noGrp="1"/>
          </p:cNvSpPr>
          <p:nvPr>
            <p:ph type="title"/>
          </p:nvPr>
        </p:nvSpPr>
        <p:spPr/>
        <p:txBody>
          <a:bodyPr anchor="ctr" anchorCtr="0"/>
          <a:p>
            <a:r>
              <a:t>Performance Metrics: Speedup </a:t>
            </a:r>
          </a:p>
        </p:txBody>
      </p:sp>
      <p:sp>
        <p:nvSpPr>
          <p:cNvPr id="18435" name="Text Placeholder 18434"/>
          <p:cNvSpPr>
            <a:spLocks noGrp="1"/>
          </p:cNvSpPr>
          <p:nvPr>
            <p:ph type="body" idx="1"/>
          </p:nvPr>
        </p:nvSpPr>
        <p:spPr/>
        <p:txBody>
          <a:bodyPr/>
          <a:p>
            <a:r>
              <a:t>For a given problem, there might be many serial algorithms available. These algorithms may have different asymptotic runtimes and may be parallelizable to different degrees. </a:t>
            </a:r>
          </a:p>
          <a:p/>
          <a:p>
            <a:r>
              <a:t>For the purpose of computing speedup, we always consider the best sequential program as the baseline. </a:t>
            </a:r>
          </a:p>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itle 19457"/>
          <p:cNvSpPr>
            <a:spLocks noGrp="1"/>
          </p:cNvSpPr>
          <p:nvPr>
            <p:ph type="title"/>
          </p:nvPr>
        </p:nvSpPr>
        <p:spPr/>
        <p:txBody>
          <a:bodyPr anchor="ctr" anchorCtr="0"/>
          <a:p>
            <a:r>
              <a:t>Performance Metrics: Speedup Example </a:t>
            </a:r>
          </a:p>
        </p:txBody>
      </p:sp>
      <p:sp>
        <p:nvSpPr>
          <p:cNvPr id="19459" name="Text Placeholder 19458"/>
          <p:cNvSpPr>
            <a:spLocks noGrp="1"/>
          </p:cNvSpPr>
          <p:nvPr>
            <p:ph type="body" idx="1"/>
          </p:nvPr>
        </p:nvSpPr>
        <p:spPr/>
        <p:txBody>
          <a:bodyPr/>
          <a:p>
            <a:r>
              <a:t>Consider the problem of parallel bubble sort. </a:t>
            </a:r>
          </a:p>
          <a:p/>
          <a:p>
            <a:r>
              <a:t>The serial time for </a:t>
            </a:r>
            <a:r>
              <a:rPr err="1"/>
              <a:t>bubblesort</a:t>
            </a:r>
            <a:r>
              <a:t> is 150 seconds. </a:t>
            </a:r>
          </a:p>
          <a:p/>
          <a:p>
            <a:r>
              <a:t>The parallel time for odd-even sort (efficient parallelization of bubble sort) is 40 seconds. </a:t>
            </a:r>
          </a:p>
          <a:p/>
          <a:p>
            <a:r>
              <a:t>The speedup would appear to be 150/40 = 3.75. </a:t>
            </a:r>
          </a:p>
          <a:p/>
          <a:p>
            <a:r>
              <a:t>But is this really a fair assessment of the system? </a:t>
            </a:r>
          </a:p>
          <a:p/>
          <a:p>
            <a:r>
              <a:t>What if serial </a:t>
            </a:r>
            <a:r>
              <a:rPr err="1"/>
              <a:t>quicksort</a:t>
            </a:r>
            <a:r>
              <a:t> only took 30 seconds? In this case, the speedup is 30/40 = 0.75. This is a more realistic assessment of the system.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itle 12289"/>
          <p:cNvSpPr>
            <a:spLocks noGrp="1"/>
          </p:cNvSpPr>
          <p:nvPr>
            <p:ph type="title"/>
          </p:nvPr>
        </p:nvSpPr>
        <p:spPr/>
        <p:txBody>
          <a:bodyPr anchor="ctr" anchorCtr="0"/>
          <a:p>
            <a:r>
              <a:t>Performance Metrics: Efficiency </a:t>
            </a:r>
          </a:p>
        </p:txBody>
      </p:sp>
      <p:sp>
        <p:nvSpPr>
          <p:cNvPr id="12291" name="Text Placeholder 12290"/>
          <p:cNvSpPr>
            <a:spLocks noGrp="1"/>
          </p:cNvSpPr>
          <p:nvPr>
            <p:ph type="body" sz="half" idx="1"/>
          </p:nvPr>
        </p:nvSpPr>
        <p:spPr>
          <a:xfrm>
            <a:off x="650240" y="1582703"/>
            <a:ext cx="11379200" cy="7087164"/>
          </a:xfrm>
        </p:spPr>
        <p:txBody>
          <a:bodyPr/>
          <a:p>
            <a:pPr>
              <a:buClrTx/>
              <a:buSzTx/>
              <a:buFontTx/>
            </a:pPr>
            <a:r>
              <a:t>Efficiency is a measure of the fraction of time for which a processing element is usefully employed </a:t>
            </a:r>
          </a:p>
          <a:p>
            <a:pPr>
              <a:buClrTx/>
              <a:buSzTx/>
              <a:buFontTx/>
            </a:pPr>
          </a:p>
          <a:p>
            <a:pPr>
              <a:buClrTx/>
              <a:buSzTx/>
              <a:buFontTx/>
            </a:pPr>
            <a:r>
              <a:t>Mathematically, it is given by </a:t>
            </a:r>
          </a:p>
          <a:p>
            <a:pPr>
              <a:buClrTx/>
              <a:buSzTx/>
              <a:buFontTx/>
            </a:pPr>
          </a:p>
          <a:p>
            <a:pPr>
              <a:buClrTx/>
              <a:buSzTx/>
              <a:buFontTx/>
              <a:buNone/>
            </a:pPr>
            <a:r>
              <a:rPr sz="2560"/>
              <a:t>							</a:t>
            </a:r>
            <a:endParaRPr sz="2560"/>
          </a:p>
          <a:p>
            <a:pPr>
              <a:buClrTx/>
              <a:buSzTx/>
              <a:buFontTx/>
              <a:buNone/>
            </a:pPr>
            <a:r>
              <a:rPr sz="2560"/>
              <a:t>				         =					   (2)</a:t>
            </a:r>
            <a:endParaRPr sz="2560"/>
          </a:p>
          <a:p>
            <a:pPr>
              <a:buClrTx/>
              <a:buSzTx/>
              <a:buFontTx/>
              <a:buNone/>
            </a:pPr>
            <a:endParaRPr sz="2560"/>
          </a:p>
          <a:p>
            <a:pPr>
              <a:buClrTx/>
              <a:buSzTx/>
              <a:buFontTx/>
            </a:pPr>
            <a:endParaRPr sz="2560"/>
          </a:p>
          <a:p>
            <a:pPr>
              <a:buClrTx/>
              <a:buSzTx/>
              <a:buFontTx/>
            </a:pPr>
            <a:r>
              <a:t>Following the bounds on speedup, efficiency can be as low as 0 and as high as 1. </a:t>
            </a:r>
          </a:p>
        </p:txBody>
      </p:sp>
      <p:grpSp>
        <p:nvGrpSpPr>
          <p:cNvPr id="12296" name="Group 12295"/>
          <p:cNvGrpSpPr/>
          <p:nvPr/>
        </p:nvGrpSpPr>
        <p:grpSpPr>
          <a:xfrm>
            <a:off x="5957993" y="5381202"/>
            <a:ext cx="1977813" cy="1104053"/>
            <a:chOff x="1872" y="2928"/>
            <a:chExt cx="876" cy="606"/>
          </a:xfrm>
        </p:grpSpPr>
        <p:pic>
          <p:nvPicPr>
            <p:cNvPr id="12292" name="Content Placeholder 12291" descr="img24"/>
            <p:cNvPicPr>
              <a:picLocks noChangeAspect="1"/>
            </p:cNvPicPr>
            <p:nvPr>
              <p:ph sz="quarter" idx="2"/>
            </p:nvPr>
          </p:nvPicPr>
          <p:blipFill>
            <a:blip r:embed="rId1"/>
            <a:stretch>
              <a:fillRect/>
            </a:stretch>
          </p:blipFill>
          <p:spPr>
            <a:xfrm>
              <a:off x="2496" y="2928"/>
              <a:ext cx="252" cy="606"/>
            </a:xfrm>
          </p:spPr>
        </p:pic>
        <p:pic>
          <p:nvPicPr>
            <p:cNvPr id="12294" name="Content Placeholder 12293" descr="img23"/>
            <p:cNvPicPr>
              <a:picLocks noChangeAspect="1"/>
            </p:cNvPicPr>
            <p:nvPr>
              <p:ph sz="quarter" idx="3"/>
            </p:nvPr>
          </p:nvPicPr>
          <p:blipFill>
            <a:blip r:embed="rId2"/>
            <a:stretch>
              <a:fillRect/>
            </a:stretch>
          </p:blipFill>
          <p:spPr>
            <a:xfrm>
              <a:off x="1872" y="3024"/>
              <a:ext cx="198" cy="396"/>
            </a:xfr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itle 22529"/>
          <p:cNvSpPr>
            <a:spLocks noGrp="1"/>
          </p:cNvSpPr>
          <p:nvPr>
            <p:ph type="title"/>
          </p:nvPr>
        </p:nvSpPr>
        <p:spPr/>
        <p:txBody>
          <a:bodyPr anchor="ctr" anchorCtr="0"/>
          <a:p>
            <a:r>
              <a:t>Performance Metrics: Efficiency Example </a:t>
            </a:r>
          </a:p>
        </p:txBody>
      </p:sp>
      <p:sp>
        <p:nvSpPr>
          <p:cNvPr id="22531" name="Text Placeholder 22530"/>
          <p:cNvSpPr>
            <a:spLocks noGrp="1"/>
          </p:cNvSpPr>
          <p:nvPr>
            <p:ph type="body" sz="half" idx="1"/>
          </p:nvPr>
        </p:nvSpPr>
        <p:spPr>
          <a:xfrm>
            <a:off x="650240" y="1582703"/>
            <a:ext cx="11595947" cy="5786684"/>
          </a:xfrm>
        </p:spPr>
        <p:txBody>
          <a:bodyPr/>
          <a:p>
            <a:pPr>
              <a:buClrTx/>
              <a:buSzTx/>
              <a:buFontTx/>
            </a:pPr>
            <a:r>
              <a:t>The speedup of adding numbers on processors is given by </a:t>
            </a:r>
          </a:p>
          <a:p>
            <a:pPr>
              <a:buClrTx/>
              <a:buSzTx/>
              <a:buFontTx/>
            </a:pPr>
          </a:p>
          <a:p>
            <a:pPr>
              <a:buClrTx/>
              <a:buSzTx/>
              <a:buFontTx/>
            </a:pPr>
          </a:p>
          <a:p>
            <a:pPr>
              <a:buClrTx/>
              <a:buSzTx/>
              <a:buFontTx/>
            </a:pPr>
          </a:p>
          <a:p>
            <a:pPr>
              <a:buClrTx/>
              <a:buSzTx/>
              <a:buFontTx/>
            </a:pPr>
            <a:r>
              <a:t>Efficiency is given by </a:t>
            </a:r>
          </a:p>
          <a:p>
            <a:pPr>
              <a:buClrTx/>
              <a:buSzTx/>
              <a:buFontTx/>
              <a:buNone/>
            </a:pPr>
            <a:r>
              <a:rPr sz="2560"/>
              <a:t>	</a:t>
            </a:r>
            <a:endParaRPr sz="2560"/>
          </a:p>
          <a:p>
            <a:pPr>
              <a:buClrTx/>
              <a:buSzTx/>
              <a:buFontTx/>
              <a:buNone/>
            </a:pPr>
            <a:endParaRPr sz="2560"/>
          </a:p>
          <a:p>
            <a:pPr>
              <a:buClrTx/>
              <a:buSzTx/>
              <a:buFontTx/>
              <a:buNone/>
            </a:pPr>
            <a:r>
              <a:rPr sz="2560"/>
              <a:t>				=</a:t>
            </a:r>
            <a:endParaRPr sz="2560"/>
          </a:p>
          <a:p>
            <a:pPr>
              <a:buClrTx/>
              <a:buSzTx/>
              <a:buFontTx/>
              <a:buNone/>
            </a:pPr>
            <a:endParaRPr sz="2560"/>
          </a:p>
          <a:p>
            <a:pPr>
              <a:buClrTx/>
              <a:buSzTx/>
              <a:buFontTx/>
              <a:buNone/>
            </a:pPr>
            <a:r>
              <a:rPr sz="2560"/>
              <a:t>				</a:t>
            </a:r>
            <a:endParaRPr sz="2560"/>
          </a:p>
          <a:p>
            <a:pPr>
              <a:buClrTx/>
              <a:buSzTx/>
              <a:buFontTx/>
              <a:buNone/>
            </a:pPr>
            <a:r>
              <a:rPr sz="2560"/>
              <a:t>				=</a:t>
            </a:r>
            <a:endParaRPr sz="2560"/>
          </a:p>
        </p:txBody>
      </p:sp>
      <p:grpSp>
        <p:nvGrpSpPr>
          <p:cNvPr id="22542" name="Group 22541"/>
          <p:cNvGrpSpPr/>
          <p:nvPr/>
        </p:nvGrpSpPr>
        <p:grpSpPr>
          <a:xfrm>
            <a:off x="3671147" y="2275840"/>
            <a:ext cx="3057031" cy="4660053"/>
            <a:chOff x="1626" y="1008"/>
            <a:chExt cx="1354" cy="2064"/>
          </a:xfrm>
        </p:grpSpPr>
        <p:pic>
          <p:nvPicPr>
            <p:cNvPr id="22532" name="Content Placeholder 22531" descr="img25"/>
            <p:cNvPicPr>
              <a:picLocks noChangeAspect="1"/>
            </p:cNvPicPr>
            <p:nvPr>
              <p:ph sz="quarter" idx="2"/>
            </p:nvPr>
          </p:nvPicPr>
          <p:blipFill>
            <a:blip r:embed="rId1"/>
            <a:stretch>
              <a:fillRect/>
            </a:stretch>
          </p:blipFill>
          <p:spPr>
            <a:xfrm>
              <a:off x="1632" y="1008"/>
              <a:ext cx="792" cy="396"/>
            </a:xfrm>
          </p:spPr>
        </p:pic>
        <p:grpSp>
          <p:nvGrpSpPr>
            <p:cNvPr id="22541" name="Group 22540"/>
            <p:cNvGrpSpPr/>
            <p:nvPr/>
          </p:nvGrpSpPr>
          <p:grpSpPr>
            <a:xfrm>
              <a:off x="1626" y="1880"/>
              <a:ext cx="1354" cy="1192"/>
              <a:chOff x="1626" y="1880"/>
              <a:chExt cx="1354" cy="1192"/>
            </a:xfrm>
          </p:grpSpPr>
          <p:pic>
            <p:nvPicPr>
              <p:cNvPr id="22534" name="Content Placeholder 22533" descr="img26"/>
              <p:cNvPicPr>
                <a:picLocks noChangeAspect="1"/>
              </p:cNvPicPr>
              <p:nvPr>
                <p:ph sz="quarter" idx="3"/>
              </p:nvPr>
            </p:nvPicPr>
            <p:blipFill>
              <a:blip r:embed="rId2"/>
              <a:stretch>
                <a:fillRect/>
              </a:stretch>
            </p:blipFill>
            <p:spPr>
              <a:xfrm>
                <a:off x="1626" y="2072"/>
                <a:ext cx="198" cy="192"/>
              </a:xfrm>
            </p:spPr>
          </p:pic>
          <p:pic>
            <p:nvPicPr>
              <p:cNvPr id="22536" name="Picture 22535" descr="img27"/>
              <p:cNvPicPr>
                <a:picLocks noChangeAspect="1"/>
              </p:cNvPicPr>
              <p:nvPr/>
            </p:nvPicPr>
            <p:blipFill>
              <a:blip r:embed="rId3"/>
              <a:stretch>
                <a:fillRect/>
              </a:stretch>
            </p:blipFill>
            <p:spPr>
              <a:xfrm>
                <a:off x="2283" y="1880"/>
                <a:ext cx="697" cy="777"/>
              </a:xfrm>
              <a:prstGeom prst="rect">
                <a:avLst/>
              </a:prstGeom>
              <a:noFill/>
              <a:ln w="9525">
                <a:noFill/>
              </a:ln>
            </p:spPr>
          </p:pic>
          <p:pic>
            <p:nvPicPr>
              <p:cNvPr id="22537" name="Picture 22536" descr="img28"/>
              <p:cNvPicPr preferRelativeResize="0">
                <a:picLocks noChangeAspect="1"/>
              </p:cNvPicPr>
              <p:nvPr/>
            </p:nvPicPr>
            <p:blipFill>
              <a:blip r:embed="rId4"/>
              <a:stretch>
                <a:fillRect/>
              </a:stretch>
            </p:blipFill>
            <p:spPr>
              <a:xfrm>
                <a:off x="2279" y="2600"/>
                <a:ext cx="697" cy="472"/>
              </a:xfrm>
              <a:prstGeom prst="rect">
                <a:avLst/>
              </a:prstGeom>
              <a:noFill/>
              <a:ln w="9525">
                <a:noFill/>
              </a:ln>
            </p:spPr>
          </p:pic>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itle 23553"/>
          <p:cNvSpPr>
            <a:spLocks noGrp="1"/>
          </p:cNvSpPr>
          <p:nvPr>
            <p:ph type="title"/>
          </p:nvPr>
        </p:nvSpPr>
        <p:spPr/>
        <p:txBody>
          <a:bodyPr anchor="ctr" anchorCtr="0"/>
          <a:p>
            <a:r>
              <a:t>Parallel Time, Speedup, and Efficiency Example </a:t>
            </a:r>
          </a:p>
        </p:txBody>
      </p:sp>
      <p:sp>
        <p:nvSpPr>
          <p:cNvPr id="23555" name="Text Placeholder 23554"/>
          <p:cNvSpPr>
            <a:spLocks noGrp="1"/>
          </p:cNvSpPr>
          <p:nvPr>
            <p:ph type="body" sz="half" idx="1"/>
          </p:nvPr>
        </p:nvSpPr>
        <p:spPr>
          <a:xfrm>
            <a:off x="650240" y="1582703"/>
            <a:ext cx="11704320" cy="7087164"/>
          </a:xfrm>
        </p:spPr>
        <p:txBody>
          <a:bodyPr/>
          <a:p>
            <a:pPr>
              <a:lnSpc>
                <a:spcPct val="80000"/>
              </a:lnSpc>
              <a:buClrTx/>
              <a:buSzTx/>
              <a:buFontTx/>
              <a:buNone/>
            </a:pPr>
            <a:r>
              <a:t>		Consider the problem of edge-detection in images. The problem requires us to apply a </a:t>
            </a:r>
            <a:r>
              <a:rPr b="1" i="1"/>
              <a:t>3</a:t>
            </a:r>
            <a:r>
              <a:rPr b="1"/>
              <a:t> </a:t>
            </a:r>
            <a:r>
              <a:t>x </a:t>
            </a:r>
            <a:r>
              <a:rPr b="1" i="1"/>
              <a:t>3</a:t>
            </a:r>
            <a:r>
              <a:rPr b="1"/>
              <a:t> </a:t>
            </a:r>
            <a:r>
              <a:t>template to each pixel. If each multiply-add operation takes time </a:t>
            </a:r>
            <a:r>
              <a:rPr b="1" i="1" err="1"/>
              <a:t>t</a:t>
            </a:r>
            <a:r>
              <a:rPr b="1" i="1" baseline="-25000" err="1"/>
              <a:t>c</a:t>
            </a:r>
            <a:r>
              <a:t>, the serial time for an </a:t>
            </a:r>
            <a:r>
              <a:rPr b="1" i="1"/>
              <a:t>n</a:t>
            </a:r>
            <a:r>
              <a:t> x </a:t>
            </a:r>
            <a:r>
              <a:rPr b="1" i="1"/>
              <a:t>n</a:t>
            </a:r>
            <a:r>
              <a:t> image is given by </a:t>
            </a:r>
            <a:r>
              <a:rPr b="1" i="1"/>
              <a:t>T</a:t>
            </a:r>
            <a:r>
              <a:rPr b="1" i="1" baseline="-25000"/>
              <a:t>S</a:t>
            </a:r>
            <a:r>
              <a:t>= </a:t>
            </a:r>
            <a:r>
              <a:rPr b="1" i="1" err="1"/>
              <a:t>t</a:t>
            </a:r>
            <a:r>
              <a:rPr b="1" i="1" baseline="-25000" err="1"/>
              <a:t>c</a:t>
            </a:r>
            <a:r>
              <a:t> </a:t>
            </a:r>
            <a:r>
              <a:rPr b="1" i="1"/>
              <a:t>n</a:t>
            </a:r>
            <a:r>
              <a:rPr b="1" i="1" baseline="30000"/>
              <a:t>2</a:t>
            </a:r>
            <a:r>
              <a:t>. </a:t>
            </a:r>
          </a:p>
          <a:p>
            <a:pPr>
              <a:lnSpc>
                <a:spcPct val="80000"/>
              </a:lnSpc>
              <a:buClrTx/>
              <a:buSzTx/>
              <a:buFontTx/>
              <a:buNone/>
            </a:pPr>
          </a:p>
          <a:p>
            <a:pPr>
              <a:lnSpc>
                <a:spcPct val="80000"/>
              </a:lnSpc>
              <a:buClrTx/>
              <a:buSzTx/>
              <a:buFontTx/>
            </a:pPr>
            <a:endParaRPr sz="2560"/>
          </a:p>
          <a:p>
            <a:pPr>
              <a:lnSpc>
                <a:spcPct val="80000"/>
              </a:lnSpc>
              <a:buClrTx/>
              <a:buSzTx/>
              <a:buFontTx/>
              <a:buNone/>
            </a:pPr>
            <a:r>
              <a:rPr sz="2560"/>
              <a:t>		</a:t>
            </a:r>
            <a:endParaRPr sz="2560"/>
          </a:p>
          <a:p>
            <a:pPr>
              <a:lnSpc>
                <a:spcPct val="80000"/>
              </a:lnSpc>
              <a:buClrTx/>
              <a:buSzTx/>
              <a:buFontTx/>
              <a:buNone/>
            </a:pPr>
            <a:endParaRPr sz="2560"/>
          </a:p>
          <a:p>
            <a:pPr>
              <a:lnSpc>
                <a:spcPct val="80000"/>
              </a:lnSpc>
              <a:buClrTx/>
              <a:buSzTx/>
              <a:buFontTx/>
              <a:buNone/>
            </a:pPr>
            <a:endParaRPr sz="2560"/>
          </a:p>
          <a:p>
            <a:pPr>
              <a:lnSpc>
                <a:spcPct val="80000"/>
              </a:lnSpc>
              <a:buClrTx/>
              <a:buSzTx/>
              <a:buFontTx/>
              <a:buNone/>
            </a:pPr>
            <a:endParaRPr sz="2560"/>
          </a:p>
          <a:p>
            <a:pPr>
              <a:lnSpc>
                <a:spcPct val="80000"/>
              </a:lnSpc>
              <a:buClrTx/>
              <a:buSzTx/>
              <a:buFontTx/>
              <a:buNone/>
            </a:pPr>
            <a:endParaRPr sz="2560"/>
          </a:p>
          <a:p>
            <a:pPr>
              <a:lnSpc>
                <a:spcPct val="80000"/>
              </a:lnSpc>
              <a:buClrTx/>
              <a:buSzTx/>
              <a:buFontTx/>
              <a:buNone/>
            </a:pPr>
            <a:endParaRPr sz="2560"/>
          </a:p>
          <a:p>
            <a:pPr>
              <a:lnSpc>
                <a:spcPct val="80000"/>
              </a:lnSpc>
              <a:buClrTx/>
              <a:buSzTx/>
              <a:buFontTx/>
              <a:buNone/>
            </a:pPr>
            <a:endParaRPr sz="2560"/>
          </a:p>
          <a:p>
            <a:pPr>
              <a:lnSpc>
                <a:spcPct val="80000"/>
              </a:lnSpc>
              <a:buClrTx/>
              <a:buSzTx/>
              <a:buFontTx/>
              <a:buNone/>
            </a:pPr>
            <a:r>
              <a:t>		Example of edge detection: (a) an </a:t>
            </a:r>
            <a:r>
              <a:rPr b="1" i="1"/>
              <a:t>8</a:t>
            </a:r>
            <a:r>
              <a:t> x </a:t>
            </a:r>
            <a:r>
              <a:rPr b="1" i="1"/>
              <a:t>8</a:t>
            </a:r>
            <a:r>
              <a:t> image; (b) typical templates for detecting edges; and (c) partitioning of the image across four processors with shaded regions indicating image data that must be communicated from neighboring processors to processor 1. </a:t>
            </a:r>
          </a:p>
        </p:txBody>
      </p:sp>
      <p:pic>
        <p:nvPicPr>
          <p:cNvPr id="23556" name="Content Placeholder 23555" descr="edges"/>
          <p:cNvPicPr>
            <a:picLocks noChangeAspect="1"/>
          </p:cNvPicPr>
          <p:nvPr>
            <p:ph sz="half" idx="2"/>
          </p:nvPr>
        </p:nvPicPr>
        <p:blipFill>
          <a:blip r:embed="rId1"/>
          <a:stretch>
            <a:fillRect/>
          </a:stretch>
        </p:blipFill>
        <p:spPr>
          <a:xfrm>
            <a:off x="3684693" y="3467947"/>
            <a:ext cx="5743787" cy="2817707"/>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itle 24577"/>
          <p:cNvSpPr>
            <a:spLocks noGrp="1"/>
          </p:cNvSpPr>
          <p:nvPr>
            <p:ph type="title"/>
          </p:nvPr>
        </p:nvSpPr>
        <p:spPr/>
        <p:txBody>
          <a:bodyPr anchor="ctr" anchorCtr="0"/>
          <a:p>
            <a:r>
              <a:t>Parallel Time, Speedup, and Efficiency Example (continued) </a:t>
            </a:r>
          </a:p>
        </p:txBody>
      </p:sp>
      <p:sp>
        <p:nvSpPr>
          <p:cNvPr id="24579" name="Text Placeholder 24578"/>
          <p:cNvSpPr>
            <a:spLocks noGrp="1"/>
          </p:cNvSpPr>
          <p:nvPr>
            <p:ph type="body" idx="1"/>
          </p:nvPr>
        </p:nvSpPr>
        <p:spPr>
          <a:xfrm>
            <a:off x="650240" y="2016196"/>
            <a:ext cx="11704320" cy="6545297"/>
          </a:xfrm>
        </p:spPr>
        <p:txBody>
          <a:bodyPr/>
          <a:p>
            <a:r>
              <a:t>One possible parallelization partitions the image equally into vertical segments, each with </a:t>
            </a:r>
            <a:r>
              <a:rPr b="1" i="1"/>
              <a:t>n</a:t>
            </a:r>
            <a:r>
              <a:rPr b="1" i="1" baseline="30000"/>
              <a:t>2</a:t>
            </a:r>
            <a:r>
              <a:t> / </a:t>
            </a:r>
            <a:r>
              <a:rPr b="1" i="1"/>
              <a:t>p</a:t>
            </a:r>
            <a:r>
              <a:t> pixels. </a:t>
            </a:r>
          </a:p>
          <a:p/>
          <a:p>
            <a:r>
              <a:t>The boundary of each segment is </a:t>
            </a:r>
            <a:r>
              <a:rPr b="1" i="1"/>
              <a:t>2n</a:t>
            </a:r>
            <a:r>
              <a:t> pixels. This is also the number of pixel values that will have to be communicated. This takes time </a:t>
            </a:r>
            <a:r>
              <a:rPr b="1" i="1"/>
              <a:t>2</a:t>
            </a:r>
            <a:r>
              <a:t>(</a:t>
            </a:r>
            <a:r>
              <a:rPr b="1" i="1"/>
              <a:t>t</a:t>
            </a:r>
            <a:r>
              <a:rPr b="1" i="1" baseline="-25000"/>
              <a:t>s</a:t>
            </a:r>
            <a:r>
              <a:t> + </a:t>
            </a:r>
            <a:r>
              <a:rPr b="1" i="1" err="1"/>
              <a:t>t</a:t>
            </a:r>
            <a:r>
              <a:rPr b="1" i="1" baseline="-25000" err="1"/>
              <a:t>w</a:t>
            </a:r>
            <a:r>
              <a:rPr b="1" i="1" err="1"/>
              <a:t>n</a:t>
            </a:r>
            <a:r>
              <a:t>). </a:t>
            </a:r>
          </a:p>
          <a:p/>
          <a:p>
            <a:r>
              <a:t>Templates may now be applied to all </a:t>
            </a:r>
            <a:r>
              <a:rPr b="1" i="1"/>
              <a:t>n</a:t>
            </a:r>
            <a:r>
              <a:rPr b="1" i="1" baseline="30000"/>
              <a:t>2</a:t>
            </a:r>
            <a:r>
              <a:t> / </a:t>
            </a:r>
            <a:r>
              <a:rPr b="1" i="1"/>
              <a:t>p</a:t>
            </a:r>
            <a:r>
              <a:t> pixels in time </a:t>
            </a:r>
          </a:p>
          <a:p>
            <a:pPr>
              <a:buNone/>
            </a:pPr>
            <a:r>
              <a:rPr b="1" i="1"/>
              <a:t>	T</a:t>
            </a:r>
            <a:r>
              <a:rPr b="1" i="1" baseline="-25000"/>
              <a:t>S</a:t>
            </a:r>
            <a:r>
              <a:rPr baseline="-25000"/>
              <a:t> </a:t>
            </a:r>
            <a:r>
              <a:t>= </a:t>
            </a:r>
            <a:r>
              <a:rPr b="1" i="1"/>
              <a:t>9</a:t>
            </a:r>
            <a:r>
              <a:t> </a:t>
            </a:r>
            <a:r>
              <a:rPr b="1" i="1"/>
              <a:t>t</a:t>
            </a:r>
            <a:r>
              <a:rPr b="1" i="1" baseline="-25000"/>
              <a:t>c</a:t>
            </a:r>
            <a:r>
              <a:rPr b="1" i="1"/>
              <a:t>n</a:t>
            </a:r>
            <a:r>
              <a:rPr b="1" i="1" baseline="30000"/>
              <a:t>2</a:t>
            </a:r>
            <a:r>
              <a:t> / </a:t>
            </a:r>
            <a:r>
              <a:rPr b="1" i="1"/>
              <a:t>p</a:t>
            </a:r>
            <a:r>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Title 25601"/>
          <p:cNvSpPr>
            <a:spLocks noGrp="1"/>
          </p:cNvSpPr>
          <p:nvPr>
            <p:ph type="title"/>
          </p:nvPr>
        </p:nvSpPr>
        <p:spPr/>
        <p:txBody>
          <a:bodyPr anchor="ctr" anchorCtr="0"/>
          <a:p>
            <a:r>
              <a:t>Parallel Time, Speedup, and Efficiency Example (continued) </a:t>
            </a:r>
          </a:p>
        </p:txBody>
      </p:sp>
      <p:sp>
        <p:nvSpPr>
          <p:cNvPr id="25603" name="Text Placeholder 25602"/>
          <p:cNvSpPr>
            <a:spLocks noGrp="1"/>
          </p:cNvSpPr>
          <p:nvPr>
            <p:ph type="body" sz="half" idx="1"/>
          </p:nvPr>
        </p:nvSpPr>
        <p:spPr>
          <a:xfrm>
            <a:off x="650240" y="1582703"/>
            <a:ext cx="11704320" cy="7087164"/>
          </a:xfrm>
        </p:spPr>
        <p:txBody>
          <a:bodyPr/>
          <a:p>
            <a:pPr>
              <a:buClrTx/>
              <a:buSzTx/>
              <a:buFontTx/>
            </a:pPr>
            <a:r>
              <a:t>The total time for the algorithm is therefore given by: </a:t>
            </a:r>
          </a:p>
          <a:p>
            <a:pPr>
              <a:buClrTx/>
              <a:buSzTx/>
              <a:buFontTx/>
            </a:pPr>
          </a:p>
          <a:p>
            <a:pPr>
              <a:buClrTx/>
              <a:buSzTx/>
              <a:buFontTx/>
            </a:pPr>
            <a:endParaRPr sz="2560"/>
          </a:p>
          <a:p>
            <a:pPr>
              <a:buClrTx/>
              <a:buSzTx/>
              <a:buFontTx/>
            </a:pPr>
            <a:endParaRPr sz="2560"/>
          </a:p>
          <a:p>
            <a:pPr>
              <a:buClrTx/>
              <a:buSzTx/>
              <a:buFontTx/>
            </a:pPr>
            <a:r>
              <a:t>The corresponding values of speedup and efficiency are given by:</a:t>
            </a:r>
          </a:p>
          <a:p>
            <a:pPr>
              <a:buClrTx/>
              <a:buSzTx/>
              <a:buFontTx/>
            </a:pPr>
          </a:p>
          <a:p>
            <a:pPr>
              <a:buClrTx/>
              <a:buSzTx/>
              <a:buFontTx/>
              <a:buNone/>
            </a:pPr>
            <a:r>
              <a:rPr sz="2560"/>
              <a:t>	</a:t>
            </a:r>
            <a:endParaRPr sz="2560"/>
          </a:p>
          <a:p>
            <a:pPr>
              <a:buClrTx/>
              <a:buSzTx/>
              <a:buFontTx/>
              <a:buNone/>
            </a:pPr>
            <a:endParaRPr sz="2560"/>
          </a:p>
          <a:p>
            <a:pPr>
              <a:buClrTx/>
              <a:buSzTx/>
              <a:buFontTx/>
              <a:buNone/>
            </a:pPr>
            <a:r>
              <a:rPr sz="2560"/>
              <a:t> </a:t>
            </a:r>
            <a:endParaRPr sz="2560"/>
          </a:p>
          <a:p>
            <a:pPr>
              <a:buClrTx/>
              <a:buSzTx/>
              <a:buFontTx/>
              <a:buNone/>
            </a:pPr>
            <a:r>
              <a:t>	and </a:t>
            </a:r>
          </a:p>
        </p:txBody>
      </p:sp>
      <p:grpSp>
        <p:nvGrpSpPr>
          <p:cNvPr id="25610" name="Group 25609"/>
          <p:cNvGrpSpPr/>
          <p:nvPr/>
        </p:nvGrpSpPr>
        <p:grpSpPr>
          <a:xfrm>
            <a:off x="3467947" y="2275840"/>
            <a:ext cx="4368801" cy="5743787"/>
            <a:chOff x="1536" y="1008"/>
            <a:chExt cx="1935" cy="2544"/>
          </a:xfrm>
        </p:grpSpPr>
        <p:pic>
          <p:nvPicPr>
            <p:cNvPr id="25604" name="Content Placeholder 25603" descr="img37"/>
            <p:cNvPicPr>
              <a:picLocks noChangeAspect="1"/>
            </p:cNvPicPr>
            <p:nvPr>
              <p:ph sz="quarter" idx="2"/>
            </p:nvPr>
          </p:nvPicPr>
          <p:blipFill>
            <a:blip r:embed="rId1"/>
            <a:stretch>
              <a:fillRect/>
            </a:stretch>
          </p:blipFill>
          <p:spPr>
            <a:xfrm>
              <a:off x="1536" y="1008"/>
              <a:ext cx="1935" cy="575"/>
            </a:xfrm>
          </p:spPr>
        </p:pic>
        <p:grpSp>
          <p:nvGrpSpPr>
            <p:cNvPr id="25609" name="Group 25608"/>
            <p:cNvGrpSpPr/>
            <p:nvPr/>
          </p:nvGrpSpPr>
          <p:grpSpPr>
            <a:xfrm>
              <a:off x="1536" y="2112"/>
              <a:ext cx="1831" cy="1440"/>
              <a:chOff x="1536" y="2112"/>
              <a:chExt cx="1831" cy="1440"/>
            </a:xfrm>
          </p:grpSpPr>
          <p:pic>
            <p:nvPicPr>
              <p:cNvPr id="25606" name="Content Placeholder 25605" descr="img38"/>
              <p:cNvPicPr>
                <a:picLocks noChangeAspect="1"/>
              </p:cNvPicPr>
              <p:nvPr>
                <p:ph sz="quarter" idx="3"/>
              </p:nvPr>
            </p:nvPicPr>
            <p:blipFill>
              <a:blip r:embed="rId2"/>
              <a:stretch>
                <a:fillRect/>
              </a:stretch>
            </p:blipFill>
            <p:spPr>
              <a:xfrm>
                <a:off x="1536" y="2112"/>
                <a:ext cx="1831" cy="575"/>
              </a:xfrm>
            </p:spPr>
          </p:pic>
          <p:pic>
            <p:nvPicPr>
              <p:cNvPr id="25608" name="Picture 25607" descr="img39"/>
              <p:cNvPicPr>
                <a:picLocks noChangeAspect="1"/>
              </p:cNvPicPr>
              <p:nvPr/>
            </p:nvPicPr>
            <p:blipFill>
              <a:blip r:embed="rId3"/>
              <a:stretch>
                <a:fillRect/>
              </a:stretch>
            </p:blipFill>
            <p:spPr>
              <a:xfrm>
                <a:off x="1543" y="2976"/>
                <a:ext cx="1584" cy="576"/>
              </a:xfrm>
              <a:prstGeom prst="rect">
                <a:avLst/>
              </a:prstGeom>
              <a:noFill/>
              <a:ln w="9525">
                <a:noFill/>
              </a:ln>
            </p:spPr>
          </p:pic>
        </p:gr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itle 27649"/>
          <p:cNvSpPr>
            <a:spLocks noGrp="1"/>
          </p:cNvSpPr>
          <p:nvPr>
            <p:ph type="title"/>
          </p:nvPr>
        </p:nvSpPr>
        <p:spPr/>
        <p:txBody>
          <a:bodyPr anchor="ctr" anchorCtr="0"/>
          <a:p>
            <a:r>
              <a:t>Cost of a Parallel System </a:t>
            </a:r>
          </a:p>
        </p:txBody>
      </p:sp>
      <p:sp>
        <p:nvSpPr>
          <p:cNvPr id="27651" name="Text Placeholder 27650"/>
          <p:cNvSpPr>
            <a:spLocks noGrp="1"/>
          </p:cNvSpPr>
          <p:nvPr>
            <p:ph type="body" idx="1"/>
          </p:nvPr>
        </p:nvSpPr>
        <p:spPr>
          <a:xfrm>
            <a:off x="650240" y="2016196"/>
            <a:ext cx="11704320" cy="7087164"/>
          </a:xfrm>
        </p:spPr>
        <p:txBody>
          <a:bodyPr/>
          <a:p>
            <a:r>
              <a:t>Cost is the product of parallel runtime and the number of processing elements used (</a:t>
            </a:r>
            <a:r>
              <a:rPr b="1" i="1"/>
              <a:t>p</a:t>
            </a:r>
            <a:r>
              <a:t> x </a:t>
            </a:r>
            <a:r>
              <a:rPr b="1" i="1"/>
              <a:t>T</a:t>
            </a:r>
            <a:r>
              <a:rPr b="1" i="1" baseline="-25000"/>
              <a:t>P</a:t>
            </a:r>
            <a:r>
              <a:t> ). </a:t>
            </a:r>
          </a:p>
          <a:p/>
          <a:p>
            <a:r>
              <a:t>Cost reflects the sum of the time that each processing element spends solving the problem. </a:t>
            </a:r>
          </a:p>
          <a:p/>
          <a:p>
            <a:r>
              <a:t>A parallel system is said to be </a:t>
            </a:r>
            <a:r>
              <a:rPr i="1"/>
              <a:t>cost-optimal</a:t>
            </a:r>
            <a:r>
              <a:t> if the cost of solving a problem on a parallel computer is asymptotically identical to serial cost. </a:t>
            </a:r>
          </a:p>
          <a:p/>
          <a:p>
            <a:r>
              <a:t>Since </a:t>
            </a:r>
            <a:r>
              <a:rPr b="1" i="1"/>
              <a:t>E</a:t>
            </a:r>
            <a:r>
              <a:t> = </a:t>
            </a:r>
            <a:r>
              <a:rPr b="1" i="1"/>
              <a:t>T</a:t>
            </a:r>
            <a:r>
              <a:rPr b="1" i="1" baseline="-25000"/>
              <a:t>S</a:t>
            </a:r>
            <a:r>
              <a:t> / </a:t>
            </a:r>
            <a:r>
              <a:rPr b="1" i="1"/>
              <a:t>p</a:t>
            </a:r>
            <a:r>
              <a:t> </a:t>
            </a:r>
            <a:r>
              <a:rPr b="1" i="1"/>
              <a:t>T</a:t>
            </a:r>
            <a:r>
              <a:rPr b="1" i="1" baseline="-25000"/>
              <a:t>P</a:t>
            </a:r>
            <a:r>
              <a:t>, for cost optimal systems, </a:t>
            </a:r>
            <a:r>
              <a:rPr b="1" i="1"/>
              <a:t>E</a:t>
            </a:r>
            <a:r>
              <a:t> = </a:t>
            </a:r>
            <a:r>
              <a:rPr i="1"/>
              <a:t>O</a:t>
            </a:r>
            <a:r>
              <a:t>(1). </a:t>
            </a:r>
          </a:p>
          <a:p/>
          <a:p>
            <a:r>
              <a:t>Cost is sometimes referred to as </a:t>
            </a:r>
            <a:r>
              <a:rPr i="1"/>
              <a:t>work</a:t>
            </a:r>
            <a:r>
              <a:t> or </a:t>
            </a:r>
            <a:r>
              <a:rPr i="1"/>
              <a:t>processor-time product</a:t>
            </a:r>
            <a: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itle 26625"/>
          <p:cNvSpPr>
            <a:spLocks noGrp="1"/>
          </p:cNvSpPr>
          <p:nvPr>
            <p:ph type="title"/>
          </p:nvPr>
        </p:nvSpPr>
        <p:spPr/>
        <p:txBody>
          <a:bodyPr anchor="ctr" anchorCtr="0"/>
          <a:p>
            <a:r>
              <a:t>Cost of a Parallel System: Example </a:t>
            </a:r>
          </a:p>
        </p:txBody>
      </p:sp>
      <p:sp>
        <p:nvSpPr>
          <p:cNvPr id="26627" name="Text Placeholder 26626"/>
          <p:cNvSpPr>
            <a:spLocks noGrp="1"/>
          </p:cNvSpPr>
          <p:nvPr>
            <p:ph type="body" idx="1"/>
          </p:nvPr>
        </p:nvSpPr>
        <p:spPr/>
        <p:txBody>
          <a:bodyPr/>
          <a:p>
            <a:pPr>
              <a:buNone/>
            </a:pPr>
            <a:r>
              <a:rPr sz="2560"/>
              <a:t>	</a:t>
            </a:r>
            <a:r>
              <a:t>Consider the problem of adding numbers on processors. </a:t>
            </a:r>
          </a:p>
          <a:p>
            <a:pPr>
              <a:buNone/>
            </a:pPr>
          </a:p>
          <a:p>
            <a:r>
              <a:t>We have, </a:t>
            </a:r>
            <a:r>
              <a:rPr b="1" i="1"/>
              <a:t>T</a:t>
            </a:r>
            <a:r>
              <a:rPr b="1" i="1" baseline="-25000"/>
              <a:t>P</a:t>
            </a:r>
            <a:r>
              <a:t> = </a:t>
            </a:r>
            <a:r>
              <a:rPr b="1"/>
              <a:t>log</a:t>
            </a:r>
            <a:r>
              <a:rPr b="1" i="1"/>
              <a:t> n</a:t>
            </a:r>
            <a:r>
              <a:t> (for </a:t>
            </a:r>
            <a:r>
              <a:rPr b="1" i="1"/>
              <a:t>p</a:t>
            </a:r>
            <a:r>
              <a:t> = </a:t>
            </a:r>
            <a:r>
              <a:rPr b="1" i="1"/>
              <a:t>n</a:t>
            </a:r>
            <a:r>
              <a:t>). </a:t>
            </a:r>
          </a:p>
          <a:p/>
          <a:p>
            <a:r>
              <a:t>The cost of this system is given by </a:t>
            </a:r>
            <a:r>
              <a:rPr b="1" i="1"/>
              <a:t>p</a:t>
            </a:r>
            <a:r>
              <a:t> </a:t>
            </a:r>
            <a:r>
              <a:rPr b="1" i="1"/>
              <a:t>T</a:t>
            </a:r>
            <a:r>
              <a:rPr b="1" i="1" baseline="-25000"/>
              <a:t>P</a:t>
            </a:r>
            <a:r>
              <a:t> = </a:t>
            </a:r>
            <a:r>
              <a:rPr b="1" i="1"/>
              <a:t>n </a:t>
            </a:r>
            <a:r>
              <a:rPr b="1"/>
              <a:t>log</a:t>
            </a:r>
            <a:r>
              <a:rPr b="1" i="1"/>
              <a:t> n</a:t>
            </a:r>
            <a:r>
              <a:t>. </a:t>
            </a:r>
          </a:p>
          <a:p/>
          <a:p>
            <a:r>
              <a:t>Since the serial runtime of this operation is </a:t>
            </a:r>
            <a:r>
              <a:rPr lang="el-GR" altLang="x-none" dirty="0">
                <a:cs typeface="Arial" panose="020B0604020202020204" pitchFamily="34" charset="0"/>
              </a:rPr>
              <a:t>Θ</a:t>
            </a:r>
            <a:r>
              <a:rPr>
                <a:cs typeface="Arial" panose="020B0604020202020204" pitchFamily="34" charset="0"/>
              </a:rPr>
              <a:t>(</a:t>
            </a:r>
            <a:r>
              <a:rPr b="1" i="1">
                <a:cs typeface="Arial" panose="020B0604020202020204" pitchFamily="34" charset="0"/>
              </a:rPr>
              <a:t>n</a:t>
            </a:r>
            <a:r>
              <a:rPr>
                <a:cs typeface="Arial" panose="020B0604020202020204" pitchFamily="34" charset="0"/>
              </a:rPr>
              <a:t>)</a:t>
            </a:r>
            <a:r>
              <a:t>, the algorithm is not cost optimal.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itle 30721"/>
          <p:cNvSpPr>
            <a:spLocks noGrp="1"/>
          </p:cNvSpPr>
          <p:nvPr>
            <p:ph type="title"/>
          </p:nvPr>
        </p:nvSpPr>
        <p:spPr/>
        <p:txBody>
          <a:bodyPr anchor="ctr" anchorCtr="0"/>
          <a:p>
            <a:r>
              <a:t>Impact of Non-Cost Optimality </a:t>
            </a:r>
          </a:p>
        </p:txBody>
      </p:sp>
      <p:sp>
        <p:nvSpPr>
          <p:cNvPr id="30723" name="Text Placeholder 30722"/>
          <p:cNvSpPr>
            <a:spLocks noGrp="1"/>
          </p:cNvSpPr>
          <p:nvPr>
            <p:ph type="body" idx="1"/>
          </p:nvPr>
        </p:nvSpPr>
        <p:spPr>
          <a:xfrm>
            <a:off x="650240" y="1582703"/>
            <a:ext cx="11704320" cy="7629030"/>
          </a:xfrm>
        </p:spPr>
        <p:txBody>
          <a:bodyPr/>
          <a:p>
            <a:pPr>
              <a:buNone/>
            </a:pPr>
            <a:r>
              <a:rPr sz="1140"/>
              <a:t>		</a:t>
            </a:r>
            <a:r>
              <a:t>Consider a sorting algorithm that uses </a:t>
            </a:r>
            <a:r>
              <a:rPr b="1" i="1"/>
              <a:t>n</a:t>
            </a:r>
            <a:r>
              <a:t> processing elements to sort the list in time (</a:t>
            </a:r>
            <a:r>
              <a:rPr b="1"/>
              <a:t>log</a:t>
            </a:r>
            <a:r>
              <a:rPr b="1" i="1"/>
              <a:t> n</a:t>
            </a:r>
            <a:r>
              <a:t>)</a:t>
            </a:r>
            <a:r>
              <a:rPr b="1" i="1" baseline="30000"/>
              <a:t>2</a:t>
            </a:r>
            <a:r>
              <a:t>. </a:t>
            </a:r>
          </a:p>
          <a:p>
            <a:r>
              <a:t>Since the serial runtime of a (comparison-based) sort is </a:t>
            </a:r>
            <a:r>
              <a:rPr b="1" i="1"/>
              <a:t>n</a:t>
            </a:r>
            <a:r>
              <a:t> </a:t>
            </a:r>
            <a:r>
              <a:rPr b="1"/>
              <a:t>log </a:t>
            </a:r>
            <a:r>
              <a:rPr b="1" i="1"/>
              <a:t>n</a:t>
            </a:r>
            <a:r>
              <a:t>, the speedup and efficiency of this algorithm are given by </a:t>
            </a:r>
            <a:r>
              <a:rPr b="1" i="1"/>
              <a:t>n </a:t>
            </a:r>
            <a:r>
              <a:t>/ </a:t>
            </a:r>
            <a:r>
              <a:rPr b="1"/>
              <a:t>log </a:t>
            </a:r>
            <a:r>
              <a:rPr b="1" i="1"/>
              <a:t>n</a:t>
            </a:r>
            <a:r>
              <a:t> and 1 / </a:t>
            </a:r>
            <a:r>
              <a:rPr b="1"/>
              <a:t>log </a:t>
            </a:r>
            <a:r>
              <a:rPr b="1" i="1"/>
              <a:t>n</a:t>
            </a:r>
            <a:r>
              <a:t>, respectively. </a:t>
            </a:r>
          </a:p>
          <a:p/>
          <a:p>
            <a:r>
              <a:t>The </a:t>
            </a:r>
            <a:r>
              <a:rPr b="1" i="1"/>
              <a:t>p T</a:t>
            </a:r>
            <a:r>
              <a:rPr b="1" i="1" baseline="-25000"/>
              <a:t>P</a:t>
            </a:r>
            <a:r>
              <a:t> product of this algorithm is </a:t>
            </a:r>
            <a:r>
              <a:rPr b="1" i="1"/>
              <a:t>n</a:t>
            </a:r>
            <a:r>
              <a:t> (</a:t>
            </a:r>
            <a:r>
              <a:rPr b="1"/>
              <a:t>log </a:t>
            </a:r>
            <a:r>
              <a:rPr b="1" i="1"/>
              <a:t>n</a:t>
            </a:r>
            <a:r>
              <a:t>)</a:t>
            </a:r>
            <a:r>
              <a:rPr b="1" i="1" baseline="30000"/>
              <a:t>2</a:t>
            </a:r>
            <a:r>
              <a:t>. </a:t>
            </a:r>
          </a:p>
          <a:p/>
          <a:p>
            <a:r>
              <a:t>This algorithm is not cost optimal but only by a factor of </a:t>
            </a:r>
            <a:r>
              <a:rPr b="1" i="1"/>
              <a:t>log n</a:t>
            </a:r>
            <a:r>
              <a:t>. </a:t>
            </a:r>
          </a:p>
          <a:p/>
          <a:p>
            <a:r>
              <a:t>If </a:t>
            </a:r>
            <a:r>
              <a:rPr b="1" i="1"/>
              <a:t>p</a:t>
            </a:r>
            <a:r>
              <a:t> &lt; </a:t>
            </a:r>
            <a:r>
              <a:rPr b="1" i="1"/>
              <a:t>n</a:t>
            </a:r>
            <a:r>
              <a:t>, assigning </a:t>
            </a:r>
            <a:r>
              <a:rPr b="1" i="1"/>
              <a:t>n</a:t>
            </a:r>
            <a:r>
              <a:t> tasks to </a:t>
            </a:r>
            <a:r>
              <a:rPr b="1" i="1"/>
              <a:t>p</a:t>
            </a:r>
            <a:r>
              <a:t> processors gives </a:t>
            </a:r>
            <a:r>
              <a:rPr b="1" i="1"/>
              <a:t>T</a:t>
            </a:r>
            <a:r>
              <a:rPr b="1" i="1" baseline="-25000"/>
              <a:t>P</a:t>
            </a:r>
            <a:r>
              <a:t> = </a:t>
            </a:r>
            <a:r>
              <a:rPr b="1" i="1"/>
              <a:t>n</a:t>
            </a:r>
            <a:r>
              <a:t> (</a:t>
            </a:r>
            <a:r>
              <a:rPr b="1"/>
              <a:t>log </a:t>
            </a:r>
            <a:r>
              <a:rPr b="1" i="1"/>
              <a:t>n</a:t>
            </a:r>
            <a:r>
              <a:t>)</a:t>
            </a:r>
            <a:r>
              <a:rPr b="1" i="1" baseline="30000"/>
              <a:t>2</a:t>
            </a:r>
            <a:r>
              <a:t> / </a:t>
            </a:r>
            <a:r>
              <a:rPr b="1" i="1"/>
              <a:t>p </a:t>
            </a:r>
            <a:r>
              <a:rPr i="1"/>
              <a:t>.</a:t>
            </a:r>
            <a:endParaRPr i="1"/>
          </a:p>
          <a:p>
            <a:endParaRPr i="1"/>
          </a:p>
          <a:p>
            <a:r>
              <a:t>The corresponding speedup of this formulation is </a:t>
            </a:r>
            <a:r>
              <a:rPr b="1" i="1"/>
              <a:t>p</a:t>
            </a:r>
            <a:r>
              <a:t> / </a:t>
            </a:r>
            <a:r>
              <a:rPr b="1"/>
              <a:t>log </a:t>
            </a:r>
            <a:r>
              <a:rPr b="1" i="1"/>
              <a:t>n</a:t>
            </a:r>
            <a:r>
              <a:t>. </a:t>
            </a:r>
          </a:p>
          <a:p/>
          <a:p>
            <a:r>
              <a:t>This speedup goes down as the problem size </a:t>
            </a:r>
            <a:r>
              <a:rPr b="1" i="1"/>
              <a:t>n</a:t>
            </a:r>
            <a:r>
              <a:t> is increased for a given </a:t>
            </a:r>
            <a:r>
              <a:rPr b="1" i="1"/>
              <a:t>p</a:t>
            </a:r>
            <a:r>
              <a:t> ! </a:t>
            </a:r>
          </a:p>
        </p:txBody>
      </p:sp>
    </p:spTree>
  </p:cSld>
  <p:clrMapOvr>
    <a:masterClrMapping/>
  </p:clrMapOvr>
</p:sld>
</file>

<file path=ppt/tags/tag1.xml><?xml version="1.0" encoding="utf-8"?>
<p:tagLst xmlns:p="http://schemas.openxmlformats.org/presentationml/2006/main">
  <p:tag name="commondata" val="eyJoZGlkIjoiNjJjNTFkOTdkODM4ZDJhZTE0NWNhZWEyMDljZmVjZjEifQ=="/>
</p:tagLst>
</file>

<file path=ppt/theme/theme1.xml><?xml version="1.0" encoding="utf-8"?>
<a:theme xmlns:a="http://schemas.openxmlformats.org/drawingml/2006/main" name="23_ClassicWhite">
  <a:themeElements>
    <a:clrScheme name="">
      <a:dk1>
        <a:srgbClr val="000000"/>
      </a:dk1>
      <a:lt1>
        <a:srgbClr val="FFFFFF"/>
      </a:lt1>
      <a:dk2>
        <a:srgbClr val="5E5E5E"/>
      </a:dk2>
      <a:lt2>
        <a:srgbClr val="D5D5D5"/>
      </a:lt2>
      <a:accent1>
        <a:srgbClr val="3E74D1"/>
      </a:accent1>
      <a:accent2>
        <a:srgbClr val="33C5B9"/>
      </a:accent2>
      <a:accent3>
        <a:srgbClr val="FFFFFF"/>
      </a:accent3>
      <a:accent4>
        <a:srgbClr val="000000"/>
      </a:accent4>
      <a:accent5>
        <a:srgbClr val="AFBCE5"/>
      </a:accent5>
      <a:accent6>
        <a:srgbClr val="2DB2A7"/>
      </a:accent6>
      <a:hlink>
        <a:srgbClr val="0000FF"/>
      </a:hlink>
      <a:folHlink>
        <a:srgbClr val="FF00FF"/>
      </a:folHlink>
    </a:clrScheme>
    <a:fontScheme name="23_ClassicWhite">
      <a:majorFont>
        <a:latin typeface="Helvetica"/>
        <a:ea typeface="Helvetica"/>
        <a:cs typeface="Helvetica"/>
      </a:majorFont>
      <a:minorFont>
        <a:latin typeface="Helvetica"/>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noFill/>
        <a:ln w="38100" cap="flat" cmpd="sng" algn="ctr">
          <a:solidFill>
            <a:srgbClr val="FF0000"/>
          </a:solidFill>
          <a:prstDash val="solid"/>
          <a:miter lim="400000"/>
          <a:headEnd type="none" w="med" len="med"/>
          <a:tailEnd type="none" w="med" len="med"/>
        </a:ln>
      </a:spPr>
      <a:bodyPr vert="horz" wrap="square" lIns="50800" tIns="50800" rIns="50800" bIns="50800" numCol="1" rtlCol="0" anchor="ctr" anchorCtr="0" compatLnSpc="1">
        <a:noAutofit/>
      </a:bodyPr>
      <a:lstStyle>
        <a:defPPr marL="0" marR="0" indent="0" algn="ctr" defTabSz="1733550" rtl="0" eaLnBrk="1" fontAlgn="base" latinLnBrk="0" hangingPunct="0">
          <a:lnSpc>
            <a:spcPct val="90000"/>
          </a:lnSpc>
          <a:spcBef>
            <a:spcPct val="0"/>
          </a:spcBef>
          <a:spcAft>
            <a:spcPct val="0"/>
          </a:spcAft>
          <a:buClrTx/>
          <a:buSzTx/>
          <a:buFontTx/>
          <a:buNone/>
          <a:defRPr kumimoji="0" sz="1600" b="0" i="0" u="none" strike="noStrike" cap="none" normalizeH="0" baseline="0" smtClean="0">
            <a:ln>
              <a:noFill/>
            </a:ln>
            <a:solidFill>
              <a:srgbClr val="000000"/>
            </a:solidFill>
            <a:effectLst/>
            <a:latin typeface="Canela Text Regular" charset="0"/>
            <a:ea typeface="Canela Text Regular" charset="0"/>
            <a:cs typeface="Canela Text Regular" charset="0"/>
            <a:sym typeface="Canela Text Regular" charset="0"/>
          </a:defRPr>
        </a:defPPr>
      </a:lstStyle>
    </a:spDef>
    <a:lnDef>
      <a:spPr bwMode="auto">
        <a:xfrm>
          <a:off x="0" y="0"/>
          <a:ext cx="1" cy="1"/>
        </a:xfrm>
        <a:custGeom>
          <a:avLst/>
          <a:gdLst/>
          <a:ahLst/>
          <a:cxnLst/>
          <a:rect l="0" t="0" r="0" b="0"/>
          <a:pathLst/>
        </a:custGeom>
        <a:solidFill>
          <a:srgbClr val="000000"/>
        </a:solidFill>
        <a:ln w="25400" cap="flat" cmpd="sng" algn="ctr">
          <a:solidFill>
            <a:srgbClr val="000000"/>
          </a:solidFill>
          <a:prstDash val="solid"/>
          <a:miter lim="400000"/>
          <a:headEnd type="none" w="med" len="med"/>
          <a:tailEnd type="none" w="med" len="med"/>
        </a:ln>
      </a:spPr>
      <a:bodyPr vert="horz" wrap="square" lIns="50800" tIns="50800" rIns="50800" bIns="50800" numCol="1" anchor="ctr" anchorCtr="0" compatLnSpc="1">
        <a:spAutoFit/>
      </a:bodyPr>
      <a:lstStyle>
        <a:defPPr marL="0" marR="0" indent="0" algn="ctr" defTabSz="1733550" rtl="0" eaLnBrk="1" fontAlgn="base" latinLnBrk="0" hangingPunct="0">
          <a:lnSpc>
            <a:spcPct val="90000"/>
          </a:lnSpc>
          <a:spcBef>
            <a:spcPct val="0"/>
          </a:spcBef>
          <a:spcAft>
            <a:spcPct val="0"/>
          </a:spcAft>
          <a:buClrTx/>
          <a:buSzTx/>
          <a:buFontTx/>
          <a:buNone/>
          <a:defRPr kumimoji="0" lang="en-US" altLang="en-US" sz="1600" b="0" i="0" u="none" strike="noStrike" cap="none" normalizeH="0" baseline="0" smtClean="0">
            <a:ln>
              <a:noFill/>
            </a:ln>
            <a:solidFill>
              <a:srgbClr val="000000"/>
            </a:solidFill>
            <a:effectLst/>
            <a:latin typeface="Canela Text Regular" charset="0"/>
            <a:ea typeface="Canela Text Regular" charset="0"/>
            <a:cs typeface="Canela Text Regular" charset="0"/>
            <a:sym typeface="Canela Text Regular" charset="0"/>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5E5E5E"/>
      </a:dk2>
      <a:lt2>
        <a:srgbClr val="D5D5D5"/>
      </a:lt2>
      <a:accent1>
        <a:srgbClr val="3E74D1"/>
      </a:accent1>
      <a:accent2>
        <a:srgbClr val="33C5B9"/>
      </a:accent2>
      <a:accent3>
        <a:srgbClr val="FFFFFF"/>
      </a:accent3>
      <a:accent4>
        <a:srgbClr val="000000"/>
      </a:accent4>
      <a:accent5>
        <a:srgbClr val="AFBCE5"/>
      </a:accent5>
      <a:accent6>
        <a:srgbClr val="2DB2A7"/>
      </a:accent6>
      <a:hlink>
        <a:srgbClr val="0000FF"/>
      </a:hlink>
      <a:folHlink>
        <a:srgbClr val="FF00FF"/>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7631</Words>
  <Application>WPS 演示</Application>
  <PresentationFormat>Custom</PresentationFormat>
  <Paragraphs>219</Paragraphs>
  <Slides>21</Slides>
  <Notes>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21</vt:i4>
      </vt:variant>
    </vt:vector>
  </HeadingPairs>
  <TitlesOfParts>
    <vt:vector size="32" baseType="lpstr">
      <vt:lpstr>Arial</vt:lpstr>
      <vt:lpstr>宋体</vt:lpstr>
      <vt:lpstr>Wingdings</vt:lpstr>
      <vt:lpstr>Canela Text Regular</vt:lpstr>
      <vt:lpstr>Segoe Print</vt:lpstr>
      <vt:lpstr>Helvetica</vt:lpstr>
      <vt:lpstr>Graphik</vt:lpstr>
      <vt:lpstr>Helvetica Neue</vt:lpstr>
      <vt:lpstr>微软雅黑</vt:lpstr>
      <vt:lpstr>Arial Unicode MS</vt:lpstr>
      <vt:lpstr>23_ClassicWhite</vt:lpstr>
      <vt:lpstr>DTS205TC High Performance Computing</vt:lpstr>
      <vt:lpstr>Analytical Modeling - Basics </vt:lpstr>
      <vt:lpstr>Analytical Modeling - Basics </vt:lpstr>
      <vt:lpstr>Sources of Overhead in Parallel Programs </vt:lpstr>
      <vt:lpstr>Sources of Overheads in Parallel Programs </vt:lpstr>
      <vt:lpstr>Performance Metrics for Parallel Systems: Execution  Time </vt:lpstr>
      <vt:lpstr>Performance Metrics for Parallel Systems: Total Parallel Overhead </vt:lpstr>
      <vt:lpstr>Performance Metrics for Parallel Systems: Speedup </vt:lpstr>
      <vt:lpstr>Performance Metrics: Example </vt:lpstr>
      <vt:lpstr>Performance Metrics: Example </vt:lpstr>
      <vt:lpstr>Performance Metrics: Example (continued) </vt:lpstr>
      <vt:lpstr>Performance Metrics: Speedup </vt:lpstr>
      <vt:lpstr>Performance Metrics: Speedup Example </vt:lpstr>
      <vt:lpstr>Performance Metrics: Efficiency </vt:lpstr>
      <vt:lpstr>Performance Metrics: Efficiency Example </vt:lpstr>
      <vt:lpstr>Parallel Time, Speedup, and Efficiency Example </vt:lpstr>
      <vt:lpstr>Parallel Time, Speedup, and Efficiency Example (continued) </vt:lpstr>
      <vt:lpstr>Parallel Time, Speedup, and Efficiency Example (continued) </vt:lpstr>
      <vt:lpstr>Cost of a Parallel System </vt:lpstr>
      <vt:lpstr>Cost of a Parallel System: Example </vt:lpstr>
      <vt:lpstr>Impact of Non-Cost Optimality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DTS205TC High Performance Computing</dc:title>
  <dc:creator>andyz</dc:creator>
  <cp:lastModifiedBy>ZD</cp:lastModifiedBy>
  <cp:revision>2420</cp:revision>
  <dcterms:created xsi:type="dcterms:W3CDTF">2024-02-16T05:58:00Z</dcterms:created>
  <dcterms:modified xsi:type="dcterms:W3CDTF">2024-03-31T11:54:12Z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15E90232A14345C8B247CA7159C807B4_12</vt:lpwstr>
  </property>
  <property fmtid="{D5CDD505-2E9C-101B-9397-08002B2CF9AE}" pid="3" name="KSOProductBuildVer">
    <vt:lpwstr>2052-12.1.0.16417</vt:lpwstr>
  </property>
</Properties>
</file>