
<file path=[Content_Types].xml><?xml version="1.0" encoding="utf-8"?>
<Types xmlns="http://schemas.openxmlformats.org/package/2006/content-types">
  <Default Extension="png" ContentType="image/png"/>
  <Default Extension="emf" ContentType="image/x-emf"/>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p:sldMasterIdLst>
    <p:sldMasterId id="2147483648" r:id="rId1"/>
  </p:sldMasterIdLst>
  <p:notesMasterIdLst>
    <p:notesMasterId r:id="rId9"/>
  </p:notesMasterIdLst>
  <p:sldIdLst>
    <p:sldId id="256" r:id="rId3"/>
    <p:sldId id="310" r:id="rId4"/>
    <p:sldId id="311" r:id="rId5"/>
    <p:sldId id="312" r:id="rId6"/>
    <p:sldId id="313" r:id="rId7"/>
    <p:sldId id="314" r:id="rId8"/>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2" r:id="rId27"/>
    <p:sldId id="333" r:id="rId28"/>
    <p:sldId id="334" r:id="rId29"/>
    <p:sldId id="335" r:id="rId30"/>
    <p:sldId id="336" r:id="rId31"/>
    <p:sldId id="337" r:id="rId32"/>
    <p:sldId id="338" r:id="rId33"/>
    <p:sldId id="339" r:id="rId34"/>
    <p:sldId id="340" r:id="rId35"/>
    <p:sldId id="341" r:id="rId36"/>
    <p:sldId id="342" r:id="rId37"/>
    <p:sldId id="343" r:id="rId38"/>
    <p:sldId id="344" r:id="rId39"/>
    <p:sldId id="345" r:id="rId40"/>
    <p:sldId id="346" r:id="rId41"/>
    <p:sldId id="347"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Lst>
  <p:sldSz cx="13004800" cy="9753600"/>
  <p:notesSz cx="6858000" cy="9144000"/>
  <p:custDataLst>
    <p:tags r:id="rId73"/>
  </p:custDataLst>
  <p:defaultTextStyle>
    <a:defPPr>
      <a:defRPr lang="en-US"/>
    </a:defPPr>
    <a:lvl1pPr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1pPr>
    <a:lvl2pPr marL="4572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2pPr>
    <a:lvl3pPr marL="9144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3pPr>
    <a:lvl4pPr marL="13716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4pPr>
    <a:lvl5pPr marL="18288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5pPr>
    <a:lvl6pPr marL="22860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6pPr>
    <a:lvl7pPr marL="27432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7pPr>
    <a:lvl8pPr marL="32004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8pPr>
    <a:lvl9pPr marL="36576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9pPr>
  </p:defaultTextStyle>
  <p:extLst>
    <p:ext uri="{521415D9-36F7-43E2-AB2F-B90AF26B5E84}">
      <p14:sectionLst xmlns:p14="http://schemas.microsoft.com/office/powerpoint/2010/main">
        <p14:section name="默认节" id="{e3b355c4-747f-4e72-bd5f-24aff81f9341}">
          <p14:sldIdLst>
            <p14:sldId id="256"/>
            <p14:sldId id="310"/>
            <p14:sldId id="311"/>
            <p14:sldId id="312"/>
            <p14:sldId id="313"/>
            <p14:sldId id="314"/>
            <p14:sldId id="315"/>
            <p14:sldId id="316"/>
            <p14:sldId id="317"/>
            <p14:sldId id="318"/>
          </p14:sldIdLst>
        </p14:section>
        <p14:section name="无标题节" id="{cfd17641-620b-4bac-b954-6422842b57af}">
          <p14:sldIdLst/>
        </p14:section>
        <p14:section name="无标题节" id="{e22f6d04-f14f-4374-8c8d-aec9495b75e4}">
          <p14:sldIdLst>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Lst>
        </p14:section>
        <p14:section name="无标题节" id="{f6e60e1c-95bb-4b85-8951-3ef2843a800e}">
          <p14:sldIdLst>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Lst>
        </p14:section>
      </p14:sectionLst>
    </p:ext>
    <p:ext uri="{EFAFB233-063F-42B5-8137-9DF3F51BA10A}">
      <p15:sldGuideLst xmlns:p15="http://schemas.microsoft.com/office/powerpoint/2012/main">
        <p15:guide id="1" orient="horz" pos="3072" userDrawn="1">
          <p15:clr>
            <a:srgbClr val="A4A3A4"/>
          </p15:clr>
        </p15:guide>
        <p15:guide id="2" pos="40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5" d="100"/>
          <a:sy n="75" d="100"/>
        </p:scale>
        <p:origin x="1722" y="72"/>
      </p:cViewPr>
      <p:guideLst>
        <p:guide orient="horz" pos="3072"/>
        <p:guide pos="4096"/>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3" Type="http://schemas.openxmlformats.org/officeDocument/2006/relationships/tags" Target="tags/tag1.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
          <p:cNvSpPr>
            <a:spLocks noGrp="1" noRot="1" noChangeAspect="1"/>
          </p:cNvSpPr>
          <p:nvPr>
            <p:ph type="sldImg"/>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p:cNvSpPr>
            <a:spLocks noGrp="1"/>
          </p:cNvSpPr>
          <p:nvPr>
            <p:ph type="body" sz="quarter" idx="1"/>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en-US" altLang="en-US" noProof="0">
                <a:sym typeface="Helvetica Neue" charset="0"/>
              </a:rPr>
              <a:t>Click to edit Template text styles</a:t>
            </a:r>
            <a:endParaRPr lang="en-US" altLang="en-US" noProof="0">
              <a:sym typeface="Helvetica Neue" charset="0"/>
            </a:endParaRPr>
          </a:p>
          <a:p>
            <a:pPr lvl="1"/>
            <a:r>
              <a:rPr lang="en-US" altLang="en-US" noProof="0">
                <a:sym typeface="Helvetica Neue" charset="0"/>
              </a:rPr>
              <a:t>Second level</a:t>
            </a:r>
            <a:endParaRPr lang="en-US" altLang="en-US" noProof="0">
              <a:sym typeface="Helvetica Neue" charset="0"/>
            </a:endParaRPr>
          </a:p>
          <a:p>
            <a:pPr lvl="2"/>
            <a:r>
              <a:rPr lang="en-US" altLang="en-US" noProof="0">
                <a:sym typeface="Helvetica Neue" charset="0"/>
              </a:rPr>
              <a:t>Third level</a:t>
            </a:r>
            <a:endParaRPr lang="en-US" altLang="en-US" noProof="0">
              <a:sym typeface="Helvetica Neue" charset="0"/>
            </a:endParaRPr>
          </a:p>
          <a:p>
            <a:pPr lvl="3"/>
            <a:r>
              <a:rPr lang="en-US" altLang="en-US" noProof="0">
                <a:sym typeface="Helvetica Neue" charset="0"/>
              </a:rPr>
              <a:t>Fourth level</a:t>
            </a:r>
            <a:endParaRPr lang="en-US" altLang="en-US" noProof="0">
              <a:sym typeface="Helvetica Neue" charset="0"/>
            </a:endParaRPr>
          </a:p>
          <a:p>
            <a:pPr lvl="4"/>
            <a:r>
              <a:rPr lang="en-US" altLang="en-US" noProof="0">
                <a:sym typeface="Helvetica Neue" charset="0"/>
              </a:rPr>
              <a:t>Fifth level</a:t>
            </a:r>
            <a:endParaRPr lang="en-US" altLang="en-US" noProof="0">
              <a:sym typeface="Helvetica Neue" charset="0"/>
            </a:endParaRPr>
          </a:p>
        </p:txBody>
      </p:sp>
    </p:spTree>
  </p:cSld>
  <p:clrMap bg1="lt1" tx1="dk1" bg2="lt2" tx2="dk2" accent1="accent1" accent2="accent2" accent3="accent3" accent4="accent4" accent5="accent5" accent6="accent6" hlink="hlink" folHlink="folHlink"/>
  <p:notesStyle>
    <a:lvl1pPr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1pPr>
    <a:lvl2pPr indent="2286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2pPr>
    <a:lvl3pPr indent="4572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3pPr>
    <a:lvl4pPr indent="6858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4pPr>
    <a:lvl5pPr indent="9144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ath.jhu.edu/~jmb/note/linsub.pdf" TargetMode="External"/><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hlinkClick r:id="rId3"/>
              </a:rPr>
              <a:t>linsub.pdf (jhu.edu)</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2400" dirty="0"/>
              <a:t>can reduce the O(N^3) complexity of matrix multiplication to O(N)</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5600" y="1597025"/>
            <a:ext cx="9753600" cy="3395663"/>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625600" y="5122863"/>
            <a:ext cx="9753600" cy="23542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Rectangle 5"/>
          <p:cNvSpPr>
            <a:spLocks noGrp="1"/>
          </p:cNvSpPr>
          <p:nvPr>
            <p:ph type="sldNum" sz="quarter" idx="10"/>
          </p:nvPr>
        </p:nvSpPr>
        <p:spPr/>
        <p:txBody>
          <a:bodyPr/>
          <a:lstStyle>
            <a:lvl1pPr>
              <a:defRPr/>
            </a:lvl1pPr>
          </a:lstStyle>
          <a:p>
            <a:fld id="{0EE485F7-8B3F-44D2-9483-7CCE0C286517}"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7D648EAD-E64D-4FD3-8246-9FFFEFBD41E4}"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87413" y="2432050"/>
            <a:ext cx="11217275" cy="4056063"/>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87413" y="6527800"/>
            <a:ext cx="11217275" cy="21336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Rectangle 5"/>
          <p:cNvSpPr>
            <a:spLocks noGrp="1"/>
          </p:cNvSpPr>
          <p:nvPr>
            <p:ph type="sldNum" sz="quarter" idx="10"/>
          </p:nvPr>
        </p:nvSpPr>
        <p:spPr/>
        <p:txBody>
          <a:bodyPr/>
          <a:lstStyle>
            <a:lvl1pPr>
              <a:defRPr/>
            </a:lvl1pPr>
          </a:lstStyle>
          <a:p>
            <a:fld id="{0C48F3BF-A057-4814-8124-0C9EF6BE8D58}"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95300" y="1363663"/>
            <a:ext cx="5929313" cy="76787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577013" y="1363663"/>
            <a:ext cx="5930900" cy="76787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5"/>
          <p:cNvSpPr>
            <a:spLocks noGrp="1"/>
          </p:cNvSpPr>
          <p:nvPr>
            <p:ph type="sldNum" sz="quarter" idx="10"/>
          </p:nvPr>
        </p:nvSpPr>
        <p:spPr/>
        <p:txBody>
          <a:bodyPr/>
          <a:lstStyle>
            <a:lvl1pPr>
              <a:defRPr/>
            </a:lvl1pPr>
          </a:lstStyle>
          <a:p>
            <a:fld id="{BC78F811-5D7F-4DE3-82AD-88DBEF76ED82}"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95350" y="519113"/>
            <a:ext cx="11217275" cy="1885950"/>
          </a:xfrm>
        </p:spPr>
        <p:txBody>
          <a:bodyPr/>
          <a:lstStyle/>
          <a:p>
            <a:r>
              <a:rPr lang="en-US"/>
              <a:t>Click to edit Master title style</a:t>
            </a:r>
            <a:endParaRPr lang="en-US"/>
          </a:p>
        </p:txBody>
      </p:sp>
      <p:sp>
        <p:nvSpPr>
          <p:cNvPr id="3" name="Text Placeholder 2"/>
          <p:cNvSpPr>
            <a:spLocks noGrp="1"/>
          </p:cNvSpPr>
          <p:nvPr>
            <p:ph type="body" idx="1"/>
          </p:nvPr>
        </p:nvSpPr>
        <p:spPr>
          <a:xfrm>
            <a:off x="895350" y="2390775"/>
            <a:ext cx="5502275" cy="11715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95350" y="3562350"/>
            <a:ext cx="5502275" cy="5240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583363" y="2390775"/>
            <a:ext cx="5529262" cy="11715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83363" y="3562350"/>
            <a:ext cx="5529262" cy="5240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5"/>
          <p:cNvSpPr>
            <a:spLocks noGrp="1"/>
          </p:cNvSpPr>
          <p:nvPr>
            <p:ph type="sldNum" sz="quarter" idx="10"/>
          </p:nvPr>
        </p:nvSpPr>
        <p:spPr/>
        <p:txBody>
          <a:bodyPr/>
          <a:lstStyle>
            <a:lvl1pPr>
              <a:defRPr/>
            </a:lvl1pPr>
          </a:lstStyle>
          <a:p>
            <a:fld id="{7FA3018A-FAA3-4632-BEEB-E4154ED6FB66}"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5"/>
          <p:cNvSpPr>
            <a:spLocks noGrp="1"/>
          </p:cNvSpPr>
          <p:nvPr>
            <p:ph type="sldNum" sz="quarter" idx="10"/>
          </p:nvPr>
        </p:nvSpPr>
        <p:spPr/>
        <p:txBody>
          <a:bodyPr/>
          <a:lstStyle>
            <a:lvl1pPr>
              <a:defRPr/>
            </a:lvl1pPr>
          </a:lstStyle>
          <a:p>
            <a:fld id="{26730C55-3F79-498A-B3E5-C85A13D9B0C1}"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p:cNvSpPr>
          <p:nvPr>
            <p:ph type="sldNum" sz="quarter" idx="10"/>
          </p:nvPr>
        </p:nvSpPr>
        <p:spPr/>
        <p:txBody>
          <a:bodyPr/>
          <a:lstStyle>
            <a:lvl1pPr>
              <a:defRPr/>
            </a:lvl1pPr>
          </a:lstStyle>
          <a:p>
            <a:fld id="{F5069C70-CB42-41A0-9588-82E668E8A057}"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5350" y="650875"/>
            <a:ext cx="4194175" cy="2274888"/>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529263" y="1404938"/>
            <a:ext cx="6583362" cy="6931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95350" y="2925763"/>
            <a:ext cx="4194175" cy="5421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88552A1A-AEF3-4AEC-9F0C-570CAB595215}"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5350" y="650875"/>
            <a:ext cx="4194175" cy="2274888"/>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529263" y="1404938"/>
            <a:ext cx="6583362" cy="69310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Helvetica" charset="0"/>
            </a:endParaRPr>
          </a:p>
        </p:txBody>
      </p:sp>
      <p:sp>
        <p:nvSpPr>
          <p:cNvPr id="4" name="Text Placeholder 3"/>
          <p:cNvSpPr>
            <a:spLocks noGrp="1"/>
          </p:cNvSpPr>
          <p:nvPr>
            <p:ph type="body" sz="half" idx="2"/>
          </p:nvPr>
        </p:nvSpPr>
        <p:spPr>
          <a:xfrm>
            <a:off x="895350" y="2925763"/>
            <a:ext cx="4194175" cy="5421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1088E2A5-A343-417D-8CD2-AA05F3762C8B}"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7B6A6D73-63EF-4B46-9FCB-97F4A3449F51}"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05950" y="176213"/>
            <a:ext cx="3001963" cy="8866187"/>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95300" y="176213"/>
            <a:ext cx="8858250" cy="886618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F19E688A-EC4A-4F69-B755-8FC8D0011BEB}"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p:cNvSpPr>
          <p:nvPr>
            <p:ph type="body" idx="1"/>
          </p:nvPr>
        </p:nvSpPr>
        <p:spPr bwMode="auto">
          <a:xfrm>
            <a:off x="495300" y="1363663"/>
            <a:ext cx="12012613" cy="7678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50800" tIns="50800" rIns="50800" bIns="50800" numCol="1" anchor="t" anchorCtr="0" compatLnSpc="1"/>
          <a:lstStyle/>
          <a:p>
            <a:pPr lvl="0"/>
            <a:r>
              <a:rPr lang="en-US" altLang="en-US">
                <a:sym typeface="Helvetica" charset="0"/>
              </a:rPr>
              <a:t>Click to edit Template text styles</a:t>
            </a:r>
            <a:endParaRPr lang="en-US" altLang="en-US">
              <a:sym typeface="Helvetica" charset="0"/>
            </a:endParaRPr>
          </a:p>
          <a:p>
            <a:pPr lvl="1"/>
            <a:r>
              <a:rPr lang="en-US" altLang="en-US">
                <a:sym typeface="Helvetica" charset="0"/>
              </a:rPr>
              <a:t>Second level</a:t>
            </a:r>
            <a:endParaRPr lang="en-US" altLang="en-US">
              <a:sym typeface="Helvetica" charset="0"/>
            </a:endParaRPr>
          </a:p>
          <a:p>
            <a:pPr lvl="2"/>
            <a:r>
              <a:rPr lang="en-US" altLang="en-US">
                <a:sym typeface="Helvetica" charset="0"/>
              </a:rPr>
              <a:t>Third level</a:t>
            </a:r>
            <a:endParaRPr lang="en-US" altLang="en-US">
              <a:sym typeface="Helvetica" charset="0"/>
            </a:endParaRPr>
          </a:p>
          <a:p>
            <a:pPr lvl="3"/>
            <a:r>
              <a:rPr lang="en-US" altLang="en-US">
                <a:sym typeface="Helvetica" charset="0"/>
              </a:rPr>
              <a:t>Fourth level</a:t>
            </a:r>
            <a:endParaRPr lang="en-US" altLang="en-US">
              <a:sym typeface="Helvetica" charset="0"/>
            </a:endParaRPr>
          </a:p>
          <a:p>
            <a:pPr lvl="4"/>
            <a:r>
              <a:rPr lang="en-US" altLang="en-US">
                <a:sym typeface="Helvetica" charset="0"/>
              </a:rPr>
              <a:t>Fifth level</a:t>
            </a:r>
            <a:endParaRPr lang="en-US" altLang="en-US">
              <a:sym typeface="Helvetica" charset="0"/>
            </a:endParaRPr>
          </a:p>
        </p:txBody>
      </p:sp>
      <p:sp>
        <p:nvSpPr>
          <p:cNvPr id="1027" name="Rectangle 2"/>
          <p:cNvSpPr>
            <a:spLocks noGrp="1"/>
          </p:cNvSpPr>
          <p:nvPr>
            <p:ph type="title"/>
          </p:nvPr>
        </p:nvSpPr>
        <p:spPr bwMode="auto">
          <a:xfrm>
            <a:off x="711200" y="176213"/>
            <a:ext cx="11582400"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50800" tIns="50800" rIns="50800" bIns="50800" numCol="1" anchor="t" anchorCtr="0" compatLnSpc="1"/>
          <a:lstStyle/>
          <a:p>
            <a:pPr lvl="0"/>
            <a:r>
              <a:rPr lang="en-US" altLang="en-US">
                <a:sym typeface="Helvetica" charset="0"/>
              </a:rPr>
              <a:t>Click to edit Template title style</a:t>
            </a:r>
            <a:endParaRPr lang="en-US" altLang="en-US">
              <a:sym typeface="Helvetica" charset="0"/>
            </a:endParaRPr>
          </a:p>
        </p:txBody>
      </p:sp>
      <p:pic>
        <p:nvPicPr>
          <p:cNvPr id="1028" name="Picture 3"/>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9963150" y="131763"/>
            <a:ext cx="2632075"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Line 4"/>
          <p:cNvSpPr>
            <a:spLocks noChangeShapeType="1"/>
          </p:cNvSpPr>
          <p:nvPr/>
        </p:nvSpPr>
        <p:spPr bwMode="auto">
          <a:xfrm>
            <a:off x="485775" y="1116013"/>
            <a:ext cx="12031663"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nchor="ctr"/>
          <a:lstStyle/>
          <a:p>
            <a:endParaRPr lang="en-US"/>
          </a:p>
        </p:txBody>
      </p:sp>
      <p:sp>
        <p:nvSpPr>
          <p:cNvPr id="2" name="Rectangle 5"/>
          <p:cNvSpPr>
            <a:spLocks noGrp="1"/>
          </p:cNvSpPr>
          <p:nvPr>
            <p:ph type="sldNum" sz="quarter" idx="2"/>
          </p:nvPr>
        </p:nvSpPr>
        <p:spPr bwMode="auto">
          <a:xfrm>
            <a:off x="6345238" y="9117013"/>
            <a:ext cx="306387" cy="328612"/>
          </a:xfrm>
          <a:prstGeom prst="rect">
            <a:avLst/>
          </a:prstGeom>
          <a:noFill/>
          <a:ln>
            <a:noFill/>
          </a:ln>
          <a:effectLst/>
        </p:spPr>
        <p:txBody>
          <a:bodyPr vert="horz" wrap="none" lIns="50800" tIns="50800" rIns="50800" bIns="50800" numCol="1" anchor="b" anchorCtr="0" compatLnSpc="1"/>
          <a:lstStyle>
            <a:lvl1pPr algn="ctr" defTabSz="1739900" eaLnBrk="1">
              <a:defRPr sz="1400">
                <a:solidFill>
                  <a:srgbClr val="5E5E5E"/>
                </a:solidFill>
                <a:latin typeface="Graphik" charset="0"/>
                <a:ea typeface="Graphik" charset="0"/>
                <a:cs typeface="Graphik" charset="0"/>
                <a:sym typeface="Graphik" charset="0"/>
              </a:defRPr>
            </a:lvl1pPr>
          </a:lstStyle>
          <a:p>
            <a:fld id="{F799D05F-DECC-400F-A1ED-519A6F6EDC51}"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739900" rtl="0" eaLnBrk="0" fontAlgn="base" hangingPunct="0">
        <a:lnSpc>
          <a:spcPct val="70000"/>
        </a:lnSpc>
        <a:spcBef>
          <a:spcPct val="0"/>
        </a:spcBef>
        <a:spcAft>
          <a:spcPct val="0"/>
        </a:spcAft>
        <a:defRPr sz="5800" b="1" kern="1200">
          <a:solidFill>
            <a:srgbClr val="AE0428"/>
          </a:solidFill>
          <a:latin typeface="+mj-lt"/>
          <a:ea typeface="+mj-ea"/>
          <a:cs typeface="+mj-cs"/>
          <a:sym typeface="Helvetica" charset="0"/>
        </a:defRPr>
      </a:lvl1pPr>
      <a:lvl2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2pPr>
      <a:lvl3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3pPr>
      <a:lvl4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4pPr>
      <a:lvl5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5pPr>
      <a:lvl6pPr marL="4572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6pPr>
      <a:lvl7pPr marL="9144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7pPr>
      <a:lvl8pPr marL="13716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8pPr>
      <a:lvl9pPr marL="18288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9pPr>
    </p:titleStyle>
    <p:bodyStyle>
      <a:lvl1pPr marL="421005" indent="-421005" algn="l" defTabSz="1739900" rtl="0" eaLnBrk="0" fontAlgn="base" hangingPunct="0">
        <a:spcBef>
          <a:spcPts val="2000"/>
        </a:spcBef>
        <a:spcAft>
          <a:spcPct val="0"/>
        </a:spcAft>
        <a:buSzPct val="75000"/>
        <a:buChar char="•"/>
        <a:defRPr sz="3000" kern="1200">
          <a:solidFill>
            <a:srgbClr val="000000"/>
          </a:solidFill>
          <a:latin typeface="+mn-lt"/>
          <a:ea typeface="+mn-ea"/>
          <a:cs typeface="+mn-cs"/>
          <a:sym typeface="Helvetica" charset="0"/>
        </a:defRPr>
      </a:lvl1pPr>
      <a:lvl2pPr marL="7874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2pPr>
      <a:lvl3pPr marL="11811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3pPr>
      <a:lvl4pPr marL="15748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4pPr>
      <a:lvl5pPr marL="19685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hyperlink" Target="https://en.wikipedia.org/wiki/Matrix_ring" TargetMode="Externa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hyperlink" Target="https://www.sciencedirect.com/topics/computer-science/geometric-decomposi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w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
          <p:cNvSpPr>
            <a:spLocks noGrp="1"/>
          </p:cNvSpPr>
          <p:nvPr>
            <p:ph type="ctrTitle"/>
          </p:nvPr>
        </p:nvSpPr>
        <p:spPr>
          <a:xfrm>
            <a:off x="711200" y="2197100"/>
            <a:ext cx="11582400" cy="1079500"/>
          </a:xfrm>
        </p:spPr>
        <p:txBody>
          <a:bodyPr/>
          <a:lstStyle/>
          <a:p>
            <a:pPr eaLnBrk="1">
              <a:lnSpc>
                <a:spcPct val="80000"/>
              </a:lnSpc>
            </a:pPr>
            <a:r>
              <a:rPr lang="en-US" altLang="en-US" sz="4500"/>
              <a:t>DTS205TC High Performance Computing</a:t>
            </a:r>
            <a:endParaRPr lang="en-US" altLang="en-US" sz="4500"/>
          </a:p>
        </p:txBody>
      </p:sp>
      <p:sp>
        <p:nvSpPr>
          <p:cNvPr id="2051" name="Rectangle 2"/>
          <p:cNvSpPr>
            <a:spLocks noGrp="1"/>
          </p:cNvSpPr>
          <p:nvPr>
            <p:ph type="subTitle" sz="quarter" idx="1"/>
          </p:nvPr>
        </p:nvSpPr>
        <p:spPr>
          <a:xfrm>
            <a:off x="711200" y="4611688"/>
            <a:ext cx="11582400" cy="730250"/>
          </a:xfrm>
        </p:spPr>
        <p:txBody>
          <a:bodyPr/>
          <a:lstStyle/>
          <a:p>
            <a:pPr defTabSz="584200" eaLnBrk="1">
              <a:spcBef>
                <a:spcPct val="0"/>
              </a:spcBef>
              <a:buSzTx/>
            </a:pPr>
            <a:r>
              <a:rPr lang="en-US" altLang="en-US" sz="3400" b="1" dirty="0">
                <a:solidFill>
                  <a:srgbClr val="AE0428"/>
                </a:solidFill>
              </a:rPr>
              <a:t>Lecture 9 Dense </a:t>
            </a:r>
            <a:r>
              <a:rPr lang="en-US" altLang="zh-CN" sz="3400" b="1" dirty="0">
                <a:solidFill>
                  <a:srgbClr val="AE0428"/>
                </a:solidFill>
              </a:rPr>
              <a:t>Matrix Algorithms</a:t>
            </a:r>
            <a:endParaRPr lang="en-US" altLang="en-US" sz="3400" b="1" dirty="0">
              <a:solidFill>
                <a:srgbClr val="AE0428"/>
              </a:solidFill>
            </a:endParaRPr>
          </a:p>
        </p:txBody>
      </p:sp>
      <p:sp>
        <p:nvSpPr>
          <p:cNvPr id="2052" name="Text Box 3"/>
          <p:cNvSpPr txBox="1"/>
          <p:nvPr/>
        </p:nvSpPr>
        <p:spPr bwMode="auto">
          <a:xfrm>
            <a:off x="711200" y="8410575"/>
            <a:ext cx="1158240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defTabSz="586105">
              <a:defRPr sz="1600">
                <a:solidFill>
                  <a:srgbClr val="000000"/>
                </a:solidFill>
                <a:latin typeface="Canela Text Regular" charset="0"/>
                <a:ea typeface="Canela Text Regular" charset="0"/>
                <a:cs typeface="Canela Text Regular" charset="0"/>
                <a:sym typeface="Canela Text Regular" charset="0"/>
              </a:defRPr>
            </a:lvl1pPr>
            <a:lvl2pPr marL="742950" indent="-285750" defTabSz="586105">
              <a:defRPr sz="1600">
                <a:solidFill>
                  <a:srgbClr val="000000"/>
                </a:solidFill>
                <a:latin typeface="Canela Text Regular" charset="0"/>
                <a:ea typeface="Canela Text Regular" charset="0"/>
                <a:cs typeface="Canela Text Regular" charset="0"/>
                <a:sym typeface="Canela Text Regular" charset="0"/>
              </a:defRPr>
            </a:lvl2pPr>
            <a:lvl3pPr marL="1143000" indent="-228600" defTabSz="586105">
              <a:defRPr sz="1600">
                <a:solidFill>
                  <a:srgbClr val="000000"/>
                </a:solidFill>
                <a:latin typeface="Canela Text Regular" charset="0"/>
                <a:ea typeface="Canela Text Regular" charset="0"/>
                <a:cs typeface="Canela Text Regular" charset="0"/>
                <a:sym typeface="Canela Text Regular" charset="0"/>
              </a:defRPr>
            </a:lvl3pPr>
            <a:lvl4pPr marL="1600200" indent="-228600" defTabSz="586105">
              <a:defRPr sz="1600">
                <a:solidFill>
                  <a:srgbClr val="000000"/>
                </a:solidFill>
                <a:latin typeface="Canela Text Regular" charset="0"/>
                <a:ea typeface="Canela Text Regular" charset="0"/>
                <a:cs typeface="Canela Text Regular" charset="0"/>
                <a:sym typeface="Canela Text Regular" charset="0"/>
              </a:defRPr>
            </a:lvl4pPr>
            <a:lvl5pPr marL="2057400" indent="-228600" defTabSz="586105">
              <a:defRPr sz="1600">
                <a:solidFill>
                  <a:srgbClr val="000000"/>
                </a:solidFill>
                <a:latin typeface="Canela Text Regular" charset="0"/>
                <a:ea typeface="Canela Text Regular" charset="0"/>
                <a:cs typeface="Canela Text Regular" charset="0"/>
                <a:sym typeface="Canela Text Regular" charset="0"/>
              </a:defRPr>
            </a:lvl5pPr>
            <a:lvl6pPr marL="25146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6pPr>
            <a:lvl7pPr marL="29718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7pPr>
            <a:lvl8pPr marL="34290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8pPr>
            <a:lvl9pPr marL="38862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9pPr>
          </a:lstStyle>
          <a:p>
            <a:pPr algn="ctr" eaLnBrk="1"/>
            <a:r>
              <a:rPr lang="en-US" altLang="zh-CN" sz="2000">
                <a:latin typeface="Helvetica" charset="0"/>
                <a:ea typeface="宋体" panose="02010600030101010101" pitchFamily="2" charset="-122"/>
                <a:sym typeface="Helvetica" charset="0"/>
              </a:rPr>
              <a:t>Di Zhang</a:t>
            </a:r>
            <a:r>
              <a:rPr lang="en-US" altLang="en-US" sz="2000">
                <a:latin typeface="Helvetica" charset="0"/>
                <a:ea typeface="Helvetica" charset="0"/>
                <a:cs typeface="Helvetica" charset="0"/>
                <a:sym typeface="Helvetica" charset="0"/>
              </a:rPr>
              <a:t>, Spring 2024</a:t>
            </a:r>
            <a:endParaRPr lang="en-US" altLang="en-US" sz="2000">
              <a:latin typeface="Helvetica" charset="0"/>
              <a:ea typeface="Helvetica" charset="0"/>
              <a:cs typeface="Helvetica" charset="0"/>
              <a:sym typeface="Helvetica"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itle 1"/>
          <p:cNvSpPr>
            <a:spLocks noGrp="1"/>
          </p:cNvSpPr>
          <p:nvPr>
            <p:ph type="title"/>
          </p:nvPr>
        </p:nvSpPr>
        <p:spPr/>
        <p:txBody>
          <a:bodyPr/>
          <a:lstStyle/>
          <a:p>
            <a:r>
              <a:rPr lang="en-US" altLang="en-US" dirty="0"/>
              <a:t>*</a:t>
            </a:r>
            <a:r>
              <a:rPr lang="en-US" altLang="en-US" dirty="0" err="1"/>
              <a:t>cheatsheet</a:t>
            </a:r>
            <a:r>
              <a:rPr lang="en-US" altLang="en-US" dirty="0"/>
              <a:t> for system design</a:t>
            </a:r>
            <a:endParaRPr lang="en-US" altLang="en-US" dirty="0"/>
          </a:p>
        </p:txBody>
      </p:sp>
      <p:sp>
        <p:nvSpPr>
          <p:cNvPr id="162819" name="Content Placeholder 2"/>
          <p:cNvSpPr>
            <a:spLocks noGrp="1"/>
          </p:cNvSpPr>
          <p:nvPr>
            <p:ph idx="1"/>
          </p:nvPr>
        </p:nvSpPr>
        <p:spPr/>
        <p:txBody>
          <a:bodyPr/>
          <a:lstStyle/>
          <a:p>
            <a:r>
              <a:rPr lang="en-US" altLang="zh-CN" sz="2000" dirty="0">
                <a:ea typeface="宋体" panose="02010600030101010101" pitchFamily="2" charset="-122"/>
              </a:rPr>
              <a:t>Event-driven, or batch processing?</a:t>
            </a:r>
            <a:endParaRPr lang="en-US" altLang="zh-CN" sz="2000" dirty="0">
              <a:ea typeface="宋体" panose="02010600030101010101" pitchFamily="2" charset="-122"/>
            </a:endParaRPr>
          </a:p>
          <a:p>
            <a:pPr lvl="1"/>
            <a:r>
              <a:rPr lang="en-US" altLang="zh-CN" sz="2000" dirty="0">
                <a:ea typeface="宋体" panose="02010600030101010101" pitchFamily="2" charset="-122"/>
              </a:rPr>
              <a:t>Former. -》Distributed systems, stream computing, </a:t>
            </a:r>
            <a:r>
              <a:rPr lang="en-US" altLang="zh-CN" sz="2000" dirty="0" err="1">
                <a:ea typeface="宋体" panose="02010600030101010101" pitchFamily="2" charset="-122"/>
              </a:rPr>
              <a:t>etc</a:t>
            </a:r>
            <a:endParaRPr lang="en-US" altLang="zh-CN" sz="2000" dirty="0">
              <a:ea typeface="宋体" panose="02010600030101010101" pitchFamily="2" charset="-122"/>
            </a:endParaRPr>
          </a:p>
          <a:p>
            <a:r>
              <a:rPr lang="en-US" altLang="zh-CN" sz="2000" dirty="0">
                <a:ea typeface="宋体" panose="02010600030101010101" pitchFamily="2" charset="-122"/>
              </a:rPr>
              <a:t>Can you predetermine the communication relationship between tasks?</a:t>
            </a:r>
            <a:endParaRPr lang="en-US" altLang="zh-CN" sz="2000" dirty="0">
              <a:ea typeface="宋体" panose="02010600030101010101" pitchFamily="2" charset="-122"/>
            </a:endParaRPr>
          </a:p>
          <a:p>
            <a:pPr lvl="1"/>
            <a:r>
              <a:rPr lang="en-US" altLang="zh-CN" sz="2000" dirty="0">
                <a:ea typeface="宋体" panose="02010600030101010101" pitchFamily="2" charset="-122"/>
              </a:rPr>
              <a:t>No. Multi-agent system, peer-to-peer system</a:t>
            </a:r>
            <a:endParaRPr lang="en-US" altLang="zh-CN" sz="2000" dirty="0">
              <a:ea typeface="宋体" panose="02010600030101010101" pitchFamily="2" charset="-122"/>
            </a:endParaRPr>
          </a:p>
          <a:p>
            <a:r>
              <a:rPr lang="en-US" altLang="zh-CN" sz="2000" dirty="0">
                <a:ea typeface="宋体" panose="02010600030101010101" pitchFamily="2" charset="-122"/>
              </a:rPr>
              <a:t>Can the required speedup ratio be achieved in theory? (Is there enough concurrency?) </a:t>
            </a:r>
            <a:endParaRPr lang="en-US" altLang="zh-CN" sz="2000" dirty="0">
              <a:ea typeface="宋体" panose="02010600030101010101" pitchFamily="2" charset="-122"/>
            </a:endParaRPr>
          </a:p>
          <a:p>
            <a:pPr lvl="1"/>
            <a:r>
              <a:rPr lang="en-US" altLang="zh-CN" sz="2000" dirty="0">
                <a:ea typeface="宋体" panose="02010600030101010101" pitchFamily="2" charset="-122"/>
              </a:rPr>
              <a:t>No. uses other algorithms, or approximate algorithms, or hardware acceleration.</a:t>
            </a:r>
            <a:endParaRPr lang="en-US" altLang="zh-CN" sz="2000" dirty="0">
              <a:ea typeface="宋体" panose="02010600030101010101" pitchFamily="2" charset="-122"/>
            </a:endParaRPr>
          </a:p>
          <a:p>
            <a:r>
              <a:rPr lang="en-US" altLang="zh-CN" sz="2000" dirty="0">
                <a:ea typeface="宋体" panose="02010600030101010101" pitchFamily="2" charset="-122"/>
              </a:rPr>
              <a:t>Do I have to use &gt; 30 hardware threads (Maximum in experience) to meet the speedup ratio? </a:t>
            </a:r>
            <a:endParaRPr lang="en-US" altLang="zh-CN" sz="2000" dirty="0">
              <a:ea typeface="宋体" panose="02010600030101010101" pitchFamily="2" charset="-122"/>
            </a:endParaRPr>
          </a:p>
          <a:p>
            <a:pPr lvl="1"/>
            <a:r>
              <a:rPr lang="en-US" altLang="zh-CN" sz="2000" dirty="0">
                <a:ea typeface="宋体" panose="02010600030101010101" pitchFamily="2" charset="-122"/>
              </a:rPr>
              <a:t>No. -》</a:t>
            </a:r>
            <a:r>
              <a:rPr lang="en-US" altLang="zh-CN" sz="2000" dirty="0" err="1">
                <a:ea typeface="宋体" panose="02010600030101010101" pitchFamily="2" charset="-122"/>
              </a:rPr>
              <a:t>openMP</a:t>
            </a:r>
            <a:r>
              <a:rPr lang="zh-CN" altLang="en-US" sz="2000" dirty="0">
                <a:ea typeface="宋体" panose="02010600030101010101" pitchFamily="2" charset="-122"/>
              </a:rPr>
              <a:t>。</a:t>
            </a:r>
            <a:endParaRPr lang="en-US" altLang="zh-CN" sz="2000" dirty="0">
              <a:ea typeface="宋体" panose="02010600030101010101" pitchFamily="2" charset="-122"/>
            </a:endParaRPr>
          </a:p>
          <a:p>
            <a:r>
              <a:rPr lang="en-US" altLang="zh-CN" sz="2000" dirty="0">
                <a:ea typeface="宋体" panose="02010600030101010101" pitchFamily="2" charset="-122"/>
              </a:rPr>
              <a:t>Task decomposition, or data decomposition?</a:t>
            </a:r>
            <a:endParaRPr lang="en-US" altLang="zh-CN" sz="2000" dirty="0">
              <a:ea typeface="宋体" panose="02010600030101010101" pitchFamily="2" charset="-122"/>
            </a:endParaRPr>
          </a:p>
          <a:p>
            <a:pPr lvl="1"/>
            <a:r>
              <a:rPr lang="en-US" altLang="zh-CN" sz="2000" dirty="0">
                <a:ea typeface="宋体" panose="02010600030101010101" pitchFamily="2" charset="-122"/>
              </a:rPr>
              <a:t>Task decomposition. You can simply use multi-process, </a:t>
            </a:r>
            <a:r>
              <a:rPr lang="en-US" altLang="zh-CN" sz="2000" dirty="0" err="1">
                <a:ea typeface="宋体" panose="02010600030101010101" pitchFamily="2" charset="-122"/>
              </a:rPr>
              <a:t>Pthread</a:t>
            </a:r>
            <a:r>
              <a:rPr lang="en-US" altLang="zh-CN" sz="2000" dirty="0">
                <a:ea typeface="宋体" panose="02010600030101010101" pitchFamily="2" charset="-122"/>
              </a:rPr>
              <a:t>,</a:t>
            </a:r>
            <a:r>
              <a:rPr lang="zh-CN" altLang="en-US" sz="2000" dirty="0">
                <a:ea typeface="宋体" panose="02010600030101010101" pitchFamily="2" charset="-122"/>
              </a:rPr>
              <a:t> </a:t>
            </a:r>
            <a:r>
              <a:rPr lang="en-US" altLang="zh-CN" sz="2000" dirty="0">
                <a:ea typeface="宋体" panose="02010600030101010101" pitchFamily="2" charset="-122"/>
              </a:rPr>
              <a:t>etc.</a:t>
            </a:r>
            <a:endParaRPr lang="en-US" altLang="zh-CN" sz="2000" dirty="0">
              <a:ea typeface="宋体" panose="02010600030101010101" pitchFamily="2" charset="-122"/>
            </a:endParaRPr>
          </a:p>
          <a:p>
            <a:r>
              <a:rPr lang="en-US" altLang="zh-CN" sz="2000" dirty="0">
                <a:ea typeface="宋体" panose="02010600030101010101" pitchFamily="2" charset="-122"/>
              </a:rPr>
              <a:t>Under data decomposition, the amount of computation is unpredictable?</a:t>
            </a:r>
            <a:endParaRPr lang="en-US" altLang="zh-CN" sz="2000" dirty="0">
              <a:ea typeface="宋体" panose="02010600030101010101" pitchFamily="2" charset="-122"/>
            </a:endParaRPr>
          </a:p>
          <a:p>
            <a:pPr lvl="1"/>
            <a:r>
              <a:rPr lang="en-US" altLang="zh-CN" sz="2000" dirty="0">
                <a:ea typeface="宋体" panose="02010600030101010101" pitchFamily="2" charset="-122"/>
              </a:rPr>
              <a:t>Dynamic scheduling.</a:t>
            </a:r>
            <a:endParaRPr lang="en-US" altLang="zh-CN" sz="2000" dirty="0">
              <a:ea typeface="宋体" panose="02010600030101010101" pitchFamily="2" charset="-122"/>
            </a:endParaRPr>
          </a:p>
          <a:p>
            <a:r>
              <a:rPr lang="en-US" altLang="zh-CN" sz="2000" dirty="0">
                <a:ea typeface="宋体" panose="02010600030101010101" pitchFamily="2" charset="-122"/>
              </a:rPr>
              <a:t>Can be predicted. Use static mapping:</a:t>
            </a:r>
            <a:endParaRPr lang="en-US" altLang="zh-CN" sz="2000" dirty="0">
              <a:ea typeface="宋体" panose="02010600030101010101" pitchFamily="2" charset="-122"/>
            </a:endParaRPr>
          </a:p>
          <a:p>
            <a:pPr lvl="1"/>
            <a:r>
              <a:rPr lang="en-US" altLang="zh-CN" sz="2000" dirty="0">
                <a:ea typeface="宋体" panose="02010600030101010101" pitchFamily="2" charset="-122"/>
              </a:rPr>
              <a:t>Grid,</a:t>
            </a:r>
            <a:r>
              <a:rPr lang="zh-CN" altLang="en-US" sz="2000" dirty="0">
                <a:ea typeface="宋体" panose="02010600030101010101" pitchFamily="2" charset="-122"/>
              </a:rPr>
              <a:t> </a:t>
            </a:r>
            <a:r>
              <a:rPr lang="en-US" altLang="zh-CN" sz="2000" dirty="0">
                <a:ea typeface="宋体" panose="02010600030101010101" pitchFamily="2" charset="-122"/>
              </a:rPr>
              <a:t>Graph decomposition</a:t>
            </a:r>
            <a:endParaRPr lang="en-US" alt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zh-CN">
                <a:ea typeface="宋体" panose="02010600030101010101" pitchFamily="2" charset="-122"/>
              </a:rPr>
              <a:t>Section</a:t>
            </a:r>
            <a:endParaRPr lang="en-US" altLang="en-US"/>
          </a:p>
        </p:txBody>
      </p:sp>
      <p:sp>
        <p:nvSpPr>
          <p:cNvPr id="5123" name="Content Placeholder 2"/>
          <p:cNvSpPr>
            <a:spLocks noGrp="1"/>
          </p:cNvSpPr>
          <p:nvPr>
            <p:ph idx="1"/>
          </p:nvPr>
        </p:nvSpPr>
        <p:spPr/>
        <p:txBody>
          <a:bodyPr/>
          <a:lstStyle/>
          <a:p>
            <a:r>
              <a:rPr lang="en-US" altLang="zh-CN" dirty="0">
                <a:ea typeface="宋体" panose="02010600030101010101" pitchFamily="2" charset="-122"/>
              </a:rPr>
              <a:t>Matrix multiplication</a:t>
            </a: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linear algebra</a:t>
            </a:r>
            <a:endParaRPr lang="en-US" dirty="0"/>
          </a:p>
        </p:txBody>
      </p:sp>
      <p:sp>
        <p:nvSpPr>
          <p:cNvPr id="3" name="内容占位符 2"/>
          <p:cNvSpPr>
            <a:spLocks noGrp="1"/>
          </p:cNvSpPr>
          <p:nvPr>
            <p:ph idx="1"/>
          </p:nvPr>
        </p:nvSpPr>
        <p:spPr>
          <a:xfrm>
            <a:off x="495300" y="5596880"/>
            <a:ext cx="12012613" cy="3445520"/>
          </a:xfrm>
        </p:spPr>
        <p:txBody>
          <a:bodyPr/>
          <a:lstStyle/>
          <a:p>
            <a:r>
              <a:rPr lang="en-US" dirty="0"/>
              <a:t>Linear algebra is central to almost all areas of mathematics.</a:t>
            </a:r>
            <a:endParaRPr lang="en-US" dirty="0"/>
          </a:p>
        </p:txBody>
      </p:sp>
      <p:pic>
        <p:nvPicPr>
          <p:cNvPr id="37890"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69752" y="1564432"/>
            <a:ext cx="10755312" cy="351472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system of linear equations</a:t>
            </a:r>
            <a:endParaRPr lang="en-US" dirty="0"/>
          </a:p>
        </p:txBody>
      </p:sp>
      <p:sp>
        <p:nvSpPr>
          <p:cNvPr id="3" name="内容占位符 2"/>
          <p:cNvSpPr>
            <a:spLocks noGrp="1"/>
          </p:cNvSpPr>
          <p:nvPr>
            <p:ph idx="1"/>
          </p:nvPr>
        </p:nvSpPr>
        <p:spPr>
          <a:xfrm>
            <a:off x="495300" y="5247704"/>
            <a:ext cx="12012613" cy="2005360"/>
          </a:xfrm>
        </p:spPr>
        <p:txBody>
          <a:bodyPr/>
          <a:lstStyle/>
          <a:p>
            <a:r>
              <a:rPr lang="en-US" altLang="zh-CN" dirty="0"/>
              <a:t>Abstraction:</a:t>
            </a:r>
            <a:endParaRPr lang="en-US" altLang="zh-CN" dirty="0"/>
          </a:p>
          <a:p>
            <a:pPr lvl="1"/>
            <a:r>
              <a:rPr lang="en-US" altLang="zh-CN" dirty="0"/>
              <a:t>First level: we ignore the context of a specific problem and go straight to the system of equations
Second level: we ignore variable naming and look directly at linear mappings. We found that the map itself can also do operations, for example: multiplication!</a:t>
            </a:r>
            <a:endParaRPr lang="en-US" altLang="zh-CN" dirty="0"/>
          </a:p>
        </p:txBody>
      </p:sp>
      <p:sp>
        <p:nvSpPr>
          <p:cNvPr id="4" name="AutoShape 2" descr="{\displaystyle {\begin{alignedat}{7}2x&amp;&amp;\;+\;&amp;&amp;y&amp;&amp;\;-\;&amp;&amp;z&amp;&amp;\;=\;&amp;&amp;8\\-3x&amp;&amp;\;-\;&amp;&amp;y&amp;&amp;\;+\;&amp;&amp;2z&amp;&amp;\;=\;&amp;&amp;-11\\-2x&amp;&amp;\;+\;&amp;&amp;y&amp;&amp;\;+\;&amp;&amp;2z&amp;&amp;\;=\;&amp;&amp;-3\end{alignedat}}}"/>
          <p:cNvSpPr>
            <a:spLocks noChangeAspect="1" noChangeArrowheads="1"/>
          </p:cNvSpPr>
          <p:nvPr/>
        </p:nvSpPr>
        <p:spPr bwMode="auto">
          <a:xfrm>
            <a:off x="1079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38917" name="Picture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7616" y="2356520"/>
            <a:ext cx="12898438" cy="21336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Matrix multiplication
</a:t>
            </a:r>
            <a:endParaRPr lang="en-US" dirty="0"/>
          </a:p>
        </p:txBody>
      </p:sp>
      <p:sp>
        <p:nvSpPr>
          <p:cNvPr id="3" name="内容占位符 2"/>
          <p:cNvSpPr>
            <a:spLocks noGrp="1"/>
          </p:cNvSpPr>
          <p:nvPr>
            <p:ph idx="1"/>
          </p:nvPr>
        </p:nvSpPr>
        <p:spPr>
          <a:xfrm>
            <a:off x="495300" y="1204392"/>
            <a:ext cx="12012613" cy="7838008"/>
          </a:xfrm>
        </p:spPr>
        <p:txBody>
          <a:bodyPr/>
          <a:lstStyle/>
          <a:p>
            <a:endParaRPr lang="en-US" dirty="0"/>
          </a:p>
          <a:p>
            <a:endParaRPr lang="en-US" dirty="0"/>
          </a:p>
          <a:p>
            <a:endParaRPr lang="en-US" dirty="0"/>
          </a:p>
          <a:p>
            <a:r>
              <a:rPr lang="en-US" dirty="0"/>
              <a:t>we substitute in turn linear expressions for each of x, y, and z</a:t>
            </a:r>
            <a:endParaRPr lang="en-US" dirty="0"/>
          </a:p>
          <a:p>
            <a:endParaRPr lang="en-US" dirty="0"/>
          </a:p>
          <a:p>
            <a:endParaRPr lang="en-US" dirty="0"/>
          </a:p>
          <a:p>
            <a:endParaRPr lang="en-US" dirty="0"/>
          </a:p>
          <a:p>
            <a:r>
              <a:rPr lang="en-US" dirty="0"/>
              <a:t>We see that u, v, and w then become linear expressions in s and t</a:t>
            </a:r>
            <a:endParaRPr lang="en-US" dirty="0"/>
          </a:p>
        </p:txBody>
      </p:sp>
      <p:pic>
        <p:nvPicPr>
          <p:cNvPr id="52226"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905723" y="4012704"/>
            <a:ext cx="11117262" cy="207645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680" y="1204392"/>
            <a:ext cx="12898438" cy="21336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7"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15" y="6965032"/>
            <a:ext cx="13041313" cy="18192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en-US" altLang="zh-CN" dirty="0"/>
              <a:t>Matrix multiplication
</a:t>
            </a:r>
            <a:endParaRPr lang="en-US" dirty="0"/>
          </a:p>
        </p:txBody>
      </p:sp>
      <p:sp>
        <p:nvSpPr>
          <p:cNvPr id="6147" name="内容占位符 2"/>
          <p:cNvSpPr>
            <a:spLocks noGrp="1"/>
          </p:cNvSpPr>
          <p:nvPr>
            <p:ph idx="1"/>
          </p:nvPr>
        </p:nvSpPr>
        <p:spPr>
          <a:xfrm>
            <a:off x="495300" y="1636441"/>
            <a:ext cx="12012613" cy="7405960"/>
          </a:xfrm>
        </p:spPr>
        <p:txBody>
          <a:bodyPr/>
          <a:lstStyle/>
          <a:p>
            <a:endParaRPr lang="en-US" altLang="zh-CN" dirty="0"/>
          </a:p>
          <a:p>
            <a:endParaRPr lang="en-US" altLang="zh-CN" dirty="0"/>
          </a:p>
          <a:p>
            <a:endParaRPr lang="en-US" altLang="zh-CN" dirty="0"/>
          </a:p>
          <a:p>
            <a:r>
              <a:rPr lang="en-US" altLang="zh-CN" dirty="0"/>
              <a:t>From this example, we can define matrix multiplication
</a:t>
            </a:r>
            <a:endParaRPr lang="en-US" dirty="0"/>
          </a:p>
        </p:txBody>
      </p:sp>
      <p:pic>
        <p:nvPicPr>
          <p:cNvPr id="6148" name="Picture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74825" y="1276400"/>
            <a:ext cx="9450388" cy="221932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682" y="4566919"/>
            <a:ext cx="12588673" cy="2304256"/>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5776" y="6869469"/>
            <a:ext cx="10917238" cy="260985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Matrix multiplication
</a:t>
            </a:r>
            <a:endParaRPr lang="en-US" dirty="0"/>
          </a:p>
        </p:txBody>
      </p:sp>
      <p:sp>
        <p:nvSpPr>
          <p:cNvPr id="3" name="内容占位符 2"/>
          <p:cNvSpPr>
            <a:spLocks noGrp="1"/>
          </p:cNvSpPr>
          <p:nvPr>
            <p:ph idx="1"/>
          </p:nvPr>
        </p:nvSpPr>
        <p:spPr>
          <a:xfrm>
            <a:off x="495300" y="5740897"/>
            <a:ext cx="12012613" cy="3301504"/>
          </a:xfrm>
        </p:spPr>
        <p:txBody>
          <a:bodyPr/>
          <a:lstStyle/>
          <a:p>
            <a:r>
              <a:rPr lang="en-US" altLang="zh-CN" sz="2400" dirty="0"/>
              <a:t>Features of matrix multiplication:</a:t>
            </a:r>
            <a:endParaRPr lang="en-US" altLang="zh-CN" sz="2400" dirty="0"/>
          </a:p>
          <a:p>
            <a:pPr lvl="1"/>
            <a:r>
              <a:rPr lang="en-US" altLang="zh-CN" sz="2400" dirty="0"/>
              <a:t>For multiplying matrices, their dimensions must match
It satisfies the law of associativity and distribution, but not the</a:t>
            </a:r>
            <a:r>
              <a:rPr lang="zh-CN" altLang="en-US" sz="2400" dirty="0"/>
              <a:t> </a:t>
            </a:r>
            <a:r>
              <a:rPr lang="en-US" altLang="zh-CN" sz="2400" dirty="0"/>
              <a:t>commutative law</a:t>
            </a:r>
            <a:endParaRPr lang="en-US" sz="2400" dirty="0"/>
          </a:p>
        </p:txBody>
      </p:sp>
      <p:pic>
        <p:nvPicPr>
          <p:cNvPr id="53250"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654528" y="1276400"/>
            <a:ext cx="5019675" cy="477202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775" y="1996480"/>
            <a:ext cx="7572753" cy="2332969"/>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3"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5077" y="8050857"/>
            <a:ext cx="4105275" cy="7143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4"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02400" y="8146107"/>
            <a:ext cx="4019550" cy="61912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5" name="Picture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22280" y="8837240"/>
            <a:ext cx="1847850" cy="5619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6" name="Picture 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17034" y="7469088"/>
            <a:ext cx="3067050" cy="50482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Block matrix
</a:t>
            </a:r>
            <a:endParaRPr lang="en-US" dirty="0"/>
          </a:p>
        </p:txBody>
      </p:sp>
      <p:sp>
        <p:nvSpPr>
          <p:cNvPr id="3" name="内容占位符 2"/>
          <p:cNvSpPr>
            <a:spLocks noGrp="1"/>
          </p:cNvSpPr>
          <p:nvPr>
            <p:ph idx="1"/>
          </p:nvPr>
        </p:nvSpPr>
        <p:spPr>
          <a:xfrm>
            <a:off x="495300" y="6893024"/>
            <a:ext cx="12012613" cy="2941464"/>
          </a:xfrm>
        </p:spPr>
        <p:txBody>
          <a:bodyPr numCol="2"/>
          <a:lstStyle/>
          <a:p>
            <a:r>
              <a:rPr lang="en-US" sz="2400" dirty="0"/>
              <a:t>Y1 = A1 + B1</a:t>
            </a:r>
            <a:endParaRPr lang="en-US" sz="2400" dirty="0"/>
          </a:p>
          <a:p>
            <a:r>
              <a:rPr lang="en-US" sz="2400" dirty="0"/>
              <a:t>Y2 = A2 + B2</a:t>
            </a:r>
            <a:endParaRPr lang="en-US" sz="2400" dirty="0"/>
          </a:p>
          <a:p>
            <a:r>
              <a:rPr lang="en-US" sz="2400" dirty="0"/>
              <a:t>Y3 = C1 + D1</a:t>
            </a:r>
            <a:endParaRPr lang="en-US" sz="2400" dirty="0"/>
          </a:p>
          <a:p>
            <a:r>
              <a:rPr lang="en-US" sz="2400" dirty="0"/>
              <a:t>…</a:t>
            </a:r>
            <a:endParaRPr lang="en-US" sz="2400" dirty="0"/>
          </a:p>
          <a:p>
            <a:r>
              <a:rPr lang="en-US" sz="2400" dirty="0"/>
              <a:t>A1 = 0 X1 + 2 X2</a:t>
            </a:r>
            <a:endParaRPr lang="en-US" sz="2400" dirty="0"/>
          </a:p>
          <a:p>
            <a:r>
              <a:rPr lang="en-US" sz="2400" dirty="0"/>
              <a:t>B1 = 3 X1 + 3 X2 + 3 X3</a:t>
            </a:r>
            <a:endParaRPr lang="en-US" sz="2400" dirty="0"/>
          </a:p>
          <a:p>
            <a:r>
              <a:rPr lang="en-US" sz="2400" dirty="0"/>
              <a:t>A2 = 2 </a:t>
            </a:r>
            <a:r>
              <a:rPr lang="en-US" altLang="zh-CN" sz="2400" dirty="0"/>
              <a:t>X1 + 0 X2</a:t>
            </a:r>
            <a:endParaRPr lang="en-US" sz="2400" dirty="0"/>
          </a:p>
          <a:p>
            <a:r>
              <a:rPr lang="en-US" sz="2400" dirty="0"/>
              <a:t>…</a:t>
            </a:r>
            <a:endParaRPr lang="en-US" sz="2400" dirty="0"/>
          </a:p>
        </p:txBody>
      </p:sp>
      <p:pic>
        <p:nvPicPr>
          <p:cNvPr id="58370"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89832" y="2068488"/>
            <a:ext cx="2677502" cy="2306364"/>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1"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74608" y="1879467"/>
            <a:ext cx="2028825" cy="41148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2"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86176" y="1673148"/>
            <a:ext cx="3744416" cy="319329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连接符 4"/>
          <p:cNvCxnSpPr/>
          <p:nvPr/>
        </p:nvCxnSpPr>
        <p:spPr bwMode="auto">
          <a:xfrm>
            <a:off x="4918224" y="3004592"/>
            <a:ext cx="2689793" cy="0"/>
          </a:xfrm>
          <a:prstGeom prst="line">
            <a:avLst/>
          </a:prstGeom>
          <a:solidFill>
            <a:srgbClr val="000000"/>
          </a:solidFill>
          <a:ln w="25400" cap="flat" cmpd="sng" algn="ctr">
            <a:solidFill>
              <a:srgbClr val="FF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p:cNvCxnSpPr/>
          <p:nvPr/>
        </p:nvCxnSpPr>
        <p:spPr bwMode="auto">
          <a:xfrm>
            <a:off x="5998344" y="1852464"/>
            <a:ext cx="0" cy="2880320"/>
          </a:xfrm>
          <a:prstGeom prst="line">
            <a:avLst/>
          </a:prstGeom>
          <a:solidFill>
            <a:srgbClr val="000000"/>
          </a:solidFill>
          <a:ln w="25400" cap="flat" cmpd="sng" algn="ctr">
            <a:solidFill>
              <a:srgbClr val="FF0000"/>
            </a:solidFill>
            <a:prstDash val="solid"/>
            <a:miter lim="4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Box 8"/>
          <p:cNvSpPr txBox="1"/>
          <p:nvPr/>
        </p:nvSpPr>
        <p:spPr>
          <a:xfrm>
            <a:off x="525736" y="6172944"/>
            <a:ext cx="6060313" cy="954107"/>
          </a:xfrm>
          <a:prstGeom prst="rect">
            <a:avLst/>
          </a:prstGeom>
          <a:noFill/>
        </p:spPr>
        <p:txBody>
          <a:bodyPr wrap="none" rtlCol="0">
            <a:spAutoFit/>
          </a:bodyPr>
          <a:lstStyle/>
          <a:p>
            <a:r>
              <a:rPr lang="en-US" altLang="zh-CN" sz="2800" dirty="0"/>
              <a:t>Corresponding substitution relationship:
</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Block matrix multiplication
</a:t>
            </a:r>
            <a:endParaRPr lang="en-US" dirty="0"/>
          </a:p>
        </p:txBody>
      </p:sp>
      <p:sp>
        <p:nvSpPr>
          <p:cNvPr id="3" name="内容占位符 2"/>
          <p:cNvSpPr>
            <a:spLocks noGrp="1"/>
          </p:cNvSpPr>
          <p:nvPr>
            <p:ph idx="1"/>
          </p:nvPr>
        </p:nvSpPr>
        <p:spPr>
          <a:xfrm>
            <a:off x="495300" y="5031680"/>
            <a:ext cx="12012613" cy="3157488"/>
          </a:xfrm>
        </p:spPr>
        <p:txBody>
          <a:bodyPr/>
          <a:lstStyle/>
          <a:p>
            <a:r>
              <a:rPr lang="en-US" altLang="zh-CN" dirty="0"/>
              <a:t>In short, if we treat the matrix (linear map) itself as an object and as an element of another matrix, then the properties of the latter with respect to the matrix will be preserved entirely!
* It has now been verified that putting real numbers, complex numbers, and matrices into the matrix as objects does not destroy its properties. But not any object is OK, such as natural numbers, positive real numbers. So how to check it? This problem needs to be studied in a more advanced mathematics course (abstract algebra). </a:t>
            </a:r>
            <a:r>
              <a:rPr lang="en-US" dirty="0">
                <a:hlinkClick r:id="rId1"/>
              </a:rPr>
              <a:t>Matrix ring - Wikipedia</a:t>
            </a:r>
            <a:endParaRPr lang="en-US" dirty="0"/>
          </a:p>
        </p:txBody>
      </p:sp>
      <p:pic>
        <p:nvPicPr>
          <p:cNvPr id="5939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49872" y="1564432"/>
            <a:ext cx="8856984" cy="301981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Parallelization Models</a:t>
            </a:r>
            <a:endParaRPr lang="en-US" dirty="0"/>
          </a:p>
        </p:txBody>
      </p:sp>
      <p:sp>
        <p:nvSpPr>
          <p:cNvPr id="3" name="内容占位符 2"/>
          <p:cNvSpPr>
            <a:spLocks noGrp="1"/>
          </p:cNvSpPr>
          <p:nvPr>
            <p:ph idx="1"/>
          </p:nvPr>
        </p:nvSpPr>
        <p:spPr/>
        <p:txBody>
          <a:bodyPr/>
          <a:lstStyle/>
          <a:p>
            <a:r>
              <a:rPr lang="en-US" altLang="zh-CN" sz="2800" dirty="0">
                <a:hlinkClick r:id="rId1"/>
              </a:rPr>
              <a:t>geometric-decomposition</a:t>
            </a:r>
            <a:endParaRPr lang="en-US" altLang="zh-CN" sz="2800" dirty="0"/>
          </a:p>
          <a:p>
            <a:endParaRPr lang="en-US" sz="2800" dirty="0"/>
          </a:p>
          <a:p>
            <a:endParaRPr lang="en-US" sz="2800" dirty="0"/>
          </a:p>
          <a:p>
            <a:endParaRPr lang="en-US" sz="2800" dirty="0"/>
          </a:p>
          <a:p>
            <a:endParaRPr lang="en-US" sz="2800" dirty="0"/>
          </a:p>
          <a:p>
            <a:endParaRPr lang="en-US" sz="2800" dirty="0"/>
          </a:p>
          <a:p>
            <a:endParaRPr lang="en-US" sz="2800" dirty="0"/>
          </a:p>
          <a:p>
            <a:r>
              <a:rPr lang="en-US" altLang="zh-CN" sz="2800" dirty="0"/>
              <a:t>Features:</a:t>
            </a:r>
            <a:endParaRPr lang="en-US" altLang="zh-CN" sz="2800" dirty="0"/>
          </a:p>
          <a:p>
            <a:pPr lvl="1"/>
            <a:r>
              <a:rPr lang="en-US" altLang="zh-CN" sz="2800" dirty="0"/>
              <a:t>Based on the intrinsic topology of the data, it is segmented and assigned to different compute nodes
Each node performs all calculations involving the data it owns</a:t>
            </a:r>
            <a:endParaRPr lang="en-US" altLang="zh-CN" sz="2800" dirty="0"/>
          </a:p>
          <a:p>
            <a:pPr lvl="1"/>
            <a:r>
              <a:rPr lang="en-US" altLang="zh-CN" sz="2800" dirty="0"/>
              <a:t>The communication process is predictable and is not affected by the calculation process</a:t>
            </a:r>
            <a:endParaRPr lang="en-US" sz="2800" dirty="0"/>
          </a:p>
        </p:txBody>
      </p:sp>
      <p:pic>
        <p:nvPicPr>
          <p:cNvPr id="6246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40050" y="1708448"/>
            <a:ext cx="4645525" cy="4693171"/>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467"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223" y="2500536"/>
            <a:ext cx="7907337" cy="264795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9526736" y="6507723"/>
            <a:ext cx="1835759" cy="400110"/>
          </a:xfrm>
          <a:prstGeom prst="rect">
            <a:avLst/>
          </a:prstGeom>
          <a:noFill/>
        </p:spPr>
        <p:txBody>
          <a:bodyPr wrap="none" rtlCol="0">
            <a:spAutoFit/>
          </a:bodyPr>
          <a:lstStyle/>
          <a:p>
            <a:r>
              <a:rPr lang="en-US" altLang="zh-CN" sz="2000" dirty="0">
                <a:solidFill>
                  <a:schemeClr val="accent1"/>
                </a:solidFill>
              </a:rPr>
              <a:t>Irregular Mesh</a:t>
            </a:r>
            <a:endParaRPr lang="en-US" sz="2000" dirty="0">
              <a:solidFill>
                <a:schemeClr val="accent1"/>
              </a:solidFill>
            </a:endParaRPr>
          </a:p>
        </p:txBody>
      </p:sp>
      <p:sp>
        <p:nvSpPr>
          <p:cNvPr id="7" name="TextBox 6"/>
          <p:cNvSpPr txBox="1"/>
          <p:nvPr/>
        </p:nvSpPr>
        <p:spPr>
          <a:xfrm>
            <a:off x="3255357" y="5148486"/>
            <a:ext cx="1152880" cy="400110"/>
          </a:xfrm>
          <a:prstGeom prst="rect">
            <a:avLst/>
          </a:prstGeom>
          <a:noFill/>
        </p:spPr>
        <p:txBody>
          <a:bodyPr wrap="none" rtlCol="0">
            <a:spAutoFit/>
          </a:bodyPr>
          <a:lstStyle/>
          <a:p>
            <a:r>
              <a:rPr lang="en-US" sz="2000" dirty="0">
                <a:solidFill>
                  <a:schemeClr val="accent1"/>
                </a:solidFill>
              </a:rPr>
              <a:t>2-</a:t>
            </a:r>
            <a:r>
              <a:rPr lang="en-US" altLang="zh-CN" sz="2000" dirty="0">
                <a:solidFill>
                  <a:schemeClr val="accent1"/>
                </a:solidFill>
              </a:rPr>
              <a:t>D Grid</a:t>
            </a:r>
            <a:endParaRPr lang="en-US" sz="2000" dirty="0">
              <a:solidFill>
                <a:schemeClr val="accen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Simple Parallel Algorithm</a:t>
            </a:r>
            <a:endParaRPr lang="en-US" altLang="en-US"/>
          </a:p>
        </p:txBody>
      </p:sp>
      <p:sp>
        <p:nvSpPr>
          <p:cNvPr id="10243" name="Content Placeholder 2"/>
          <p:cNvSpPr>
            <a:spLocks noGrp="1"/>
          </p:cNvSpPr>
          <p:nvPr>
            <p:ph idx="1"/>
          </p:nvPr>
        </p:nvSpPr>
        <p:spPr>
          <a:xfrm>
            <a:off x="495300" y="5020816"/>
            <a:ext cx="12012613" cy="3229496"/>
          </a:xfrm>
        </p:spPr>
        <p:txBody>
          <a:bodyPr/>
          <a:lstStyle/>
          <a:p>
            <a:r>
              <a:rPr lang="en-US" altLang="zh-CN" dirty="0"/>
              <a:t>Stages:</a:t>
            </a:r>
            <a:endParaRPr lang="en-US" altLang="zh-CN" dirty="0"/>
          </a:p>
          <a:p>
            <a:pPr lvl="1"/>
            <a:r>
              <a:rPr lang="en-US" altLang="zh-CN" dirty="0"/>
              <a:t>Store blocks A _{</a:t>
            </a:r>
            <a:r>
              <a:rPr lang="en-US" altLang="zh-CN" dirty="0" err="1"/>
              <a:t>i,j</a:t>
            </a:r>
            <a:r>
              <a:rPr lang="en-US" altLang="zh-CN" dirty="0"/>
              <a:t>}, B_{</a:t>
            </a:r>
            <a:r>
              <a:rPr lang="en-US" altLang="zh-CN" dirty="0" err="1"/>
              <a:t>i,j</a:t>
            </a:r>
            <a:r>
              <a:rPr lang="en-US" altLang="zh-CN" dirty="0"/>
              <a:t>} on the corresponding nodes
Each node broadcasts its own A_{</a:t>
            </a:r>
            <a:r>
              <a:rPr lang="en-US" altLang="zh-CN" dirty="0" err="1"/>
              <a:t>i,j</a:t>
            </a:r>
            <a:r>
              <a:rPr lang="en-US" altLang="zh-CN" dirty="0"/>
              <a:t>}, B_{</a:t>
            </a:r>
            <a:r>
              <a:rPr lang="en-US" altLang="zh-CN" dirty="0" err="1"/>
              <a:t>i,j</a:t>
            </a:r>
            <a:r>
              <a:rPr lang="en-US" altLang="zh-CN" dirty="0"/>
              <a:t>} along the horizontal and vertical axes; After the broadcast, each node has all blocks of data in the same column and row</a:t>
            </a:r>
            <a:endParaRPr lang="en-US" altLang="zh-CN" dirty="0"/>
          </a:p>
          <a:p>
            <a:pPr lvl="2"/>
            <a:r>
              <a:rPr lang="en-US" altLang="zh-CN" dirty="0"/>
              <a:t>Step 1</a:t>
            </a:r>
            <a:endParaRPr lang="en-US" altLang="zh-CN" dirty="0"/>
          </a:p>
        </p:txBody>
      </p:sp>
      <p:graphicFrame>
        <p:nvGraphicFramePr>
          <p:cNvPr id="2" name="表格 1"/>
          <p:cNvGraphicFramePr>
            <a:graphicFrameLocks noGrp="1"/>
          </p:cNvGraphicFramePr>
          <p:nvPr/>
        </p:nvGraphicFramePr>
        <p:xfrm>
          <a:off x="2167466" y="2284512"/>
          <a:ext cx="2534733" cy="1881843"/>
        </p:xfrm>
        <a:graphic>
          <a:graphicData uri="http://schemas.openxmlformats.org/drawingml/2006/table">
            <a:tbl>
              <a:tblPr firstRow="1" bandRow="1">
                <a:tableStyleId>{5940675A-B579-460E-94D1-54222C63F5DA}</a:tableStyleId>
              </a:tblPr>
              <a:tblGrid>
                <a:gridCol w="844911"/>
                <a:gridCol w="844911"/>
                <a:gridCol w="844911"/>
              </a:tblGrid>
              <a:tr h="627281">
                <a:tc>
                  <a:txBody>
                    <a:bodyPr/>
                    <a:lstStyle/>
                    <a:p>
                      <a:pPr algn="ctr"/>
                      <a:r>
                        <a:rPr lang="en-US" altLang="zh-CN" dirty="0"/>
                        <a:t>A11</a:t>
                      </a:r>
                      <a:endParaRPr lang="en-US" dirty="0"/>
                    </a:p>
                  </a:txBody>
                  <a:tcPr anchor="ctr">
                    <a:solidFill>
                      <a:srgbClr val="FFFF00"/>
                    </a:solidFill>
                  </a:tcPr>
                </a:tc>
                <a:tc>
                  <a:txBody>
                    <a:bodyPr/>
                    <a:lstStyle/>
                    <a:p>
                      <a:pPr algn="ctr"/>
                      <a:r>
                        <a:rPr lang="en-US" dirty="0"/>
                        <a:t>A12</a:t>
                      </a:r>
                      <a:endParaRPr lang="en-US" dirty="0"/>
                    </a:p>
                  </a:txBody>
                  <a:tcPr anchor="ctr"/>
                </a:tc>
                <a:tc>
                  <a:txBody>
                    <a:bodyPr/>
                    <a:lstStyle/>
                    <a:p>
                      <a:pPr algn="ctr"/>
                      <a:r>
                        <a:rPr lang="en-US" dirty="0"/>
                        <a:t>A13</a:t>
                      </a:r>
                      <a:endParaRPr lang="en-US" dirty="0"/>
                    </a:p>
                  </a:txBody>
                  <a:tcPr anchor="ctr"/>
                </a:tc>
              </a:tr>
              <a:tr h="627281">
                <a:tc>
                  <a:txBody>
                    <a:bodyPr/>
                    <a:lstStyle/>
                    <a:p>
                      <a:pPr algn="ctr"/>
                      <a:r>
                        <a:rPr lang="en-US" dirty="0"/>
                        <a:t>A21</a:t>
                      </a:r>
                      <a:endParaRPr lang="en-US" dirty="0"/>
                    </a:p>
                  </a:txBody>
                  <a:tcPr anchor="ctr">
                    <a:solidFill>
                      <a:srgbClr val="FFFF00"/>
                    </a:solidFill>
                  </a:tcPr>
                </a:tc>
                <a:tc>
                  <a:txBody>
                    <a:bodyPr/>
                    <a:lstStyle/>
                    <a:p>
                      <a:pPr algn="ctr"/>
                      <a:r>
                        <a:rPr lang="en-US" dirty="0"/>
                        <a:t>A22</a:t>
                      </a:r>
                      <a:endParaRPr lang="en-US" dirty="0"/>
                    </a:p>
                  </a:txBody>
                  <a:tcPr anchor="ctr"/>
                </a:tc>
                <a:tc>
                  <a:txBody>
                    <a:bodyPr/>
                    <a:lstStyle/>
                    <a:p>
                      <a:pPr algn="ctr"/>
                      <a:r>
                        <a:rPr lang="en-US" dirty="0"/>
                        <a:t>A23</a:t>
                      </a:r>
                      <a:endParaRPr lang="en-US" dirty="0"/>
                    </a:p>
                  </a:txBody>
                  <a:tcPr anchor="ctr"/>
                </a:tc>
              </a:tr>
              <a:tr h="627281">
                <a:tc>
                  <a:txBody>
                    <a:bodyPr/>
                    <a:lstStyle/>
                    <a:p>
                      <a:pPr algn="ctr"/>
                      <a:r>
                        <a:rPr lang="en-US" dirty="0"/>
                        <a:t>A31</a:t>
                      </a:r>
                      <a:endParaRPr lang="en-US" dirty="0"/>
                    </a:p>
                  </a:txBody>
                  <a:tcPr anchor="ctr">
                    <a:solidFill>
                      <a:srgbClr val="FFFF00"/>
                    </a:solidFill>
                  </a:tcPr>
                </a:tc>
                <a:tc>
                  <a:txBody>
                    <a:bodyPr/>
                    <a:lstStyle/>
                    <a:p>
                      <a:pPr algn="ctr"/>
                      <a:r>
                        <a:rPr lang="en-US" dirty="0"/>
                        <a:t>A32</a:t>
                      </a:r>
                      <a:endParaRPr lang="en-US" dirty="0"/>
                    </a:p>
                  </a:txBody>
                  <a:tcPr anchor="ctr"/>
                </a:tc>
                <a:tc>
                  <a:txBody>
                    <a:bodyPr/>
                    <a:lstStyle/>
                    <a:p>
                      <a:pPr algn="ctr"/>
                      <a:r>
                        <a:rPr lang="en-US" dirty="0"/>
                        <a:t>A33</a:t>
                      </a:r>
                      <a:endParaRPr lang="en-US" dirty="0"/>
                    </a:p>
                  </a:txBody>
                  <a:tcPr anchor="ctr"/>
                </a:tc>
              </a:tr>
            </a:tbl>
          </a:graphicData>
        </a:graphic>
      </p:graphicFrame>
      <p:cxnSp>
        <p:nvCxnSpPr>
          <p:cNvPr id="4" name="直接箭头连接符 3"/>
          <p:cNvCxnSpPr/>
          <p:nvPr/>
        </p:nvCxnSpPr>
        <p:spPr bwMode="auto">
          <a:xfrm>
            <a:off x="2469952" y="1655095"/>
            <a:ext cx="2160240"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Box 6"/>
          <p:cNvSpPr txBox="1"/>
          <p:nvPr/>
        </p:nvSpPr>
        <p:spPr>
          <a:xfrm>
            <a:off x="2397944" y="1204392"/>
            <a:ext cx="2632708" cy="400110"/>
          </a:xfrm>
          <a:prstGeom prst="rect">
            <a:avLst/>
          </a:prstGeom>
          <a:noFill/>
        </p:spPr>
        <p:txBody>
          <a:bodyPr wrap="none" rtlCol="0">
            <a:spAutoFit/>
          </a:bodyPr>
          <a:lstStyle/>
          <a:p>
            <a:r>
              <a:rPr lang="en-US" altLang="zh-CN" sz="2000" dirty="0"/>
              <a:t>1</a:t>
            </a:r>
            <a:r>
              <a:rPr lang="en-US" altLang="zh-CN" sz="2000" baseline="30000" dirty="0"/>
              <a:t>st</a:t>
            </a:r>
            <a:r>
              <a:rPr lang="en-US" altLang="zh-CN" sz="2000" dirty="0"/>
              <a:t> horizontal </a:t>
            </a:r>
            <a:r>
              <a:rPr lang="en-US" sz="2000" dirty="0"/>
              <a:t>Broadcast</a:t>
            </a:r>
            <a:endParaRPr lang="en-US" sz="2000" dirty="0"/>
          </a:p>
        </p:txBody>
      </p:sp>
      <p:cxnSp>
        <p:nvCxnSpPr>
          <p:cNvPr id="14" name="直接箭头连接符 13"/>
          <p:cNvCxnSpPr/>
          <p:nvPr/>
        </p:nvCxnSpPr>
        <p:spPr bwMode="auto">
          <a:xfrm>
            <a:off x="2469952" y="1996480"/>
            <a:ext cx="1080120"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Simple Parallel Algorithm</a:t>
            </a:r>
            <a:endParaRPr lang="en-US" altLang="en-US"/>
          </a:p>
        </p:txBody>
      </p:sp>
      <p:sp>
        <p:nvSpPr>
          <p:cNvPr id="10243" name="Content Placeholder 2"/>
          <p:cNvSpPr>
            <a:spLocks noGrp="1"/>
          </p:cNvSpPr>
          <p:nvPr>
            <p:ph idx="1"/>
          </p:nvPr>
        </p:nvSpPr>
        <p:spPr>
          <a:xfrm>
            <a:off x="495300" y="5020816"/>
            <a:ext cx="12012613" cy="3229496"/>
          </a:xfrm>
        </p:spPr>
        <p:txBody>
          <a:bodyPr/>
          <a:lstStyle/>
          <a:p>
            <a:r>
              <a:rPr lang="en-US" altLang="zh-CN" dirty="0"/>
              <a:t>Stages:</a:t>
            </a:r>
            <a:endParaRPr lang="en-US" altLang="zh-CN" dirty="0"/>
          </a:p>
          <a:p>
            <a:pPr lvl="1"/>
            <a:r>
              <a:rPr lang="en-US" altLang="zh-CN" dirty="0"/>
              <a:t>Each node broadcasts its own A_{</a:t>
            </a:r>
            <a:r>
              <a:rPr lang="en-US" altLang="zh-CN" dirty="0" err="1"/>
              <a:t>i,j</a:t>
            </a:r>
            <a:r>
              <a:rPr lang="en-US" altLang="zh-CN" dirty="0"/>
              <a:t>}, B_{</a:t>
            </a:r>
            <a:r>
              <a:rPr lang="en-US" altLang="zh-CN" dirty="0" err="1"/>
              <a:t>i,j</a:t>
            </a:r>
            <a:r>
              <a:rPr lang="en-US" altLang="zh-CN" dirty="0"/>
              <a:t>} along the horizontal and vertical axes; After the broadcast, each node has all blocks of data in the same column and row</a:t>
            </a:r>
            <a:endParaRPr lang="en-US" altLang="zh-CN" dirty="0"/>
          </a:p>
          <a:p>
            <a:pPr lvl="2"/>
            <a:r>
              <a:rPr lang="en-US" altLang="zh-CN" dirty="0"/>
              <a:t>Step 2</a:t>
            </a:r>
            <a:endParaRPr lang="en-US" altLang="zh-CN" dirty="0"/>
          </a:p>
        </p:txBody>
      </p:sp>
      <p:graphicFrame>
        <p:nvGraphicFramePr>
          <p:cNvPr id="2" name="表格 1"/>
          <p:cNvGraphicFramePr>
            <a:graphicFrameLocks noGrp="1"/>
          </p:cNvGraphicFramePr>
          <p:nvPr/>
        </p:nvGraphicFramePr>
        <p:xfrm>
          <a:off x="2167466" y="2284512"/>
          <a:ext cx="2534733" cy="1881843"/>
        </p:xfrm>
        <a:graphic>
          <a:graphicData uri="http://schemas.openxmlformats.org/drawingml/2006/table">
            <a:tbl>
              <a:tblPr firstRow="1" bandRow="1">
                <a:tableStyleId>{5940675A-B579-460E-94D1-54222C63F5DA}</a:tableStyleId>
              </a:tblPr>
              <a:tblGrid>
                <a:gridCol w="844911"/>
                <a:gridCol w="844911"/>
                <a:gridCol w="844911"/>
              </a:tblGrid>
              <a:tr h="627281">
                <a:tc>
                  <a:txBody>
                    <a:bodyPr/>
                    <a:lstStyle/>
                    <a:p>
                      <a:pPr algn="ctr"/>
                      <a:r>
                        <a:rPr lang="en-US" altLang="zh-CN" dirty="0"/>
                        <a:t>A11</a:t>
                      </a:r>
                      <a:endParaRPr lang="en-US" dirty="0"/>
                    </a:p>
                  </a:txBody>
                  <a:tcPr anchor="ctr">
                    <a:noFill/>
                  </a:tcPr>
                </a:tc>
                <a:tc>
                  <a:txBody>
                    <a:bodyPr/>
                    <a:lstStyle/>
                    <a:p>
                      <a:pPr algn="ctr"/>
                      <a:r>
                        <a:rPr lang="en-US" dirty="0"/>
                        <a:t>A12</a:t>
                      </a:r>
                      <a:endParaRPr lang="en-US" dirty="0"/>
                    </a:p>
                  </a:txBody>
                  <a:tcPr anchor="ctr">
                    <a:solidFill>
                      <a:srgbClr val="FFFF00"/>
                    </a:solidFill>
                  </a:tcPr>
                </a:tc>
                <a:tc>
                  <a:txBody>
                    <a:bodyPr/>
                    <a:lstStyle/>
                    <a:p>
                      <a:pPr algn="ctr"/>
                      <a:r>
                        <a:rPr lang="en-US" dirty="0"/>
                        <a:t>A13</a:t>
                      </a:r>
                      <a:endParaRPr lang="en-US" dirty="0"/>
                    </a:p>
                  </a:txBody>
                  <a:tcPr anchor="ctr"/>
                </a:tc>
              </a:tr>
              <a:tr h="627281">
                <a:tc>
                  <a:txBody>
                    <a:bodyPr/>
                    <a:lstStyle/>
                    <a:p>
                      <a:pPr algn="ctr"/>
                      <a:r>
                        <a:rPr lang="en-US" dirty="0"/>
                        <a:t>A21</a:t>
                      </a:r>
                      <a:endParaRPr lang="en-US" dirty="0"/>
                    </a:p>
                  </a:txBody>
                  <a:tcPr anchor="ctr">
                    <a:noFill/>
                  </a:tcPr>
                </a:tc>
                <a:tc>
                  <a:txBody>
                    <a:bodyPr/>
                    <a:lstStyle/>
                    <a:p>
                      <a:pPr algn="ctr"/>
                      <a:r>
                        <a:rPr lang="en-US" dirty="0"/>
                        <a:t>A22</a:t>
                      </a:r>
                      <a:endParaRPr lang="en-US" dirty="0"/>
                    </a:p>
                  </a:txBody>
                  <a:tcPr anchor="ctr">
                    <a:solidFill>
                      <a:srgbClr val="FFFF00"/>
                    </a:solidFill>
                  </a:tcPr>
                </a:tc>
                <a:tc>
                  <a:txBody>
                    <a:bodyPr/>
                    <a:lstStyle/>
                    <a:p>
                      <a:pPr algn="ctr"/>
                      <a:r>
                        <a:rPr lang="en-US" dirty="0"/>
                        <a:t>A23</a:t>
                      </a:r>
                      <a:endParaRPr lang="en-US" dirty="0"/>
                    </a:p>
                  </a:txBody>
                  <a:tcPr anchor="ctr"/>
                </a:tc>
              </a:tr>
              <a:tr h="627281">
                <a:tc>
                  <a:txBody>
                    <a:bodyPr/>
                    <a:lstStyle/>
                    <a:p>
                      <a:pPr algn="ctr"/>
                      <a:r>
                        <a:rPr lang="en-US" dirty="0"/>
                        <a:t>A31</a:t>
                      </a:r>
                      <a:endParaRPr lang="en-US" dirty="0"/>
                    </a:p>
                  </a:txBody>
                  <a:tcPr anchor="ctr">
                    <a:noFill/>
                  </a:tcPr>
                </a:tc>
                <a:tc>
                  <a:txBody>
                    <a:bodyPr/>
                    <a:lstStyle/>
                    <a:p>
                      <a:pPr algn="ctr"/>
                      <a:r>
                        <a:rPr lang="en-US" dirty="0"/>
                        <a:t>A32</a:t>
                      </a:r>
                      <a:endParaRPr lang="en-US" dirty="0"/>
                    </a:p>
                  </a:txBody>
                  <a:tcPr anchor="ctr">
                    <a:solidFill>
                      <a:srgbClr val="FFFF00"/>
                    </a:solidFill>
                  </a:tcPr>
                </a:tc>
                <a:tc>
                  <a:txBody>
                    <a:bodyPr/>
                    <a:lstStyle/>
                    <a:p>
                      <a:pPr algn="ctr"/>
                      <a:r>
                        <a:rPr lang="en-US" dirty="0"/>
                        <a:t>A33</a:t>
                      </a:r>
                      <a:endParaRPr lang="en-US" dirty="0"/>
                    </a:p>
                  </a:txBody>
                  <a:tcPr anchor="ctr"/>
                </a:tc>
              </a:tr>
            </a:tbl>
          </a:graphicData>
        </a:graphic>
      </p:graphicFrame>
      <p:cxnSp>
        <p:nvCxnSpPr>
          <p:cNvPr id="4" name="直接箭头连接符 3"/>
          <p:cNvCxnSpPr/>
          <p:nvPr/>
        </p:nvCxnSpPr>
        <p:spPr bwMode="auto">
          <a:xfrm>
            <a:off x="3563233" y="1996480"/>
            <a:ext cx="1066959"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Box 6"/>
          <p:cNvSpPr txBox="1"/>
          <p:nvPr/>
        </p:nvSpPr>
        <p:spPr>
          <a:xfrm>
            <a:off x="2253928" y="1513910"/>
            <a:ext cx="2778902" cy="400110"/>
          </a:xfrm>
          <a:prstGeom prst="rect">
            <a:avLst/>
          </a:prstGeom>
          <a:noFill/>
        </p:spPr>
        <p:txBody>
          <a:bodyPr wrap="none" rtlCol="0">
            <a:spAutoFit/>
          </a:bodyPr>
          <a:lstStyle/>
          <a:p>
            <a:r>
              <a:rPr lang="en-US" altLang="zh-CN" sz="2000" dirty="0"/>
              <a:t>2</a:t>
            </a:r>
            <a:r>
              <a:rPr lang="en-US" altLang="zh-CN" sz="2000" baseline="30000" dirty="0"/>
              <a:t>nd</a:t>
            </a:r>
            <a:r>
              <a:rPr lang="en-US" altLang="zh-CN" sz="2000" dirty="0"/>
              <a:t> horizontal </a:t>
            </a:r>
            <a:r>
              <a:rPr lang="en-US" sz="2000" dirty="0"/>
              <a:t>Broadcast</a:t>
            </a:r>
            <a:endParaRPr lang="en-US" sz="2000" dirty="0"/>
          </a:p>
        </p:txBody>
      </p:sp>
      <p:cxnSp>
        <p:nvCxnSpPr>
          <p:cNvPr id="14" name="直接箭头连接符 13"/>
          <p:cNvCxnSpPr/>
          <p:nvPr/>
        </p:nvCxnSpPr>
        <p:spPr bwMode="auto">
          <a:xfrm flipH="1">
            <a:off x="2325936" y="1996480"/>
            <a:ext cx="864096"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Simple Parallel Algorithm</a:t>
            </a:r>
            <a:endParaRPr lang="en-US" altLang="en-US"/>
          </a:p>
        </p:txBody>
      </p:sp>
      <p:sp>
        <p:nvSpPr>
          <p:cNvPr id="10243" name="Content Placeholder 2"/>
          <p:cNvSpPr>
            <a:spLocks noGrp="1"/>
          </p:cNvSpPr>
          <p:nvPr>
            <p:ph idx="1"/>
          </p:nvPr>
        </p:nvSpPr>
        <p:spPr>
          <a:xfrm>
            <a:off x="495300" y="5020816"/>
            <a:ext cx="12012613" cy="3229496"/>
          </a:xfrm>
        </p:spPr>
        <p:txBody>
          <a:bodyPr/>
          <a:lstStyle/>
          <a:p>
            <a:r>
              <a:rPr lang="en-US" altLang="zh-CN" dirty="0"/>
              <a:t>Stages:</a:t>
            </a:r>
            <a:endParaRPr lang="en-US" altLang="zh-CN" dirty="0"/>
          </a:p>
          <a:p>
            <a:pPr lvl="1"/>
            <a:r>
              <a:rPr lang="en-US" altLang="zh-CN" dirty="0"/>
              <a:t>Each node broadcasts its own A_{</a:t>
            </a:r>
            <a:r>
              <a:rPr lang="en-US" altLang="zh-CN" dirty="0" err="1"/>
              <a:t>i,j</a:t>
            </a:r>
            <a:r>
              <a:rPr lang="en-US" altLang="zh-CN" dirty="0"/>
              <a:t>}, B_{</a:t>
            </a:r>
            <a:r>
              <a:rPr lang="en-US" altLang="zh-CN" dirty="0" err="1"/>
              <a:t>i,j</a:t>
            </a:r>
            <a:r>
              <a:rPr lang="en-US" altLang="zh-CN" dirty="0"/>
              <a:t>} along the horizontal and vertical axes; After the broadcast, each node has all blocks of data in the same column and row</a:t>
            </a:r>
            <a:endParaRPr lang="en-US" altLang="zh-CN" dirty="0"/>
          </a:p>
          <a:p>
            <a:pPr lvl="2"/>
            <a:r>
              <a:rPr lang="en-US" altLang="zh-CN" dirty="0"/>
              <a:t>Step 3</a:t>
            </a:r>
            <a:endParaRPr lang="en-US" altLang="zh-CN" dirty="0"/>
          </a:p>
        </p:txBody>
      </p:sp>
      <p:graphicFrame>
        <p:nvGraphicFramePr>
          <p:cNvPr id="2" name="表格 1"/>
          <p:cNvGraphicFramePr>
            <a:graphicFrameLocks noGrp="1"/>
          </p:cNvGraphicFramePr>
          <p:nvPr/>
        </p:nvGraphicFramePr>
        <p:xfrm>
          <a:off x="2167466" y="2625281"/>
          <a:ext cx="2534733" cy="1881843"/>
        </p:xfrm>
        <a:graphic>
          <a:graphicData uri="http://schemas.openxmlformats.org/drawingml/2006/table">
            <a:tbl>
              <a:tblPr firstRow="1" bandRow="1">
                <a:tableStyleId>{5940675A-B579-460E-94D1-54222C63F5DA}</a:tableStyleId>
              </a:tblPr>
              <a:tblGrid>
                <a:gridCol w="844911"/>
                <a:gridCol w="844911"/>
                <a:gridCol w="844911"/>
              </a:tblGrid>
              <a:tr h="627281">
                <a:tc>
                  <a:txBody>
                    <a:bodyPr/>
                    <a:lstStyle/>
                    <a:p>
                      <a:pPr algn="ctr"/>
                      <a:r>
                        <a:rPr lang="en-US" altLang="zh-CN" dirty="0"/>
                        <a:t>A11</a:t>
                      </a:r>
                      <a:endParaRPr lang="en-US" dirty="0"/>
                    </a:p>
                  </a:txBody>
                  <a:tcPr anchor="ctr">
                    <a:noFill/>
                  </a:tcPr>
                </a:tc>
                <a:tc>
                  <a:txBody>
                    <a:bodyPr/>
                    <a:lstStyle/>
                    <a:p>
                      <a:pPr algn="ctr"/>
                      <a:r>
                        <a:rPr lang="en-US" dirty="0"/>
                        <a:t>A12</a:t>
                      </a:r>
                      <a:endParaRPr lang="en-US" dirty="0"/>
                    </a:p>
                  </a:txBody>
                  <a:tcPr anchor="ctr">
                    <a:noFill/>
                  </a:tcPr>
                </a:tc>
                <a:tc>
                  <a:txBody>
                    <a:bodyPr/>
                    <a:lstStyle/>
                    <a:p>
                      <a:pPr algn="ctr"/>
                      <a:r>
                        <a:rPr lang="en-US" dirty="0"/>
                        <a:t>A13</a:t>
                      </a:r>
                      <a:endParaRPr lang="en-US" dirty="0"/>
                    </a:p>
                  </a:txBody>
                  <a:tcPr anchor="ctr">
                    <a:solidFill>
                      <a:srgbClr val="FFFF00"/>
                    </a:solidFill>
                  </a:tcPr>
                </a:tc>
              </a:tr>
              <a:tr h="627281">
                <a:tc>
                  <a:txBody>
                    <a:bodyPr/>
                    <a:lstStyle/>
                    <a:p>
                      <a:pPr algn="ctr"/>
                      <a:r>
                        <a:rPr lang="en-US" dirty="0"/>
                        <a:t>A21</a:t>
                      </a:r>
                      <a:endParaRPr lang="en-US" dirty="0"/>
                    </a:p>
                  </a:txBody>
                  <a:tcPr anchor="ctr">
                    <a:noFill/>
                  </a:tcPr>
                </a:tc>
                <a:tc>
                  <a:txBody>
                    <a:bodyPr/>
                    <a:lstStyle/>
                    <a:p>
                      <a:pPr algn="ctr"/>
                      <a:r>
                        <a:rPr lang="en-US" dirty="0"/>
                        <a:t>A22</a:t>
                      </a:r>
                      <a:endParaRPr lang="en-US" dirty="0"/>
                    </a:p>
                  </a:txBody>
                  <a:tcPr anchor="ctr">
                    <a:noFill/>
                  </a:tcPr>
                </a:tc>
                <a:tc>
                  <a:txBody>
                    <a:bodyPr/>
                    <a:lstStyle/>
                    <a:p>
                      <a:pPr algn="ctr"/>
                      <a:r>
                        <a:rPr lang="en-US" dirty="0"/>
                        <a:t>A23</a:t>
                      </a:r>
                      <a:endParaRPr lang="en-US" dirty="0"/>
                    </a:p>
                  </a:txBody>
                  <a:tcPr anchor="ctr">
                    <a:solidFill>
                      <a:srgbClr val="FFFF00"/>
                    </a:solidFill>
                  </a:tcPr>
                </a:tc>
              </a:tr>
              <a:tr h="627281">
                <a:tc>
                  <a:txBody>
                    <a:bodyPr/>
                    <a:lstStyle/>
                    <a:p>
                      <a:pPr algn="ctr"/>
                      <a:r>
                        <a:rPr lang="en-US" dirty="0"/>
                        <a:t>A31</a:t>
                      </a:r>
                      <a:endParaRPr lang="en-US" dirty="0"/>
                    </a:p>
                  </a:txBody>
                  <a:tcPr anchor="ctr">
                    <a:noFill/>
                  </a:tcPr>
                </a:tc>
                <a:tc>
                  <a:txBody>
                    <a:bodyPr/>
                    <a:lstStyle/>
                    <a:p>
                      <a:pPr algn="ctr"/>
                      <a:r>
                        <a:rPr lang="en-US" dirty="0"/>
                        <a:t>A32</a:t>
                      </a:r>
                      <a:endParaRPr lang="en-US" dirty="0"/>
                    </a:p>
                  </a:txBody>
                  <a:tcPr anchor="ctr">
                    <a:noFill/>
                  </a:tcPr>
                </a:tc>
                <a:tc>
                  <a:txBody>
                    <a:bodyPr/>
                    <a:lstStyle/>
                    <a:p>
                      <a:pPr algn="ctr"/>
                      <a:r>
                        <a:rPr lang="en-US" dirty="0"/>
                        <a:t>A33</a:t>
                      </a:r>
                      <a:endParaRPr lang="en-US" dirty="0"/>
                    </a:p>
                  </a:txBody>
                  <a:tcPr anchor="ctr">
                    <a:solidFill>
                      <a:srgbClr val="FFFF00"/>
                    </a:solidFill>
                  </a:tcPr>
                </a:tc>
              </a:tr>
            </a:tbl>
          </a:graphicData>
        </a:graphic>
      </p:graphicFrame>
      <p:cxnSp>
        <p:nvCxnSpPr>
          <p:cNvPr id="4" name="直接箭头连接符 3"/>
          <p:cNvCxnSpPr/>
          <p:nvPr/>
        </p:nvCxnSpPr>
        <p:spPr bwMode="auto">
          <a:xfrm flipH="1">
            <a:off x="3507638" y="2356520"/>
            <a:ext cx="762514"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Box 6"/>
          <p:cNvSpPr txBox="1"/>
          <p:nvPr/>
        </p:nvSpPr>
        <p:spPr>
          <a:xfrm>
            <a:off x="2253928" y="1513910"/>
            <a:ext cx="2730491" cy="400110"/>
          </a:xfrm>
          <a:prstGeom prst="rect">
            <a:avLst/>
          </a:prstGeom>
          <a:noFill/>
        </p:spPr>
        <p:txBody>
          <a:bodyPr wrap="none" rtlCol="0">
            <a:spAutoFit/>
          </a:bodyPr>
          <a:lstStyle/>
          <a:p>
            <a:r>
              <a:rPr lang="en-US" altLang="zh-CN" sz="2000" dirty="0"/>
              <a:t>3</a:t>
            </a:r>
            <a:r>
              <a:rPr lang="en-US" altLang="zh-CN" sz="2000" baseline="30000" dirty="0"/>
              <a:t>rd</a:t>
            </a:r>
            <a:r>
              <a:rPr lang="en-US" altLang="zh-CN" sz="2000" dirty="0"/>
              <a:t> horizontal </a:t>
            </a:r>
            <a:r>
              <a:rPr lang="en-US" sz="2000" dirty="0"/>
              <a:t>Broadcast</a:t>
            </a:r>
            <a:endParaRPr lang="en-US" sz="2000" dirty="0"/>
          </a:p>
        </p:txBody>
      </p:sp>
      <p:cxnSp>
        <p:nvCxnSpPr>
          <p:cNvPr id="14" name="直接箭头连接符 13"/>
          <p:cNvCxnSpPr/>
          <p:nvPr/>
        </p:nvCxnSpPr>
        <p:spPr bwMode="auto">
          <a:xfrm flipH="1">
            <a:off x="2325936" y="2068488"/>
            <a:ext cx="1944216"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Simple Parallel Algorithm</a:t>
            </a:r>
            <a:endParaRPr lang="en-US" altLang="en-US"/>
          </a:p>
        </p:txBody>
      </p:sp>
      <p:sp>
        <p:nvSpPr>
          <p:cNvPr id="10243" name="Content Placeholder 2"/>
          <p:cNvSpPr>
            <a:spLocks noGrp="1"/>
          </p:cNvSpPr>
          <p:nvPr>
            <p:ph idx="1"/>
          </p:nvPr>
        </p:nvSpPr>
        <p:spPr>
          <a:xfrm>
            <a:off x="495300" y="5020816"/>
            <a:ext cx="12012613" cy="3229496"/>
          </a:xfrm>
        </p:spPr>
        <p:txBody>
          <a:bodyPr/>
          <a:lstStyle/>
          <a:p>
            <a:r>
              <a:rPr lang="en-US" altLang="zh-CN" dirty="0"/>
              <a:t>Stages:</a:t>
            </a:r>
            <a:endParaRPr lang="en-US" altLang="zh-CN" dirty="0"/>
          </a:p>
          <a:p>
            <a:pPr lvl="1"/>
            <a:r>
              <a:rPr lang="en-US" altLang="zh-CN" dirty="0"/>
              <a:t>Each node broadcasts its own A_{</a:t>
            </a:r>
            <a:r>
              <a:rPr lang="en-US" altLang="zh-CN" dirty="0" err="1"/>
              <a:t>i,j</a:t>
            </a:r>
            <a:r>
              <a:rPr lang="en-US" altLang="zh-CN" dirty="0"/>
              <a:t>}, B_{</a:t>
            </a:r>
            <a:r>
              <a:rPr lang="en-US" altLang="zh-CN" dirty="0" err="1"/>
              <a:t>i,j</a:t>
            </a:r>
            <a:r>
              <a:rPr lang="en-US" altLang="zh-CN" dirty="0"/>
              <a:t>} along the horizontal and vertical axes; After the broadcast, each node has all blocks of data in the same column and row</a:t>
            </a:r>
            <a:endParaRPr lang="en-US" altLang="zh-CN" dirty="0"/>
          </a:p>
          <a:p>
            <a:pPr lvl="2"/>
            <a:r>
              <a:rPr lang="en-US" altLang="zh-CN" dirty="0"/>
              <a:t>Step 4</a:t>
            </a:r>
            <a:endParaRPr lang="en-US" altLang="zh-CN" dirty="0"/>
          </a:p>
        </p:txBody>
      </p:sp>
      <p:graphicFrame>
        <p:nvGraphicFramePr>
          <p:cNvPr id="5" name="表格 4"/>
          <p:cNvGraphicFramePr>
            <a:graphicFrameLocks noGrp="1"/>
          </p:cNvGraphicFramePr>
          <p:nvPr/>
        </p:nvGraphicFramePr>
        <p:xfrm>
          <a:off x="7222480" y="2634917"/>
          <a:ext cx="2534733" cy="1881843"/>
        </p:xfrm>
        <a:graphic>
          <a:graphicData uri="http://schemas.openxmlformats.org/drawingml/2006/table">
            <a:tbl>
              <a:tblPr firstRow="1" bandRow="1">
                <a:tableStyleId>{5940675A-B579-460E-94D1-54222C63F5DA}</a:tableStyleId>
              </a:tblPr>
              <a:tblGrid>
                <a:gridCol w="844911"/>
                <a:gridCol w="844911"/>
                <a:gridCol w="844911"/>
              </a:tblGrid>
              <a:tr h="627281">
                <a:tc>
                  <a:txBody>
                    <a:bodyPr/>
                    <a:lstStyle/>
                    <a:p>
                      <a:pPr algn="ctr"/>
                      <a:r>
                        <a:rPr lang="en-US" altLang="zh-CN" dirty="0"/>
                        <a:t>B11</a:t>
                      </a:r>
                      <a:endParaRPr lang="en-US" dirty="0"/>
                    </a:p>
                  </a:txBody>
                  <a:tcPr anchor="ctr">
                    <a:solidFill>
                      <a:srgbClr val="92D050"/>
                    </a:solidFill>
                  </a:tcPr>
                </a:tc>
                <a:tc>
                  <a:txBody>
                    <a:bodyPr/>
                    <a:lstStyle/>
                    <a:p>
                      <a:pPr algn="ctr"/>
                      <a:r>
                        <a:rPr lang="en-US" altLang="zh-CN" dirty="0"/>
                        <a:t>B</a:t>
                      </a:r>
                      <a:r>
                        <a:rPr lang="en-US" dirty="0"/>
                        <a:t>12</a:t>
                      </a:r>
                      <a:endParaRPr lang="en-US" dirty="0"/>
                    </a:p>
                  </a:txBody>
                  <a:tcPr anchor="ctr">
                    <a:solidFill>
                      <a:srgbClr val="92D050"/>
                    </a:solidFill>
                  </a:tcPr>
                </a:tc>
                <a:tc>
                  <a:txBody>
                    <a:bodyPr/>
                    <a:lstStyle/>
                    <a:p>
                      <a:pPr algn="ctr"/>
                      <a:r>
                        <a:rPr lang="en-US" altLang="zh-CN" dirty="0"/>
                        <a:t>B</a:t>
                      </a:r>
                      <a:r>
                        <a:rPr lang="en-US" dirty="0"/>
                        <a:t>13</a:t>
                      </a:r>
                      <a:endParaRPr lang="en-US" dirty="0"/>
                    </a:p>
                  </a:txBody>
                  <a:tcPr anchor="ctr">
                    <a:solidFill>
                      <a:srgbClr val="92D050"/>
                    </a:solidFill>
                  </a:tcPr>
                </a:tc>
              </a:tr>
              <a:tr h="627281">
                <a:tc>
                  <a:txBody>
                    <a:bodyPr/>
                    <a:lstStyle/>
                    <a:p>
                      <a:pPr algn="ctr"/>
                      <a:r>
                        <a:rPr lang="en-US" altLang="zh-CN" dirty="0"/>
                        <a:t>B</a:t>
                      </a:r>
                      <a:r>
                        <a:rPr lang="en-US" dirty="0"/>
                        <a:t>21</a:t>
                      </a:r>
                      <a:endParaRPr lang="en-US" dirty="0"/>
                    </a:p>
                  </a:txBody>
                  <a:tcPr anchor="ctr">
                    <a:noFill/>
                  </a:tcPr>
                </a:tc>
                <a:tc>
                  <a:txBody>
                    <a:bodyPr/>
                    <a:lstStyle/>
                    <a:p>
                      <a:pPr algn="ctr"/>
                      <a:r>
                        <a:rPr lang="en-US" altLang="zh-CN" dirty="0"/>
                        <a:t>B</a:t>
                      </a:r>
                      <a:r>
                        <a:rPr lang="en-US" dirty="0"/>
                        <a:t>22</a:t>
                      </a:r>
                      <a:endParaRPr lang="en-US" dirty="0"/>
                    </a:p>
                  </a:txBody>
                  <a:tcPr anchor="ctr">
                    <a:noFill/>
                  </a:tcPr>
                </a:tc>
                <a:tc>
                  <a:txBody>
                    <a:bodyPr/>
                    <a:lstStyle/>
                    <a:p>
                      <a:pPr algn="ctr"/>
                      <a:r>
                        <a:rPr lang="en-US" altLang="zh-CN" dirty="0"/>
                        <a:t>B</a:t>
                      </a:r>
                      <a:r>
                        <a:rPr lang="en-US" dirty="0"/>
                        <a:t>23</a:t>
                      </a:r>
                      <a:endParaRPr lang="en-US" dirty="0"/>
                    </a:p>
                  </a:txBody>
                  <a:tcPr anchor="ctr">
                    <a:noFill/>
                  </a:tcPr>
                </a:tc>
              </a:tr>
              <a:tr h="627281">
                <a:tc>
                  <a:txBody>
                    <a:bodyPr/>
                    <a:lstStyle/>
                    <a:p>
                      <a:pPr algn="ctr"/>
                      <a:r>
                        <a:rPr lang="en-US" altLang="zh-CN" dirty="0"/>
                        <a:t>B</a:t>
                      </a:r>
                      <a:r>
                        <a:rPr lang="en-US" dirty="0"/>
                        <a:t>31</a:t>
                      </a:r>
                      <a:endParaRPr lang="en-US" dirty="0"/>
                    </a:p>
                  </a:txBody>
                  <a:tcPr anchor="ctr">
                    <a:noFill/>
                  </a:tcPr>
                </a:tc>
                <a:tc>
                  <a:txBody>
                    <a:bodyPr/>
                    <a:lstStyle/>
                    <a:p>
                      <a:pPr algn="ctr"/>
                      <a:r>
                        <a:rPr lang="en-US" dirty="0"/>
                        <a:t>B32</a:t>
                      </a:r>
                      <a:endParaRPr lang="en-US" dirty="0"/>
                    </a:p>
                  </a:txBody>
                  <a:tcPr anchor="ctr">
                    <a:noFill/>
                  </a:tcPr>
                </a:tc>
                <a:tc>
                  <a:txBody>
                    <a:bodyPr/>
                    <a:lstStyle/>
                    <a:p>
                      <a:pPr algn="ctr"/>
                      <a:r>
                        <a:rPr lang="en-US" dirty="0"/>
                        <a:t>B33</a:t>
                      </a:r>
                      <a:endParaRPr lang="en-US" dirty="0"/>
                    </a:p>
                  </a:txBody>
                  <a:tcPr anchor="ctr">
                    <a:noFill/>
                  </a:tcPr>
                </a:tc>
              </a:tr>
            </a:tbl>
          </a:graphicData>
        </a:graphic>
      </p:graphicFrame>
      <p:cxnSp>
        <p:nvCxnSpPr>
          <p:cNvPr id="15" name="直接箭头连接符 14"/>
          <p:cNvCxnSpPr/>
          <p:nvPr/>
        </p:nvCxnSpPr>
        <p:spPr bwMode="auto">
          <a:xfrm>
            <a:off x="6935071" y="2860576"/>
            <a:ext cx="0" cy="703486"/>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16"/>
          <p:cNvSpPr txBox="1"/>
          <p:nvPr/>
        </p:nvSpPr>
        <p:spPr>
          <a:xfrm>
            <a:off x="5926337" y="2356520"/>
            <a:ext cx="492443" cy="2259978"/>
          </a:xfrm>
          <a:prstGeom prst="rect">
            <a:avLst/>
          </a:prstGeom>
          <a:noFill/>
        </p:spPr>
        <p:txBody>
          <a:bodyPr vert="eaVert" wrap="none" rtlCol="0">
            <a:spAutoFit/>
          </a:bodyPr>
          <a:lstStyle/>
          <a:p>
            <a:r>
              <a:rPr lang="en-US" altLang="zh-CN" sz="2000" dirty="0"/>
              <a:t>1</a:t>
            </a:r>
            <a:r>
              <a:rPr lang="en-US" altLang="zh-CN" sz="2000" baseline="30000" dirty="0"/>
              <a:t>st</a:t>
            </a:r>
            <a:r>
              <a:rPr lang="en-US" altLang="zh-CN" sz="2000" dirty="0"/>
              <a:t> vertical </a:t>
            </a:r>
            <a:r>
              <a:rPr lang="en-US" sz="2000" dirty="0"/>
              <a:t>Broadcast</a:t>
            </a:r>
            <a:endParaRPr lang="en-US" sz="2000" dirty="0"/>
          </a:p>
        </p:txBody>
      </p:sp>
      <p:cxnSp>
        <p:nvCxnSpPr>
          <p:cNvPr id="18" name="直接箭头连接符 17"/>
          <p:cNvCxnSpPr/>
          <p:nvPr/>
        </p:nvCxnSpPr>
        <p:spPr bwMode="auto">
          <a:xfrm>
            <a:off x="6595159" y="2860576"/>
            <a:ext cx="0" cy="144016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Simple Parallel Algorithm</a:t>
            </a:r>
            <a:endParaRPr lang="en-US" altLang="en-US"/>
          </a:p>
        </p:txBody>
      </p:sp>
      <p:sp>
        <p:nvSpPr>
          <p:cNvPr id="10243" name="Content Placeholder 2"/>
          <p:cNvSpPr>
            <a:spLocks noGrp="1"/>
          </p:cNvSpPr>
          <p:nvPr>
            <p:ph idx="1"/>
          </p:nvPr>
        </p:nvSpPr>
        <p:spPr>
          <a:xfrm>
            <a:off x="495300" y="5020816"/>
            <a:ext cx="12012613" cy="3229496"/>
          </a:xfrm>
        </p:spPr>
        <p:txBody>
          <a:bodyPr/>
          <a:lstStyle/>
          <a:p>
            <a:r>
              <a:rPr lang="en-US" altLang="zh-CN" dirty="0"/>
              <a:t>Stages:</a:t>
            </a:r>
            <a:endParaRPr lang="en-US" altLang="zh-CN" dirty="0"/>
          </a:p>
          <a:p>
            <a:pPr lvl="1"/>
            <a:r>
              <a:rPr lang="en-US" altLang="zh-CN" dirty="0"/>
              <a:t>Each node broadcasts its own A_{</a:t>
            </a:r>
            <a:r>
              <a:rPr lang="en-US" altLang="zh-CN" dirty="0" err="1"/>
              <a:t>i,j</a:t>
            </a:r>
            <a:r>
              <a:rPr lang="en-US" altLang="zh-CN" dirty="0"/>
              <a:t>}, B_{</a:t>
            </a:r>
            <a:r>
              <a:rPr lang="en-US" altLang="zh-CN" dirty="0" err="1"/>
              <a:t>i,j</a:t>
            </a:r>
            <a:r>
              <a:rPr lang="en-US" altLang="zh-CN" dirty="0"/>
              <a:t>} along the horizontal and vertical axes; After the broadcast, each node has all blocks of data in the same column and row</a:t>
            </a:r>
            <a:endParaRPr lang="en-US" altLang="zh-CN" dirty="0"/>
          </a:p>
          <a:p>
            <a:pPr lvl="2"/>
            <a:r>
              <a:rPr lang="en-US" altLang="zh-CN" dirty="0"/>
              <a:t>Step 5</a:t>
            </a:r>
            <a:endParaRPr lang="en-US" altLang="zh-CN" dirty="0"/>
          </a:p>
        </p:txBody>
      </p:sp>
      <p:graphicFrame>
        <p:nvGraphicFramePr>
          <p:cNvPr id="5" name="表格 4"/>
          <p:cNvGraphicFramePr>
            <a:graphicFrameLocks noGrp="1"/>
          </p:cNvGraphicFramePr>
          <p:nvPr/>
        </p:nvGraphicFramePr>
        <p:xfrm>
          <a:off x="7222480" y="2634917"/>
          <a:ext cx="2534733" cy="1881843"/>
        </p:xfrm>
        <a:graphic>
          <a:graphicData uri="http://schemas.openxmlformats.org/drawingml/2006/table">
            <a:tbl>
              <a:tblPr firstRow="1" bandRow="1">
                <a:tableStyleId>{5940675A-B579-460E-94D1-54222C63F5DA}</a:tableStyleId>
              </a:tblPr>
              <a:tblGrid>
                <a:gridCol w="844911"/>
                <a:gridCol w="844911"/>
                <a:gridCol w="844911"/>
              </a:tblGrid>
              <a:tr h="627281">
                <a:tc>
                  <a:txBody>
                    <a:bodyPr/>
                    <a:lstStyle/>
                    <a:p>
                      <a:pPr algn="ctr"/>
                      <a:r>
                        <a:rPr lang="en-US" altLang="zh-CN" dirty="0"/>
                        <a:t>B11</a:t>
                      </a:r>
                      <a:endParaRPr lang="en-US" dirty="0"/>
                    </a:p>
                  </a:txBody>
                  <a:tcPr anchor="ctr">
                    <a:noFill/>
                  </a:tcPr>
                </a:tc>
                <a:tc>
                  <a:txBody>
                    <a:bodyPr/>
                    <a:lstStyle/>
                    <a:p>
                      <a:pPr algn="ctr"/>
                      <a:r>
                        <a:rPr lang="en-US" altLang="zh-CN" dirty="0"/>
                        <a:t>B</a:t>
                      </a:r>
                      <a:r>
                        <a:rPr lang="en-US" dirty="0"/>
                        <a:t>12</a:t>
                      </a:r>
                      <a:endParaRPr lang="en-US" dirty="0"/>
                    </a:p>
                  </a:txBody>
                  <a:tcPr anchor="ctr">
                    <a:noFill/>
                  </a:tcPr>
                </a:tc>
                <a:tc>
                  <a:txBody>
                    <a:bodyPr/>
                    <a:lstStyle/>
                    <a:p>
                      <a:pPr algn="ctr"/>
                      <a:r>
                        <a:rPr lang="en-US" altLang="zh-CN" dirty="0"/>
                        <a:t>B</a:t>
                      </a:r>
                      <a:r>
                        <a:rPr lang="en-US" dirty="0"/>
                        <a:t>13</a:t>
                      </a:r>
                      <a:endParaRPr lang="en-US" dirty="0"/>
                    </a:p>
                  </a:txBody>
                  <a:tcPr anchor="ctr">
                    <a:noFill/>
                  </a:tcPr>
                </a:tc>
              </a:tr>
              <a:tr h="627281">
                <a:tc>
                  <a:txBody>
                    <a:bodyPr/>
                    <a:lstStyle/>
                    <a:p>
                      <a:pPr algn="ctr"/>
                      <a:r>
                        <a:rPr lang="en-US" altLang="zh-CN" dirty="0"/>
                        <a:t>B</a:t>
                      </a:r>
                      <a:r>
                        <a:rPr lang="en-US" dirty="0"/>
                        <a:t>21</a:t>
                      </a:r>
                      <a:endParaRPr lang="en-US" dirty="0"/>
                    </a:p>
                  </a:txBody>
                  <a:tcPr anchor="ctr">
                    <a:solidFill>
                      <a:srgbClr val="92D050"/>
                    </a:solidFill>
                  </a:tcPr>
                </a:tc>
                <a:tc>
                  <a:txBody>
                    <a:bodyPr/>
                    <a:lstStyle/>
                    <a:p>
                      <a:pPr algn="ctr"/>
                      <a:r>
                        <a:rPr lang="en-US" altLang="zh-CN" dirty="0"/>
                        <a:t>B</a:t>
                      </a:r>
                      <a:r>
                        <a:rPr lang="en-US" dirty="0"/>
                        <a:t>22</a:t>
                      </a:r>
                      <a:endParaRPr lang="en-US" dirty="0"/>
                    </a:p>
                  </a:txBody>
                  <a:tcPr anchor="ctr">
                    <a:solidFill>
                      <a:srgbClr val="92D050"/>
                    </a:solidFill>
                  </a:tcPr>
                </a:tc>
                <a:tc>
                  <a:txBody>
                    <a:bodyPr/>
                    <a:lstStyle/>
                    <a:p>
                      <a:pPr algn="ctr"/>
                      <a:r>
                        <a:rPr lang="en-US" altLang="zh-CN" dirty="0"/>
                        <a:t>B</a:t>
                      </a:r>
                      <a:r>
                        <a:rPr lang="en-US" dirty="0"/>
                        <a:t>23</a:t>
                      </a:r>
                      <a:endParaRPr lang="en-US" dirty="0"/>
                    </a:p>
                  </a:txBody>
                  <a:tcPr anchor="ctr">
                    <a:solidFill>
                      <a:srgbClr val="92D050"/>
                    </a:solidFill>
                  </a:tcPr>
                </a:tc>
              </a:tr>
              <a:tr h="627281">
                <a:tc>
                  <a:txBody>
                    <a:bodyPr/>
                    <a:lstStyle/>
                    <a:p>
                      <a:pPr algn="ctr"/>
                      <a:r>
                        <a:rPr lang="en-US" altLang="zh-CN" dirty="0"/>
                        <a:t>B</a:t>
                      </a:r>
                      <a:r>
                        <a:rPr lang="en-US" dirty="0"/>
                        <a:t>31</a:t>
                      </a:r>
                      <a:endParaRPr lang="en-US" dirty="0"/>
                    </a:p>
                  </a:txBody>
                  <a:tcPr anchor="ctr">
                    <a:noFill/>
                  </a:tcPr>
                </a:tc>
                <a:tc>
                  <a:txBody>
                    <a:bodyPr/>
                    <a:lstStyle/>
                    <a:p>
                      <a:pPr algn="ctr"/>
                      <a:r>
                        <a:rPr lang="en-US" dirty="0"/>
                        <a:t>B32</a:t>
                      </a:r>
                      <a:endParaRPr lang="en-US" dirty="0"/>
                    </a:p>
                  </a:txBody>
                  <a:tcPr anchor="ctr">
                    <a:noFill/>
                  </a:tcPr>
                </a:tc>
                <a:tc>
                  <a:txBody>
                    <a:bodyPr/>
                    <a:lstStyle/>
                    <a:p>
                      <a:pPr algn="ctr"/>
                      <a:r>
                        <a:rPr lang="en-US" dirty="0"/>
                        <a:t>B33</a:t>
                      </a:r>
                      <a:endParaRPr lang="en-US" dirty="0"/>
                    </a:p>
                  </a:txBody>
                  <a:tcPr anchor="ctr">
                    <a:noFill/>
                  </a:tcPr>
                </a:tc>
              </a:tr>
            </a:tbl>
          </a:graphicData>
        </a:graphic>
      </p:graphicFrame>
      <p:cxnSp>
        <p:nvCxnSpPr>
          <p:cNvPr id="16" name="直接箭头连接符 15"/>
          <p:cNvCxnSpPr/>
          <p:nvPr/>
        </p:nvCxnSpPr>
        <p:spPr bwMode="auto">
          <a:xfrm>
            <a:off x="6862440" y="3724672"/>
            <a:ext cx="0" cy="703486"/>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Box 18"/>
          <p:cNvSpPr txBox="1"/>
          <p:nvPr/>
        </p:nvSpPr>
        <p:spPr>
          <a:xfrm>
            <a:off x="6058117" y="2356520"/>
            <a:ext cx="492443" cy="2316403"/>
          </a:xfrm>
          <a:prstGeom prst="rect">
            <a:avLst/>
          </a:prstGeom>
          <a:noFill/>
        </p:spPr>
        <p:txBody>
          <a:bodyPr vert="eaVert" wrap="none" rtlCol="0">
            <a:spAutoFit/>
          </a:bodyPr>
          <a:lstStyle/>
          <a:p>
            <a:r>
              <a:rPr lang="en-US" altLang="zh-CN" sz="2000" dirty="0"/>
              <a:t>2</a:t>
            </a:r>
            <a:r>
              <a:rPr lang="en-US" altLang="zh-CN" sz="2000" baseline="30000" dirty="0"/>
              <a:t>nd</a:t>
            </a:r>
            <a:r>
              <a:rPr lang="en-US" altLang="zh-CN" sz="2000" dirty="0"/>
              <a:t> vertical </a:t>
            </a:r>
            <a:r>
              <a:rPr lang="en-US" sz="2000" dirty="0"/>
              <a:t>Broadcast</a:t>
            </a:r>
            <a:endParaRPr lang="en-US" sz="2000" dirty="0"/>
          </a:p>
        </p:txBody>
      </p:sp>
      <p:cxnSp>
        <p:nvCxnSpPr>
          <p:cNvPr id="20" name="直接箭头连接符 19"/>
          <p:cNvCxnSpPr/>
          <p:nvPr/>
        </p:nvCxnSpPr>
        <p:spPr bwMode="auto">
          <a:xfrm flipV="1">
            <a:off x="6862440" y="2932584"/>
            <a:ext cx="0" cy="631478"/>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Simple Parallel Algorithm</a:t>
            </a:r>
            <a:endParaRPr lang="en-US" altLang="en-US"/>
          </a:p>
        </p:txBody>
      </p:sp>
      <p:sp>
        <p:nvSpPr>
          <p:cNvPr id="10243" name="Content Placeholder 2"/>
          <p:cNvSpPr>
            <a:spLocks noGrp="1"/>
          </p:cNvSpPr>
          <p:nvPr>
            <p:ph idx="1"/>
          </p:nvPr>
        </p:nvSpPr>
        <p:spPr>
          <a:xfrm>
            <a:off x="495300" y="5020816"/>
            <a:ext cx="12012613" cy="3229496"/>
          </a:xfrm>
        </p:spPr>
        <p:txBody>
          <a:bodyPr/>
          <a:lstStyle/>
          <a:p>
            <a:r>
              <a:rPr lang="en-US" altLang="zh-CN" dirty="0"/>
              <a:t>Stages:</a:t>
            </a:r>
            <a:endParaRPr lang="en-US" altLang="zh-CN" dirty="0"/>
          </a:p>
          <a:p>
            <a:pPr lvl="1"/>
            <a:r>
              <a:rPr lang="en-US" altLang="zh-CN" dirty="0"/>
              <a:t>Each node broadcasts its own A_{</a:t>
            </a:r>
            <a:r>
              <a:rPr lang="en-US" altLang="zh-CN" dirty="0" err="1"/>
              <a:t>i,j</a:t>
            </a:r>
            <a:r>
              <a:rPr lang="en-US" altLang="zh-CN" dirty="0"/>
              <a:t>}, B_{</a:t>
            </a:r>
            <a:r>
              <a:rPr lang="en-US" altLang="zh-CN" dirty="0" err="1"/>
              <a:t>i,j</a:t>
            </a:r>
            <a:r>
              <a:rPr lang="en-US" altLang="zh-CN" dirty="0"/>
              <a:t>} along the horizontal and vertical axes; After the broadcast, each node has all blocks of data in the same column and row</a:t>
            </a:r>
            <a:endParaRPr lang="en-US" altLang="zh-CN" dirty="0"/>
          </a:p>
          <a:p>
            <a:pPr lvl="2"/>
            <a:r>
              <a:rPr lang="en-US" altLang="zh-CN" dirty="0"/>
              <a:t>Step 6</a:t>
            </a:r>
            <a:endParaRPr lang="en-US" altLang="zh-CN" dirty="0"/>
          </a:p>
        </p:txBody>
      </p:sp>
      <p:graphicFrame>
        <p:nvGraphicFramePr>
          <p:cNvPr id="5" name="表格 4"/>
          <p:cNvGraphicFramePr>
            <a:graphicFrameLocks noGrp="1"/>
          </p:cNvGraphicFramePr>
          <p:nvPr/>
        </p:nvGraphicFramePr>
        <p:xfrm>
          <a:off x="7222480" y="2634917"/>
          <a:ext cx="2534733" cy="1881843"/>
        </p:xfrm>
        <a:graphic>
          <a:graphicData uri="http://schemas.openxmlformats.org/drawingml/2006/table">
            <a:tbl>
              <a:tblPr firstRow="1" bandRow="1">
                <a:tableStyleId>{5940675A-B579-460E-94D1-54222C63F5DA}</a:tableStyleId>
              </a:tblPr>
              <a:tblGrid>
                <a:gridCol w="844911"/>
                <a:gridCol w="844911"/>
                <a:gridCol w="844911"/>
              </a:tblGrid>
              <a:tr h="627281">
                <a:tc>
                  <a:txBody>
                    <a:bodyPr/>
                    <a:lstStyle/>
                    <a:p>
                      <a:pPr algn="ctr"/>
                      <a:r>
                        <a:rPr lang="en-US" altLang="zh-CN" dirty="0"/>
                        <a:t>B11</a:t>
                      </a:r>
                      <a:endParaRPr lang="en-US" dirty="0"/>
                    </a:p>
                  </a:txBody>
                  <a:tcPr anchor="ctr">
                    <a:noFill/>
                  </a:tcPr>
                </a:tc>
                <a:tc>
                  <a:txBody>
                    <a:bodyPr/>
                    <a:lstStyle/>
                    <a:p>
                      <a:pPr algn="ctr"/>
                      <a:r>
                        <a:rPr lang="en-US" altLang="zh-CN" dirty="0"/>
                        <a:t>B</a:t>
                      </a:r>
                      <a:r>
                        <a:rPr lang="en-US" dirty="0"/>
                        <a:t>12</a:t>
                      </a:r>
                      <a:endParaRPr lang="en-US" dirty="0"/>
                    </a:p>
                  </a:txBody>
                  <a:tcPr anchor="ctr">
                    <a:noFill/>
                  </a:tcPr>
                </a:tc>
                <a:tc>
                  <a:txBody>
                    <a:bodyPr/>
                    <a:lstStyle/>
                    <a:p>
                      <a:pPr algn="ctr"/>
                      <a:r>
                        <a:rPr lang="en-US" altLang="zh-CN" dirty="0"/>
                        <a:t>B</a:t>
                      </a:r>
                      <a:r>
                        <a:rPr lang="en-US" dirty="0"/>
                        <a:t>13</a:t>
                      </a:r>
                      <a:endParaRPr lang="en-US" dirty="0"/>
                    </a:p>
                  </a:txBody>
                  <a:tcPr anchor="ctr">
                    <a:noFill/>
                  </a:tcPr>
                </a:tc>
              </a:tr>
              <a:tr h="627281">
                <a:tc>
                  <a:txBody>
                    <a:bodyPr/>
                    <a:lstStyle/>
                    <a:p>
                      <a:pPr algn="ctr"/>
                      <a:r>
                        <a:rPr lang="en-US" altLang="zh-CN" dirty="0"/>
                        <a:t>B</a:t>
                      </a:r>
                      <a:r>
                        <a:rPr lang="en-US" dirty="0"/>
                        <a:t>21</a:t>
                      </a:r>
                      <a:endParaRPr lang="en-US" dirty="0"/>
                    </a:p>
                  </a:txBody>
                  <a:tcPr anchor="ctr">
                    <a:noFill/>
                  </a:tcPr>
                </a:tc>
                <a:tc>
                  <a:txBody>
                    <a:bodyPr/>
                    <a:lstStyle/>
                    <a:p>
                      <a:pPr algn="ctr"/>
                      <a:r>
                        <a:rPr lang="en-US" altLang="zh-CN" dirty="0"/>
                        <a:t>B</a:t>
                      </a:r>
                      <a:r>
                        <a:rPr lang="en-US" dirty="0"/>
                        <a:t>22</a:t>
                      </a:r>
                      <a:endParaRPr lang="en-US" dirty="0"/>
                    </a:p>
                  </a:txBody>
                  <a:tcPr anchor="ctr">
                    <a:noFill/>
                  </a:tcPr>
                </a:tc>
                <a:tc>
                  <a:txBody>
                    <a:bodyPr/>
                    <a:lstStyle/>
                    <a:p>
                      <a:pPr algn="ctr"/>
                      <a:r>
                        <a:rPr lang="en-US" altLang="zh-CN" dirty="0"/>
                        <a:t>B</a:t>
                      </a:r>
                      <a:r>
                        <a:rPr lang="en-US" dirty="0"/>
                        <a:t>23</a:t>
                      </a:r>
                      <a:endParaRPr lang="en-US" dirty="0"/>
                    </a:p>
                  </a:txBody>
                  <a:tcPr anchor="ctr">
                    <a:noFill/>
                  </a:tcPr>
                </a:tc>
              </a:tr>
              <a:tr h="627281">
                <a:tc>
                  <a:txBody>
                    <a:bodyPr/>
                    <a:lstStyle/>
                    <a:p>
                      <a:pPr algn="ctr"/>
                      <a:r>
                        <a:rPr lang="en-US" altLang="zh-CN" dirty="0"/>
                        <a:t>B</a:t>
                      </a:r>
                      <a:r>
                        <a:rPr lang="en-US" dirty="0"/>
                        <a:t>31</a:t>
                      </a:r>
                      <a:endParaRPr lang="en-US" dirty="0"/>
                    </a:p>
                  </a:txBody>
                  <a:tcPr anchor="ctr">
                    <a:solidFill>
                      <a:srgbClr val="92D050"/>
                    </a:solidFill>
                  </a:tcPr>
                </a:tc>
                <a:tc>
                  <a:txBody>
                    <a:bodyPr/>
                    <a:lstStyle/>
                    <a:p>
                      <a:pPr algn="ctr"/>
                      <a:r>
                        <a:rPr lang="en-US" dirty="0"/>
                        <a:t>B32</a:t>
                      </a:r>
                      <a:endParaRPr lang="en-US" dirty="0"/>
                    </a:p>
                  </a:txBody>
                  <a:tcPr anchor="ctr">
                    <a:solidFill>
                      <a:srgbClr val="92D050"/>
                    </a:solidFill>
                  </a:tcPr>
                </a:tc>
                <a:tc>
                  <a:txBody>
                    <a:bodyPr/>
                    <a:lstStyle/>
                    <a:p>
                      <a:pPr algn="ctr"/>
                      <a:r>
                        <a:rPr lang="en-US" dirty="0"/>
                        <a:t>B33</a:t>
                      </a:r>
                      <a:endParaRPr lang="en-US" dirty="0"/>
                    </a:p>
                  </a:txBody>
                  <a:tcPr anchor="ctr">
                    <a:solidFill>
                      <a:srgbClr val="92D050"/>
                    </a:solidFill>
                  </a:tcPr>
                </a:tc>
              </a:tr>
            </a:tbl>
          </a:graphicData>
        </a:graphic>
      </p:graphicFrame>
      <p:cxnSp>
        <p:nvCxnSpPr>
          <p:cNvPr id="16" name="直接箭头连接符 15"/>
          <p:cNvCxnSpPr/>
          <p:nvPr/>
        </p:nvCxnSpPr>
        <p:spPr bwMode="auto">
          <a:xfrm flipV="1">
            <a:off x="6934448" y="3492054"/>
            <a:ext cx="0" cy="736674"/>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Box 18"/>
          <p:cNvSpPr txBox="1"/>
          <p:nvPr/>
        </p:nvSpPr>
        <p:spPr>
          <a:xfrm>
            <a:off x="5925717" y="2284512"/>
            <a:ext cx="492443" cy="2283638"/>
          </a:xfrm>
          <a:prstGeom prst="rect">
            <a:avLst/>
          </a:prstGeom>
          <a:noFill/>
        </p:spPr>
        <p:txBody>
          <a:bodyPr vert="eaVert" wrap="none" rtlCol="0">
            <a:spAutoFit/>
          </a:bodyPr>
          <a:lstStyle/>
          <a:p>
            <a:r>
              <a:rPr lang="en-US" altLang="zh-CN" sz="2000" dirty="0"/>
              <a:t>3</a:t>
            </a:r>
            <a:r>
              <a:rPr lang="en-US" altLang="zh-CN" sz="2000" baseline="30000" dirty="0"/>
              <a:t>rd</a:t>
            </a:r>
            <a:r>
              <a:rPr lang="en-US" altLang="zh-CN" sz="2000" dirty="0"/>
              <a:t> vertical </a:t>
            </a:r>
            <a:r>
              <a:rPr lang="en-US" sz="2000" dirty="0"/>
              <a:t>Broadcast</a:t>
            </a:r>
            <a:endParaRPr lang="en-US" sz="2000" dirty="0"/>
          </a:p>
        </p:txBody>
      </p:sp>
      <p:cxnSp>
        <p:nvCxnSpPr>
          <p:cNvPr id="20" name="直接箭头连接符 19"/>
          <p:cNvCxnSpPr/>
          <p:nvPr/>
        </p:nvCxnSpPr>
        <p:spPr bwMode="auto">
          <a:xfrm flipV="1">
            <a:off x="6594536" y="2788568"/>
            <a:ext cx="0" cy="144016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Simple Parallel Algorithm</a:t>
            </a:r>
            <a:endParaRPr lang="en-US" altLang="en-US"/>
          </a:p>
        </p:txBody>
      </p:sp>
      <p:sp>
        <p:nvSpPr>
          <p:cNvPr id="10243" name="Content Placeholder 2"/>
          <p:cNvSpPr>
            <a:spLocks noGrp="1"/>
          </p:cNvSpPr>
          <p:nvPr>
            <p:ph idx="1"/>
          </p:nvPr>
        </p:nvSpPr>
        <p:spPr>
          <a:xfrm>
            <a:off x="495300" y="4527624"/>
            <a:ext cx="12012613" cy="3229496"/>
          </a:xfrm>
        </p:spPr>
        <p:txBody>
          <a:bodyPr/>
          <a:lstStyle/>
          <a:p>
            <a:r>
              <a:rPr lang="en-US" altLang="zh-CN" dirty="0"/>
              <a:t>Stages</a:t>
            </a:r>
            <a:r>
              <a:rPr lang="zh-CN" altLang="en-US" dirty="0"/>
              <a:t>：</a:t>
            </a:r>
            <a:endParaRPr lang="en-US" altLang="zh-CN" dirty="0"/>
          </a:p>
          <a:p>
            <a:pPr lvl="1"/>
            <a:r>
              <a:rPr lang="en-US" altLang="zh-CN" dirty="0"/>
              <a:t>Each node calculates C_ {</a:t>
            </a:r>
            <a:r>
              <a:rPr lang="en-US" altLang="zh-CN" dirty="0" err="1"/>
              <a:t>i,j</a:t>
            </a:r>
            <a:r>
              <a:rPr lang="en-US" altLang="zh-CN" dirty="0"/>
              <a:t>}, for example</a:t>
            </a:r>
            <a:endParaRPr lang="en-US" altLang="zh-CN" dirty="0"/>
          </a:p>
          <a:p>
            <a:pPr lvl="2"/>
            <a:r>
              <a:rPr lang="en-US" altLang="zh-CN" dirty="0"/>
              <a:t>C11 = A11 B11 + A12 B21 + A13 B31</a:t>
            </a:r>
            <a:endParaRPr lang="en-US" altLang="zh-CN" dirty="0"/>
          </a:p>
        </p:txBody>
      </p:sp>
      <p:graphicFrame>
        <p:nvGraphicFramePr>
          <p:cNvPr id="2" name="表格 1"/>
          <p:cNvGraphicFramePr>
            <a:graphicFrameLocks noGrp="1"/>
          </p:cNvGraphicFramePr>
          <p:nvPr/>
        </p:nvGraphicFramePr>
        <p:xfrm>
          <a:off x="2167466" y="1986844"/>
          <a:ext cx="2534733" cy="1881843"/>
        </p:xfrm>
        <a:graphic>
          <a:graphicData uri="http://schemas.openxmlformats.org/drawingml/2006/table">
            <a:tbl>
              <a:tblPr firstRow="1" bandRow="1">
                <a:tableStyleId>{5940675A-B579-460E-94D1-54222C63F5DA}</a:tableStyleId>
              </a:tblPr>
              <a:tblGrid>
                <a:gridCol w="844911"/>
                <a:gridCol w="844911"/>
                <a:gridCol w="844911"/>
              </a:tblGrid>
              <a:tr h="627281">
                <a:tc>
                  <a:txBody>
                    <a:bodyPr/>
                    <a:lstStyle/>
                    <a:p>
                      <a:pPr algn="ctr"/>
                      <a:r>
                        <a:rPr lang="en-US" altLang="zh-CN" dirty="0"/>
                        <a:t>A11</a:t>
                      </a:r>
                      <a:endParaRPr lang="en-US" dirty="0"/>
                    </a:p>
                  </a:txBody>
                  <a:tcPr anchor="ctr">
                    <a:solidFill>
                      <a:srgbClr val="FFFF00"/>
                    </a:solidFill>
                  </a:tcPr>
                </a:tc>
                <a:tc>
                  <a:txBody>
                    <a:bodyPr/>
                    <a:lstStyle/>
                    <a:p>
                      <a:pPr algn="ctr"/>
                      <a:r>
                        <a:rPr lang="en-US" dirty="0"/>
                        <a:t>A12</a:t>
                      </a:r>
                      <a:endParaRPr lang="en-US" dirty="0"/>
                    </a:p>
                  </a:txBody>
                  <a:tcPr anchor="ctr">
                    <a:solidFill>
                      <a:srgbClr val="FFFF00"/>
                    </a:solidFill>
                  </a:tcPr>
                </a:tc>
                <a:tc>
                  <a:txBody>
                    <a:bodyPr/>
                    <a:lstStyle/>
                    <a:p>
                      <a:pPr algn="ctr"/>
                      <a:r>
                        <a:rPr lang="en-US" dirty="0"/>
                        <a:t>A13</a:t>
                      </a:r>
                      <a:endParaRPr lang="en-US" dirty="0"/>
                    </a:p>
                  </a:txBody>
                  <a:tcPr anchor="ctr">
                    <a:solidFill>
                      <a:srgbClr val="FFFF00"/>
                    </a:solidFill>
                  </a:tcPr>
                </a:tc>
              </a:tr>
              <a:tr h="627281">
                <a:tc>
                  <a:txBody>
                    <a:bodyPr/>
                    <a:lstStyle/>
                    <a:p>
                      <a:pPr algn="ctr"/>
                      <a:r>
                        <a:rPr lang="en-US" dirty="0"/>
                        <a:t>A21</a:t>
                      </a:r>
                      <a:endParaRPr lang="en-US" dirty="0"/>
                    </a:p>
                  </a:txBody>
                  <a:tcPr anchor="ctr">
                    <a:noFill/>
                  </a:tcPr>
                </a:tc>
                <a:tc>
                  <a:txBody>
                    <a:bodyPr/>
                    <a:lstStyle/>
                    <a:p>
                      <a:pPr algn="ctr"/>
                      <a:r>
                        <a:rPr lang="en-US" dirty="0"/>
                        <a:t>A22</a:t>
                      </a:r>
                      <a:endParaRPr lang="en-US" dirty="0"/>
                    </a:p>
                  </a:txBody>
                  <a:tcPr anchor="ctr"/>
                </a:tc>
                <a:tc>
                  <a:txBody>
                    <a:bodyPr/>
                    <a:lstStyle/>
                    <a:p>
                      <a:pPr algn="ctr"/>
                      <a:r>
                        <a:rPr lang="en-US" dirty="0"/>
                        <a:t>A23</a:t>
                      </a:r>
                      <a:endParaRPr lang="en-US" dirty="0"/>
                    </a:p>
                  </a:txBody>
                  <a:tcPr anchor="ctr"/>
                </a:tc>
              </a:tr>
              <a:tr h="627281">
                <a:tc>
                  <a:txBody>
                    <a:bodyPr/>
                    <a:lstStyle/>
                    <a:p>
                      <a:pPr algn="ctr"/>
                      <a:r>
                        <a:rPr lang="en-US" dirty="0"/>
                        <a:t>A31</a:t>
                      </a:r>
                      <a:endParaRPr lang="en-US" dirty="0"/>
                    </a:p>
                  </a:txBody>
                  <a:tcPr anchor="ctr">
                    <a:noFill/>
                  </a:tcPr>
                </a:tc>
                <a:tc>
                  <a:txBody>
                    <a:bodyPr/>
                    <a:lstStyle/>
                    <a:p>
                      <a:pPr algn="ctr"/>
                      <a:r>
                        <a:rPr lang="en-US" dirty="0"/>
                        <a:t>A32</a:t>
                      </a:r>
                      <a:endParaRPr lang="en-US" dirty="0"/>
                    </a:p>
                  </a:txBody>
                  <a:tcPr anchor="ctr"/>
                </a:tc>
                <a:tc>
                  <a:txBody>
                    <a:bodyPr/>
                    <a:lstStyle/>
                    <a:p>
                      <a:pPr algn="ctr"/>
                      <a:r>
                        <a:rPr lang="en-US" dirty="0"/>
                        <a:t>A33</a:t>
                      </a:r>
                      <a:endParaRPr lang="en-US" dirty="0"/>
                    </a:p>
                  </a:txBody>
                  <a:tcPr anchor="ctr"/>
                </a:tc>
              </a:tr>
            </a:tbl>
          </a:graphicData>
        </a:graphic>
      </p:graphicFrame>
      <p:graphicFrame>
        <p:nvGraphicFramePr>
          <p:cNvPr id="5" name="表格 4"/>
          <p:cNvGraphicFramePr>
            <a:graphicFrameLocks noGrp="1"/>
          </p:cNvGraphicFramePr>
          <p:nvPr/>
        </p:nvGraphicFramePr>
        <p:xfrm>
          <a:off x="7222480" y="1996480"/>
          <a:ext cx="2534733" cy="1881843"/>
        </p:xfrm>
        <a:graphic>
          <a:graphicData uri="http://schemas.openxmlformats.org/drawingml/2006/table">
            <a:tbl>
              <a:tblPr firstRow="1" bandRow="1">
                <a:tableStyleId>{5940675A-B579-460E-94D1-54222C63F5DA}</a:tableStyleId>
              </a:tblPr>
              <a:tblGrid>
                <a:gridCol w="844911"/>
                <a:gridCol w="844911"/>
                <a:gridCol w="844911"/>
              </a:tblGrid>
              <a:tr h="627281">
                <a:tc>
                  <a:txBody>
                    <a:bodyPr/>
                    <a:lstStyle/>
                    <a:p>
                      <a:pPr algn="ctr"/>
                      <a:r>
                        <a:rPr lang="en-US" altLang="zh-CN" dirty="0"/>
                        <a:t>B11</a:t>
                      </a:r>
                      <a:endParaRPr lang="en-US" dirty="0"/>
                    </a:p>
                  </a:txBody>
                  <a:tcPr anchor="ctr">
                    <a:solidFill>
                      <a:srgbClr val="92D050"/>
                    </a:solidFill>
                  </a:tcPr>
                </a:tc>
                <a:tc>
                  <a:txBody>
                    <a:bodyPr/>
                    <a:lstStyle/>
                    <a:p>
                      <a:pPr algn="ctr"/>
                      <a:r>
                        <a:rPr lang="en-US" altLang="zh-CN" dirty="0"/>
                        <a:t>B</a:t>
                      </a:r>
                      <a:r>
                        <a:rPr lang="en-US" dirty="0"/>
                        <a:t>12</a:t>
                      </a:r>
                      <a:endParaRPr lang="en-US" dirty="0"/>
                    </a:p>
                  </a:txBody>
                  <a:tcPr anchor="ctr"/>
                </a:tc>
                <a:tc>
                  <a:txBody>
                    <a:bodyPr/>
                    <a:lstStyle/>
                    <a:p>
                      <a:pPr algn="ctr"/>
                      <a:r>
                        <a:rPr lang="en-US" altLang="zh-CN" dirty="0"/>
                        <a:t>B</a:t>
                      </a:r>
                      <a:r>
                        <a:rPr lang="en-US" dirty="0"/>
                        <a:t>13</a:t>
                      </a:r>
                      <a:endParaRPr lang="en-US" dirty="0"/>
                    </a:p>
                  </a:txBody>
                  <a:tcPr anchor="ctr"/>
                </a:tc>
              </a:tr>
              <a:tr h="627281">
                <a:tc>
                  <a:txBody>
                    <a:bodyPr/>
                    <a:lstStyle/>
                    <a:p>
                      <a:pPr algn="ctr"/>
                      <a:r>
                        <a:rPr lang="en-US" altLang="zh-CN" dirty="0"/>
                        <a:t>B</a:t>
                      </a:r>
                      <a:r>
                        <a:rPr lang="en-US" dirty="0"/>
                        <a:t>21</a:t>
                      </a:r>
                      <a:endParaRPr lang="en-US" dirty="0"/>
                    </a:p>
                  </a:txBody>
                  <a:tcPr anchor="ctr">
                    <a:solidFill>
                      <a:srgbClr val="92D050"/>
                    </a:solidFill>
                  </a:tcPr>
                </a:tc>
                <a:tc>
                  <a:txBody>
                    <a:bodyPr/>
                    <a:lstStyle/>
                    <a:p>
                      <a:pPr algn="ctr"/>
                      <a:r>
                        <a:rPr lang="en-US" altLang="zh-CN" dirty="0"/>
                        <a:t>B</a:t>
                      </a:r>
                      <a:r>
                        <a:rPr lang="en-US" dirty="0"/>
                        <a:t>22</a:t>
                      </a:r>
                      <a:endParaRPr lang="en-US" dirty="0"/>
                    </a:p>
                  </a:txBody>
                  <a:tcPr anchor="ctr"/>
                </a:tc>
                <a:tc>
                  <a:txBody>
                    <a:bodyPr/>
                    <a:lstStyle/>
                    <a:p>
                      <a:pPr algn="ctr"/>
                      <a:r>
                        <a:rPr lang="en-US" altLang="zh-CN" dirty="0"/>
                        <a:t>B</a:t>
                      </a:r>
                      <a:r>
                        <a:rPr lang="en-US" dirty="0"/>
                        <a:t>23</a:t>
                      </a:r>
                      <a:endParaRPr lang="en-US" dirty="0"/>
                    </a:p>
                  </a:txBody>
                  <a:tcPr anchor="ctr"/>
                </a:tc>
              </a:tr>
              <a:tr h="627281">
                <a:tc>
                  <a:txBody>
                    <a:bodyPr/>
                    <a:lstStyle/>
                    <a:p>
                      <a:pPr algn="ctr"/>
                      <a:r>
                        <a:rPr lang="en-US" altLang="zh-CN" dirty="0"/>
                        <a:t>B</a:t>
                      </a:r>
                      <a:r>
                        <a:rPr lang="en-US" dirty="0"/>
                        <a:t>31</a:t>
                      </a:r>
                      <a:endParaRPr lang="en-US" dirty="0"/>
                    </a:p>
                  </a:txBody>
                  <a:tcPr anchor="ctr">
                    <a:solidFill>
                      <a:srgbClr val="92D050"/>
                    </a:solidFill>
                  </a:tcPr>
                </a:tc>
                <a:tc>
                  <a:txBody>
                    <a:bodyPr/>
                    <a:lstStyle/>
                    <a:p>
                      <a:pPr algn="ctr"/>
                      <a:r>
                        <a:rPr lang="en-US" dirty="0"/>
                        <a:t>B32</a:t>
                      </a:r>
                      <a:endParaRPr lang="en-US" dirty="0"/>
                    </a:p>
                  </a:txBody>
                  <a:tcPr anchor="ctr"/>
                </a:tc>
                <a:tc>
                  <a:txBody>
                    <a:bodyPr/>
                    <a:lstStyle/>
                    <a:p>
                      <a:pPr algn="ctr"/>
                      <a:r>
                        <a:rPr lang="en-US" dirty="0"/>
                        <a:t>B33</a:t>
                      </a:r>
                      <a:endParaRPr lang="en-US" dirty="0"/>
                    </a:p>
                  </a:txBody>
                  <a:tcPr anchor="ctr"/>
                </a:tc>
              </a:tr>
            </a:tbl>
          </a:graphicData>
        </a:graphic>
      </p:graphicFrame>
      <p:sp>
        <p:nvSpPr>
          <p:cNvPr id="3" name="TextBox 2"/>
          <p:cNvSpPr txBox="1"/>
          <p:nvPr/>
        </p:nvSpPr>
        <p:spPr>
          <a:xfrm>
            <a:off x="2167466" y="1636440"/>
            <a:ext cx="1710725" cy="338554"/>
          </a:xfrm>
          <a:prstGeom prst="rect">
            <a:avLst/>
          </a:prstGeom>
          <a:noFill/>
        </p:spPr>
        <p:txBody>
          <a:bodyPr wrap="none" rtlCol="0">
            <a:spAutoFit/>
          </a:bodyPr>
          <a:lstStyle/>
          <a:p>
            <a:r>
              <a:rPr lang="en-US" dirty="0"/>
              <a:t>C11 needs these…</a:t>
            </a:r>
            <a:endParaRPr lang="en-US" dirty="0"/>
          </a:p>
        </p:txBody>
      </p:sp>
      <p:sp>
        <p:nvSpPr>
          <p:cNvPr id="4" name="TextBox 3"/>
          <p:cNvSpPr txBox="1"/>
          <p:nvPr/>
        </p:nvSpPr>
        <p:spPr>
          <a:xfrm>
            <a:off x="6790432" y="2119104"/>
            <a:ext cx="430887" cy="1605568"/>
          </a:xfrm>
          <a:prstGeom prst="rect">
            <a:avLst/>
          </a:prstGeom>
          <a:noFill/>
        </p:spPr>
        <p:txBody>
          <a:bodyPr vert="eaVert" wrap="none" rtlCol="0">
            <a:spAutoFit/>
          </a:bodyPr>
          <a:lstStyle/>
          <a:p>
            <a:r>
              <a:rPr lang="en-US" dirty="0"/>
              <a:t>C11 needs these…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code
</a:t>
            </a:r>
            <a:endParaRPr lang="en-US" dirty="0"/>
          </a:p>
        </p:txBody>
      </p:sp>
      <p:sp>
        <p:nvSpPr>
          <p:cNvPr id="3" name="内容占位符 2"/>
          <p:cNvSpPr>
            <a:spLocks noGrp="1"/>
          </p:cNvSpPr>
          <p:nvPr>
            <p:ph idx="1"/>
          </p:nvPr>
        </p:nvSpPr>
        <p:spPr>
          <a:xfrm>
            <a:off x="495300" y="3580656"/>
            <a:ext cx="12012613" cy="5461744"/>
          </a:xfrm>
        </p:spPr>
        <p:txBody>
          <a:bodyPr/>
          <a:lstStyle/>
          <a:p>
            <a:r>
              <a:rPr lang="en-US" altLang="zh-CN" dirty="0"/>
              <a:t>Get the MPI environment</a:t>
            </a:r>
            <a:endParaRPr lang="en-US" altLang="zh-CN" dirty="0"/>
          </a:p>
          <a:p>
            <a:pPr lvl="1"/>
            <a:r>
              <a:rPr lang="en-US" altLang="zh-CN" dirty="0"/>
              <a:t>Note that the number of processes must be squared</a:t>
            </a:r>
            <a:endParaRPr lang="en-US" dirty="0"/>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81731"/>
          <a:stretch>
            <a:fillRect/>
          </a:stretch>
        </p:blipFill>
        <p:spPr bwMode="auto">
          <a:xfrm>
            <a:off x="525736" y="1612181"/>
            <a:ext cx="11991924"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code
</a:t>
            </a:r>
            <a:endParaRPr lang="en-US" dirty="0"/>
          </a:p>
        </p:txBody>
      </p:sp>
      <p:sp>
        <p:nvSpPr>
          <p:cNvPr id="3" name="内容占位符 2"/>
          <p:cNvSpPr>
            <a:spLocks noGrp="1"/>
          </p:cNvSpPr>
          <p:nvPr>
            <p:ph idx="1"/>
          </p:nvPr>
        </p:nvSpPr>
        <p:spPr>
          <a:xfrm>
            <a:off x="495300" y="4516760"/>
            <a:ext cx="12012613" cy="4525640"/>
          </a:xfrm>
        </p:spPr>
        <p:txBody>
          <a:bodyPr/>
          <a:lstStyle/>
          <a:p>
            <a:r>
              <a:rPr lang="en-US" altLang="zh-CN" dirty="0"/>
              <a:t>Generate data</a:t>
            </a:r>
            <a:endParaRPr lang="en-US" altLang="zh-CN" dirty="0"/>
          </a:p>
          <a:p>
            <a:pPr lvl="1"/>
            <a:r>
              <a:rPr lang="en-US" altLang="zh-CN" dirty="0"/>
              <a:t>Initially, all nodes generate data, but only intercept what they need to keep
Note: In practice, input data is distributed from node 0 at first, but here it is simplified for practice</a:t>
            </a:r>
            <a:endParaRPr lang="en-US" altLang="zh-CN"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5856" y="1996480"/>
            <a:ext cx="7021513"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topology
</a:t>
            </a:r>
            <a:endParaRPr lang="en-US" dirty="0"/>
          </a:p>
        </p:txBody>
      </p:sp>
      <p:sp>
        <p:nvSpPr>
          <p:cNvPr id="3" name="内容占位符 2"/>
          <p:cNvSpPr>
            <a:spLocks noGrp="1"/>
          </p:cNvSpPr>
          <p:nvPr>
            <p:ph idx="1"/>
          </p:nvPr>
        </p:nvSpPr>
        <p:spPr>
          <a:xfrm>
            <a:off x="495300" y="3807544"/>
            <a:ext cx="12012613" cy="4813672"/>
          </a:xfrm>
        </p:spPr>
        <p:txBody>
          <a:bodyPr/>
          <a:lstStyle/>
          <a:p>
            <a:r>
              <a:rPr lang="en-US" altLang="zh-CN" sz="2400" dirty="0"/>
              <a:t>The above code defines a Cartesian process topology that does the following:</a:t>
            </a:r>
            <a:endParaRPr lang="en-US" altLang="zh-CN" sz="2400" dirty="0"/>
          </a:p>
          <a:p>
            <a:pPr lvl="1"/>
            <a:r>
              <a:rPr lang="en-US" altLang="zh-CN" sz="2400" dirty="0"/>
              <a:t>Two-dimensional coordinates are provided to facilitate positioning processes</a:t>
            </a:r>
            <a:endParaRPr lang="en-US" altLang="zh-CN" sz="2400" dirty="0"/>
          </a:p>
          <a:p>
            <a:pPr lvl="1"/>
            <a:endParaRPr lang="en-US" altLang="zh-CN" sz="2400" dirty="0"/>
          </a:p>
          <a:p>
            <a:pPr lvl="1"/>
            <a:endParaRPr lang="en-US" sz="2400" dirty="0"/>
          </a:p>
        </p:txBody>
      </p:sp>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5736" y="2068488"/>
            <a:ext cx="11837737"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bwMode="auto">
          <a:xfrm>
            <a:off x="1317824" y="2356520"/>
            <a:ext cx="10513168" cy="288032"/>
          </a:xfrm>
          <a:prstGeom prst="rect">
            <a:avLst/>
          </a:prstGeom>
          <a:noFill/>
          <a:ln w="38100" cap="flat" cmpd="sng" algn="ctr">
            <a:solidFill>
              <a:srgbClr val="FF0000"/>
            </a:solidFill>
            <a:prstDash val="solid"/>
            <a:miter lim="400000"/>
            <a:headEnd type="none" w="med" len="med"/>
            <a:tailEnd type="none" w="med" len="med"/>
          </a:ln>
          <a:effectLst/>
        </p:spPr>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5896" y="5355914"/>
            <a:ext cx="6048672" cy="2737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893888" y="8333184"/>
            <a:ext cx="6230167" cy="523220"/>
          </a:xfrm>
          <a:prstGeom prst="rect">
            <a:avLst/>
          </a:prstGeom>
          <a:noFill/>
        </p:spPr>
        <p:txBody>
          <a:bodyPr wrap="none" rtlCol="0">
            <a:spAutoFit/>
          </a:bodyPr>
          <a:lstStyle/>
          <a:p>
            <a:r>
              <a:rPr lang="en-US" altLang="zh-CN" sz="2800" dirty="0"/>
              <a:t>topo = (size of grid, periodic, coordinates)</a:t>
            </a:r>
            <a:endParaRPr lang="en-US" sz="2800" dirty="0"/>
          </a:p>
        </p:txBody>
      </p:sp>
      <p:graphicFrame>
        <p:nvGraphicFramePr>
          <p:cNvPr id="9" name="表格 8"/>
          <p:cNvGraphicFramePr>
            <a:graphicFrameLocks noGrp="1"/>
          </p:cNvGraphicFramePr>
          <p:nvPr/>
        </p:nvGraphicFramePr>
        <p:xfrm>
          <a:off x="8662640" y="5519403"/>
          <a:ext cx="3143910" cy="2381733"/>
        </p:xfrm>
        <a:graphic>
          <a:graphicData uri="http://schemas.openxmlformats.org/drawingml/2006/table">
            <a:tbl>
              <a:tblPr firstRow="1" bandRow="1">
                <a:tableStyleId>{5940675A-B579-460E-94D1-54222C63F5DA}</a:tableStyleId>
              </a:tblPr>
              <a:tblGrid>
                <a:gridCol w="1047970"/>
                <a:gridCol w="1047970"/>
                <a:gridCol w="1047970"/>
              </a:tblGrid>
              <a:tr h="793911">
                <a:tc>
                  <a:txBody>
                    <a:bodyPr/>
                    <a:lstStyle/>
                    <a:p>
                      <a:pPr algn="ctr"/>
                      <a:r>
                        <a:rPr lang="en-US" altLang="zh-CN" sz="2200" dirty="0"/>
                        <a:t>0</a:t>
                      </a:r>
                      <a:endParaRPr lang="en-US" altLang="zh-CN" sz="2200" dirty="0"/>
                    </a:p>
                    <a:p>
                      <a:pPr algn="ctr"/>
                      <a:r>
                        <a:rPr lang="en-US" sz="2200" dirty="0"/>
                        <a:t>(0,0)</a:t>
                      </a:r>
                      <a:endParaRPr lang="en-US" sz="2200" dirty="0"/>
                    </a:p>
                  </a:txBody>
                  <a:tcPr marL="113416" marR="113416" marT="56708" marB="56708" anchor="ctr"/>
                </a:tc>
                <a:tc>
                  <a:txBody>
                    <a:bodyPr/>
                    <a:lstStyle/>
                    <a:p>
                      <a:pPr algn="ctr"/>
                      <a:r>
                        <a:rPr lang="en-US" altLang="zh-CN" sz="2200" dirty="0"/>
                        <a:t>1</a:t>
                      </a:r>
                      <a:endParaRPr lang="en-US" altLang="zh-CN" sz="2200" dirty="0"/>
                    </a:p>
                    <a:p>
                      <a:pPr algn="ctr"/>
                      <a:r>
                        <a:rPr lang="en-US" sz="2200" dirty="0"/>
                        <a:t>(0,1)</a:t>
                      </a:r>
                      <a:endParaRPr lang="en-US" sz="2200" dirty="0"/>
                    </a:p>
                  </a:txBody>
                  <a:tcPr marL="113416" marR="113416" marT="56708" marB="56708" anchor="ctr"/>
                </a:tc>
                <a:tc>
                  <a:txBody>
                    <a:bodyPr/>
                    <a:lstStyle/>
                    <a:p>
                      <a:pPr algn="ctr"/>
                      <a:r>
                        <a:rPr lang="en-US" altLang="zh-CN" sz="2200" dirty="0"/>
                        <a:t>2</a:t>
                      </a:r>
                      <a:endParaRPr lang="en-US" altLang="zh-CN" sz="2200" dirty="0"/>
                    </a:p>
                    <a:p>
                      <a:pPr algn="ctr"/>
                      <a:r>
                        <a:rPr lang="en-US" sz="2200" dirty="0"/>
                        <a:t>(0,2)</a:t>
                      </a:r>
                      <a:endParaRPr lang="en-US" sz="2200" dirty="0"/>
                    </a:p>
                  </a:txBody>
                  <a:tcPr marL="113416" marR="113416" marT="56708" marB="56708" anchor="ctr"/>
                </a:tc>
              </a:tr>
              <a:tr h="793911">
                <a:tc>
                  <a:txBody>
                    <a:bodyPr/>
                    <a:lstStyle/>
                    <a:p>
                      <a:pPr algn="ctr"/>
                      <a:r>
                        <a:rPr lang="en-US" altLang="zh-CN" sz="2200" dirty="0"/>
                        <a:t>3</a:t>
                      </a:r>
                      <a:endParaRPr lang="en-US" altLang="zh-CN" sz="2200" dirty="0"/>
                    </a:p>
                    <a:p>
                      <a:pPr algn="ctr"/>
                      <a:r>
                        <a:rPr lang="en-US" sz="2200" dirty="0"/>
                        <a:t>(1,0)</a:t>
                      </a:r>
                      <a:endParaRPr lang="en-US" sz="2200" dirty="0"/>
                    </a:p>
                  </a:txBody>
                  <a:tcPr marL="113416" marR="113416" marT="56708" marB="56708" anchor="ctr"/>
                </a:tc>
                <a:tc>
                  <a:txBody>
                    <a:bodyPr/>
                    <a:lstStyle/>
                    <a:p>
                      <a:pPr algn="ctr"/>
                      <a:r>
                        <a:rPr lang="en-US" altLang="zh-CN" sz="2200" dirty="0"/>
                        <a:t>4</a:t>
                      </a:r>
                      <a:endParaRPr lang="en-US" altLang="zh-CN" sz="2200" dirty="0"/>
                    </a:p>
                    <a:p>
                      <a:pPr algn="ctr"/>
                      <a:r>
                        <a:rPr lang="en-US" sz="2200" dirty="0"/>
                        <a:t>(1,1)</a:t>
                      </a:r>
                      <a:endParaRPr lang="en-US" sz="2200" dirty="0"/>
                    </a:p>
                  </a:txBody>
                  <a:tcPr marL="113416" marR="113416" marT="56708" marB="56708" anchor="ctr"/>
                </a:tc>
                <a:tc>
                  <a:txBody>
                    <a:bodyPr/>
                    <a:lstStyle/>
                    <a:p>
                      <a:pPr algn="ctr"/>
                      <a:r>
                        <a:rPr lang="en-US" altLang="zh-CN" sz="2200" dirty="0"/>
                        <a:t>5</a:t>
                      </a:r>
                      <a:endParaRPr lang="en-US" altLang="zh-CN" sz="2200" dirty="0"/>
                    </a:p>
                    <a:p>
                      <a:pPr algn="ctr"/>
                      <a:r>
                        <a:rPr lang="en-US" sz="2200" dirty="0"/>
                        <a:t>(1,2)</a:t>
                      </a:r>
                      <a:endParaRPr lang="en-US" sz="2200" dirty="0"/>
                    </a:p>
                  </a:txBody>
                  <a:tcPr marL="113416" marR="113416" marT="56708" marB="56708" anchor="ctr"/>
                </a:tc>
              </a:tr>
              <a:tr h="793911">
                <a:tc>
                  <a:txBody>
                    <a:bodyPr/>
                    <a:lstStyle/>
                    <a:p>
                      <a:pPr algn="ctr"/>
                      <a:r>
                        <a:rPr lang="en-US" altLang="zh-CN" sz="2200" dirty="0"/>
                        <a:t>6</a:t>
                      </a:r>
                      <a:endParaRPr lang="en-US" altLang="zh-CN" sz="2200" dirty="0"/>
                    </a:p>
                    <a:p>
                      <a:pPr algn="ctr"/>
                      <a:r>
                        <a:rPr lang="en-US" sz="2200" dirty="0"/>
                        <a:t>(2,0)</a:t>
                      </a:r>
                      <a:endParaRPr lang="en-US" sz="2200" dirty="0"/>
                    </a:p>
                  </a:txBody>
                  <a:tcPr marL="113416" marR="113416" marT="56708" marB="56708" anchor="ctr"/>
                </a:tc>
                <a:tc>
                  <a:txBody>
                    <a:bodyPr/>
                    <a:lstStyle/>
                    <a:p>
                      <a:pPr algn="ctr"/>
                      <a:r>
                        <a:rPr lang="en-US" altLang="zh-CN" sz="2200" dirty="0"/>
                        <a:t>7</a:t>
                      </a:r>
                      <a:endParaRPr lang="en-US" altLang="zh-CN" sz="2200" dirty="0"/>
                    </a:p>
                    <a:p>
                      <a:pPr algn="ctr"/>
                      <a:r>
                        <a:rPr lang="en-US" sz="2200" dirty="0"/>
                        <a:t>(2,1)</a:t>
                      </a:r>
                      <a:endParaRPr lang="en-US" sz="2200" dirty="0"/>
                    </a:p>
                  </a:txBody>
                  <a:tcPr marL="113416" marR="113416" marT="56708" marB="56708" anchor="ctr"/>
                </a:tc>
                <a:tc>
                  <a:txBody>
                    <a:bodyPr/>
                    <a:lstStyle/>
                    <a:p>
                      <a:pPr algn="ctr"/>
                      <a:r>
                        <a:rPr lang="en-US" altLang="zh-CN" sz="2200" dirty="0"/>
                        <a:t>8</a:t>
                      </a:r>
                      <a:endParaRPr lang="en-US" altLang="zh-CN" sz="2200" dirty="0"/>
                    </a:p>
                    <a:p>
                      <a:pPr algn="ctr"/>
                      <a:r>
                        <a:rPr lang="en-US" sz="2200" dirty="0"/>
                        <a:t>(2,2)</a:t>
                      </a:r>
                      <a:endParaRPr lang="en-US" sz="2200" dirty="0"/>
                    </a:p>
                  </a:txBody>
                  <a:tcPr marL="113416" marR="113416" marT="56708" marB="56708" anchor="ctr"/>
                </a:tc>
              </a:tr>
            </a:tbl>
          </a:graphicData>
        </a:graphic>
      </p:graphicFrame>
      <p:sp>
        <p:nvSpPr>
          <p:cNvPr id="5" name="TextBox 4"/>
          <p:cNvSpPr txBox="1"/>
          <p:nvPr/>
        </p:nvSpPr>
        <p:spPr>
          <a:xfrm>
            <a:off x="4868442" y="8765232"/>
            <a:ext cx="1311578" cy="338554"/>
          </a:xfrm>
          <a:prstGeom prst="rect">
            <a:avLst/>
          </a:prstGeom>
          <a:noFill/>
        </p:spPr>
        <p:txBody>
          <a:bodyPr wrap="none" rtlCol="0">
            <a:spAutoFit/>
          </a:bodyPr>
          <a:lstStyle/>
          <a:p>
            <a:r>
              <a:rPr lang="en-US" altLang="zh-CN" dirty="0">
                <a:solidFill>
                  <a:srgbClr val="FF0000"/>
                </a:solidFill>
              </a:rPr>
              <a:t>Explain later</a:t>
            </a:r>
            <a:endParaRPr lang="en-US"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topology
</a:t>
            </a:r>
            <a:endParaRPr lang="en-US" dirty="0"/>
          </a:p>
        </p:txBody>
      </p:sp>
      <p:sp>
        <p:nvSpPr>
          <p:cNvPr id="3" name="内容占位符 2"/>
          <p:cNvSpPr>
            <a:spLocks noGrp="1"/>
          </p:cNvSpPr>
          <p:nvPr>
            <p:ph idx="1"/>
          </p:nvPr>
        </p:nvSpPr>
        <p:spPr>
          <a:xfrm>
            <a:off x="495300" y="3580656"/>
            <a:ext cx="12012613" cy="4813672"/>
          </a:xfrm>
        </p:spPr>
        <p:txBody>
          <a:bodyPr/>
          <a:lstStyle/>
          <a:p>
            <a:pPr lvl="1"/>
            <a:r>
              <a:rPr lang="en-US" altLang="zh-CN" dirty="0"/>
              <a:t>Turn the grid into lower-dimensional </a:t>
            </a:r>
            <a:r>
              <a:rPr lang="en-US" altLang="zh-CN" dirty="0" err="1"/>
              <a:t>subgrids</a:t>
            </a:r>
            <a:endParaRPr lang="en-US" altLang="zh-CN" dirty="0"/>
          </a:p>
          <a:p>
            <a:pPr lvl="1"/>
            <a:endParaRPr lang="en-US" altLang="zh-CN" dirty="0"/>
          </a:p>
          <a:p>
            <a:pPr lvl="1"/>
            <a:endParaRPr lang="en-US" dirty="0"/>
          </a:p>
        </p:txBody>
      </p:sp>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5736" y="2068488"/>
            <a:ext cx="11837737"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bwMode="auto">
          <a:xfrm>
            <a:off x="1317824" y="2572544"/>
            <a:ext cx="10513168" cy="576064"/>
          </a:xfrm>
          <a:prstGeom prst="rect">
            <a:avLst/>
          </a:prstGeom>
          <a:noFill/>
          <a:ln w="38100" cap="flat" cmpd="sng" algn="ctr">
            <a:solidFill>
              <a:srgbClr val="FF0000"/>
            </a:solidFill>
            <a:prstDash val="solid"/>
            <a:miter lim="400000"/>
            <a:headEnd type="none" w="med" len="med"/>
            <a:tailEnd type="none" w="med" len="med"/>
          </a:ln>
          <a:effectLst/>
        </p:spPr>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106" y="4394212"/>
            <a:ext cx="6051500" cy="385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表格 8"/>
          <p:cNvGraphicFramePr>
            <a:graphicFrameLocks noGrp="1"/>
          </p:cNvGraphicFramePr>
          <p:nvPr/>
        </p:nvGraphicFramePr>
        <p:xfrm>
          <a:off x="7006456" y="5308848"/>
          <a:ext cx="2668653" cy="2026176"/>
        </p:xfrm>
        <a:graphic>
          <a:graphicData uri="http://schemas.openxmlformats.org/drawingml/2006/table">
            <a:tbl>
              <a:tblPr firstRow="1" bandRow="1">
                <a:tableStyleId>{5940675A-B579-460E-94D1-54222C63F5DA}</a:tableStyleId>
              </a:tblPr>
              <a:tblGrid>
                <a:gridCol w="889551"/>
                <a:gridCol w="889551"/>
                <a:gridCol w="889551"/>
              </a:tblGrid>
              <a:tr h="673898">
                <a:tc>
                  <a:txBody>
                    <a:bodyPr/>
                    <a:lstStyle/>
                    <a:p>
                      <a:pPr algn="ctr"/>
                      <a:r>
                        <a:rPr lang="en-US" altLang="zh-CN" sz="1900" dirty="0"/>
                        <a:t>0</a:t>
                      </a:r>
                      <a:endParaRPr lang="en-US" altLang="zh-CN" sz="1900" dirty="0"/>
                    </a:p>
                    <a:p>
                      <a:pPr algn="ctr"/>
                      <a:r>
                        <a:rPr lang="en-US" sz="1900" dirty="0"/>
                        <a:t>(0)</a:t>
                      </a:r>
                      <a:endParaRPr lang="en-US" sz="1900" dirty="0"/>
                    </a:p>
                  </a:txBody>
                  <a:tcPr marL="96271" marR="96271" marT="48136" marB="48136" anchor="ctr"/>
                </a:tc>
                <a:tc>
                  <a:txBody>
                    <a:bodyPr/>
                    <a:lstStyle/>
                    <a:p>
                      <a:pPr algn="ctr"/>
                      <a:r>
                        <a:rPr lang="en-US" altLang="zh-CN" sz="1900" dirty="0"/>
                        <a:t>1</a:t>
                      </a:r>
                      <a:endParaRPr lang="en-US" altLang="zh-CN" sz="1900" dirty="0"/>
                    </a:p>
                    <a:p>
                      <a:pPr algn="ctr"/>
                      <a:r>
                        <a:rPr lang="en-US" sz="1900" dirty="0"/>
                        <a:t>(1)</a:t>
                      </a:r>
                      <a:endParaRPr lang="en-US" sz="1900" dirty="0"/>
                    </a:p>
                  </a:txBody>
                  <a:tcPr marL="96271" marR="96271" marT="48136" marB="48136" anchor="ctr"/>
                </a:tc>
                <a:tc>
                  <a:txBody>
                    <a:bodyPr/>
                    <a:lstStyle/>
                    <a:p>
                      <a:pPr algn="ctr"/>
                      <a:r>
                        <a:rPr lang="en-US" altLang="zh-CN" sz="1900" dirty="0"/>
                        <a:t>2</a:t>
                      </a:r>
                      <a:endParaRPr lang="en-US" altLang="zh-CN" sz="1900" dirty="0"/>
                    </a:p>
                    <a:p>
                      <a:pPr algn="ctr"/>
                      <a:r>
                        <a:rPr lang="en-US" sz="1900" dirty="0"/>
                        <a:t>(2)</a:t>
                      </a:r>
                      <a:endParaRPr lang="en-US" sz="1900" dirty="0"/>
                    </a:p>
                  </a:txBody>
                  <a:tcPr marL="96271" marR="96271" marT="48136" marB="48136" anchor="ctr"/>
                </a:tc>
              </a:tr>
              <a:tr h="673898">
                <a:tc>
                  <a:txBody>
                    <a:bodyPr/>
                    <a:lstStyle/>
                    <a:p>
                      <a:pPr algn="ctr"/>
                      <a:r>
                        <a:rPr lang="en-US" altLang="zh-CN" sz="1900" dirty="0"/>
                        <a:t>3</a:t>
                      </a:r>
                      <a:endParaRPr lang="en-US" altLang="zh-CN" sz="1900" dirty="0"/>
                    </a:p>
                    <a:p>
                      <a:pPr algn="ctr"/>
                      <a:r>
                        <a:rPr lang="en-US" sz="1900" dirty="0"/>
                        <a:t>(0)</a:t>
                      </a:r>
                      <a:endParaRPr lang="en-US" sz="1900" dirty="0"/>
                    </a:p>
                  </a:txBody>
                  <a:tcPr marL="96271" marR="96271" marT="48136" marB="48136" anchor="ctr"/>
                </a:tc>
                <a:tc>
                  <a:txBody>
                    <a:bodyPr/>
                    <a:lstStyle/>
                    <a:p>
                      <a:pPr algn="ctr"/>
                      <a:r>
                        <a:rPr lang="en-US" altLang="zh-CN" sz="1900" dirty="0"/>
                        <a:t>4</a:t>
                      </a:r>
                      <a:endParaRPr lang="en-US" altLang="zh-CN" sz="1900" dirty="0"/>
                    </a:p>
                    <a:p>
                      <a:pPr algn="ctr"/>
                      <a:r>
                        <a:rPr lang="en-US" sz="1900" dirty="0"/>
                        <a:t>(1)</a:t>
                      </a:r>
                      <a:endParaRPr lang="en-US" sz="1900" dirty="0"/>
                    </a:p>
                  </a:txBody>
                  <a:tcPr marL="96271" marR="96271" marT="48136" marB="48136" anchor="ctr"/>
                </a:tc>
                <a:tc>
                  <a:txBody>
                    <a:bodyPr/>
                    <a:lstStyle/>
                    <a:p>
                      <a:pPr algn="ctr"/>
                      <a:r>
                        <a:rPr lang="en-US" altLang="zh-CN" sz="1900" dirty="0"/>
                        <a:t>5</a:t>
                      </a:r>
                      <a:endParaRPr lang="en-US" altLang="zh-CN" sz="1900" dirty="0"/>
                    </a:p>
                    <a:p>
                      <a:pPr algn="ctr"/>
                      <a:r>
                        <a:rPr lang="en-US" sz="1900" dirty="0"/>
                        <a:t>(2)</a:t>
                      </a:r>
                      <a:endParaRPr lang="en-US" sz="1900" dirty="0"/>
                    </a:p>
                  </a:txBody>
                  <a:tcPr marL="96271" marR="96271" marT="48136" marB="48136" anchor="ctr"/>
                </a:tc>
              </a:tr>
              <a:tr h="673898">
                <a:tc>
                  <a:txBody>
                    <a:bodyPr/>
                    <a:lstStyle/>
                    <a:p>
                      <a:pPr algn="ctr"/>
                      <a:r>
                        <a:rPr lang="en-US" altLang="zh-CN" sz="1900" dirty="0"/>
                        <a:t>6</a:t>
                      </a:r>
                      <a:endParaRPr lang="en-US" altLang="zh-CN" sz="1900" dirty="0"/>
                    </a:p>
                    <a:p>
                      <a:pPr algn="ctr"/>
                      <a:r>
                        <a:rPr lang="en-US" sz="1900" dirty="0"/>
                        <a:t>(0)</a:t>
                      </a:r>
                      <a:endParaRPr lang="en-US" sz="1900" dirty="0"/>
                    </a:p>
                  </a:txBody>
                  <a:tcPr marL="96271" marR="96271" marT="48136" marB="48136" anchor="ctr"/>
                </a:tc>
                <a:tc>
                  <a:txBody>
                    <a:bodyPr/>
                    <a:lstStyle/>
                    <a:p>
                      <a:pPr algn="ctr"/>
                      <a:r>
                        <a:rPr lang="en-US" altLang="zh-CN" sz="1900" dirty="0"/>
                        <a:t>7</a:t>
                      </a:r>
                      <a:endParaRPr lang="en-US" altLang="zh-CN" sz="1900" dirty="0"/>
                    </a:p>
                    <a:p>
                      <a:pPr algn="ctr"/>
                      <a:r>
                        <a:rPr lang="en-US" sz="1900" dirty="0"/>
                        <a:t>(1)</a:t>
                      </a:r>
                      <a:endParaRPr lang="en-US" sz="1900" dirty="0"/>
                    </a:p>
                  </a:txBody>
                  <a:tcPr marL="96271" marR="96271" marT="48136" marB="48136" anchor="ctr"/>
                </a:tc>
                <a:tc>
                  <a:txBody>
                    <a:bodyPr/>
                    <a:lstStyle/>
                    <a:p>
                      <a:pPr algn="ctr"/>
                      <a:r>
                        <a:rPr lang="en-US" altLang="zh-CN" sz="1900" dirty="0"/>
                        <a:t>8</a:t>
                      </a:r>
                      <a:endParaRPr lang="en-US" altLang="zh-CN" sz="1900" dirty="0"/>
                    </a:p>
                    <a:p>
                      <a:pPr algn="ctr"/>
                      <a:r>
                        <a:rPr lang="en-US" sz="1900" dirty="0"/>
                        <a:t>(2)</a:t>
                      </a:r>
                      <a:endParaRPr lang="en-US" sz="1900" dirty="0"/>
                    </a:p>
                  </a:txBody>
                  <a:tcPr marL="96271" marR="96271" marT="48136" marB="48136" anchor="ctr"/>
                </a:tc>
              </a:tr>
            </a:tbl>
          </a:graphicData>
        </a:graphic>
      </p:graphicFrame>
      <p:sp>
        <p:nvSpPr>
          <p:cNvPr id="5" name="TextBox 4"/>
          <p:cNvSpPr txBox="1"/>
          <p:nvPr/>
        </p:nvSpPr>
        <p:spPr>
          <a:xfrm>
            <a:off x="6862441" y="7474557"/>
            <a:ext cx="2784738" cy="584775"/>
          </a:xfrm>
          <a:prstGeom prst="rect">
            <a:avLst/>
          </a:prstGeom>
          <a:noFill/>
        </p:spPr>
        <p:txBody>
          <a:bodyPr wrap="square" rtlCol="0">
            <a:spAutoFit/>
          </a:bodyPr>
          <a:lstStyle/>
          <a:p>
            <a:r>
              <a:rPr lang="en-US" altLang="zh-CN" dirty="0" err="1"/>
              <a:t>row_comm</a:t>
            </a:r>
            <a:r>
              <a:rPr lang="en-US" altLang="zh-CN" dirty="0"/>
              <a:t>: Only the second coordinate is retained</a:t>
            </a:r>
            <a:endParaRPr lang="en-US" dirty="0"/>
          </a:p>
        </p:txBody>
      </p:sp>
      <p:graphicFrame>
        <p:nvGraphicFramePr>
          <p:cNvPr id="11" name="表格 10"/>
          <p:cNvGraphicFramePr>
            <a:graphicFrameLocks noGrp="1"/>
          </p:cNvGraphicFramePr>
          <p:nvPr/>
        </p:nvGraphicFramePr>
        <p:xfrm>
          <a:off x="10033083" y="5308848"/>
          <a:ext cx="2668653" cy="2026176"/>
        </p:xfrm>
        <a:graphic>
          <a:graphicData uri="http://schemas.openxmlformats.org/drawingml/2006/table">
            <a:tbl>
              <a:tblPr firstRow="1" bandRow="1">
                <a:tableStyleId>{5940675A-B579-460E-94D1-54222C63F5DA}</a:tableStyleId>
              </a:tblPr>
              <a:tblGrid>
                <a:gridCol w="889551"/>
                <a:gridCol w="889551"/>
                <a:gridCol w="889551"/>
              </a:tblGrid>
              <a:tr h="673898">
                <a:tc>
                  <a:txBody>
                    <a:bodyPr/>
                    <a:lstStyle/>
                    <a:p>
                      <a:pPr algn="ctr"/>
                      <a:r>
                        <a:rPr lang="en-US" altLang="zh-CN" sz="1900" dirty="0"/>
                        <a:t>0</a:t>
                      </a:r>
                      <a:endParaRPr lang="en-US" altLang="zh-CN" sz="1900" dirty="0"/>
                    </a:p>
                    <a:p>
                      <a:pPr algn="ctr"/>
                      <a:r>
                        <a:rPr lang="en-US" sz="1900" dirty="0"/>
                        <a:t>(0)</a:t>
                      </a:r>
                      <a:endParaRPr lang="en-US" sz="1900" dirty="0"/>
                    </a:p>
                  </a:txBody>
                  <a:tcPr marL="96271" marR="96271" marT="48136" marB="48136" anchor="ctr"/>
                </a:tc>
                <a:tc>
                  <a:txBody>
                    <a:bodyPr/>
                    <a:lstStyle/>
                    <a:p>
                      <a:pPr algn="ctr"/>
                      <a:r>
                        <a:rPr lang="en-US" altLang="zh-CN" sz="1900" dirty="0"/>
                        <a:t>1</a:t>
                      </a:r>
                      <a:endParaRPr lang="en-US" altLang="zh-CN" sz="1900" dirty="0"/>
                    </a:p>
                    <a:p>
                      <a:pPr algn="ctr"/>
                      <a:r>
                        <a:rPr lang="en-US" sz="1900" dirty="0"/>
                        <a:t>(0)</a:t>
                      </a:r>
                      <a:endParaRPr lang="en-US" sz="1900" dirty="0"/>
                    </a:p>
                  </a:txBody>
                  <a:tcPr marL="96271" marR="96271" marT="48136" marB="48136" anchor="ctr"/>
                </a:tc>
                <a:tc>
                  <a:txBody>
                    <a:bodyPr/>
                    <a:lstStyle/>
                    <a:p>
                      <a:pPr algn="ctr"/>
                      <a:r>
                        <a:rPr lang="en-US" altLang="zh-CN" sz="1900" dirty="0"/>
                        <a:t>2</a:t>
                      </a:r>
                      <a:endParaRPr lang="en-US" altLang="zh-CN" sz="1900" dirty="0"/>
                    </a:p>
                    <a:p>
                      <a:pPr algn="ctr"/>
                      <a:r>
                        <a:rPr lang="en-US" sz="1900" dirty="0"/>
                        <a:t>(0)</a:t>
                      </a:r>
                      <a:endParaRPr lang="en-US" sz="1900" dirty="0"/>
                    </a:p>
                  </a:txBody>
                  <a:tcPr marL="96271" marR="96271" marT="48136" marB="48136" anchor="ctr"/>
                </a:tc>
              </a:tr>
              <a:tr h="673898">
                <a:tc>
                  <a:txBody>
                    <a:bodyPr/>
                    <a:lstStyle/>
                    <a:p>
                      <a:pPr algn="ctr"/>
                      <a:r>
                        <a:rPr lang="en-US" altLang="zh-CN" sz="1900" dirty="0"/>
                        <a:t>3</a:t>
                      </a:r>
                      <a:endParaRPr lang="en-US" altLang="zh-CN" sz="1900" dirty="0"/>
                    </a:p>
                    <a:p>
                      <a:pPr algn="ctr"/>
                      <a:r>
                        <a:rPr lang="en-US" sz="1900" dirty="0"/>
                        <a:t>(1)</a:t>
                      </a:r>
                      <a:endParaRPr lang="en-US" sz="1900" dirty="0"/>
                    </a:p>
                  </a:txBody>
                  <a:tcPr marL="96271" marR="96271" marT="48136" marB="48136" anchor="ctr"/>
                </a:tc>
                <a:tc>
                  <a:txBody>
                    <a:bodyPr/>
                    <a:lstStyle/>
                    <a:p>
                      <a:pPr algn="ctr"/>
                      <a:r>
                        <a:rPr lang="en-US" altLang="zh-CN" sz="1900" dirty="0"/>
                        <a:t>4</a:t>
                      </a:r>
                      <a:endParaRPr lang="en-US" altLang="zh-CN" sz="1900" dirty="0"/>
                    </a:p>
                    <a:p>
                      <a:pPr algn="ctr"/>
                      <a:r>
                        <a:rPr lang="en-US" sz="1900" dirty="0"/>
                        <a:t>(1)</a:t>
                      </a:r>
                      <a:endParaRPr lang="en-US" sz="1900" dirty="0"/>
                    </a:p>
                  </a:txBody>
                  <a:tcPr marL="96271" marR="96271" marT="48136" marB="48136" anchor="ctr"/>
                </a:tc>
                <a:tc>
                  <a:txBody>
                    <a:bodyPr/>
                    <a:lstStyle/>
                    <a:p>
                      <a:pPr algn="ctr"/>
                      <a:r>
                        <a:rPr lang="en-US" altLang="zh-CN" sz="1900" dirty="0"/>
                        <a:t>5</a:t>
                      </a:r>
                      <a:endParaRPr lang="en-US" altLang="zh-CN" sz="1900" dirty="0"/>
                    </a:p>
                    <a:p>
                      <a:pPr algn="ctr"/>
                      <a:r>
                        <a:rPr lang="en-US" sz="1900" dirty="0"/>
                        <a:t>(1)</a:t>
                      </a:r>
                      <a:endParaRPr lang="en-US" sz="1900" dirty="0"/>
                    </a:p>
                  </a:txBody>
                  <a:tcPr marL="96271" marR="96271" marT="48136" marB="48136" anchor="ctr"/>
                </a:tc>
              </a:tr>
              <a:tr h="673898">
                <a:tc>
                  <a:txBody>
                    <a:bodyPr/>
                    <a:lstStyle/>
                    <a:p>
                      <a:pPr algn="ctr"/>
                      <a:r>
                        <a:rPr lang="en-US" altLang="zh-CN" sz="1900" dirty="0"/>
                        <a:t>6</a:t>
                      </a:r>
                      <a:endParaRPr lang="en-US" altLang="zh-CN" sz="1900" dirty="0"/>
                    </a:p>
                    <a:p>
                      <a:pPr algn="ctr"/>
                      <a:r>
                        <a:rPr lang="en-US" sz="1900" dirty="0"/>
                        <a:t>(2)</a:t>
                      </a:r>
                      <a:endParaRPr lang="en-US" sz="1900" dirty="0"/>
                    </a:p>
                  </a:txBody>
                  <a:tcPr marL="96271" marR="96271" marT="48136" marB="48136" anchor="ctr"/>
                </a:tc>
                <a:tc>
                  <a:txBody>
                    <a:bodyPr/>
                    <a:lstStyle/>
                    <a:p>
                      <a:pPr algn="ctr"/>
                      <a:r>
                        <a:rPr lang="en-US" altLang="zh-CN" sz="1900" dirty="0"/>
                        <a:t>7</a:t>
                      </a:r>
                      <a:endParaRPr lang="en-US" altLang="zh-CN" sz="1900" dirty="0"/>
                    </a:p>
                    <a:p>
                      <a:pPr algn="ctr"/>
                      <a:r>
                        <a:rPr lang="en-US" sz="1900" dirty="0"/>
                        <a:t>(2)</a:t>
                      </a:r>
                      <a:endParaRPr lang="en-US" sz="1900" dirty="0"/>
                    </a:p>
                  </a:txBody>
                  <a:tcPr marL="96271" marR="96271" marT="48136" marB="48136" anchor="ctr"/>
                </a:tc>
                <a:tc>
                  <a:txBody>
                    <a:bodyPr/>
                    <a:lstStyle/>
                    <a:p>
                      <a:pPr algn="ctr"/>
                      <a:r>
                        <a:rPr lang="en-US" altLang="zh-CN" sz="1900" dirty="0"/>
                        <a:t>8</a:t>
                      </a:r>
                      <a:endParaRPr lang="en-US" altLang="zh-CN" sz="1900" dirty="0"/>
                    </a:p>
                    <a:p>
                      <a:pPr algn="ctr"/>
                      <a:r>
                        <a:rPr lang="en-US" sz="1900" dirty="0"/>
                        <a:t>(2)</a:t>
                      </a:r>
                      <a:endParaRPr lang="en-US" sz="1900" dirty="0"/>
                    </a:p>
                  </a:txBody>
                  <a:tcPr marL="96271" marR="96271" marT="48136" marB="48136" anchor="ctr"/>
                </a:tc>
              </a:tr>
            </a:tbl>
          </a:graphicData>
        </a:graphic>
      </p:graphicFrame>
      <p:sp>
        <p:nvSpPr>
          <p:cNvPr id="12" name="TextBox 11"/>
          <p:cNvSpPr txBox="1"/>
          <p:nvPr/>
        </p:nvSpPr>
        <p:spPr>
          <a:xfrm>
            <a:off x="10016487" y="7474557"/>
            <a:ext cx="2685249" cy="584775"/>
          </a:xfrm>
          <a:prstGeom prst="rect">
            <a:avLst/>
          </a:prstGeom>
          <a:noFill/>
        </p:spPr>
        <p:txBody>
          <a:bodyPr wrap="square" rtlCol="0">
            <a:spAutoFit/>
          </a:bodyPr>
          <a:lstStyle/>
          <a:p>
            <a:r>
              <a:rPr lang="en-US" altLang="zh-CN" dirty="0" err="1"/>
              <a:t>col_comm</a:t>
            </a:r>
            <a:r>
              <a:rPr lang="en-US" altLang="zh-CN" dirty="0"/>
              <a:t>: Only the first coordinate is retained</a:t>
            </a:r>
            <a:endParaRPr lang="en-US" dirty="0"/>
          </a:p>
        </p:txBody>
      </p:sp>
      <p:sp>
        <p:nvSpPr>
          <p:cNvPr id="7" name="TextBox 6"/>
          <p:cNvSpPr txBox="1"/>
          <p:nvPr/>
        </p:nvSpPr>
        <p:spPr>
          <a:xfrm>
            <a:off x="381720" y="8333184"/>
            <a:ext cx="6230167" cy="523220"/>
          </a:xfrm>
          <a:prstGeom prst="rect">
            <a:avLst/>
          </a:prstGeom>
          <a:noFill/>
        </p:spPr>
        <p:txBody>
          <a:bodyPr wrap="none" rtlCol="0">
            <a:spAutoFit/>
          </a:bodyPr>
          <a:lstStyle/>
          <a:p>
            <a:r>
              <a:rPr lang="en-US" altLang="zh-CN" sz="2800" dirty="0"/>
              <a:t>topo = (size of grid, periodic, coordinates)</a:t>
            </a:r>
            <a:endParaRPr lang="en-US" sz="2800" dirty="0"/>
          </a:p>
        </p:txBody>
      </p:sp>
      <p:sp>
        <p:nvSpPr>
          <p:cNvPr id="8" name="TextBox 7"/>
          <p:cNvSpPr txBox="1"/>
          <p:nvPr/>
        </p:nvSpPr>
        <p:spPr>
          <a:xfrm>
            <a:off x="3356274" y="8765232"/>
            <a:ext cx="1311578" cy="338554"/>
          </a:xfrm>
          <a:prstGeom prst="rect">
            <a:avLst/>
          </a:prstGeom>
          <a:noFill/>
        </p:spPr>
        <p:txBody>
          <a:bodyPr wrap="none" rtlCol="0">
            <a:spAutoFit/>
          </a:bodyPr>
          <a:lstStyle/>
          <a:p>
            <a:r>
              <a:rPr lang="en-US" altLang="zh-CN" dirty="0">
                <a:solidFill>
                  <a:srgbClr val="FF0000"/>
                </a:solidFill>
              </a:rPr>
              <a:t>Explain later</a:t>
            </a:r>
            <a:endParaRPr lang="en-US"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topology
</a:t>
            </a:r>
            <a:endParaRPr lang="en-US" dirty="0"/>
          </a:p>
        </p:txBody>
      </p:sp>
      <p:sp>
        <p:nvSpPr>
          <p:cNvPr id="3" name="内容占位符 2"/>
          <p:cNvSpPr>
            <a:spLocks noGrp="1"/>
          </p:cNvSpPr>
          <p:nvPr>
            <p:ph idx="1"/>
          </p:nvPr>
        </p:nvSpPr>
        <p:spPr>
          <a:xfrm>
            <a:off x="495300" y="2943448"/>
            <a:ext cx="12012613" cy="4813672"/>
          </a:xfrm>
        </p:spPr>
        <p:txBody>
          <a:bodyPr/>
          <a:lstStyle/>
          <a:p>
            <a:pPr lvl="1"/>
            <a:r>
              <a:rPr lang="en-US" altLang="zh-CN" sz="2800" dirty="0"/>
              <a:t>Each grid has a communicator object associated with it, which can be used for local broadcasting. For example</a:t>
            </a:r>
            <a:endParaRPr lang="en-US" altLang="zh-CN" sz="2800" dirty="0"/>
          </a:p>
          <a:p>
            <a:pPr lvl="1"/>
            <a:endParaRPr lang="en-US" altLang="zh-CN" sz="2800" dirty="0"/>
          </a:p>
          <a:p>
            <a:pPr lvl="1"/>
            <a:r>
              <a:rPr lang="en-US" altLang="zh-CN" sz="2800" dirty="0"/>
              <a:t>It sends X horizontally from all nodes with coordinates </a:t>
            </a:r>
            <a:r>
              <a:rPr lang="en-US" altLang="zh-CN" sz="2800" dirty="0" err="1"/>
              <a:t>i</a:t>
            </a:r>
            <a:r>
              <a:rPr lang="en-US" altLang="zh-CN" sz="2800" dirty="0"/>
              <a:t> to other nodes</a:t>
            </a:r>
            <a:endParaRPr lang="en-US" altLang="zh-CN" sz="2800" dirty="0"/>
          </a:p>
          <a:p>
            <a:pPr lvl="1"/>
            <a:endParaRPr lang="en-US" sz="2800" dirty="0"/>
          </a:p>
        </p:txBody>
      </p:sp>
      <p:grpSp>
        <p:nvGrpSpPr>
          <p:cNvPr id="7" name="组合 6"/>
          <p:cNvGrpSpPr/>
          <p:nvPr/>
        </p:nvGrpSpPr>
        <p:grpSpPr>
          <a:xfrm>
            <a:off x="525736" y="1276400"/>
            <a:ext cx="11837737" cy="1080120"/>
            <a:chOff x="525736" y="2068488"/>
            <a:chExt cx="11837737" cy="1080120"/>
          </a:xfrm>
        </p:grpSpPr>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5736" y="2068488"/>
              <a:ext cx="11837737"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bwMode="auto">
            <a:xfrm>
              <a:off x="1317824" y="2572544"/>
              <a:ext cx="10513168" cy="576064"/>
            </a:xfrm>
            <a:prstGeom prst="rect">
              <a:avLst/>
            </a:prstGeom>
            <a:noFill/>
            <a:ln w="38100" cap="flat" cmpd="sng" algn="ctr">
              <a:solidFill>
                <a:srgbClr val="FF0000"/>
              </a:solidFill>
              <a:prstDash val="solid"/>
              <a:miter lim="400000"/>
              <a:headEnd type="none" w="med" len="med"/>
              <a:tailEnd type="none" w="med" len="med"/>
            </a:ln>
            <a:effectLst/>
          </p:spPr>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graphicFrame>
        <p:nvGraphicFramePr>
          <p:cNvPr id="9" name="表格 8"/>
          <p:cNvGraphicFramePr>
            <a:graphicFrameLocks noGrp="1"/>
          </p:cNvGraphicFramePr>
          <p:nvPr/>
        </p:nvGraphicFramePr>
        <p:xfrm>
          <a:off x="4702200" y="6460976"/>
          <a:ext cx="3672408" cy="2592288"/>
        </p:xfrm>
        <a:graphic>
          <a:graphicData uri="http://schemas.openxmlformats.org/drawingml/2006/table">
            <a:tbl>
              <a:tblPr firstRow="1" bandRow="1">
                <a:tableStyleId>{5940675A-B579-460E-94D1-54222C63F5DA}</a:tableStyleId>
              </a:tblPr>
              <a:tblGrid>
                <a:gridCol w="1224136"/>
                <a:gridCol w="1224136"/>
                <a:gridCol w="1224136"/>
              </a:tblGrid>
              <a:tr h="864096">
                <a:tc>
                  <a:txBody>
                    <a:bodyPr/>
                    <a:lstStyle/>
                    <a:p>
                      <a:pPr algn="ctr"/>
                      <a:r>
                        <a:rPr lang="en-US" altLang="zh-CN" sz="1900" dirty="0"/>
                        <a:t>0</a:t>
                      </a:r>
                      <a:endParaRPr lang="en-US" altLang="zh-CN" sz="1900" dirty="0"/>
                    </a:p>
                    <a:p>
                      <a:pPr algn="ctr"/>
                      <a:r>
                        <a:rPr lang="en-US" sz="1900" dirty="0"/>
                        <a:t>(0)</a:t>
                      </a:r>
                      <a:endParaRPr lang="en-US" sz="1900" dirty="0"/>
                    </a:p>
                  </a:txBody>
                  <a:tcPr marL="96271" marR="96271" marT="48136" marB="48136" anchor="ctr">
                    <a:solidFill>
                      <a:srgbClr val="FFFF00"/>
                    </a:solidFill>
                  </a:tcPr>
                </a:tc>
                <a:tc>
                  <a:txBody>
                    <a:bodyPr/>
                    <a:lstStyle/>
                    <a:p>
                      <a:pPr algn="ctr"/>
                      <a:r>
                        <a:rPr lang="en-US" altLang="zh-CN" sz="1900" dirty="0"/>
                        <a:t>1</a:t>
                      </a:r>
                      <a:endParaRPr lang="en-US" altLang="zh-CN" sz="1900" dirty="0"/>
                    </a:p>
                    <a:p>
                      <a:pPr algn="ctr"/>
                      <a:r>
                        <a:rPr lang="en-US" sz="1900" dirty="0"/>
                        <a:t>(1)</a:t>
                      </a:r>
                      <a:endParaRPr lang="en-US" sz="1900" dirty="0"/>
                    </a:p>
                  </a:txBody>
                  <a:tcPr marL="96271" marR="96271" marT="48136" marB="48136" anchor="ctr"/>
                </a:tc>
                <a:tc>
                  <a:txBody>
                    <a:bodyPr/>
                    <a:lstStyle/>
                    <a:p>
                      <a:pPr algn="ctr"/>
                      <a:r>
                        <a:rPr lang="en-US" altLang="zh-CN" sz="1900" dirty="0"/>
                        <a:t>2</a:t>
                      </a:r>
                      <a:endParaRPr lang="en-US" altLang="zh-CN" sz="1900" dirty="0"/>
                    </a:p>
                    <a:p>
                      <a:pPr algn="ctr"/>
                      <a:r>
                        <a:rPr lang="en-US" sz="1900" dirty="0"/>
                        <a:t>(2)</a:t>
                      </a:r>
                      <a:endParaRPr lang="en-US" sz="1900" dirty="0"/>
                    </a:p>
                  </a:txBody>
                  <a:tcPr marL="96271" marR="96271" marT="48136" marB="48136" anchor="ctr"/>
                </a:tc>
              </a:tr>
              <a:tr h="864096">
                <a:tc>
                  <a:txBody>
                    <a:bodyPr/>
                    <a:lstStyle/>
                    <a:p>
                      <a:pPr algn="ctr"/>
                      <a:r>
                        <a:rPr lang="en-US" altLang="zh-CN" sz="1900" dirty="0"/>
                        <a:t>3</a:t>
                      </a:r>
                      <a:endParaRPr lang="en-US" altLang="zh-CN" sz="1900" dirty="0"/>
                    </a:p>
                    <a:p>
                      <a:pPr algn="ctr"/>
                      <a:r>
                        <a:rPr lang="en-US" sz="1900" dirty="0"/>
                        <a:t>(0)</a:t>
                      </a:r>
                      <a:endParaRPr lang="en-US" sz="1900" dirty="0"/>
                    </a:p>
                  </a:txBody>
                  <a:tcPr marL="96271" marR="96271" marT="48136" marB="48136" anchor="ctr">
                    <a:solidFill>
                      <a:srgbClr val="FFFF00"/>
                    </a:solidFill>
                  </a:tcPr>
                </a:tc>
                <a:tc>
                  <a:txBody>
                    <a:bodyPr/>
                    <a:lstStyle/>
                    <a:p>
                      <a:pPr algn="ctr"/>
                      <a:r>
                        <a:rPr lang="en-US" altLang="zh-CN" sz="1900" dirty="0"/>
                        <a:t>4</a:t>
                      </a:r>
                      <a:endParaRPr lang="en-US" altLang="zh-CN" sz="1900" dirty="0"/>
                    </a:p>
                    <a:p>
                      <a:pPr algn="ctr"/>
                      <a:r>
                        <a:rPr lang="en-US" sz="1900" dirty="0"/>
                        <a:t>(1)</a:t>
                      </a:r>
                      <a:endParaRPr lang="en-US" sz="1900" dirty="0"/>
                    </a:p>
                  </a:txBody>
                  <a:tcPr marL="96271" marR="96271" marT="48136" marB="48136" anchor="ctr"/>
                </a:tc>
                <a:tc>
                  <a:txBody>
                    <a:bodyPr/>
                    <a:lstStyle/>
                    <a:p>
                      <a:pPr algn="ctr"/>
                      <a:r>
                        <a:rPr lang="en-US" altLang="zh-CN" sz="1900" dirty="0"/>
                        <a:t>5</a:t>
                      </a:r>
                      <a:endParaRPr lang="en-US" altLang="zh-CN" sz="1900" dirty="0"/>
                    </a:p>
                    <a:p>
                      <a:pPr algn="ctr"/>
                      <a:r>
                        <a:rPr lang="en-US" sz="1900" dirty="0"/>
                        <a:t>(2)</a:t>
                      </a:r>
                      <a:endParaRPr lang="en-US" sz="1900" dirty="0"/>
                    </a:p>
                  </a:txBody>
                  <a:tcPr marL="96271" marR="96271" marT="48136" marB="48136" anchor="ctr"/>
                </a:tc>
              </a:tr>
              <a:tr h="864096">
                <a:tc>
                  <a:txBody>
                    <a:bodyPr/>
                    <a:lstStyle/>
                    <a:p>
                      <a:pPr algn="ctr"/>
                      <a:r>
                        <a:rPr lang="en-US" altLang="zh-CN" sz="1900" dirty="0"/>
                        <a:t>6</a:t>
                      </a:r>
                      <a:endParaRPr lang="en-US" altLang="zh-CN" sz="1900" dirty="0"/>
                    </a:p>
                    <a:p>
                      <a:pPr algn="ctr"/>
                      <a:r>
                        <a:rPr lang="en-US" sz="1900" dirty="0"/>
                        <a:t>(0)</a:t>
                      </a:r>
                      <a:endParaRPr lang="en-US" sz="1900" dirty="0"/>
                    </a:p>
                  </a:txBody>
                  <a:tcPr marL="96271" marR="96271" marT="48136" marB="48136" anchor="ctr">
                    <a:solidFill>
                      <a:srgbClr val="FFFF00"/>
                    </a:solidFill>
                  </a:tcPr>
                </a:tc>
                <a:tc>
                  <a:txBody>
                    <a:bodyPr/>
                    <a:lstStyle/>
                    <a:p>
                      <a:pPr algn="ctr"/>
                      <a:r>
                        <a:rPr lang="en-US" altLang="zh-CN" sz="1900" dirty="0"/>
                        <a:t>7</a:t>
                      </a:r>
                      <a:endParaRPr lang="en-US" altLang="zh-CN" sz="1900" dirty="0"/>
                    </a:p>
                    <a:p>
                      <a:pPr algn="ctr"/>
                      <a:r>
                        <a:rPr lang="en-US" sz="1900" dirty="0"/>
                        <a:t>(1)</a:t>
                      </a:r>
                      <a:endParaRPr lang="en-US" sz="1900" dirty="0"/>
                    </a:p>
                  </a:txBody>
                  <a:tcPr marL="96271" marR="96271" marT="48136" marB="48136" anchor="ctr"/>
                </a:tc>
                <a:tc>
                  <a:txBody>
                    <a:bodyPr/>
                    <a:lstStyle/>
                    <a:p>
                      <a:pPr algn="ctr"/>
                      <a:r>
                        <a:rPr lang="en-US" altLang="zh-CN" sz="1900" dirty="0"/>
                        <a:t>8</a:t>
                      </a:r>
                      <a:endParaRPr lang="en-US" altLang="zh-CN" sz="1900" dirty="0"/>
                    </a:p>
                    <a:p>
                      <a:pPr algn="ctr"/>
                      <a:r>
                        <a:rPr lang="en-US" sz="1900" dirty="0"/>
                        <a:t>(2)</a:t>
                      </a:r>
                      <a:endParaRPr lang="en-US" sz="1900" dirty="0"/>
                    </a:p>
                  </a:txBody>
                  <a:tcPr marL="96271" marR="96271" marT="48136" marB="48136" anchor="ctr"/>
                </a:tc>
              </a:tr>
            </a:tbl>
          </a:graphicData>
        </a:graphic>
      </p:graphicFrame>
      <p:cxnSp>
        <p:nvCxnSpPr>
          <p:cNvPr id="13" name="直接箭头连接符 12"/>
          <p:cNvCxnSpPr/>
          <p:nvPr/>
        </p:nvCxnSpPr>
        <p:spPr bwMode="auto">
          <a:xfrm>
            <a:off x="5494288" y="5975575"/>
            <a:ext cx="2160240"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p:cNvSpPr txBox="1"/>
          <p:nvPr/>
        </p:nvSpPr>
        <p:spPr>
          <a:xfrm>
            <a:off x="5422280" y="5524872"/>
            <a:ext cx="2632708" cy="400110"/>
          </a:xfrm>
          <a:prstGeom prst="rect">
            <a:avLst/>
          </a:prstGeom>
          <a:noFill/>
        </p:spPr>
        <p:txBody>
          <a:bodyPr wrap="none" rtlCol="0">
            <a:spAutoFit/>
          </a:bodyPr>
          <a:lstStyle/>
          <a:p>
            <a:r>
              <a:rPr lang="en-US" altLang="zh-CN" sz="2000" dirty="0"/>
              <a:t>1</a:t>
            </a:r>
            <a:r>
              <a:rPr lang="en-US" altLang="zh-CN" sz="2000" baseline="30000" dirty="0"/>
              <a:t>st</a:t>
            </a:r>
            <a:r>
              <a:rPr lang="en-US" altLang="zh-CN" sz="2000" dirty="0"/>
              <a:t> horizontal </a:t>
            </a:r>
            <a:r>
              <a:rPr lang="en-US" sz="2000" dirty="0"/>
              <a:t>Broadcast</a:t>
            </a:r>
            <a:endParaRPr lang="en-US" sz="2000" dirty="0"/>
          </a:p>
        </p:txBody>
      </p:sp>
      <p:cxnSp>
        <p:nvCxnSpPr>
          <p:cNvPr id="15" name="直接箭头连接符 14"/>
          <p:cNvCxnSpPr/>
          <p:nvPr/>
        </p:nvCxnSpPr>
        <p:spPr bwMode="auto">
          <a:xfrm>
            <a:off x="5494288" y="6316960"/>
            <a:ext cx="1080120"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2160" y="4156720"/>
            <a:ext cx="4133259"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topology
</a:t>
            </a:r>
            <a:endParaRPr lang="en-US" dirty="0"/>
          </a:p>
        </p:txBody>
      </p:sp>
      <p:sp>
        <p:nvSpPr>
          <p:cNvPr id="3" name="内容占位符 2"/>
          <p:cNvSpPr>
            <a:spLocks noGrp="1"/>
          </p:cNvSpPr>
          <p:nvPr>
            <p:ph idx="1"/>
          </p:nvPr>
        </p:nvSpPr>
        <p:spPr/>
        <p:txBody>
          <a:bodyPr/>
          <a:lstStyle/>
          <a:p>
            <a:r>
              <a:rPr lang="en-US" altLang="zh-CN" sz="2000" dirty="0"/>
              <a:t>Finally, if I don't use </a:t>
            </a:r>
            <a:r>
              <a:rPr lang="en-US" altLang="zh-CN" sz="2000" i="1" dirty="0" err="1"/>
              <a:t>bcast</a:t>
            </a:r>
            <a:r>
              <a:rPr lang="en-US" altLang="zh-CN" sz="2000" dirty="0"/>
              <a:t>, I'll use point-to-point sending, okay?</a:t>
            </a:r>
            <a:endParaRPr lang="en-US" altLang="zh-CN" sz="2000" dirty="0"/>
          </a:p>
          <a:p>
            <a:endParaRPr lang="en-US" sz="2000" dirty="0"/>
          </a:p>
          <a:p>
            <a:endParaRPr lang="en-US" sz="2000" dirty="0"/>
          </a:p>
          <a:p>
            <a:endParaRPr lang="en-US" sz="2000" dirty="0"/>
          </a:p>
          <a:p>
            <a:endParaRPr lang="en-US" sz="2000" dirty="0"/>
          </a:p>
          <a:p>
            <a:endParaRPr lang="en-US" sz="2000" dirty="0"/>
          </a:p>
          <a:p>
            <a:r>
              <a:rPr lang="en-US" altLang="zh-CN" sz="2000" dirty="0"/>
              <a:t>Of course. For example, in the figure above, we can call send/</a:t>
            </a:r>
            <a:r>
              <a:rPr lang="en-US" altLang="zh-CN" sz="2000" dirty="0" err="1"/>
              <a:t>recv</a:t>
            </a:r>
            <a:r>
              <a:rPr lang="en-US" altLang="zh-CN" sz="2000" dirty="0"/>
              <a:t> six times to complete the data transfer. (If you write this in Lab 4, you can get part of points)
But the point is, if you define topology explicitly, the MPI library has the potential to automatically match your processes to the most suitable location in the hardware network! Otherwise, the MPI library can only be mapped randomly, which affects performance!</a:t>
            </a:r>
            <a:endParaRPr lang="en-US" sz="2000" dirty="0"/>
          </a:p>
        </p:txBody>
      </p:sp>
      <p:graphicFrame>
        <p:nvGraphicFramePr>
          <p:cNvPr id="4" name="表格 3"/>
          <p:cNvGraphicFramePr>
            <a:graphicFrameLocks noGrp="1"/>
          </p:cNvGraphicFramePr>
          <p:nvPr/>
        </p:nvGraphicFramePr>
        <p:xfrm>
          <a:off x="4528928" y="2511401"/>
          <a:ext cx="3096978" cy="2186103"/>
        </p:xfrm>
        <a:graphic>
          <a:graphicData uri="http://schemas.openxmlformats.org/drawingml/2006/table">
            <a:tbl>
              <a:tblPr firstRow="1" bandRow="1">
                <a:tableStyleId>{5940675A-B579-460E-94D1-54222C63F5DA}</a:tableStyleId>
              </a:tblPr>
              <a:tblGrid>
                <a:gridCol w="1032326"/>
                <a:gridCol w="1032326"/>
                <a:gridCol w="1032326"/>
              </a:tblGrid>
              <a:tr h="728701">
                <a:tc>
                  <a:txBody>
                    <a:bodyPr/>
                    <a:lstStyle/>
                    <a:p>
                      <a:pPr algn="ctr"/>
                      <a:r>
                        <a:rPr lang="en-US" altLang="zh-CN" sz="1600" dirty="0"/>
                        <a:t>0</a:t>
                      </a:r>
                      <a:endParaRPr lang="en-US" altLang="zh-CN" sz="1600" dirty="0"/>
                    </a:p>
                    <a:p>
                      <a:pPr algn="ctr"/>
                      <a:r>
                        <a:rPr lang="en-US" sz="1600" dirty="0"/>
                        <a:t>(0)</a:t>
                      </a:r>
                      <a:endParaRPr lang="en-US" sz="1600" dirty="0"/>
                    </a:p>
                  </a:txBody>
                  <a:tcPr marL="81186" marR="81186" marT="40594" marB="40594" anchor="ctr">
                    <a:solidFill>
                      <a:srgbClr val="FFFF00"/>
                    </a:solidFill>
                  </a:tcPr>
                </a:tc>
                <a:tc>
                  <a:txBody>
                    <a:bodyPr/>
                    <a:lstStyle/>
                    <a:p>
                      <a:pPr algn="ctr"/>
                      <a:r>
                        <a:rPr lang="en-US" altLang="zh-CN" sz="1600" dirty="0"/>
                        <a:t>1</a:t>
                      </a:r>
                      <a:endParaRPr lang="en-US" altLang="zh-CN" sz="1600" dirty="0"/>
                    </a:p>
                    <a:p>
                      <a:pPr algn="ctr"/>
                      <a:r>
                        <a:rPr lang="en-US" sz="1600" dirty="0"/>
                        <a:t>(1)</a:t>
                      </a:r>
                      <a:endParaRPr lang="en-US" sz="1600" dirty="0"/>
                    </a:p>
                  </a:txBody>
                  <a:tcPr marL="81186" marR="81186" marT="40594" marB="40594" anchor="ctr"/>
                </a:tc>
                <a:tc>
                  <a:txBody>
                    <a:bodyPr/>
                    <a:lstStyle/>
                    <a:p>
                      <a:pPr algn="ctr"/>
                      <a:r>
                        <a:rPr lang="en-US" altLang="zh-CN" sz="1600" dirty="0"/>
                        <a:t>2</a:t>
                      </a:r>
                      <a:endParaRPr lang="en-US" altLang="zh-CN" sz="1600" dirty="0"/>
                    </a:p>
                    <a:p>
                      <a:pPr algn="ctr"/>
                      <a:r>
                        <a:rPr lang="en-US" sz="1600" dirty="0"/>
                        <a:t>(2)</a:t>
                      </a:r>
                      <a:endParaRPr lang="en-US" sz="1600" dirty="0"/>
                    </a:p>
                  </a:txBody>
                  <a:tcPr marL="81186" marR="81186" marT="40594" marB="40594" anchor="ctr"/>
                </a:tc>
              </a:tr>
              <a:tr h="728701">
                <a:tc>
                  <a:txBody>
                    <a:bodyPr/>
                    <a:lstStyle/>
                    <a:p>
                      <a:pPr algn="ctr"/>
                      <a:r>
                        <a:rPr lang="en-US" altLang="zh-CN" sz="1600" dirty="0"/>
                        <a:t>3</a:t>
                      </a:r>
                      <a:endParaRPr lang="en-US" altLang="zh-CN" sz="1600" dirty="0"/>
                    </a:p>
                    <a:p>
                      <a:pPr algn="ctr"/>
                      <a:r>
                        <a:rPr lang="en-US" sz="1600" dirty="0"/>
                        <a:t>(0)</a:t>
                      </a:r>
                      <a:endParaRPr lang="en-US" sz="1600" dirty="0"/>
                    </a:p>
                  </a:txBody>
                  <a:tcPr marL="81186" marR="81186" marT="40594" marB="40594" anchor="ctr">
                    <a:solidFill>
                      <a:srgbClr val="FFFF00"/>
                    </a:solidFill>
                  </a:tcPr>
                </a:tc>
                <a:tc>
                  <a:txBody>
                    <a:bodyPr/>
                    <a:lstStyle/>
                    <a:p>
                      <a:pPr algn="ctr"/>
                      <a:r>
                        <a:rPr lang="en-US" altLang="zh-CN" sz="1600" dirty="0"/>
                        <a:t>4</a:t>
                      </a:r>
                      <a:endParaRPr lang="en-US" altLang="zh-CN" sz="1600" dirty="0"/>
                    </a:p>
                    <a:p>
                      <a:pPr algn="ctr"/>
                      <a:r>
                        <a:rPr lang="en-US" sz="1600" dirty="0"/>
                        <a:t>(1)</a:t>
                      </a:r>
                      <a:endParaRPr lang="en-US" sz="1600" dirty="0"/>
                    </a:p>
                  </a:txBody>
                  <a:tcPr marL="81186" marR="81186" marT="40594" marB="40594" anchor="ctr"/>
                </a:tc>
                <a:tc>
                  <a:txBody>
                    <a:bodyPr/>
                    <a:lstStyle/>
                    <a:p>
                      <a:pPr algn="ctr"/>
                      <a:r>
                        <a:rPr lang="en-US" altLang="zh-CN" sz="1600" dirty="0"/>
                        <a:t>5</a:t>
                      </a:r>
                      <a:endParaRPr lang="en-US" altLang="zh-CN" sz="1600" dirty="0"/>
                    </a:p>
                    <a:p>
                      <a:pPr algn="ctr"/>
                      <a:r>
                        <a:rPr lang="en-US" sz="1600" dirty="0"/>
                        <a:t>(2)</a:t>
                      </a:r>
                      <a:endParaRPr lang="en-US" sz="1600" dirty="0"/>
                    </a:p>
                  </a:txBody>
                  <a:tcPr marL="81186" marR="81186" marT="40594" marB="40594" anchor="ctr"/>
                </a:tc>
              </a:tr>
              <a:tr h="728701">
                <a:tc>
                  <a:txBody>
                    <a:bodyPr/>
                    <a:lstStyle/>
                    <a:p>
                      <a:pPr algn="ctr"/>
                      <a:r>
                        <a:rPr lang="en-US" altLang="zh-CN" sz="1600" dirty="0"/>
                        <a:t>6</a:t>
                      </a:r>
                      <a:endParaRPr lang="en-US" altLang="zh-CN" sz="1600" dirty="0"/>
                    </a:p>
                    <a:p>
                      <a:pPr algn="ctr"/>
                      <a:r>
                        <a:rPr lang="en-US" sz="1600" dirty="0"/>
                        <a:t>(0)</a:t>
                      </a:r>
                      <a:endParaRPr lang="en-US" sz="1600" dirty="0"/>
                    </a:p>
                  </a:txBody>
                  <a:tcPr marL="81186" marR="81186" marT="40594" marB="40594" anchor="ctr">
                    <a:solidFill>
                      <a:srgbClr val="FFFF00"/>
                    </a:solidFill>
                  </a:tcPr>
                </a:tc>
                <a:tc>
                  <a:txBody>
                    <a:bodyPr/>
                    <a:lstStyle/>
                    <a:p>
                      <a:pPr algn="ctr"/>
                      <a:r>
                        <a:rPr lang="en-US" altLang="zh-CN" sz="1600" dirty="0"/>
                        <a:t>7</a:t>
                      </a:r>
                      <a:endParaRPr lang="en-US" altLang="zh-CN" sz="1600" dirty="0"/>
                    </a:p>
                    <a:p>
                      <a:pPr algn="ctr"/>
                      <a:r>
                        <a:rPr lang="en-US" sz="1600" dirty="0"/>
                        <a:t>(1)</a:t>
                      </a:r>
                      <a:endParaRPr lang="en-US" sz="1600" dirty="0"/>
                    </a:p>
                  </a:txBody>
                  <a:tcPr marL="81186" marR="81186" marT="40594" marB="40594" anchor="ctr"/>
                </a:tc>
                <a:tc>
                  <a:txBody>
                    <a:bodyPr/>
                    <a:lstStyle/>
                    <a:p>
                      <a:pPr algn="ctr"/>
                      <a:r>
                        <a:rPr lang="en-US" altLang="zh-CN" sz="1600" dirty="0"/>
                        <a:t>8</a:t>
                      </a:r>
                      <a:endParaRPr lang="en-US" altLang="zh-CN" sz="1600" dirty="0"/>
                    </a:p>
                    <a:p>
                      <a:pPr algn="ctr"/>
                      <a:r>
                        <a:rPr lang="en-US" sz="1600" dirty="0"/>
                        <a:t>(2)</a:t>
                      </a:r>
                      <a:endParaRPr lang="en-US" sz="1600" dirty="0"/>
                    </a:p>
                  </a:txBody>
                  <a:tcPr marL="81186" marR="81186" marT="40594" marB="40594" anchor="ctr"/>
                </a:tc>
              </a:tr>
            </a:tbl>
          </a:graphicData>
        </a:graphic>
      </p:graphicFrame>
      <p:cxnSp>
        <p:nvCxnSpPr>
          <p:cNvPr id="5" name="直接箭头连接符 4"/>
          <p:cNvCxnSpPr/>
          <p:nvPr/>
        </p:nvCxnSpPr>
        <p:spPr bwMode="auto">
          <a:xfrm>
            <a:off x="4852647" y="2231159"/>
            <a:ext cx="2160240"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p:nvSpPr>
        <p:spPr>
          <a:xfrm>
            <a:off x="4780639" y="1780456"/>
            <a:ext cx="2632708" cy="400110"/>
          </a:xfrm>
          <a:prstGeom prst="rect">
            <a:avLst/>
          </a:prstGeom>
          <a:noFill/>
        </p:spPr>
        <p:txBody>
          <a:bodyPr wrap="none" rtlCol="0">
            <a:spAutoFit/>
          </a:bodyPr>
          <a:lstStyle/>
          <a:p>
            <a:r>
              <a:rPr lang="en-US" altLang="zh-CN" sz="2000" dirty="0"/>
              <a:t>1</a:t>
            </a:r>
            <a:r>
              <a:rPr lang="en-US" altLang="zh-CN" sz="2000" baseline="30000" dirty="0"/>
              <a:t>st</a:t>
            </a:r>
            <a:r>
              <a:rPr lang="en-US" altLang="zh-CN" sz="2000" dirty="0"/>
              <a:t> horizontal </a:t>
            </a:r>
            <a:r>
              <a:rPr lang="en-US" sz="2000" dirty="0"/>
              <a:t>Broadcast</a:t>
            </a:r>
            <a:endParaRPr lang="en-US" sz="2000" dirty="0"/>
          </a:p>
        </p:txBody>
      </p:sp>
      <p:cxnSp>
        <p:nvCxnSpPr>
          <p:cNvPr id="7" name="直接箭头连接符 6"/>
          <p:cNvCxnSpPr/>
          <p:nvPr/>
        </p:nvCxnSpPr>
        <p:spPr bwMode="auto">
          <a:xfrm>
            <a:off x="4852647" y="2356520"/>
            <a:ext cx="1080120" cy="0"/>
          </a:xfrm>
          <a:prstGeom prst="straightConnector1">
            <a:avLst/>
          </a:prstGeom>
          <a:solidFill>
            <a:srgbClr val="000000"/>
          </a:solidFill>
          <a:ln w="25400" cap="flat" cmpd="sng" algn="ctr">
            <a:solidFill>
              <a:srgbClr val="000000"/>
            </a:solidFill>
            <a:prstDash val="solid"/>
            <a:miter lim="4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 name="Picture 6"/>
          <p:cNvPicPr>
            <a:picLocks noChangeAspect="1"/>
          </p:cNvPicPr>
          <p:nvPr/>
        </p:nvPicPr>
        <p:blipFill>
          <a:blip r:embed="rId1"/>
          <a:stretch>
            <a:fillRect/>
          </a:stretch>
        </p:blipFill>
        <p:spPr>
          <a:xfrm>
            <a:off x="2356145" y="7037040"/>
            <a:ext cx="7356406" cy="2186102"/>
          </a:xfrm>
          <a:prstGeom prst="rect">
            <a:avLst/>
          </a:prstGeom>
        </p:spPr>
      </p:pic>
      <p:sp>
        <p:nvSpPr>
          <p:cNvPr id="9" name="TextBox 8"/>
          <p:cNvSpPr txBox="1"/>
          <p:nvPr/>
        </p:nvSpPr>
        <p:spPr>
          <a:xfrm>
            <a:off x="2469952" y="9197280"/>
            <a:ext cx="7576818" cy="707886"/>
          </a:xfrm>
          <a:prstGeom prst="rect">
            <a:avLst/>
          </a:prstGeom>
          <a:noFill/>
        </p:spPr>
        <p:txBody>
          <a:bodyPr wrap="none" rtlCol="0">
            <a:spAutoFit/>
          </a:bodyPr>
          <a:lstStyle/>
          <a:p>
            <a:r>
              <a:rPr lang="en-US" altLang="zh-CN" sz="2000" dirty="0">
                <a:solidFill>
                  <a:schemeClr val="accent1"/>
                </a:solidFill>
              </a:rPr>
              <a:t>These network topologies are especially suitable for matrix operations!
</a:t>
            </a:r>
            <a:endParaRPr lang="en-US" sz="2000" dirty="0">
              <a:solidFill>
                <a:schemeClr val="accen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Cannon’s algorithm</a:t>
            </a:r>
            <a:endParaRPr lang="en-US" dirty="0"/>
          </a:p>
        </p:txBody>
      </p:sp>
      <p:sp>
        <p:nvSpPr>
          <p:cNvPr id="3" name="内容占位符 2"/>
          <p:cNvSpPr>
            <a:spLocks noGrp="1"/>
          </p:cNvSpPr>
          <p:nvPr>
            <p:ph idx="1"/>
          </p:nvPr>
        </p:nvSpPr>
        <p:spPr/>
        <p:txBody>
          <a:bodyPr/>
          <a:lstStyle/>
          <a:p>
            <a:r>
              <a:rPr lang="en-US" altLang="zh-CN" dirty="0"/>
              <a:t>For the simple algorithm introduced earlier, one of its drawbacks is that it takes up too much storage space. That is, each node stores all the blocks of data in the same row and column. To improve this, consider </a:t>
            </a:r>
            <a:r>
              <a:rPr lang="en-US" dirty="0">
                <a:effectLst/>
                <a:latin typeface="Segoe UI Web (West European)"/>
              </a:rPr>
              <a:t>alternating</a:t>
            </a:r>
            <a:r>
              <a:rPr lang="en-US" altLang="zh-CN" dirty="0"/>
              <a:t> transmission and computation. This is Cannon's algorithm.
Steps</a:t>
            </a:r>
            <a:r>
              <a:rPr lang="zh-CN" altLang="en-US" dirty="0"/>
              <a:t>：</a:t>
            </a:r>
            <a:endParaRPr lang="en-US" altLang="zh-CN" dirty="0"/>
          </a:p>
          <a:p>
            <a:pPr lvl="1"/>
            <a:r>
              <a:rPr lang="en-US" dirty="0"/>
              <a:t>1. </a:t>
            </a:r>
            <a:r>
              <a:rPr lang="en-US" altLang="zh-CN" dirty="0"/>
              <a:t>Distribute, this is the same as before</a:t>
            </a:r>
            <a:endParaRPr lang="en-US" dirty="0"/>
          </a:p>
          <a:p>
            <a:pPr lvl="1"/>
            <a:endParaRPr lang="en-US" dirty="0"/>
          </a:p>
          <a:p>
            <a:pPr lvl="1"/>
            <a:endParaRPr lang="en-US" dirty="0"/>
          </a:p>
          <a:p>
            <a:pPr lvl="1"/>
            <a:endParaRPr lang="en-US" dirty="0"/>
          </a:p>
          <a:p>
            <a:pPr lvl="1"/>
            <a:r>
              <a:rPr lang="en-US" dirty="0"/>
              <a:t>2. </a:t>
            </a:r>
            <a:r>
              <a:rPr lang="en-US" altLang="zh-CN" dirty="0"/>
              <a:t>Rearrange</a:t>
            </a:r>
            <a:endParaRPr lang="en-US" dirty="0"/>
          </a:p>
        </p:txBody>
      </p:sp>
      <p:graphicFrame>
        <p:nvGraphicFramePr>
          <p:cNvPr id="4" name="Table 4"/>
          <p:cNvGraphicFramePr>
            <a:graphicFrameLocks noGrp="1"/>
          </p:cNvGraphicFramePr>
          <p:nvPr/>
        </p:nvGraphicFramePr>
        <p:xfrm>
          <a:off x="2181920" y="523684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c>
                  <a:txBody>
                    <a:bodyPr/>
                    <a:lstStyle/>
                    <a:p>
                      <a:pPr algn="ctr"/>
                      <a:r>
                        <a:rPr lang="en-US" dirty="0"/>
                        <a:t>3</a:t>
                      </a:r>
                      <a:endParaRPr lang="en-US" dirty="0"/>
                    </a:p>
                  </a:txBody>
                  <a:tcPr anchor="ctr"/>
                </a:tc>
              </a:tr>
              <a:tr h="370840">
                <a:tc>
                  <a:txBody>
                    <a:bodyPr/>
                    <a:lstStyle/>
                    <a:p>
                      <a:pPr algn="ctr"/>
                      <a:r>
                        <a:rPr lang="en-US" dirty="0"/>
                        <a:t>4</a:t>
                      </a:r>
                      <a:endParaRPr lang="en-US" dirty="0"/>
                    </a:p>
                  </a:txBody>
                  <a:tcPr anchor="ctr"/>
                </a:tc>
                <a:tc>
                  <a:txBody>
                    <a:bodyPr/>
                    <a:lstStyle/>
                    <a:p>
                      <a:pPr algn="ctr"/>
                      <a:r>
                        <a:rPr lang="en-US" dirty="0"/>
                        <a:t>5</a:t>
                      </a:r>
                      <a:endParaRPr lang="en-US" dirty="0"/>
                    </a:p>
                  </a:txBody>
                  <a:tcPr anchor="ctr"/>
                </a:tc>
                <a:tc>
                  <a:txBody>
                    <a:bodyPr/>
                    <a:lstStyle/>
                    <a:p>
                      <a:pPr algn="ctr"/>
                      <a:r>
                        <a:rPr lang="en-US" dirty="0"/>
                        <a:t>6</a:t>
                      </a:r>
                      <a:endParaRPr lang="en-US" dirty="0"/>
                    </a:p>
                  </a:txBody>
                  <a:tcPr anchor="ctr"/>
                </a:tc>
                <a:tc>
                  <a:txBody>
                    <a:bodyPr/>
                    <a:lstStyle/>
                    <a:p>
                      <a:pPr algn="ctr"/>
                      <a:r>
                        <a:rPr lang="en-US" dirty="0"/>
                        <a:t>7</a:t>
                      </a:r>
                      <a:endParaRPr lang="en-US" dirty="0"/>
                    </a:p>
                  </a:txBody>
                  <a:tcPr anchor="ctr"/>
                </a:tc>
              </a:tr>
              <a:tr h="370840">
                <a:tc>
                  <a:txBody>
                    <a:bodyPr/>
                    <a:lstStyle/>
                    <a:p>
                      <a:pPr algn="ctr"/>
                      <a:r>
                        <a:rPr lang="en-US" dirty="0"/>
                        <a:t>8</a:t>
                      </a:r>
                      <a:endParaRPr lang="en-US" dirty="0"/>
                    </a:p>
                  </a:txBody>
                  <a:tcPr anchor="ctr"/>
                </a:tc>
                <a:tc>
                  <a:txBody>
                    <a:bodyPr/>
                    <a:lstStyle/>
                    <a:p>
                      <a:pPr algn="ctr"/>
                      <a:r>
                        <a:rPr lang="en-US" dirty="0"/>
                        <a:t>9</a:t>
                      </a:r>
                      <a:endParaRPr lang="en-US" dirty="0"/>
                    </a:p>
                  </a:txBody>
                  <a:tcPr anchor="ctr"/>
                </a:tc>
                <a:tc>
                  <a:txBody>
                    <a:bodyPr/>
                    <a:lstStyle/>
                    <a:p>
                      <a:pPr algn="ctr"/>
                      <a:r>
                        <a:rPr lang="en-US" dirty="0"/>
                        <a:t>10</a:t>
                      </a:r>
                      <a:endParaRPr lang="en-US" dirty="0"/>
                    </a:p>
                  </a:txBody>
                  <a:tcPr anchor="ctr"/>
                </a:tc>
                <a:tc>
                  <a:txBody>
                    <a:bodyPr/>
                    <a:lstStyle/>
                    <a:p>
                      <a:pPr algn="ctr"/>
                      <a:r>
                        <a:rPr lang="en-US" dirty="0"/>
                        <a:t>11</a:t>
                      </a:r>
                      <a:endParaRPr lang="en-US" dirty="0"/>
                    </a:p>
                  </a:txBody>
                  <a:tcPr anchor="ctr"/>
                </a:tc>
              </a:tr>
              <a:tr h="370840">
                <a:tc>
                  <a:txBody>
                    <a:bodyPr/>
                    <a:lstStyle/>
                    <a:p>
                      <a:pPr algn="ctr"/>
                      <a:r>
                        <a:rPr lang="en-US" dirty="0"/>
                        <a:t>12</a:t>
                      </a:r>
                      <a:endParaRPr lang="en-US" dirty="0"/>
                    </a:p>
                  </a:txBody>
                  <a:tcPr anchor="ctr"/>
                </a:tc>
                <a:tc>
                  <a:txBody>
                    <a:bodyPr/>
                    <a:lstStyle/>
                    <a:p>
                      <a:pPr algn="ctr"/>
                      <a:r>
                        <a:rPr lang="en-US" dirty="0"/>
                        <a:t>13</a:t>
                      </a:r>
                      <a:endParaRPr lang="en-US" dirty="0"/>
                    </a:p>
                  </a:txBody>
                  <a:tcPr anchor="ctr"/>
                </a:tc>
                <a:tc>
                  <a:txBody>
                    <a:bodyPr/>
                    <a:lstStyle/>
                    <a:p>
                      <a:pPr algn="ctr"/>
                      <a:r>
                        <a:rPr lang="en-US" dirty="0"/>
                        <a:t>14</a:t>
                      </a:r>
                      <a:endParaRPr lang="en-US" dirty="0"/>
                    </a:p>
                  </a:txBody>
                  <a:tcPr anchor="ctr"/>
                </a:tc>
                <a:tc>
                  <a:txBody>
                    <a:bodyPr/>
                    <a:lstStyle/>
                    <a:p>
                      <a:pPr algn="ctr"/>
                      <a:r>
                        <a:rPr lang="en-US" dirty="0"/>
                        <a:t>15</a:t>
                      </a:r>
                      <a:endParaRPr lang="en-US" dirty="0"/>
                    </a:p>
                  </a:txBody>
                  <a:tcPr anchor="ctr"/>
                </a:tc>
              </a:tr>
            </a:tbl>
          </a:graphicData>
        </a:graphic>
      </p:graphicFrame>
      <p:sp>
        <p:nvSpPr>
          <p:cNvPr id="5" name="TextBox 4"/>
          <p:cNvSpPr txBox="1"/>
          <p:nvPr/>
        </p:nvSpPr>
        <p:spPr>
          <a:xfrm>
            <a:off x="3190032" y="6893024"/>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graphicFrame>
        <p:nvGraphicFramePr>
          <p:cNvPr id="6" name="Table 4"/>
          <p:cNvGraphicFramePr>
            <a:graphicFrameLocks noGrp="1"/>
          </p:cNvGraphicFramePr>
          <p:nvPr/>
        </p:nvGraphicFramePr>
        <p:xfrm>
          <a:off x="7366496" y="523684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c>
                  <a:txBody>
                    <a:bodyPr/>
                    <a:lstStyle/>
                    <a:p>
                      <a:pPr algn="ctr"/>
                      <a:r>
                        <a:rPr lang="en-US" dirty="0"/>
                        <a:t>3</a:t>
                      </a:r>
                      <a:endParaRPr lang="en-US" dirty="0"/>
                    </a:p>
                  </a:txBody>
                  <a:tcPr anchor="ctr"/>
                </a:tc>
              </a:tr>
              <a:tr h="370840">
                <a:tc>
                  <a:txBody>
                    <a:bodyPr/>
                    <a:lstStyle/>
                    <a:p>
                      <a:pPr algn="ctr"/>
                      <a:r>
                        <a:rPr lang="en-US" dirty="0"/>
                        <a:t>4</a:t>
                      </a:r>
                      <a:endParaRPr lang="en-US" dirty="0"/>
                    </a:p>
                  </a:txBody>
                  <a:tcPr anchor="ctr"/>
                </a:tc>
                <a:tc>
                  <a:txBody>
                    <a:bodyPr/>
                    <a:lstStyle/>
                    <a:p>
                      <a:pPr algn="ctr"/>
                      <a:r>
                        <a:rPr lang="en-US" dirty="0"/>
                        <a:t>5</a:t>
                      </a:r>
                      <a:endParaRPr lang="en-US" dirty="0"/>
                    </a:p>
                  </a:txBody>
                  <a:tcPr anchor="ctr"/>
                </a:tc>
                <a:tc>
                  <a:txBody>
                    <a:bodyPr/>
                    <a:lstStyle/>
                    <a:p>
                      <a:pPr algn="ctr"/>
                      <a:r>
                        <a:rPr lang="en-US" dirty="0"/>
                        <a:t>6</a:t>
                      </a:r>
                      <a:endParaRPr lang="en-US" dirty="0"/>
                    </a:p>
                  </a:txBody>
                  <a:tcPr anchor="ctr"/>
                </a:tc>
                <a:tc>
                  <a:txBody>
                    <a:bodyPr/>
                    <a:lstStyle/>
                    <a:p>
                      <a:pPr algn="ctr"/>
                      <a:r>
                        <a:rPr lang="en-US" dirty="0"/>
                        <a:t>7</a:t>
                      </a:r>
                      <a:endParaRPr lang="en-US" dirty="0"/>
                    </a:p>
                  </a:txBody>
                  <a:tcPr anchor="ctr"/>
                </a:tc>
              </a:tr>
              <a:tr h="370840">
                <a:tc>
                  <a:txBody>
                    <a:bodyPr/>
                    <a:lstStyle/>
                    <a:p>
                      <a:pPr algn="ctr"/>
                      <a:r>
                        <a:rPr lang="en-US" dirty="0"/>
                        <a:t>8</a:t>
                      </a:r>
                      <a:endParaRPr lang="en-US" dirty="0"/>
                    </a:p>
                  </a:txBody>
                  <a:tcPr anchor="ctr"/>
                </a:tc>
                <a:tc>
                  <a:txBody>
                    <a:bodyPr/>
                    <a:lstStyle/>
                    <a:p>
                      <a:pPr algn="ctr"/>
                      <a:r>
                        <a:rPr lang="en-US" dirty="0"/>
                        <a:t>9</a:t>
                      </a:r>
                      <a:endParaRPr lang="en-US" dirty="0"/>
                    </a:p>
                  </a:txBody>
                  <a:tcPr anchor="ctr"/>
                </a:tc>
                <a:tc>
                  <a:txBody>
                    <a:bodyPr/>
                    <a:lstStyle/>
                    <a:p>
                      <a:pPr algn="ctr"/>
                      <a:r>
                        <a:rPr lang="en-US" dirty="0"/>
                        <a:t>10</a:t>
                      </a:r>
                      <a:endParaRPr lang="en-US" dirty="0"/>
                    </a:p>
                  </a:txBody>
                  <a:tcPr anchor="ctr"/>
                </a:tc>
                <a:tc>
                  <a:txBody>
                    <a:bodyPr/>
                    <a:lstStyle/>
                    <a:p>
                      <a:pPr algn="ctr"/>
                      <a:r>
                        <a:rPr lang="en-US" dirty="0"/>
                        <a:t>11</a:t>
                      </a:r>
                      <a:endParaRPr lang="en-US" dirty="0"/>
                    </a:p>
                  </a:txBody>
                  <a:tcPr anchor="ctr"/>
                </a:tc>
              </a:tr>
              <a:tr h="370840">
                <a:tc>
                  <a:txBody>
                    <a:bodyPr/>
                    <a:lstStyle/>
                    <a:p>
                      <a:pPr algn="ctr"/>
                      <a:r>
                        <a:rPr lang="en-US" dirty="0"/>
                        <a:t>12</a:t>
                      </a:r>
                      <a:endParaRPr lang="en-US" dirty="0"/>
                    </a:p>
                  </a:txBody>
                  <a:tcPr anchor="ctr"/>
                </a:tc>
                <a:tc>
                  <a:txBody>
                    <a:bodyPr/>
                    <a:lstStyle/>
                    <a:p>
                      <a:pPr algn="ctr"/>
                      <a:r>
                        <a:rPr lang="en-US" dirty="0"/>
                        <a:t>13</a:t>
                      </a:r>
                      <a:endParaRPr lang="en-US" dirty="0"/>
                    </a:p>
                  </a:txBody>
                  <a:tcPr anchor="ctr"/>
                </a:tc>
                <a:tc>
                  <a:txBody>
                    <a:bodyPr/>
                    <a:lstStyle/>
                    <a:p>
                      <a:pPr algn="ctr"/>
                      <a:r>
                        <a:rPr lang="en-US" dirty="0"/>
                        <a:t>14</a:t>
                      </a:r>
                      <a:endParaRPr lang="en-US" dirty="0"/>
                    </a:p>
                  </a:txBody>
                  <a:tcPr anchor="ctr"/>
                </a:tc>
                <a:tc>
                  <a:txBody>
                    <a:bodyPr/>
                    <a:lstStyle/>
                    <a:p>
                      <a:pPr algn="ctr"/>
                      <a:r>
                        <a:rPr lang="en-US" dirty="0"/>
                        <a:t>15</a:t>
                      </a:r>
                      <a:endParaRPr lang="en-US" dirty="0"/>
                    </a:p>
                  </a:txBody>
                  <a:tcPr anchor="ctr"/>
                </a:tc>
              </a:tr>
            </a:tbl>
          </a:graphicData>
        </a:graphic>
      </p:graphicFrame>
      <p:sp>
        <p:nvSpPr>
          <p:cNvPr id="7" name="TextBox 6"/>
          <p:cNvSpPr txBox="1"/>
          <p:nvPr/>
        </p:nvSpPr>
        <p:spPr>
          <a:xfrm>
            <a:off x="8374608" y="6893024"/>
            <a:ext cx="344966" cy="461665"/>
          </a:xfrm>
          <a:prstGeom prst="rect">
            <a:avLst/>
          </a:prstGeom>
          <a:noFill/>
        </p:spPr>
        <p:txBody>
          <a:bodyPr wrap="none" rtlCol="0">
            <a:spAutoFit/>
          </a:bodyPr>
          <a:lstStyle/>
          <a:p>
            <a:r>
              <a:rPr lang="en-US" sz="2400" b="1" dirty="0">
                <a:solidFill>
                  <a:schemeClr val="accent1"/>
                </a:solidFill>
              </a:rPr>
              <a:t>Y</a:t>
            </a:r>
            <a:endParaRPr lang="en-US" sz="2400" b="1" dirty="0">
              <a:solidFill>
                <a:schemeClr val="accen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altLang="zh-CN" dirty="0"/>
              <a:t>Rearrange</a:t>
            </a:r>
            <a:endParaRPr lang="en-US" dirty="0"/>
          </a:p>
        </p:txBody>
      </p:sp>
      <p:sp>
        <p:nvSpPr>
          <p:cNvPr id="3" name="Content Placeholder 2"/>
          <p:cNvSpPr>
            <a:spLocks noGrp="1"/>
          </p:cNvSpPr>
          <p:nvPr>
            <p:ph idx="1"/>
          </p:nvPr>
        </p:nvSpPr>
        <p:spPr>
          <a:xfrm>
            <a:off x="495300" y="7757120"/>
            <a:ext cx="12012613" cy="1285280"/>
          </a:xfrm>
        </p:spPr>
        <p:txBody>
          <a:bodyPr/>
          <a:lstStyle/>
          <a:p>
            <a:pPr lvl="1"/>
            <a:r>
              <a:rPr lang="en-US" altLang="zh-CN" dirty="0"/>
              <a:t>First rearrange X horizontally: cyclically rotate to left by times equaling to dim 2</a:t>
            </a:r>
            <a:endParaRPr lang="en-US" dirty="0"/>
          </a:p>
        </p:txBody>
      </p:sp>
      <p:graphicFrame>
        <p:nvGraphicFramePr>
          <p:cNvPr id="5" name="Table 4"/>
          <p:cNvGraphicFramePr>
            <a:graphicFrameLocks noGrp="1"/>
          </p:cNvGraphicFramePr>
          <p:nvPr/>
        </p:nvGraphicFramePr>
        <p:xfrm>
          <a:off x="1633608" y="228092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c>
                  <a:txBody>
                    <a:bodyPr/>
                    <a:lstStyle/>
                    <a:p>
                      <a:pPr algn="ctr"/>
                      <a:r>
                        <a:rPr lang="en-US" dirty="0"/>
                        <a:t>3</a:t>
                      </a:r>
                      <a:endParaRPr lang="en-US" dirty="0"/>
                    </a:p>
                  </a:txBody>
                  <a:tcPr anchor="ctr"/>
                </a:tc>
              </a:tr>
              <a:tr h="370840">
                <a:tc>
                  <a:txBody>
                    <a:bodyPr/>
                    <a:lstStyle/>
                    <a:p>
                      <a:pPr algn="ctr"/>
                      <a:r>
                        <a:rPr lang="en-US" dirty="0"/>
                        <a:t>5</a:t>
                      </a:r>
                      <a:endParaRPr lang="en-US" dirty="0"/>
                    </a:p>
                  </a:txBody>
                  <a:tcPr anchor="ctr">
                    <a:solidFill>
                      <a:srgbClr val="FFFF00"/>
                    </a:solidFill>
                  </a:tcPr>
                </a:tc>
                <a:tc>
                  <a:txBody>
                    <a:bodyPr/>
                    <a:lstStyle/>
                    <a:p>
                      <a:pPr algn="ctr"/>
                      <a:r>
                        <a:rPr lang="en-US" dirty="0"/>
                        <a:t>6</a:t>
                      </a:r>
                      <a:endParaRPr lang="en-US" dirty="0"/>
                    </a:p>
                  </a:txBody>
                  <a:tcPr anchor="ctr">
                    <a:solidFill>
                      <a:srgbClr val="FFFF00"/>
                    </a:solidFill>
                  </a:tcPr>
                </a:tc>
                <a:tc>
                  <a:txBody>
                    <a:bodyPr/>
                    <a:lstStyle/>
                    <a:p>
                      <a:pPr algn="ctr"/>
                      <a:r>
                        <a:rPr lang="en-US" dirty="0"/>
                        <a:t>7</a:t>
                      </a:r>
                      <a:endParaRPr lang="en-US" dirty="0"/>
                    </a:p>
                  </a:txBody>
                  <a:tcPr anchor="ctr">
                    <a:solidFill>
                      <a:srgbClr val="FFFF00"/>
                    </a:solidFill>
                  </a:tcPr>
                </a:tc>
                <a:tc>
                  <a:txBody>
                    <a:bodyPr/>
                    <a:lstStyle/>
                    <a:p>
                      <a:pPr algn="ctr"/>
                      <a:r>
                        <a:rPr lang="en-US" dirty="0"/>
                        <a:t>4</a:t>
                      </a:r>
                      <a:endParaRPr lang="en-US" dirty="0"/>
                    </a:p>
                  </a:txBody>
                  <a:tcPr anchor="ctr">
                    <a:solidFill>
                      <a:srgbClr val="FFFF00"/>
                    </a:solidFill>
                  </a:tcPr>
                </a:tc>
              </a:tr>
              <a:tr h="370840">
                <a:tc>
                  <a:txBody>
                    <a:bodyPr/>
                    <a:lstStyle/>
                    <a:p>
                      <a:pPr algn="ctr"/>
                      <a:r>
                        <a:rPr lang="en-US" dirty="0"/>
                        <a:t>9</a:t>
                      </a:r>
                      <a:endParaRPr lang="en-US" dirty="0"/>
                    </a:p>
                  </a:txBody>
                  <a:tcPr anchor="ctr">
                    <a:solidFill>
                      <a:srgbClr val="FFFF00"/>
                    </a:solidFill>
                  </a:tcPr>
                </a:tc>
                <a:tc>
                  <a:txBody>
                    <a:bodyPr/>
                    <a:lstStyle/>
                    <a:p>
                      <a:pPr algn="ctr"/>
                      <a:r>
                        <a:rPr lang="en-US" dirty="0"/>
                        <a:t>10</a:t>
                      </a:r>
                      <a:endParaRPr lang="en-US" dirty="0"/>
                    </a:p>
                  </a:txBody>
                  <a:tcPr anchor="ctr">
                    <a:solidFill>
                      <a:srgbClr val="FFFF00"/>
                    </a:solidFill>
                  </a:tcPr>
                </a:tc>
                <a:tc>
                  <a:txBody>
                    <a:bodyPr/>
                    <a:lstStyle/>
                    <a:p>
                      <a:pPr algn="ctr"/>
                      <a:r>
                        <a:rPr lang="en-US" dirty="0"/>
                        <a:t>11</a:t>
                      </a:r>
                      <a:endParaRPr lang="en-US" dirty="0"/>
                    </a:p>
                  </a:txBody>
                  <a:tcPr anchor="ctr">
                    <a:solidFill>
                      <a:srgbClr val="FFFF00"/>
                    </a:solidFill>
                  </a:tcPr>
                </a:tc>
                <a:tc>
                  <a:txBody>
                    <a:bodyPr/>
                    <a:lstStyle/>
                    <a:p>
                      <a:pPr algn="ctr"/>
                      <a:r>
                        <a:rPr lang="en-US" dirty="0"/>
                        <a:t>8</a:t>
                      </a:r>
                      <a:endParaRPr lang="en-US" dirty="0"/>
                    </a:p>
                  </a:txBody>
                  <a:tcPr anchor="ctr">
                    <a:solidFill>
                      <a:srgbClr val="FFFF00"/>
                    </a:solidFill>
                  </a:tcPr>
                </a:tc>
              </a:tr>
              <a:tr h="370840">
                <a:tc>
                  <a:txBody>
                    <a:bodyPr/>
                    <a:lstStyle/>
                    <a:p>
                      <a:pPr algn="ctr"/>
                      <a:r>
                        <a:rPr lang="en-US" dirty="0"/>
                        <a:t>13</a:t>
                      </a:r>
                      <a:endParaRPr lang="en-US" dirty="0"/>
                    </a:p>
                  </a:txBody>
                  <a:tcPr anchor="ctr">
                    <a:solidFill>
                      <a:srgbClr val="FFFF00"/>
                    </a:solidFill>
                  </a:tcPr>
                </a:tc>
                <a:tc>
                  <a:txBody>
                    <a:bodyPr/>
                    <a:lstStyle/>
                    <a:p>
                      <a:pPr algn="ctr"/>
                      <a:r>
                        <a:rPr lang="en-US" dirty="0"/>
                        <a:t>14</a:t>
                      </a:r>
                      <a:endParaRPr lang="en-US" dirty="0"/>
                    </a:p>
                  </a:txBody>
                  <a:tcPr anchor="ctr">
                    <a:solidFill>
                      <a:srgbClr val="FFFF00"/>
                    </a:solidFill>
                  </a:tcPr>
                </a:tc>
                <a:tc>
                  <a:txBody>
                    <a:bodyPr/>
                    <a:lstStyle/>
                    <a:p>
                      <a:pPr algn="ctr"/>
                      <a:r>
                        <a:rPr lang="en-US" dirty="0"/>
                        <a:t>15</a:t>
                      </a:r>
                      <a:endParaRPr lang="en-US" dirty="0"/>
                    </a:p>
                  </a:txBody>
                  <a:tcPr anchor="ctr">
                    <a:solidFill>
                      <a:srgbClr val="FFFF00"/>
                    </a:solidFill>
                  </a:tcPr>
                </a:tc>
                <a:tc>
                  <a:txBody>
                    <a:bodyPr/>
                    <a:lstStyle/>
                    <a:p>
                      <a:pPr algn="ctr"/>
                      <a:r>
                        <a:rPr lang="en-US" dirty="0"/>
                        <a:t>12</a:t>
                      </a:r>
                      <a:endParaRPr lang="en-US" dirty="0"/>
                    </a:p>
                  </a:txBody>
                  <a:tcPr anchor="ctr">
                    <a:solidFill>
                      <a:srgbClr val="FFFF00"/>
                    </a:solidFill>
                  </a:tcPr>
                </a:tc>
              </a:tr>
            </a:tbl>
          </a:graphicData>
        </a:graphic>
      </p:graphicFrame>
      <p:grpSp>
        <p:nvGrpSpPr>
          <p:cNvPr id="9" name="组合 8"/>
          <p:cNvGrpSpPr/>
          <p:nvPr/>
        </p:nvGrpSpPr>
        <p:grpSpPr>
          <a:xfrm>
            <a:off x="862267" y="1811846"/>
            <a:ext cx="3823161" cy="1045654"/>
            <a:chOff x="862267" y="1811846"/>
            <a:chExt cx="3823161" cy="1045654"/>
          </a:xfrm>
        </p:grpSpPr>
        <p:sp>
          <p:nvSpPr>
            <p:cNvPr id="11" name="Freeform: Shape 10"/>
            <p:cNvSpPr/>
            <p:nvPr/>
          </p:nvSpPr>
          <p:spPr bwMode="auto">
            <a:xfrm>
              <a:off x="862267" y="1811846"/>
              <a:ext cx="3823161" cy="1041400"/>
            </a:xfrm>
            <a:custGeom>
              <a:avLst/>
              <a:gdLst>
                <a:gd name="connsiteX0" fmla="*/ 1003761 w 3823161"/>
                <a:gd name="connsiteY0" fmla="*/ 1016000 h 1041400"/>
                <a:gd name="connsiteX1" fmla="*/ 190961 w 3823161"/>
                <a:gd name="connsiteY1" fmla="*/ 939800 h 1041400"/>
                <a:gd name="connsiteX2" fmla="*/ 127461 w 3823161"/>
                <a:gd name="connsiteY2" fmla="*/ 889000 h 1041400"/>
                <a:gd name="connsiteX3" fmla="*/ 38561 w 3823161"/>
                <a:gd name="connsiteY3" fmla="*/ 762000 h 1041400"/>
                <a:gd name="connsiteX4" fmla="*/ 461 w 3823161"/>
                <a:gd name="connsiteY4" fmla="*/ 635000 h 1041400"/>
                <a:gd name="connsiteX5" fmla="*/ 25861 w 3823161"/>
                <a:gd name="connsiteY5" fmla="*/ 406400 h 1041400"/>
                <a:gd name="connsiteX6" fmla="*/ 140161 w 3823161"/>
                <a:gd name="connsiteY6" fmla="*/ 228600 h 1041400"/>
                <a:gd name="connsiteX7" fmla="*/ 203661 w 3823161"/>
                <a:gd name="connsiteY7" fmla="*/ 177800 h 1041400"/>
                <a:gd name="connsiteX8" fmla="*/ 559261 w 3823161"/>
                <a:gd name="connsiteY8" fmla="*/ 88900 h 1041400"/>
                <a:gd name="connsiteX9" fmla="*/ 1206961 w 3823161"/>
                <a:gd name="connsiteY9" fmla="*/ 0 h 1041400"/>
                <a:gd name="connsiteX10" fmla="*/ 2832561 w 3823161"/>
                <a:gd name="connsiteY10" fmla="*/ 25400 h 1041400"/>
                <a:gd name="connsiteX11" fmla="*/ 3188161 w 3823161"/>
                <a:gd name="connsiteY11" fmla="*/ 88900 h 1041400"/>
                <a:gd name="connsiteX12" fmla="*/ 3378661 w 3823161"/>
                <a:gd name="connsiteY12" fmla="*/ 114300 h 1041400"/>
                <a:gd name="connsiteX13" fmla="*/ 3683461 w 3823161"/>
                <a:gd name="connsiteY13" fmla="*/ 279400 h 1041400"/>
                <a:gd name="connsiteX14" fmla="*/ 3746961 w 3823161"/>
                <a:gd name="connsiteY14" fmla="*/ 342900 h 1041400"/>
                <a:gd name="connsiteX15" fmla="*/ 3785061 w 3823161"/>
                <a:gd name="connsiteY15" fmla="*/ 431800 h 1041400"/>
                <a:gd name="connsiteX16" fmla="*/ 3823161 w 3823161"/>
                <a:gd name="connsiteY16" fmla="*/ 596900 h 1041400"/>
                <a:gd name="connsiteX17" fmla="*/ 3797761 w 3823161"/>
                <a:gd name="connsiteY17" fmla="*/ 812800 h 1041400"/>
                <a:gd name="connsiteX18" fmla="*/ 3632661 w 3823161"/>
                <a:gd name="connsiteY18" fmla="*/ 927100 h 1041400"/>
                <a:gd name="connsiteX19" fmla="*/ 3277061 w 3823161"/>
                <a:gd name="connsiteY19" fmla="*/ 1016000 h 1041400"/>
                <a:gd name="connsiteX20" fmla="*/ 3111961 w 3823161"/>
                <a:gd name="connsiteY20" fmla="*/ 1041400 h 1041400"/>
                <a:gd name="connsiteX21" fmla="*/ 2921461 w 3823161"/>
                <a:gd name="connsiteY21" fmla="*/ 10160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3161" h="1041400">
                  <a:moveTo>
                    <a:pt x="1003761" y="1016000"/>
                  </a:moveTo>
                  <a:cubicBezTo>
                    <a:pt x="647050" y="1008569"/>
                    <a:pt x="475084" y="1061567"/>
                    <a:pt x="190961" y="939800"/>
                  </a:cubicBezTo>
                  <a:cubicBezTo>
                    <a:pt x="166046" y="929122"/>
                    <a:pt x="145102" y="909581"/>
                    <a:pt x="127461" y="889000"/>
                  </a:cubicBezTo>
                  <a:cubicBezTo>
                    <a:pt x="93832" y="849766"/>
                    <a:pt x="68194" y="804333"/>
                    <a:pt x="38561" y="762000"/>
                  </a:cubicBezTo>
                  <a:cubicBezTo>
                    <a:pt x="25861" y="719667"/>
                    <a:pt x="2038" y="679169"/>
                    <a:pt x="461" y="635000"/>
                  </a:cubicBezTo>
                  <a:cubicBezTo>
                    <a:pt x="-2275" y="558380"/>
                    <a:pt x="7266" y="480780"/>
                    <a:pt x="25861" y="406400"/>
                  </a:cubicBezTo>
                  <a:cubicBezTo>
                    <a:pt x="46416" y="324179"/>
                    <a:pt x="83041" y="279374"/>
                    <a:pt x="140161" y="228600"/>
                  </a:cubicBezTo>
                  <a:cubicBezTo>
                    <a:pt x="160421" y="210591"/>
                    <a:pt x="178891" y="188809"/>
                    <a:pt x="203661" y="177800"/>
                  </a:cubicBezTo>
                  <a:cubicBezTo>
                    <a:pt x="295074" y="137172"/>
                    <a:pt x="464783" y="105434"/>
                    <a:pt x="559261" y="88900"/>
                  </a:cubicBezTo>
                  <a:cubicBezTo>
                    <a:pt x="878751" y="32989"/>
                    <a:pt x="881328" y="37573"/>
                    <a:pt x="1206961" y="0"/>
                  </a:cubicBezTo>
                  <a:lnTo>
                    <a:pt x="2832561" y="25400"/>
                  </a:lnTo>
                  <a:cubicBezTo>
                    <a:pt x="3004379" y="29108"/>
                    <a:pt x="2992379" y="52191"/>
                    <a:pt x="3188161" y="88900"/>
                  </a:cubicBezTo>
                  <a:cubicBezTo>
                    <a:pt x="3251126" y="100706"/>
                    <a:pt x="3315161" y="105833"/>
                    <a:pt x="3378661" y="114300"/>
                  </a:cubicBezTo>
                  <a:cubicBezTo>
                    <a:pt x="3579800" y="203695"/>
                    <a:pt x="3566070" y="172681"/>
                    <a:pt x="3683461" y="279400"/>
                  </a:cubicBezTo>
                  <a:cubicBezTo>
                    <a:pt x="3705611" y="299536"/>
                    <a:pt x="3725794" y="321733"/>
                    <a:pt x="3746961" y="342900"/>
                  </a:cubicBezTo>
                  <a:cubicBezTo>
                    <a:pt x="3759661" y="372533"/>
                    <a:pt x="3774217" y="401438"/>
                    <a:pt x="3785061" y="431800"/>
                  </a:cubicBezTo>
                  <a:cubicBezTo>
                    <a:pt x="3810431" y="502837"/>
                    <a:pt x="3811330" y="525913"/>
                    <a:pt x="3823161" y="596900"/>
                  </a:cubicBezTo>
                  <a:cubicBezTo>
                    <a:pt x="3814694" y="668867"/>
                    <a:pt x="3820676" y="744056"/>
                    <a:pt x="3797761" y="812800"/>
                  </a:cubicBezTo>
                  <a:cubicBezTo>
                    <a:pt x="3765454" y="909720"/>
                    <a:pt x="3708591" y="903122"/>
                    <a:pt x="3632661" y="927100"/>
                  </a:cubicBezTo>
                  <a:cubicBezTo>
                    <a:pt x="3409153" y="997682"/>
                    <a:pt x="3540267" y="970620"/>
                    <a:pt x="3277061" y="1016000"/>
                  </a:cubicBezTo>
                  <a:cubicBezTo>
                    <a:pt x="3222190" y="1025461"/>
                    <a:pt x="3167642" y="1041400"/>
                    <a:pt x="3111961" y="1041400"/>
                  </a:cubicBezTo>
                  <a:cubicBezTo>
                    <a:pt x="3047899" y="1041400"/>
                    <a:pt x="2984961" y="1024467"/>
                    <a:pt x="2921461" y="1016000"/>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2" name="Freeform: Shape 11"/>
            <p:cNvSpPr/>
            <p:nvPr/>
          </p:nvSpPr>
          <p:spPr bwMode="auto">
            <a:xfrm>
              <a:off x="2095500" y="2818102"/>
              <a:ext cx="406400" cy="26698"/>
            </a:xfrm>
            <a:custGeom>
              <a:avLst/>
              <a:gdLst>
                <a:gd name="connsiteX0" fmla="*/ 406400 w 406400"/>
                <a:gd name="connsiteY0" fmla="*/ 26698 h 26698"/>
                <a:gd name="connsiteX1" fmla="*/ 165100 w 406400"/>
                <a:gd name="connsiteY1" fmla="*/ 13998 h 26698"/>
                <a:gd name="connsiteX2" fmla="*/ 114300 w 406400"/>
                <a:gd name="connsiteY2" fmla="*/ 1298 h 26698"/>
                <a:gd name="connsiteX3" fmla="*/ 0 w 406400"/>
                <a:gd name="connsiteY3" fmla="*/ 1298 h 26698"/>
              </a:gdLst>
              <a:ahLst/>
              <a:cxnLst>
                <a:cxn ang="0">
                  <a:pos x="connsiteX0" y="connsiteY0"/>
                </a:cxn>
                <a:cxn ang="0">
                  <a:pos x="connsiteX1" y="connsiteY1"/>
                </a:cxn>
                <a:cxn ang="0">
                  <a:pos x="connsiteX2" y="connsiteY2"/>
                </a:cxn>
                <a:cxn ang="0">
                  <a:pos x="connsiteX3" y="connsiteY3"/>
                </a:cxn>
              </a:cxnLst>
              <a:rect l="l" t="t" r="r" b="b"/>
              <a:pathLst>
                <a:path w="406400" h="26698">
                  <a:moveTo>
                    <a:pt x="406400" y="26698"/>
                  </a:moveTo>
                  <a:cubicBezTo>
                    <a:pt x="325967" y="22465"/>
                    <a:pt x="245342" y="20976"/>
                    <a:pt x="165100" y="13998"/>
                  </a:cubicBezTo>
                  <a:cubicBezTo>
                    <a:pt x="147711" y="12486"/>
                    <a:pt x="131703" y="2637"/>
                    <a:pt x="114300" y="1298"/>
                  </a:cubicBezTo>
                  <a:cubicBezTo>
                    <a:pt x="76312" y="-1624"/>
                    <a:pt x="38100" y="1298"/>
                    <a:pt x="0" y="1298"/>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4" name="Freeform: Shape 13"/>
            <p:cNvSpPr/>
            <p:nvPr/>
          </p:nvSpPr>
          <p:spPr bwMode="auto">
            <a:xfrm>
              <a:off x="2730500" y="2857500"/>
              <a:ext cx="330200" cy="0"/>
            </a:xfrm>
            <a:custGeom>
              <a:avLst/>
              <a:gdLst>
                <a:gd name="connsiteX0" fmla="*/ 330200 w 330200"/>
                <a:gd name="connsiteY0" fmla="*/ 0 h 0"/>
                <a:gd name="connsiteX1" fmla="*/ 0 w 330200"/>
                <a:gd name="connsiteY1" fmla="*/ 0 h 0"/>
              </a:gdLst>
              <a:ahLst/>
              <a:cxnLst>
                <a:cxn ang="0">
                  <a:pos x="connsiteX0" y="connsiteY0"/>
                </a:cxn>
                <a:cxn ang="0">
                  <a:pos x="connsiteX1" y="connsiteY1"/>
                </a:cxn>
              </a:cxnLst>
              <a:rect l="l" t="t" r="r" b="b"/>
              <a:pathLst>
                <a:path w="330200">
                  <a:moveTo>
                    <a:pt x="330200" y="0"/>
                  </a:moveTo>
                  <a:lnTo>
                    <a:pt x="0" y="0"/>
                  </a:ln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5" name="Freeform: Shape 14"/>
            <p:cNvSpPr/>
            <p:nvPr/>
          </p:nvSpPr>
          <p:spPr bwMode="auto">
            <a:xfrm>
              <a:off x="3314700" y="2831816"/>
              <a:ext cx="317500" cy="12984"/>
            </a:xfrm>
            <a:custGeom>
              <a:avLst/>
              <a:gdLst>
                <a:gd name="connsiteX0" fmla="*/ 317500 w 317500"/>
                <a:gd name="connsiteY0" fmla="*/ 12984 h 12984"/>
                <a:gd name="connsiteX1" fmla="*/ 0 w 317500"/>
                <a:gd name="connsiteY1" fmla="*/ 284 h 12984"/>
              </a:gdLst>
              <a:ahLst/>
              <a:cxnLst>
                <a:cxn ang="0">
                  <a:pos x="connsiteX0" y="connsiteY0"/>
                </a:cxn>
                <a:cxn ang="0">
                  <a:pos x="connsiteX1" y="connsiteY1"/>
                </a:cxn>
              </a:cxnLst>
              <a:rect l="l" t="t" r="r" b="b"/>
              <a:pathLst>
                <a:path w="317500" h="12984">
                  <a:moveTo>
                    <a:pt x="317500" y="12984"/>
                  </a:moveTo>
                  <a:cubicBezTo>
                    <a:pt x="93252" y="-3034"/>
                    <a:pt x="199118" y="284"/>
                    <a:pt x="0" y="284"/>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graphicFrame>
        <p:nvGraphicFramePr>
          <p:cNvPr id="16" name="Table 15"/>
          <p:cNvGraphicFramePr>
            <a:graphicFrameLocks noGrp="1"/>
          </p:cNvGraphicFramePr>
          <p:nvPr/>
        </p:nvGraphicFramePr>
        <p:xfrm>
          <a:off x="6996739" y="224953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c>
                  <a:txBody>
                    <a:bodyPr/>
                    <a:lstStyle/>
                    <a:p>
                      <a:pPr algn="ctr"/>
                      <a:r>
                        <a:rPr lang="en-US" dirty="0"/>
                        <a:t>3</a:t>
                      </a:r>
                      <a:endParaRPr lang="en-US" dirty="0"/>
                    </a:p>
                  </a:txBody>
                  <a:tcPr anchor="ctr"/>
                </a:tc>
              </a:tr>
              <a:tr h="370840">
                <a:tc>
                  <a:txBody>
                    <a:bodyPr/>
                    <a:lstStyle/>
                    <a:p>
                      <a:pPr algn="ctr"/>
                      <a:r>
                        <a:rPr lang="en-US" dirty="0"/>
                        <a:t>5</a:t>
                      </a:r>
                      <a:endParaRPr lang="en-US" dirty="0"/>
                    </a:p>
                  </a:txBody>
                  <a:tcPr anchor="ctr">
                    <a:noFill/>
                  </a:tcPr>
                </a:tc>
                <a:tc>
                  <a:txBody>
                    <a:bodyPr/>
                    <a:lstStyle/>
                    <a:p>
                      <a:pPr algn="ctr"/>
                      <a:r>
                        <a:rPr lang="en-US" dirty="0"/>
                        <a:t>6</a:t>
                      </a:r>
                      <a:endParaRPr lang="en-US" dirty="0"/>
                    </a:p>
                  </a:txBody>
                  <a:tcPr anchor="ctr">
                    <a:noFill/>
                  </a:tcPr>
                </a:tc>
                <a:tc>
                  <a:txBody>
                    <a:bodyPr/>
                    <a:lstStyle/>
                    <a:p>
                      <a:pPr algn="ctr"/>
                      <a:r>
                        <a:rPr lang="en-US" dirty="0"/>
                        <a:t>7</a:t>
                      </a:r>
                      <a:endParaRPr lang="en-US" dirty="0"/>
                    </a:p>
                  </a:txBody>
                  <a:tcPr anchor="ctr">
                    <a:noFill/>
                  </a:tcPr>
                </a:tc>
                <a:tc>
                  <a:txBody>
                    <a:bodyPr/>
                    <a:lstStyle/>
                    <a:p>
                      <a:pPr algn="ctr"/>
                      <a:r>
                        <a:rPr lang="en-US" dirty="0"/>
                        <a:t>4</a:t>
                      </a:r>
                      <a:endParaRPr lang="en-US" dirty="0"/>
                    </a:p>
                  </a:txBody>
                  <a:tcPr anchor="ctr">
                    <a:noFill/>
                  </a:tcPr>
                </a:tc>
              </a:tr>
              <a:tr h="370840">
                <a:tc>
                  <a:txBody>
                    <a:bodyPr/>
                    <a:lstStyle/>
                    <a:p>
                      <a:pPr algn="ctr"/>
                      <a:r>
                        <a:rPr lang="en-US" dirty="0"/>
                        <a:t>10</a:t>
                      </a:r>
                      <a:endParaRPr lang="en-US" dirty="0"/>
                    </a:p>
                  </a:txBody>
                  <a:tcPr anchor="ctr">
                    <a:solidFill>
                      <a:srgbClr val="FFFF00"/>
                    </a:solidFill>
                  </a:tcPr>
                </a:tc>
                <a:tc>
                  <a:txBody>
                    <a:bodyPr/>
                    <a:lstStyle/>
                    <a:p>
                      <a:pPr algn="ctr"/>
                      <a:r>
                        <a:rPr lang="en-US" dirty="0"/>
                        <a:t>11</a:t>
                      </a:r>
                      <a:endParaRPr lang="en-US" dirty="0"/>
                    </a:p>
                  </a:txBody>
                  <a:tcPr anchor="ctr">
                    <a:solidFill>
                      <a:srgbClr val="FFFF00"/>
                    </a:solidFill>
                  </a:tcPr>
                </a:tc>
                <a:tc>
                  <a:txBody>
                    <a:bodyPr/>
                    <a:lstStyle/>
                    <a:p>
                      <a:pPr algn="ctr"/>
                      <a:r>
                        <a:rPr lang="en-US" dirty="0"/>
                        <a:t>8</a:t>
                      </a:r>
                      <a:endParaRPr lang="en-US" dirty="0"/>
                    </a:p>
                  </a:txBody>
                  <a:tcPr anchor="ctr">
                    <a:solidFill>
                      <a:srgbClr val="FFFF00"/>
                    </a:solidFill>
                  </a:tcPr>
                </a:tc>
                <a:tc>
                  <a:txBody>
                    <a:bodyPr/>
                    <a:lstStyle/>
                    <a:p>
                      <a:pPr algn="ctr"/>
                      <a:r>
                        <a:rPr lang="en-US" dirty="0"/>
                        <a:t>9</a:t>
                      </a:r>
                      <a:endParaRPr lang="en-US" dirty="0"/>
                    </a:p>
                  </a:txBody>
                  <a:tcPr anchor="ctr">
                    <a:solidFill>
                      <a:srgbClr val="FFFF00"/>
                    </a:solidFill>
                  </a:tcPr>
                </a:tc>
              </a:tr>
              <a:tr h="370840">
                <a:tc>
                  <a:txBody>
                    <a:bodyPr/>
                    <a:lstStyle/>
                    <a:p>
                      <a:pPr algn="ctr"/>
                      <a:r>
                        <a:rPr lang="en-US" dirty="0"/>
                        <a:t>14</a:t>
                      </a:r>
                      <a:endParaRPr lang="en-US" dirty="0"/>
                    </a:p>
                  </a:txBody>
                  <a:tcPr anchor="ctr">
                    <a:solidFill>
                      <a:srgbClr val="FFFF00"/>
                    </a:solidFill>
                  </a:tcPr>
                </a:tc>
                <a:tc>
                  <a:txBody>
                    <a:bodyPr/>
                    <a:lstStyle/>
                    <a:p>
                      <a:pPr algn="ctr"/>
                      <a:r>
                        <a:rPr lang="en-US" dirty="0"/>
                        <a:t>15</a:t>
                      </a:r>
                      <a:endParaRPr lang="en-US" dirty="0"/>
                    </a:p>
                  </a:txBody>
                  <a:tcPr anchor="ctr">
                    <a:solidFill>
                      <a:srgbClr val="FFFF00"/>
                    </a:solidFill>
                  </a:tcPr>
                </a:tc>
                <a:tc>
                  <a:txBody>
                    <a:bodyPr/>
                    <a:lstStyle/>
                    <a:p>
                      <a:pPr algn="ctr"/>
                      <a:r>
                        <a:rPr lang="en-US" dirty="0"/>
                        <a:t>12</a:t>
                      </a:r>
                      <a:endParaRPr lang="en-US" dirty="0"/>
                    </a:p>
                  </a:txBody>
                  <a:tcPr anchor="ctr">
                    <a:solidFill>
                      <a:srgbClr val="FFFF00"/>
                    </a:solidFill>
                  </a:tcPr>
                </a:tc>
                <a:tc>
                  <a:txBody>
                    <a:bodyPr/>
                    <a:lstStyle/>
                    <a:p>
                      <a:pPr algn="ctr"/>
                      <a:r>
                        <a:rPr lang="en-US" dirty="0"/>
                        <a:t>13</a:t>
                      </a:r>
                      <a:endParaRPr lang="en-US" dirty="0"/>
                    </a:p>
                  </a:txBody>
                  <a:tcPr anchor="ctr">
                    <a:solidFill>
                      <a:srgbClr val="FFFF00"/>
                    </a:solidFill>
                  </a:tcPr>
                </a:tc>
              </a:tr>
            </a:tbl>
          </a:graphicData>
        </a:graphic>
      </p:graphicFrame>
      <p:graphicFrame>
        <p:nvGraphicFramePr>
          <p:cNvPr id="27" name="Table 26"/>
          <p:cNvGraphicFramePr>
            <a:graphicFrameLocks noGrp="1"/>
          </p:cNvGraphicFramePr>
          <p:nvPr/>
        </p:nvGraphicFramePr>
        <p:xfrm>
          <a:off x="1633608" y="5092824"/>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c>
                  <a:txBody>
                    <a:bodyPr/>
                    <a:lstStyle/>
                    <a:p>
                      <a:pPr algn="ctr"/>
                      <a:r>
                        <a:rPr lang="en-US" dirty="0"/>
                        <a:t>3</a:t>
                      </a:r>
                      <a:endParaRPr lang="en-US" dirty="0"/>
                    </a:p>
                  </a:txBody>
                  <a:tcPr anchor="ctr"/>
                </a:tc>
              </a:tr>
              <a:tr h="370840">
                <a:tc>
                  <a:txBody>
                    <a:bodyPr/>
                    <a:lstStyle/>
                    <a:p>
                      <a:pPr algn="ctr"/>
                      <a:r>
                        <a:rPr lang="en-US" dirty="0"/>
                        <a:t>5</a:t>
                      </a:r>
                      <a:endParaRPr lang="en-US" dirty="0"/>
                    </a:p>
                  </a:txBody>
                  <a:tcPr anchor="ctr">
                    <a:noFill/>
                  </a:tcPr>
                </a:tc>
                <a:tc>
                  <a:txBody>
                    <a:bodyPr/>
                    <a:lstStyle/>
                    <a:p>
                      <a:pPr algn="ctr"/>
                      <a:r>
                        <a:rPr lang="en-US" dirty="0"/>
                        <a:t>6</a:t>
                      </a:r>
                      <a:endParaRPr lang="en-US" dirty="0"/>
                    </a:p>
                  </a:txBody>
                  <a:tcPr anchor="ctr">
                    <a:noFill/>
                  </a:tcPr>
                </a:tc>
                <a:tc>
                  <a:txBody>
                    <a:bodyPr/>
                    <a:lstStyle/>
                    <a:p>
                      <a:pPr algn="ctr"/>
                      <a:r>
                        <a:rPr lang="en-US" dirty="0"/>
                        <a:t>7</a:t>
                      </a:r>
                      <a:endParaRPr lang="en-US" dirty="0"/>
                    </a:p>
                  </a:txBody>
                  <a:tcPr anchor="ctr">
                    <a:noFill/>
                  </a:tcPr>
                </a:tc>
                <a:tc>
                  <a:txBody>
                    <a:bodyPr/>
                    <a:lstStyle/>
                    <a:p>
                      <a:pPr algn="ctr"/>
                      <a:r>
                        <a:rPr lang="en-US" dirty="0"/>
                        <a:t>4</a:t>
                      </a:r>
                      <a:endParaRPr lang="en-US" dirty="0"/>
                    </a:p>
                  </a:txBody>
                  <a:tcPr anchor="ctr">
                    <a:noFill/>
                  </a:tcPr>
                </a:tc>
              </a:tr>
              <a:tr h="370840">
                <a:tc>
                  <a:txBody>
                    <a:bodyPr/>
                    <a:lstStyle/>
                    <a:p>
                      <a:pPr algn="ctr"/>
                      <a:r>
                        <a:rPr lang="en-US" dirty="0"/>
                        <a:t>10</a:t>
                      </a:r>
                      <a:endParaRPr lang="en-US" dirty="0"/>
                    </a:p>
                  </a:txBody>
                  <a:tcPr anchor="ctr">
                    <a:noFill/>
                  </a:tcPr>
                </a:tc>
                <a:tc>
                  <a:txBody>
                    <a:bodyPr/>
                    <a:lstStyle/>
                    <a:p>
                      <a:pPr algn="ctr"/>
                      <a:r>
                        <a:rPr lang="en-US" dirty="0"/>
                        <a:t>11</a:t>
                      </a:r>
                      <a:endParaRPr lang="en-US" dirty="0"/>
                    </a:p>
                  </a:txBody>
                  <a:tcPr anchor="ctr">
                    <a:noFill/>
                  </a:tcPr>
                </a:tc>
                <a:tc>
                  <a:txBody>
                    <a:bodyPr/>
                    <a:lstStyle/>
                    <a:p>
                      <a:pPr algn="ctr"/>
                      <a:r>
                        <a:rPr lang="en-US" dirty="0"/>
                        <a:t>8</a:t>
                      </a:r>
                      <a:endParaRPr lang="en-US" dirty="0"/>
                    </a:p>
                  </a:txBody>
                  <a:tcPr anchor="ctr">
                    <a:noFill/>
                  </a:tcPr>
                </a:tc>
                <a:tc>
                  <a:txBody>
                    <a:bodyPr/>
                    <a:lstStyle/>
                    <a:p>
                      <a:pPr algn="ctr"/>
                      <a:r>
                        <a:rPr lang="en-US" dirty="0"/>
                        <a:t>9</a:t>
                      </a:r>
                      <a:endParaRPr lang="en-US" dirty="0"/>
                    </a:p>
                  </a:txBody>
                  <a:tcPr anchor="ctr">
                    <a:noFill/>
                  </a:tcPr>
                </a:tc>
              </a:tr>
              <a:tr h="370840">
                <a:tc>
                  <a:txBody>
                    <a:bodyPr/>
                    <a:lstStyle/>
                    <a:p>
                      <a:pPr algn="ctr"/>
                      <a:r>
                        <a:rPr lang="en-US" dirty="0"/>
                        <a:t>15</a:t>
                      </a:r>
                      <a:endParaRPr lang="en-US" dirty="0"/>
                    </a:p>
                  </a:txBody>
                  <a:tcPr anchor="ctr">
                    <a:solidFill>
                      <a:srgbClr val="FFFF00"/>
                    </a:solidFill>
                  </a:tcPr>
                </a:tc>
                <a:tc>
                  <a:txBody>
                    <a:bodyPr/>
                    <a:lstStyle/>
                    <a:p>
                      <a:pPr algn="ctr"/>
                      <a:r>
                        <a:rPr lang="en-US" dirty="0"/>
                        <a:t>12</a:t>
                      </a:r>
                      <a:endParaRPr lang="en-US" dirty="0"/>
                    </a:p>
                  </a:txBody>
                  <a:tcPr anchor="ctr">
                    <a:solidFill>
                      <a:srgbClr val="FFFF00"/>
                    </a:solidFill>
                  </a:tcPr>
                </a:tc>
                <a:tc>
                  <a:txBody>
                    <a:bodyPr/>
                    <a:lstStyle/>
                    <a:p>
                      <a:pPr algn="ctr"/>
                      <a:r>
                        <a:rPr lang="en-US" dirty="0"/>
                        <a:t>13</a:t>
                      </a:r>
                      <a:endParaRPr lang="en-US" dirty="0"/>
                    </a:p>
                  </a:txBody>
                  <a:tcPr anchor="ctr">
                    <a:solidFill>
                      <a:srgbClr val="FFFF00"/>
                    </a:solidFill>
                  </a:tcPr>
                </a:tc>
                <a:tc>
                  <a:txBody>
                    <a:bodyPr/>
                    <a:lstStyle/>
                    <a:p>
                      <a:pPr algn="ctr"/>
                      <a:r>
                        <a:rPr lang="en-US" dirty="0"/>
                        <a:t>14</a:t>
                      </a:r>
                      <a:endParaRPr lang="en-US" dirty="0"/>
                    </a:p>
                  </a:txBody>
                  <a:tcPr anchor="ctr">
                    <a:solidFill>
                      <a:srgbClr val="FFFF00"/>
                    </a:solidFill>
                  </a:tcPr>
                </a:tc>
              </a:tr>
            </a:tbl>
          </a:graphicData>
        </a:graphic>
      </p:graphicFrame>
      <p:sp>
        <p:nvSpPr>
          <p:cNvPr id="33" name="TextBox 32"/>
          <p:cNvSpPr txBox="1"/>
          <p:nvPr/>
        </p:nvSpPr>
        <p:spPr>
          <a:xfrm>
            <a:off x="2737916" y="3861964"/>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sp>
        <p:nvSpPr>
          <p:cNvPr id="34" name="TextBox 33"/>
          <p:cNvSpPr txBox="1"/>
          <p:nvPr/>
        </p:nvSpPr>
        <p:spPr>
          <a:xfrm>
            <a:off x="8088587" y="3861964"/>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sp>
        <p:nvSpPr>
          <p:cNvPr id="35" name="TextBox 34"/>
          <p:cNvSpPr txBox="1"/>
          <p:nvPr/>
        </p:nvSpPr>
        <p:spPr>
          <a:xfrm>
            <a:off x="2685976" y="6677000"/>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grpSp>
        <p:nvGrpSpPr>
          <p:cNvPr id="7" name="组合 6"/>
          <p:cNvGrpSpPr/>
          <p:nvPr/>
        </p:nvGrpSpPr>
        <p:grpSpPr>
          <a:xfrm>
            <a:off x="237709" y="1498600"/>
            <a:ext cx="5457729" cy="2996674"/>
            <a:chOff x="237709" y="1498600"/>
            <a:chExt cx="5457729" cy="2996674"/>
          </a:xfrm>
        </p:grpSpPr>
        <p:cxnSp>
          <p:nvCxnSpPr>
            <p:cNvPr id="6" name="Straight Arrow Connector 5"/>
            <p:cNvCxnSpPr/>
            <p:nvPr/>
          </p:nvCxnSpPr>
          <p:spPr bwMode="auto">
            <a:xfrm>
              <a:off x="597744" y="1498600"/>
              <a:ext cx="0" cy="2658120"/>
            </a:xfrm>
            <a:prstGeom prst="straightConnector1">
              <a:avLst/>
            </a:prstGeom>
            <a:solidFill>
              <a:srgbClr val="000000"/>
            </a:solidFill>
            <a:ln w="25400" cap="flat" cmpd="sng" algn="ctr">
              <a:solidFill>
                <a:srgbClr val="000000"/>
              </a:solidFill>
              <a:prstDash val="solid"/>
              <a:miter lim="4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Arrow Connector 7"/>
            <p:cNvCxnSpPr/>
            <p:nvPr/>
          </p:nvCxnSpPr>
          <p:spPr bwMode="auto">
            <a:xfrm>
              <a:off x="597744" y="1498600"/>
              <a:ext cx="4248472" cy="0"/>
            </a:xfrm>
            <a:prstGeom prst="straightConnector1">
              <a:avLst/>
            </a:prstGeom>
            <a:solidFill>
              <a:srgbClr val="000000"/>
            </a:solidFill>
            <a:ln w="25400" cap="flat" cmpd="sng" algn="ctr">
              <a:solidFill>
                <a:srgbClr val="000000"/>
              </a:solidFill>
              <a:prstDash val="solid"/>
              <a:miter lim="4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3"/>
            <p:cNvSpPr txBox="1"/>
            <p:nvPr/>
          </p:nvSpPr>
          <p:spPr>
            <a:xfrm>
              <a:off x="237709" y="4156720"/>
              <a:ext cx="720069" cy="338554"/>
            </a:xfrm>
            <a:prstGeom prst="rect">
              <a:avLst/>
            </a:prstGeom>
            <a:noFill/>
          </p:spPr>
          <p:txBody>
            <a:bodyPr wrap="none" rtlCol="0">
              <a:spAutoFit/>
            </a:bodyPr>
            <a:lstStyle/>
            <a:p>
              <a:r>
                <a:rPr lang="en-US" altLang="zh-CN" dirty="0"/>
                <a:t>Dim 2</a:t>
              </a:r>
              <a:endParaRPr lang="en-US" dirty="0"/>
            </a:p>
          </p:txBody>
        </p:sp>
        <p:sp>
          <p:nvSpPr>
            <p:cNvPr id="26" name="TextBox 25"/>
            <p:cNvSpPr txBox="1"/>
            <p:nvPr/>
          </p:nvSpPr>
          <p:spPr>
            <a:xfrm>
              <a:off x="4975369" y="1551984"/>
              <a:ext cx="720069" cy="338554"/>
            </a:xfrm>
            <a:prstGeom prst="rect">
              <a:avLst/>
            </a:prstGeom>
            <a:noFill/>
          </p:spPr>
          <p:txBody>
            <a:bodyPr wrap="none" rtlCol="0">
              <a:spAutoFit/>
            </a:bodyPr>
            <a:lstStyle/>
            <a:p>
              <a:r>
                <a:rPr lang="en-US" altLang="zh-CN" dirty="0"/>
                <a:t>Dim 1</a:t>
              </a:r>
              <a:endParaRPr lang="en-US" dirty="0"/>
            </a:p>
          </p:txBody>
        </p:sp>
      </p:grpSp>
      <p:grpSp>
        <p:nvGrpSpPr>
          <p:cNvPr id="29" name="组合 28"/>
          <p:cNvGrpSpPr/>
          <p:nvPr/>
        </p:nvGrpSpPr>
        <p:grpSpPr>
          <a:xfrm>
            <a:off x="6354298" y="2140496"/>
            <a:ext cx="3823161" cy="1045654"/>
            <a:chOff x="862267" y="1811846"/>
            <a:chExt cx="3823161" cy="1045654"/>
          </a:xfrm>
        </p:grpSpPr>
        <p:sp>
          <p:nvSpPr>
            <p:cNvPr id="36" name="Freeform: Shape 10"/>
            <p:cNvSpPr/>
            <p:nvPr/>
          </p:nvSpPr>
          <p:spPr bwMode="auto">
            <a:xfrm>
              <a:off x="862267" y="1811846"/>
              <a:ext cx="3823161" cy="1041400"/>
            </a:xfrm>
            <a:custGeom>
              <a:avLst/>
              <a:gdLst>
                <a:gd name="connsiteX0" fmla="*/ 1003761 w 3823161"/>
                <a:gd name="connsiteY0" fmla="*/ 1016000 h 1041400"/>
                <a:gd name="connsiteX1" fmla="*/ 190961 w 3823161"/>
                <a:gd name="connsiteY1" fmla="*/ 939800 h 1041400"/>
                <a:gd name="connsiteX2" fmla="*/ 127461 w 3823161"/>
                <a:gd name="connsiteY2" fmla="*/ 889000 h 1041400"/>
                <a:gd name="connsiteX3" fmla="*/ 38561 w 3823161"/>
                <a:gd name="connsiteY3" fmla="*/ 762000 h 1041400"/>
                <a:gd name="connsiteX4" fmla="*/ 461 w 3823161"/>
                <a:gd name="connsiteY4" fmla="*/ 635000 h 1041400"/>
                <a:gd name="connsiteX5" fmla="*/ 25861 w 3823161"/>
                <a:gd name="connsiteY5" fmla="*/ 406400 h 1041400"/>
                <a:gd name="connsiteX6" fmla="*/ 140161 w 3823161"/>
                <a:gd name="connsiteY6" fmla="*/ 228600 h 1041400"/>
                <a:gd name="connsiteX7" fmla="*/ 203661 w 3823161"/>
                <a:gd name="connsiteY7" fmla="*/ 177800 h 1041400"/>
                <a:gd name="connsiteX8" fmla="*/ 559261 w 3823161"/>
                <a:gd name="connsiteY8" fmla="*/ 88900 h 1041400"/>
                <a:gd name="connsiteX9" fmla="*/ 1206961 w 3823161"/>
                <a:gd name="connsiteY9" fmla="*/ 0 h 1041400"/>
                <a:gd name="connsiteX10" fmla="*/ 2832561 w 3823161"/>
                <a:gd name="connsiteY10" fmla="*/ 25400 h 1041400"/>
                <a:gd name="connsiteX11" fmla="*/ 3188161 w 3823161"/>
                <a:gd name="connsiteY11" fmla="*/ 88900 h 1041400"/>
                <a:gd name="connsiteX12" fmla="*/ 3378661 w 3823161"/>
                <a:gd name="connsiteY12" fmla="*/ 114300 h 1041400"/>
                <a:gd name="connsiteX13" fmla="*/ 3683461 w 3823161"/>
                <a:gd name="connsiteY13" fmla="*/ 279400 h 1041400"/>
                <a:gd name="connsiteX14" fmla="*/ 3746961 w 3823161"/>
                <a:gd name="connsiteY14" fmla="*/ 342900 h 1041400"/>
                <a:gd name="connsiteX15" fmla="*/ 3785061 w 3823161"/>
                <a:gd name="connsiteY15" fmla="*/ 431800 h 1041400"/>
                <a:gd name="connsiteX16" fmla="*/ 3823161 w 3823161"/>
                <a:gd name="connsiteY16" fmla="*/ 596900 h 1041400"/>
                <a:gd name="connsiteX17" fmla="*/ 3797761 w 3823161"/>
                <a:gd name="connsiteY17" fmla="*/ 812800 h 1041400"/>
                <a:gd name="connsiteX18" fmla="*/ 3632661 w 3823161"/>
                <a:gd name="connsiteY18" fmla="*/ 927100 h 1041400"/>
                <a:gd name="connsiteX19" fmla="*/ 3277061 w 3823161"/>
                <a:gd name="connsiteY19" fmla="*/ 1016000 h 1041400"/>
                <a:gd name="connsiteX20" fmla="*/ 3111961 w 3823161"/>
                <a:gd name="connsiteY20" fmla="*/ 1041400 h 1041400"/>
                <a:gd name="connsiteX21" fmla="*/ 2921461 w 3823161"/>
                <a:gd name="connsiteY21" fmla="*/ 10160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3161" h="1041400">
                  <a:moveTo>
                    <a:pt x="1003761" y="1016000"/>
                  </a:moveTo>
                  <a:cubicBezTo>
                    <a:pt x="647050" y="1008569"/>
                    <a:pt x="475084" y="1061567"/>
                    <a:pt x="190961" y="939800"/>
                  </a:cubicBezTo>
                  <a:cubicBezTo>
                    <a:pt x="166046" y="929122"/>
                    <a:pt x="145102" y="909581"/>
                    <a:pt x="127461" y="889000"/>
                  </a:cubicBezTo>
                  <a:cubicBezTo>
                    <a:pt x="93832" y="849766"/>
                    <a:pt x="68194" y="804333"/>
                    <a:pt x="38561" y="762000"/>
                  </a:cubicBezTo>
                  <a:cubicBezTo>
                    <a:pt x="25861" y="719667"/>
                    <a:pt x="2038" y="679169"/>
                    <a:pt x="461" y="635000"/>
                  </a:cubicBezTo>
                  <a:cubicBezTo>
                    <a:pt x="-2275" y="558380"/>
                    <a:pt x="7266" y="480780"/>
                    <a:pt x="25861" y="406400"/>
                  </a:cubicBezTo>
                  <a:cubicBezTo>
                    <a:pt x="46416" y="324179"/>
                    <a:pt x="83041" y="279374"/>
                    <a:pt x="140161" y="228600"/>
                  </a:cubicBezTo>
                  <a:cubicBezTo>
                    <a:pt x="160421" y="210591"/>
                    <a:pt x="178891" y="188809"/>
                    <a:pt x="203661" y="177800"/>
                  </a:cubicBezTo>
                  <a:cubicBezTo>
                    <a:pt x="295074" y="137172"/>
                    <a:pt x="464783" y="105434"/>
                    <a:pt x="559261" y="88900"/>
                  </a:cubicBezTo>
                  <a:cubicBezTo>
                    <a:pt x="878751" y="32989"/>
                    <a:pt x="881328" y="37573"/>
                    <a:pt x="1206961" y="0"/>
                  </a:cubicBezTo>
                  <a:lnTo>
                    <a:pt x="2832561" y="25400"/>
                  </a:lnTo>
                  <a:cubicBezTo>
                    <a:pt x="3004379" y="29108"/>
                    <a:pt x="2992379" y="52191"/>
                    <a:pt x="3188161" y="88900"/>
                  </a:cubicBezTo>
                  <a:cubicBezTo>
                    <a:pt x="3251126" y="100706"/>
                    <a:pt x="3315161" y="105833"/>
                    <a:pt x="3378661" y="114300"/>
                  </a:cubicBezTo>
                  <a:cubicBezTo>
                    <a:pt x="3579800" y="203695"/>
                    <a:pt x="3566070" y="172681"/>
                    <a:pt x="3683461" y="279400"/>
                  </a:cubicBezTo>
                  <a:cubicBezTo>
                    <a:pt x="3705611" y="299536"/>
                    <a:pt x="3725794" y="321733"/>
                    <a:pt x="3746961" y="342900"/>
                  </a:cubicBezTo>
                  <a:cubicBezTo>
                    <a:pt x="3759661" y="372533"/>
                    <a:pt x="3774217" y="401438"/>
                    <a:pt x="3785061" y="431800"/>
                  </a:cubicBezTo>
                  <a:cubicBezTo>
                    <a:pt x="3810431" y="502837"/>
                    <a:pt x="3811330" y="525913"/>
                    <a:pt x="3823161" y="596900"/>
                  </a:cubicBezTo>
                  <a:cubicBezTo>
                    <a:pt x="3814694" y="668867"/>
                    <a:pt x="3820676" y="744056"/>
                    <a:pt x="3797761" y="812800"/>
                  </a:cubicBezTo>
                  <a:cubicBezTo>
                    <a:pt x="3765454" y="909720"/>
                    <a:pt x="3708591" y="903122"/>
                    <a:pt x="3632661" y="927100"/>
                  </a:cubicBezTo>
                  <a:cubicBezTo>
                    <a:pt x="3409153" y="997682"/>
                    <a:pt x="3540267" y="970620"/>
                    <a:pt x="3277061" y="1016000"/>
                  </a:cubicBezTo>
                  <a:cubicBezTo>
                    <a:pt x="3222190" y="1025461"/>
                    <a:pt x="3167642" y="1041400"/>
                    <a:pt x="3111961" y="1041400"/>
                  </a:cubicBezTo>
                  <a:cubicBezTo>
                    <a:pt x="3047899" y="1041400"/>
                    <a:pt x="2984961" y="1024467"/>
                    <a:pt x="2921461" y="1016000"/>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37" name="Freeform: Shape 11"/>
            <p:cNvSpPr/>
            <p:nvPr/>
          </p:nvSpPr>
          <p:spPr bwMode="auto">
            <a:xfrm>
              <a:off x="2095500" y="2818102"/>
              <a:ext cx="406400" cy="26698"/>
            </a:xfrm>
            <a:custGeom>
              <a:avLst/>
              <a:gdLst>
                <a:gd name="connsiteX0" fmla="*/ 406400 w 406400"/>
                <a:gd name="connsiteY0" fmla="*/ 26698 h 26698"/>
                <a:gd name="connsiteX1" fmla="*/ 165100 w 406400"/>
                <a:gd name="connsiteY1" fmla="*/ 13998 h 26698"/>
                <a:gd name="connsiteX2" fmla="*/ 114300 w 406400"/>
                <a:gd name="connsiteY2" fmla="*/ 1298 h 26698"/>
                <a:gd name="connsiteX3" fmla="*/ 0 w 406400"/>
                <a:gd name="connsiteY3" fmla="*/ 1298 h 26698"/>
              </a:gdLst>
              <a:ahLst/>
              <a:cxnLst>
                <a:cxn ang="0">
                  <a:pos x="connsiteX0" y="connsiteY0"/>
                </a:cxn>
                <a:cxn ang="0">
                  <a:pos x="connsiteX1" y="connsiteY1"/>
                </a:cxn>
                <a:cxn ang="0">
                  <a:pos x="connsiteX2" y="connsiteY2"/>
                </a:cxn>
                <a:cxn ang="0">
                  <a:pos x="connsiteX3" y="connsiteY3"/>
                </a:cxn>
              </a:cxnLst>
              <a:rect l="l" t="t" r="r" b="b"/>
              <a:pathLst>
                <a:path w="406400" h="26698">
                  <a:moveTo>
                    <a:pt x="406400" y="26698"/>
                  </a:moveTo>
                  <a:cubicBezTo>
                    <a:pt x="325967" y="22465"/>
                    <a:pt x="245342" y="20976"/>
                    <a:pt x="165100" y="13998"/>
                  </a:cubicBezTo>
                  <a:cubicBezTo>
                    <a:pt x="147711" y="12486"/>
                    <a:pt x="131703" y="2637"/>
                    <a:pt x="114300" y="1298"/>
                  </a:cubicBezTo>
                  <a:cubicBezTo>
                    <a:pt x="76312" y="-1624"/>
                    <a:pt x="38100" y="1298"/>
                    <a:pt x="0" y="1298"/>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38" name="Freeform: Shape 13"/>
            <p:cNvSpPr/>
            <p:nvPr/>
          </p:nvSpPr>
          <p:spPr bwMode="auto">
            <a:xfrm>
              <a:off x="2730500" y="2857500"/>
              <a:ext cx="330200" cy="0"/>
            </a:xfrm>
            <a:custGeom>
              <a:avLst/>
              <a:gdLst>
                <a:gd name="connsiteX0" fmla="*/ 330200 w 330200"/>
                <a:gd name="connsiteY0" fmla="*/ 0 h 0"/>
                <a:gd name="connsiteX1" fmla="*/ 0 w 330200"/>
                <a:gd name="connsiteY1" fmla="*/ 0 h 0"/>
              </a:gdLst>
              <a:ahLst/>
              <a:cxnLst>
                <a:cxn ang="0">
                  <a:pos x="connsiteX0" y="connsiteY0"/>
                </a:cxn>
                <a:cxn ang="0">
                  <a:pos x="connsiteX1" y="connsiteY1"/>
                </a:cxn>
              </a:cxnLst>
              <a:rect l="l" t="t" r="r" b="b"/>
              <a:pathLst>
                <a:path w="330200">
                  <a:moveTo>
                    <a:pt x="330200" y="0"/>
                  </a:moveTo>
                  <a:lnTo>
                    <a:pt x="0" y="0"/>
                  </a:ln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39" name="Freeform: Shape 14"/>
            <p:cNvSpPr/>
            <p:nvPr/>
          </p:nvSpPr>
          <p:spPr bwMode="auto">
            <a:xfrm>
              <a:off x="3314700" y="2831816"/>
              <a:ext cx="317500" cy="12984"/>
            </a:xfrm>
            <a:custGeom>
              <a:avLst/>
              <a:gdLst>
                <a:gd name="connsiteX0" fmla="*/ 317500 w 317500"/>
                <a:gd name="connsiteY0" fmla="*/ 12984 h 12984"/>
                <a:gd name="connsiteX1" fmla="*/ 0 w 317500"/>
                <a:gd name="connsiteY1" fmla="*/ 284 h 12984"/>
              </a:gdLst>
              <a:ahLst/>
              <a:cxnLst>
                <a:cxn ang="0">
                  <a:pos x="connsiteX0" y="connsiteY0"/>
                </a:cxn>
                <a:cxn ang="0">
                  <a:pos x="connsiteX1" y="connsiteY1"/>
                </a:cxn>
              </a:cxnLst>
              <a:rect l="l" t="t" r="r" b="b"/>
              <a:pathLst>
                <a:path w="317500" h="12984">
                  <a:moveTo>
                    <a:pt x="317500" y="12984"/>
                  </a:moveTo>
                  <a:cubicBezTo>
                    <a:pt x="93252" y="-3034"/>
                    <a:pt x="199118" y="284"/>
                    <a:pt x="0" y="284"/>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grpSp>
        <p:nvGrpSpPr>
          <p:cNvPr id="40" name="组合 39"/>
          <p:cNvGrpSpPr/>
          <p:nvPr/>
        </p:nvGrpSpPr>
        <p:grpSpPr>
          <a:xfrm>
            <a:off x="597744" y="5308848"/>
            <a:ext cx="3823161" cy="1045654"/>
            <a:chOff x="862267" y="1811846"/>
            <a:chExt cx="3823161" cy="1045654"/>
          </a:xfrm>
        </p:grpSpPr>
        <p:sp>
          <p:nvSpPr>
            <p:cNvPr id="41" name="Freeform: Shape 10"/>
            <p:cNvSpPr/>
            <p:nvPr/>
          </p:nvSpPr>
          <p:spPr bwMode="auto">
            <a:xfrm>
              <a:off x="862267" y="1811846"/>
              <a:ext cx="3823161" cy="1041400"/>
            </a:xfrm>
            <a:custGeom>
              <a:avLst/>
              <a:gdLst>
                <a:gd name="connsiteX0" fmla="*/ 1003761 w 3823161"/>
                <a:gd name="connsiteY0" fmla="*/ 1016000 h 1041400"/>
                <a:gd name="connsiteX1" fmla="*/ 190961 w 3823161"/>
                <a:gd name="connsiteY1" fmla="*/ 939800 h 1041400"/>
                <a:gd name="connsiteX2" fmla="*/ 127461 w 3823161"/>
                <a:gd name="connsiteY2" fmla="*/ 889000 h 1041400"/>
                <a:gd name="connsiteX3" fmla="*/ 38561 w 3823161"/>
                <a:gd name="connsiteY3" fmla="*/ 762000 h 1041400"/>
                <a:gd name="connsiteX4" fmla="*/ 461 w 3823161"/>
                <a:gd name="connsiteY4" fmla="*/ 635000 h 1041400"/>
                <a:gd name="connsiteX5" fmla="*/ 25861 w 3823161"/>
                <a:gd name="connsiteY5" fmla="*/ 406400 h 1041400"/>
                <a:gd name="connsiteX6" fmla="*/ 140161 w 3823161"/>
                <a:gd name="connsiteY6" fmla="*/ 228600 h 1041400"/>
                <a:gd name="connsiteX7" fmla="*/ 203661 w 3823161"/>
                <a:gd name="connsiteY7" fmla="*/ 177800 h 1041400"/>
                <a:gd name="connsiteX8" fmla="*/ 559261 w 3823161"/>
                <a:gd name="connsiteY8" fmla="*/ 88900 h 1041400"/>
                <a:gd name="connsiteX9" fmla="*/ 1206961 w 3823161"/>
                <a:gd name="connsiteY9" fmla="*/ 0 h 1041400"/>
                <a:gd name="connsiteX10" fmla="*/ 2832561 w 3823161"/>
                <a:gd name="connsiteY10" fmla="*/ 25400 h 1041400"/>
                <a:gd name="connsiteX11" fmla="*/ 3188161 w 3823161"/>
                <a:gd name="connsiteY11" fmla="*/ 88900 h 1041400"/>
                <a:gd name="connsiteX12" fmla="*/ 3378661 w 3823161"/>
                <a:gd name="connsiteY12" fmla="*/ 114300 h 1041400"/>
                <a:gd name="connsiteX13" fmla="*/ 3683461 w 3823161"/>
                <a:gd name="connsiteY13" fmla="*/ 279400 h 1041400"/>
                <a:gd name="connsiteX14" fmla="*/ 3746961 w 3823161"/>
                <a:gd name="connsiteY14" fmla="*/ 342900 h 1041400"/>
                <a:gd name="connsiteX15" fmla="*/ 3785061 w 3823161"/>
                <a:gd name="connsiteY15" fmla="*/ 431800 h 1041400"/>
                <a:gd name="connsiteX16" fmla="*/ 3823161 w 3823161"/>
                <a:gd name="connsiteY16" fmla="*/ 596900 h 1041400"/>
                <a:gd name="connsiteX17" fmla="*/ 3797761 w 3823161"/>
                <a:gd name="connsiteY17" fmla="*/ 812800 h 1041400"/>
                <a:gd name="connsiteX18" fmla="*/ 3632661 w 3823161"/>
                <a:gd name="connsiteY18" fmla="*/ 927100 h 1041400"/>
                <a:gd name="connsiteX19" fmla="*/ 3277061 w 3823161"/>
                <a:gd name="connsiteY19" fmla="*/ 1016000 h 1041400"/>
                <a:gd name="connsiteX20" fmla="*/ 3111961 w 3823161"/>
                <a:gd name="connsiteY20" fmla="*/ 1041400 h 1041400"/>
                <a:gd name="connsiteX21" fmla="*/ 2921461 w 3823161"/>
                <a:gd name="connsiteY21" fmla="*/ 10160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3161" h="1041400">
                  <a:moveTo>
                    <a:pt x="1003761" y="1016000"/>
                  </a:moveTo>
                  <a:cubicBezTo>
                    <a:pt x="647050" y="1008569"/>
                    <a:pt x="475084" y="1061567"/>
                    <a:pt x="190961" y="939800"/>
                  </a:cubicBezTo>
                  <a:cubicBezTo>
                    <a:pt x="166046" y="929122"/>
                    <a:pt x="145102" y="909581"/>
                    <a:pt x="127461" y="889000"/>
                  </a:cubicBezTo>
                  <a:cubicBezTo>
                    <a:pt x="93832" y="849766"/>
                    <a:pt x="68194" y="804333"/>
                    <a:pt x="38561" y="762000"/>
                  </a:cubicBezTo>
                  <a:cubicBezTo>
                    <a:pt x="25861" y="719667"/>
                    <a:pt x="2038" y="679169"/>
                    <a:pt x="461" y="635000"/>
                  </a:cubicBezTo>
                  <a:cubicBezTo>
                    <a:pt x="-2275" y="558380"/>
                    <a:pt x="7266" y="480780"/>
                    <a:pt x="25861" y="406400"/>
                  </a:cubicBezTo>
                  <a:cubicBezTo>
                    <a:pt x="46416" y="324179"/>
                    <a:pt x="83041" y="279374"/>
                    <a:pt x="140161" y="228600"/>
                  </a:cubicBezTo>
                  <a:cubicBezTo>
                    <a:pt x="160421" y="210591"/>
                    <a:pt x="178891" y="188809"/>
                    <a:pt x="203661" y="177800"/>
                  </a:cubicBezTo>
                  <a:cubicBezTo>
                    <a:pt x="295074" y="137172"/>
                    <a:pt x="464783" y="105434"/>
                    <a:pt x="559261" y="88900"/>
                  </a:cubicBezTo>
                  <a:cubicBezTo>
                    <a:pt x="878751" y="32989"/>
                    <a:pt x="881328" y="37573"/>
                    <a:pt x="1206961" y="0"/>
                  </a:cubicBezTo>
                  <a:lnTo>
                    <a:pt x="2832561" y="25400"/>
                  </a:lnTo>
                  <a:cubicBezTo>
                    <a:pt x="3004379" y="29108"/>
                    <a:pt x="2992379" y="52191"/>
                    <a:pt x="3188161" y="88900"/>
                  </a:cubicBezTo>
                  <a:cubicBezTo>
                    <a:pt x="3251126" y="100706"/>
                    <a:pt x="3315161" y="105833"/>
                    <a:pt x="3378661" y="114300"/>
                  </a:cubicBezTo>
                  <a:cubicBezTo>
                    <a:pt x="3579800" y="203695"/>
                    <a:pt x="3566070" y="172681"/>
                    <a:pt x="3683461" y="279400"/>
                  </a:cubicBezTo>
                  <a:cubicBezTo>
                    <a:pt x="3705611" y="299536"/>
                    <a:pt x="3725794" y="321733"/>
                    <a:pt x="3746961" y="342900"/>
                  </a:cubicBezTo>
                  <a:cubicBezTo>
                    <a:pt x="3759661" y="372533"/>
                    <a:pt x="3774217" y="401438"/>
                    <a:pt x="3785061" y="431800"/>
                  </a:cubicBezTo>
                  <a:cubicBezTo>
                    <a:pt x="3810431" y="502837"/>
                    <a:pt x="3811330" y="525913"/>
                    <a:pt x="3823161" y="596900"/>
                  </a:cubicBezTo>
                  <a:cubicBezTo>
                    <a:pt x="3814694" y="668867"/>
                    <a:pt x="3820676" y="744056"/>
                    <a:pt x="3797761" y="812800"/>
                  </a:cubicBezTo>
                  <a:cubicBezTo>
                    <a:pt x="3765454" y="909720"/>
                    <a:pt x="3708591" y="903122"/>
                    <a:pt x="3632661" y="927100"/>
                  </a:cubicBezTo>
                  <a:cubicBezTo>
                    <a:pt x="3409153" y="997682"/>
                    <a:pt x="3540267" y="970620"/>
                    <a:pt x="3277061" y="1016000"/>
                  </a:cubicBezTo>
                  <a:cubicBezTo>
                    <a:pt x="3222190" y="1025461"/>
                    <a:pt x="3167642" y="1041400"/>
                    <a:pt x="3111961" y="1041400"/>
                  </a:cubicBezTo>
                  <a:cubicBezTo>
                    <a:pt x="3047899" y="1041400"/>
                    <a:pt x="2984961" y="1024467"/>
                    <a:pt x="2921461" y="1016000"/>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42" name="Freeform: Shape 11"/>
            <p:cNvSpPr/>
            <p:nvPr/>
          </p:nvSpPr>
          <p:spPr bwMode="auto">
            <a:xfrm>
              <a:off x="2095500" y="2818102"/>
              <a:ext cx="406400" cy="26698"/>
            </a:xfrm>
            <a:custGeom>
              <a:avLst/>
              <a:gdLst>
                <a:gd name="connsiteX0" fmla="*/ 406400 w 406400"/>
                <a:gd name="connsiteY0" fmla="*/ 26698 h 26698"/>
                <a:gd name="connsiteX1" fmla="*/ 165100 w 406400"/>
                <a:gd name="connsiteY1" fmla="*/ 13998 h 26698"/>
                <a:gd name="connsiteX2" fmla="*/ 114300 w 406400"/>
                <a:gd name="connsiteY2" fmla="*/ 1298 h 26698"/>
                <a:gd name="connsiteX3" fmla="*/ 0 w 406400"/>
                <a:gd name="connsiteY3" fmla="*/ 1298 h 26698"/>
              </a:gdLst>
              <a:ahLst/>
              <a:cxnLst>
                <a:cxn ang="0">
                  <a:pos x="connsiteX0" y="connsiteY0"/>
                </a:cxn>
                <a:cxn ang="0">
                  <a:pos x="connsiteX1" y="connsiteY1"/>
                </a:cxn>
                <a:cxn ang="0">
                  <a:pos x="connsiteX2" y="connsiteY2"/>
                </a:cxn>
                <a:cxn ang="0">
                  <a:pos x="connsiteX3" y="connsiteY3"/>
                </a:cxn>
              </a:cxnLst>
              <a:rect l="l" t="t" r="r" b="b"/>
              <a:pathLst>
                <a:path w="406400" h="26698">
                  <a:moveTo>
                    <a:pt x="406400" y="26698"/>
                  </a:moveTo>
                  <a:cubicBezTo>
                    <a:pt x="325967" y="22465"/>
                    <a:pt x="245342" y="20976"/>
                    <a:pt x="165100" y="13998"/>
                  </a:cubicBezTo>
                  <a:cubicBezTo>
                    <a:pt x="147711" y="12486"/>
                    <a:pt x="131703" y="2637"/>
                    <a:pt x="114300" y="1298"/>
                  </a:cubicBezTo>
                  <a:cubicBezTo>
                    <a:pt x="76312" y="-1624"/>
                    <a:pt x="38100" y="1298"/>
                    <a:pt x="0" y="1298"/>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43" name="Freeform: Shape 13"/>
            <p:cNvSpPr/>
            <p:nvPr/>
          </p:nvSpPr>
          <p:spPr bwMode="auto">
            <a:xfrm>
              <a:off x="2730500" y="2857500"/>
              <a:ext cx="330200" cy="0"/>
            </a:xfrm>
            <a:custGeom>
              <a:avLst/>
              <a:gdLst>
                <a:gd name="connsiteX0" fmla="*/ 330200 w 330200"/>
                <a:gd name="connsiteY0" fmla="*/ 0 h 0"/>
                <a:gd name="connsiteX1" fmla="*/ 0 w 330200"/>
                <a:gd name="connsiteY1" fmla="*/ 0 h 0"/>
              </a:gdLst>
              <a:ahLst/>
              <a:cxnLst>
                <a:cxn ang="0">
                  <a:pos x="connsiteX0" y="connsiteY0"/>
                </a:cxn>
                <a:cxn ang="0">
                  <a:pos x="connsiteX1" y="connsiteY1"/>
                </a:cxn>
              </a:cxnLst>
              <a:rect l="l" t="t" r="r" b="b"/>
              <a:pathLst>
                <a:path w="330200">
                  <a:moveTo>
                    <a:pt x="330200" y="0"/>
                  </a:moveTo>
                  <a:lnTo>
                    <a:pt x="0" y="0"/>
                  </a:ln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44" name="Freeform: Shape 14"/>
            <p:cNvSpPr/>
            <p:nvPr/>
          </p:nvSpPr>
          <p:spPr bwMode="auto">
            <a:xfrm>
              <a:off x="3314700" y="2831816"/>
              <a:ext cx="317500" cy="12984"/>
            </a:xfrm>
            <a:custGeom>
              <a:avLst/>
              <a:gdLst>
                <a:gd name="connsiteX0" fmla="*/ 317500 w 317500"/>
                <a:gd name="connsiteY0" fmla="*/ 12984 h 12984"/>
                <a:gd name="connsiteX1" fmla="*/ 0 w 317500"/>
                <a:gd name="connsiteY1" fmla="*/ 284 h 12984"/>
              </a:gdLst>
              <a:ahLst/>
              <a:cxnLst>
                <a:cxn ang="0">
                  <a:pos x="connsiteX0" y="connsiteY0"/>
                </a:cxn>
                <a:cxn ang="0">
                  <a:pos x="connsiteX1" y="connsiteY1"/>
                </a:cxn>
              </a:cxnLst>
              <a:rect l="l" t="t" r="r" b="b"/>
              <a:pathLst>
                <a:path w="317500" h="12984">
                  <a:moveTo>
                    <a:pt x="317500" y="12984"/>
                  </a:moveTo>
                  <a:cubicBezTo>
                    <a:pt x="93252" y="-3034"/>
                    <a:pt x="199118" y="284"/>
                    <a:pt x="0" y="284"/>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altLang="zh-CN" dirty="0"/>
              <a:t>Rearrange</a:t>
            </a:r>
            <a:endParaRPr lang="en-US" dirty="0"/>
          </a:p>
        </p:txBody>
      </p:sp>
      <p:sp>
        <p:nvSpPr>
          <p:cNvPr id="3" name="Content Placeholder 2"/>
          <p:cNvSpPr>
            <a:spLocks noGrp="1"/>
          </p:cNvSpPr>
          <p:nvPr>
            <p:ph idx="1"/>
          </p:nvPr>
        </p:nvSpPr>
        <p:spPr>
          <a:xfrm>
            <a:off x="495300" y="7757120"/>
            <a:ext cx="12012613" cy="1285280"/>
          </a:xfrm>
        </p:spPr>
        <p:txBody>
          <a:bodyPr/>
          <a:lstStyle/>
          <a:p>
            <a:pPr lvl="1"/>
            <a:r>
              <a:rPr lang="en-US" altLang="zh-CN" dirty="0"/>
              <a:t>then rearrange X vertically: cyclically rotate to up by times equaling to dim 1</a:t>
            </a:r>
            <a:endParaRPr lang="en-US" altLang="zh-CN" dirty="0"/>
          </a:p>
          <a:p>
            <a:pPr lvl="1"/>
            <a:endParaRPr lang="en-US" dirty="0"/>
          </a:p>
          <a:p>
            <a:pPr lvl="1"/>
            <a:endParaRPr lang="en-US" altLang="zh-CN" dirty="0"/>
          </a:p>
          <a:p>
            <a:pPr lvl="1"/>
            <a:endParaRPr lang="en-US" dirty="0"/>
          </a:p>
        </p:txBody>
      </p:sp>
      <p:sp>
        <p:nvSpPr>
          <p:cNvPr id="33" name="TextBox 32"/>
          <p:cNvSpPr txBox="1"/>
          <p:nvPr/>
        </p:nvSpPr>
        <p:spPr>
          <a:xfrm>
            <a:off x="2737916" y="3861964"/>
            <a:ext cx="354584" cy="461665"/>
          </a:xfrm>
          <a:prstGeom prst="rect">
            <a:avLst/>
          </a:prstGeom>
          <a:noFill/>
        </p:spPr>
        <p:txBody>
          <a:bodyPr wrap="none" rtlCol="0">
            <a:spAutoFit/>
          </a:bodyPr>
          <a:lstStyle/>
          <a:p>
            <a:r>
              <a:rPr lang="en-US" altLang="zh-CN" sz="2400" b="1" dirty="0">
                <a:solidFill>
                  <a:schemeClr val="accent1"/>
                </a:solidFill>
              </a:rPr>
              <a:t>Y</a:t>
            </a:r>
            <a:endParaRPr lang="en-US" sz="2400" b="1" dirty="0">
              <a:solidFill>
                <a:schemeClr val="accent1"/>
              </a:solidFill>
            </a:endParaRPr>
          </a:p>
        </p:txBody>
      </p:sp>
      <p:sp>
        <p:nvSpPr>
          <p:cNvPr id="34" name="TextBox 33"/>
          <p:cNvSpPr txBox="1"/>
          <p:nvPr/>
        </p:nvSpPr>
        <p:spPr>
          <a:xfrm>
            <a:off x="8088587" y="3861964"/>
            <a:ext cx="354584" cy="461665"/>
          </a:xfrm>
          <a:prstGeom prst="rect">
            <a:avLst/>
          </a:prstGeom>
          <a:noFill/>
        </p:spPr>
        <p:txBody>
          <a:bodyPr wrap="none" rtlCol="0">
            <a:spAutoFit/>
          </a:bodyPr>
          <a:lstStyle/>
          <a:p>
            <a:r>
              <a:rPr lang="en-US" altLang="zh-CN" sz="2400" b="1" dirty="0">
                <a:solidFill>
                  <a:schemeClr val="accent1"/>
                </a:solidFill>
              </a:rPr>
              <a:t>Y</a:t>
            </a:r>
            <a:endParaRPr lang="en-US" sz="2400" b="1" dirty="0">
              <a:solidFill>
                <a:schemeClr val="accent1"/>
              </a:solidFill>
            </a:endParaRPr>
          </a:p>
        </p:txBody>
      </p:sp>
      <p:grpSp>
        <p:nvGrpSpPr>
          <p:cNvPr id="10" name="组合 9"/>
          <p:cNvGrpSpPr/>
          <p:nvPr/>
        </p:nvGrpSpPr>
        <p:grpSpPr>
          <a:xfrm>
            <a:off x="669752" y="1736110"/>
            <a:ext cx="5457729" cy="2996674"/>
            <a:chOff x="237709" y="1498600"/>
            <a:chExt cx="5457729" cy="2996674"/>
          </a:xfrm>
        </p:grpSpPr>
        <p:cxnSp>
          <p:nvCxnSpPr>
            <p:cNvPr id="11" name="Straight Arrow Connector 5"/>
            <p:cNvCxnSpPr/>
            <p:nvPr/>
          </p:nvCxnSpPr>
          <p:spPr bwMode="auto">
            <a:xfrm>
              <a:off x="597744" y="1498600"/>
              <a:ext cx="0" cy="2658120"/>
            </a:xfrm>
            <a:prstGeom prst="straightConnector1">
              <a:avLst/>
            </a:prstGeom>
            <a:solidFill>
              <a:srgbClr val="000000"/>
            </a:solidFill>
            <a:ln w="25400" cap="flat" cmpd="sng" algn="ctr">
              <a:solidFill>
                <a:srgbClr val="000000"/>
              </a:solidFill>
              <a:prstDash val="solid"/>
              <a:miter lim="4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Arrow Connector 7"/>
            <p:cNvCxnSpPr/>
            <p:nvPr/>
          </p:nvCxnSpPr>
          <p:spPr bwMode="auto">
            <a:xfrm>
              <a:off x="597744" y="1498600"/>
              <a:ext cx="4248472" cy="0"/>
            </a:xfrm>
            <a:prstGeom prst="straightConnector1">
              <a:avLst/>
            </a:prstGeom>
            <a:solidFill>
              <a:srgbClr val="000000"/>
            </a:solidFill>
            <a:ln w="25400" cap="flat" cmpd="sng" algn="ctr">
              <a:solidFill>
                <a:srgbClr val="000000"/>
              </a:solidFill>
              <a:prstDash val="solid"/>
              <a:miter lim="4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p:cNvSpPr txBox="1"/>
            <p:nvPr/>
          </p:nvSpPr>
          <p:spPr>
            <a:xfrm>
              <a:off x="237709" y="4156720"/>
              <a:ext cx="720069" cy="338554"/>
            </a:xfrm>
            <a:prstGeom prst="rect">
              <a:avLst/>
            </a:prstGeom>
            <a:noFill/>
          </p:spPr>
          <p:txBody>
            <a:bodyPr wrap="none" rtlCol="0">
              <a:spAutoFit/>
            </a:bodyPr>
            <a:lstStyle/>
            <a:p>
              <a:r>
                <a:rPr lang="en-US" altLang="zh-CN" dirty="0"/>
                <a:t>Dim 2</a:t>
              </a:r>
              <a:endParaRPr lang="en-US" dirty="0"/>
            </a:p>
          </p:txBody>
        </p:sp>
        <p:sp>
          <p:nvSpPr>
            <p:cNvPr id="14" name="TextBox 13"/>
            <p:cNvSpPr txBox="1"/>
            <p:nvPr/>
          </p:nvSpPr>
          <p:spPr>
            <a:xfrm>
              <a:off x="4975369" y="1551984"/>
              <a:ext cx="720069" cy="338554"/>
            </a:xfrm>
            <a:prstGeom prst="rect">
              <a:avLst/>
            </a:prstGeom>
            <a:noFill/>
          </p:spPr>
          <p:txBody>
            <a:bodyPr wrap="none" rtlCol="0">
              <a:spAutoFit/>
            </a:bodyPr>
            <a:lstStyle/>
            <a:p>
              <a:r>
                <a:rPr lang="en-US" altLang="zh-CN" dirty="0"/>
                <a:t>Dim 1</a:t>
              </a:r>
              <a:endParaRPr lang="en-US" dirty="0"/>
            </a:p>
          </p:txBody>
        </p:sp>
      </p:grpSp>
      <p:graphicFrame>
        <p:nvGraphicFramePr>
          <p:cNvPr id="15" name="Table 4"/>
          <p:cNvGraphicFramePr>
            <a:graphicFrameLocks noGrp="1"/>
          </p:cNvGraphicFramePr>
          <p:nvPr/>
        </p:nvGraphicFramePr>
        <p:xfrm>
          <a:off x="1655068" y="232349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5</a:t>
                      </a:r>
                      <a:endParaRPr lang="en-US" dirty="0"/>
                    </a:p>
                  </a:txBody>
                  <a:tcPr anchor="ctr">
                    <a:solidFill>
                      <a:schemeClr val="accent2">
                        <a:lumMod val="60000"/>
                        <a:lumOff val="40000"/>
                      </a:schemeClr>
                    </a:solidFill>
                  </a:tcPr>
                </a:tc>
                <a:tc>
                  <a:txBody>
                    <a:bodyPr/>
                    <a:lstStyle/>
                    <a:p>
                      <a:pPr algn="ctr"/>
                      <a:r>
                        <a:rPr lang="en-US" dirty="0"/>
                        <a:t>6</a:t>
                      </a:r>
                      <a:endParaRPr lang="en-US" dirty="0"/>
                    </a:p>
                  </a:txBody>
                  <a:tcPr anchor="ctr">
                    <a:solidFill>
                      <a:schemeClr val="accent2">
                        <a:lumMod val="60000"/>
                        <a:lumOff val="40000"/>
                      </a:schemeClr>
                    </a:solidFill>
                  </a:tcPr>
                </a:tc>
                <a:tc>
                  <a:txBody>
                    <a:bodyPr/>
                    <a:lstStyle/>
                    <a:p>
                      <a:pPr algn="ctr"/>
                      <a:r>
                        <a:rPr lang="en-US" dirty="0"/>
                        <a:t>7</a:t>
                      </a:r>
                      <a:endParaRPr lang="en-US" dirty="0"/>
                    </a:p>
                  </a:txBody>
                  <a:tcPr anchor="ctr">
                    <a:solidFill>
                      <a:schemeClr val="accent2">
                        <a:lumMod val="60000"/>
                        <a:lumOff val="40000"/>
                      </a:schemeClr>
                    </a:solidFill>
                  </a:tcPr>
                </a:tc>
              </a:tr>
              <a:tr h="370840">
                <a:tc>
                  <a:txBody>
                    <a:bodyPr/>
                    <a:lstStyle/>
                    <a:p>
                      <a:pPr algn="ctr"/>
                      <a:r>
                        <a:rPr lang="en-US" dirty="0"/>
                        <a:t>4</a:t>
                      </a:r>
                      <a:endParaRPr lang="en-US" dirty="0"/>
                    </a:p>
                  </a:txBody>
                  <a:tcPr anchor="ctr"/>
                </a:tc>
                <a:tc>
                  <a:txBody>
                    <a:bodyPr/>
                    <a:lstStyle/>
                    <a:p>
                      <a:pPr algn="ctr"/>
                      <a:r>
                        <a:rPr lang="en-US" dirty="0"/>
                        <a:t>9</a:t>
                      </a:r>
                      <a:endParaRPr lang="en-US" dirty="0"/>
                    </a:p>
                  </a:txBody>
                  <a:tcPr anchor="ctr">
                    <a:solidFill>
                      <a:schemeClr val="accent2">
                        <a:lumMod val="60000"/>
                        <a:lumOff val="40000"/>
                      </a:schemeClr>
                    </a:solidFill>
                  </a:tcPr>
                </a:tc>
                <a:tc>
                  <a:txBody>
                    <a:bodyPr/>
                    <a:lstStyle/>
                    <a:p>
                      <a:pPr algn="ctr"/>
                      <a:r>
                        <a:rPr lang="en-US" dirty="0"/>
                        <a:t>10</a:t>
                      </a:r>
                      <a:endParaRPr lang="en-US" dirty="0"/>
                    </a:p>
                  </a:txBody>
                  <a:tcPr anchor="ctr">
                    <a:solidFill>
                      <a:schemeClr val="accent2">
                        <a:lumMod val="60000"/>
                        <a:lumOff val="40000"/>
                      </a:schemeClr>
                    </a:solidFill>
                  </a:tcPr>
                </a:tc>
                <a:tc>
                  <a:txBody>
                    <a:bodyPr/>
                    <a:lstStyle/>
                    <a:p>
                      <a:pPr algn="ctr"/>
                      <a:r>
                        <a:rPr lang="en-US" dirty="0"/>
                        <a:t>11</a:t>
                      </a:r>
                      <a:endParaRPr lang="en-US" dirty="0"/>
                    </a:p>
                  </a:txBody>
                  <a:tcPr anchor="ctr">
                    <a:solidFill>
                      <a:schemeClr val="accent2">
                        <a:lumMod val="60000"/>
                        <a:lumOff val="40000"/>
                      </a:schemeClr>
                    </a:solidFill>
                  </a:tcPr>
                </a:tc>
              </a:tr>
              <a:tr h="370840">
                <a:tc>
                  <a:txBody>
                    <a:bodyPr/>
                    <a:lstStyle/>
                    <a:p>
                      <a:pPr algn="ctr"/>
                      <a:r>
                        <a:rPr lang="en-US" dirty="0"/>
                        <a:t>8</a:t>
                      </a:r>
                      <a:endParaRPr lang="en-US" dirty="0"/>
                    </a:p>
                  </a:txBody>
                  <a:tcPr anchor="ctr"/>
                </a:tc>
                <a:tc>
                  <a:txBody>
                    <a:bodyPr/>
                    <a:lstStyle/>
                    <a:p>
                      <a:pPr algn="ctr"/>
                      <a:r>
                        <a:rPr lang="en-US" dirty="0"/>
                        <a:t>13</a:t>
                      </a:r>
                      <a:endParaRPr lang="en-US" dirty="0"/>
                    </a:p>
                  </a:txBody>
                  <a:tcPr anchor="ctr">
                    <a:solidFill>
                      <a:schemeClr val="accent2">
                        <a:lumMod val="60000"/>
                        <a:lumOff val="40000"/>
                      </a:schemeClr>
                    </a:solidFill>
                  </a:tcPr>
                </a:tc>
                <a:tc>
                  <a:txBody>
                    <a:bodyPr/>
                    <a:lstStyle/>
                    <a:p>
                      <a:pPr algn="ctr"/>
                      <a:r>
                        <a:rPr lang="en-US" dirty="0"/>
                        <a:t>14</a:t>
                      </a:r>
                      <a:endParaRPr lang="en-US" dirty="0"/>
                    </a:p>
                  </a:txBody>
                  <a:tcPr anchor="ctr">
                    <a:solidFill>
                      <a:schemeClr val="accent2">
                        <a:lumMod val="60000"/>
                        <a:lumOff val="40000"/>
                      </a:schemeClr>
                    </a:solidFill>
                  </a:tcPr>
                </a:tc>
                <a:tc>
                  <a:txBody>
                    <a:bodyPr/>
                    <a:lstStyle/>
                    <a:p>
                      <a:pPr algn="ctr"/>
                      <a:r>
                        <a:rPr lang="en-US" dirty="0"/>
                        <a:t>15</a:t>
                      </a:r>
                      <a:endParaRPr lang="en-US" dirty="0"/>
                    </a:p>
                  </a:txBody>
                  <a:tcPr anchor="ctr">
                    <a:solidFill>
                      <a:schemeClr val="accent2">
                        <a:lumMod val="60000"/>
                        <a:lumOff val="40000"/>
                      </a:schemeClr>
                    </a:solidFill>
                  </a:tcPr>
                </a:tc>
              </a:tr>
              <a:tr h="370840">
                <a:tc>
                  <a:txBody>
                    <a:bodyPr/>
                    <a:lstStyle/>
                    <a:p>
                      <a:pPr algn="ctr"/>
                      <a:r>
                        <a:rPr lang="en-US" dirty="0"/>
                        <a:t>12</a:t>
                      </a:r>
                      <a:endParaRPr lang="en-US" dirty="0"/>
                    </a:p>
                  </a:txBody>
                  <a:tcPr anchor="ctr"/>
                </a:tc>
                <a:tc>
                  <a:txBody>
                    <a:bodyPr/>
                    <a:lstStyle/>
                    <a:p>
                      <a:pPr algn="ctr"/>
                      <a:r>
                        <a:rPr lang="en-US" dirty="0"/>
                        <a:t>1</a:t>
                      </a:r>
                      <a:endParaRPr lang="en-US" dirty="0"/>
                    </a:p>
                  </a:txBody>
                  <a:tcPr anchor="ctr">
                    <a:solidFill>
                      <a:schemeClr val="accent2">
                        <a:lumMod val="60000"/>
                        <a:lumOff val="40000"/>
                      </a:schemeClr>
                    </a:solidFill>
                  </a:tcPr>
                </a:tc>
                <a:tc>
                  <a:txBody>
                    <a:bodyPr/>
                    <a:lstStyle/>
                    <a:p>
                      <a:pPr algn="ctr"/>
                      <a:r>
                        <a:rPr lang="en-US" dirty="0"/>
                        <a:t>2</a:t>
                      </a:r>
                      <a:endParaRPr lang="en-US" dirty="0"/>
                    </a:p>
                  </a:txBody>
                  <a:tcPr anchor="ctr">
                    <a:solidFill>
                      <a:schemeClr val="accent2">
                        <a:lumMod val="60000"/>
                        <a:lumOff val="40000"/>
                      </a:schemeClr>
                    </a:solidFill>
                  </a:tcPr>
                </a:tc>
                <a:tc>
                  <a:txBody>
                    <a:bodyPr/>
                    <a:lstStyle/>
                    <a:p>
                      <a:pPr algn="ctr"/>
                      <a:r>
                        <a:rPr lang="en-US" dirty="0"/>
                        <a:t>3</a:t>
                      </a:r>
                      <a:endParaRPr lang="en-US" dirty="0"/>
                    </a:p>
                  </a:txBody>
                  <a:tcPr anchor="ctr">
                    <a:solidFill>
                      <a:schemeClr val="accent2">
                        <a:lumMod val="60000"/>
                        <a:lumOff val="40000"/>
                      </a:schemeClr>
                    </a:solidFill>
                  </a:tcPr>
                </a:tc>
              </a:tr>
            </a:tbl>
          </a:graphicData>
        </a:graphic>
      </p:graphicFrame>
      <p:graphicFrame>
        <p:nvGraphicFramePr>
          <p:cNvPr id="16" name="Table 4"/>
          <p:cNvGraphicFramePr>
            <a:graphicFrameLocks noGrp="1"/>
          </p:cNvGraphicFramePr>
          <p:nvPr/>
        </p:nvGraphicFramePr>
        <p:xfrm>
          <a:off x="7005739" y="232349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5</a:t>
                      </a:r>
                      <a:endParaRPr lang="en-US" dirty="0"/>
                    </a:p>
                  </a:txBody>
                  <a:tcPr anchor="ctr">
                    <a:noFill/>
                  </a:tcPr>
                </a:tc>
                <a:tc>
                  <a:txBody>
                    <a:bodyPr/>
                    <a:lstStyle/>
                    <a:p>
                      <a:pPr algn="ctr"/>
                      <a:r>
                        <a:rPr lang="en-US" dirty="0"/>
                        <a:t>10</a:t>
                      </a:r>
                      <a:endParaRPr lang="en-US" dirty="0"/>
                    </a:p>
                  </a:txBody>
                  <a:tcPr anchor="ctr">
                    <a:solidFill>
                      <a:schemeClr val="accent2">
                        <a:lumMod val="60000"/>
                        <a:lumOff val="40000"/>
                      </a:schemeClr>
                    </a:solidFill>
                  </a:tcPr>
                </a:tc>
                <a:tc>
                  <a:txBody>
                    <a:bodyPr/>
                    <a:lstStyle/>
                    <a:p>
                      <a:pPr algn="ctr"/>
                      <a:r>
                        <a:rPr lang="en-US" dirty="0"/>
                        <a:t>11</a:t>
                      </a:r>
                      <a:endParaRPr lang="en-US" dirty="0"/>
                    </a:p>
                  </a:txBody>
                  <a:tcPr anchor="ctr">
                    <a:solidFill>
                      <a:schemeClr val="accent2">
                        <a:lumMod val="60000"/>
                        <a:lumOff val="40000"/>
                      </a:schemeClr>
                    </a:solidFill>
                  </a:tcPr>
                </a:tc>
              </a:tr>
              <a:tr h="370840">
                <a:tc>
                  <a:txBody>
                    <a:bodyPr/>
                    <a:lstStyle/>
                    <a:p>
                      <a:pPr algn="ctr"/>
                      <a:r>
                        <a:rPr lang="en-US" dirty="0"/>
                        <a:t>4</a:t>
                      </a:r>
                      <a:endParaRPr lang="en-US" dirty="0"/>
                    </a:p>
                  </a:txBody>
                  <a:tcPr anchor="ctr"/>
                </a:tc>
                <a:tc>
                  <a:txBody>
                    <a:bodyPr/>
                    <a:lstStyle/>
                    <a:p>
                      <a:pPr algn="ctr"/>
                      <a:r>
                        <a:rPr lang="en-US" dirty="0"/>
                        <a:t>9</a:t>
                      </a:r>
                      <a:endParaRPr lang="en-US" dirty="0"/>
                    </a:p>
                  </a:txBody>
                  <a:tcPr anchor="ctr">
                    <a:noFill/>
                  </a:tcPr>
                </a:tc>
                <a:tc>
                  <a:txBody>
                    <a:bodyPr/>
                    <a:lstStyle/>
                    <a:p>
                      <a:pPr algn="ctr"/>
                      <a:r>
                        <a:rPr lang="en-US" dirty="0"/>
                        <a:t>14</a:t>
                      </a:r>
                      <a:endParaRPr lang="en-US" dirty="0"/>
                    </a:p>
                  </a:txBody>
                  <a:tcPr anchor="ctr">
                    <a:solidFill>
                      <a:schemeClr val="accent2">
                        <a:lumMod val="60000"/>
                        <a:lumOff val="40000"/>
                      </a:schemeClr>
                    </a:solidFill>
                  </a:tcPr>
                </a:tc>
                <a:tc>
                  <a:txBody>
                    <a:bodyPr/>
                    <a:lstStyle/>
                    <a:p>
                      <a:pPr algn="ctr"/>
                      <a:r>
                        <a:rPr lang="en-US" dirty="0"/>
                        <a:t>15</a:t>
                      </a:r>
                      <a:endParaRPr lang="en-US" dirty="0"/>
                    </a:p>
                  </a:txBody>
                  <a:tcPr anchor="ctr">
                    <a:solidFill>
                      <a:schemeClr val="accent2">
                        <a:lumMod val="60000"/>
                        <a:lumOff val="40000"/>
                      </a:schemeClr>
                    </a:solidFill>
                  </a:tcPr>
                </a:tc>
              </a:tr>
              <a:tr h="370840">
                <a:tc>
                  <a:txBody>
                    <a:bodyPr/>
                    <a:lstStyle/>
                    <a:p>
                      <a:pPr algn="ctr"/>
                      <a:r>
                        <a:rPr lang="en-US" dirty="0"/>
                        <a:t>8</a:t>
                      </a:r>
                      <a:endParaRPr lang="en-US" dirty="0"/>
                    </a:p>
                  </a:txBody>
                  <a:tcPr anchor="ctr"/>
                </a:tc>
                <a:tc>
                  <a:txBody>
                    <a:bodyPr/>
                    <a:lstStyle/>
                    <a:p>
                      <a:pPr algn="ctr"/>
                      <a:r>
                        <a:rPr lang="en-US" dirty="0"/>
                        <a:t>13</a:t>
                      </a:r>
                      <a:endParaRPr lang="en-US" dirty="0"/>
                    </a:p>
                  </a:txBody>
                  <a:tcPr anchor="ctr">
                    <a:noFill/>
                  </a:tcPr>
                </a:tc>
                <a:tc>
                  <a:txBody>
                    <a:bodyPr/>
                    <a:lstStyle/>
                    <a:p>
                      <a:pPr algn="ctr"/>
                      <a:r>
                        <a:rPr lang="en-US" dirty="0"/>
                        <a:t>2</a:t>
                      </a:r>
                      <a:endParaRPr lang="en-US" dirty="0"/>
                    </a:p>
                  </a:txBody>
                  <a:tcPr anchor="ctr">
                    <a:solidFill>
                      <a:schemeClr val="accent2">
                        <a:lumMod val="60000"/>
                        <a:lumOff val="40000"/>
                      </a:schemeClr>
                    </a:solidFill>
                  </a:tcPr>
                </a:tc>
                <a:tc>
                  <a:txBody>
                    <a:bodyPr/>
                    <a:lstStyle/>
                    <a:p>
                      <a:pPr algn="ctr"/>
                      <a:r>
                        <a:rPr lang="en-US" dirty="0"/>
                        <a:t>3</a:t>
                      </a:r>
                      <a:endParaRPr lang="en-US" dirty="0"/>
                    </a:p>
                  </a:txBody>
                  <a:tcPr anchor="ctr">
                    <a:solidFill>
                      <a:schemeClr val="accent2">
                        <a:lumMod val="60000"/>
                        <a:lumOff val="40000"/>
                      </a:schemeClr>
                    </a:solidFill>
                  </a:tcPr>
                </a:tc>
              </a:tr>
              <a:tr h="370840">
                <a:tc>
                  <a:txBody>
                    <a:bodyPr/>
                    <a:lstStyle/>
                    <a:p>
                      <a:pPr algn="ctr"/>
                      <a:r>
                        <a:rPr lang="en-US" dirty="0"/>
                        <a:t>12</a:t>
                      </a:r>
                      <a:endParaRPr lang="en-US" dirty="0"/>
                    </a:p>
                  </a:txBody>
                  <a:tcPr anchor="ctr"/>
                </a:tc>
                <a:tc>
                  <a:txBody>
                    <a:bodyPr/>
                    <a:lstStyle/>
                    <a:p>
                      <a:pPr algn="ctr"/>
                      <a:r>
                        <a:rPr lang="en-US" dirty="0"/>
                        <a:t>1</a:t>
                      </a:r>
                      <a:endParaRPr lang="en-US" dirty="0"/>
                    </a:p>
                  </a:txBody>
                  <a:tcPr anchor="ctr">
                    <a:noFill/>
                  </a:tcPr>
                </a:tc>
                <a:tc>
                  <a:txBody>
                    <a:bodyPr/>
                    <a:lstStyle/>
                    <a:p>
                      <a:pPr algn="ctr"/>
                      <a:r>
                        <a:rPr lang="en-US" dirty="0"/>
                        <a:t>6</a:t>
                      </a:r>
                      <a:endParaRPr lang="en-US" dirty="0"/>
                    </a:p>
                  </a:txBody>
                  <a:tcPr anchor="ctr">
                    <a:solidFill>
                      <a:schemeClr val="accent2">
                        <a:lumMod val="60000"/>
                        <a:lumOff val="40000"/>
                      </a:schemeClr>
                    </a:solidFill>
                  </a:tcPr>
                </a:tc>
                <a:tc>
                  <a:txBody>
                    <a:bodyPr/>
                    <a:lstStyle/>
                    <a:p>
                      <a:pPr algn="ctr"/>
                      <a:r>
                        <a:rPr lang="en-US" dirty="0"/>
                        <a:t>7</a:t>
                      </a:r>
                      <a:endParaRPr lang="en-US" dirty="0"/>
                    </a:p>
                  </a:txBody>
                  <a:tcPr anchor="ctr">
                    <a:solidFill>
                      <a:schemeClr val="accent2">
                        <a:lumMod val="60000"/>
                        <a:lumOff val="40000"/>
                      </a:schemeClr>
                    </a:solidFill>
                  </a:tcPr>
                </a:tc>
              </a:tr>
            </a:tbl>
          </a:graphicData>
        </a:graphic>
      </p:graphicFrame>
      <p:sp>
        <p:nvSpPr>
          <p:cNvPr id="17" name="TextBox 16"/>
          <p:cNvSpPr txBox="1"/>
          <p:nvPr/>
        </p:nvSpPr>
        <p:spPr>
          <a:xfrm>
            <a:off x="2760712" y="6759819"/>
            <a:ext cx="354584" cy="461665"/>
          </a:xfrm>
          <a:prstGeom prst="rect">
            <a:avLst/>
          </a:prstGeom>
          <a:noFill/>
        </p:spPr>
        <p:txBody>
          <a:bodyPr wrap="none" rtlCol="0">
            <a:spAutoFit/>
          </a:bodyPr>
          <a:lstStyle/>
          <a:p>
            <a:r>
              <a:rPr lang="en-US" altLang="zh-CN" sz="2400" b="1" dirty="0">
                <a:solidFill>
                  <a:schemeClr val="accent1"/>
                </a:solidFill>
              </a:rPr>
              <a:t>Y</a:t>
            </a:r>
            <a:endParaRPr lang="en-US" sz="2400" b="1" dirty="0">
              <a:solidFill>
                <a:schemeClr val="accent1"/>
              </a:solidFill>
            </a:endParaRPr>
          </a:p>
        </p:txBody>
      </p:sp>
      <p:graphicFrame>
        <p:nvGraphicFramePr>
          <p:cNvPr id="18" name="Table 4"/>
          <p:cNvGraphicFramePr>
            <a:graphicFrameLocks noGrp="1"/>
          </p:cNvGraphicFramePr>
          <p:nvPr/>
        </p:nvGraphicFramePr>
        <p:xfrm>
          <a:off x="1677864" y="5221345"/>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5</a:t>
                      </a:r>
                      <a:endParaRPr lang="en-US" dirty="0"/>
                    </a:p>
                  </a:txBody>
                  <a:tcPr anchor="ctr">
                    <a:noFill/>
                  </a:tcPr>
                </a:tc>
                <a:tc>
                  <a:txBody>
                    <a:bodyPr/>
                    <a:lstStyle/>
                    <a:p>
                      <a:pPr algn="ctr"/>
                      <a:r>
                        <a:rPr lang="en-US" dirty="0"/>
                        <a:t>10</a:t>
                      </a:r>
                      <a:endParaRPr lang="en-US" dirty="0"/>
                    </a:p>
                  </a:txBody>
                  <a:tcPr anchor="ctr">
                    <a:noFill/>
                  </a:tcPr>
                </a:tc>
                <a:tc>
                  <a:txBody>
                    <a:bodyPr/>
                    <a:lstStyle/>
                    <a:p>
                      <a:pPr algn="ctr"/>
                      <a:r>
                        <a:rPr lang="en-US" dirty="0"/>
                        <a:t>15</a:t>
                      </a:r>
                      <a:endParaRPr lang="en-US" dirty="0"/>
                    </a:p>
                  </a:txBody>
                  <a:tcPr anchor="ctr">
                    <a:solidFill>
                      <a:schemeClr val="accent2">
                        <a:lumMod val="60000"/>
                        <a:lumOff val="40000"/>
                      </a:schemeClr>
                    </a:solidFill>
                  </a:tcPr>
                </a:tc>
              </a:tr>
              <a:tr h="370840">
                <a:tc>
                  <a:txBody>
                    <a:bodyPr/>
                    <a:lstStyle/>
                    <a:p>
                      <a:pPr algn="ctr"/>
                      <a:r>
                        <a:rPr lang="en-US" dirty="0"/>
                        <a:t>4</a:t>
                      </a:r>
                      <a:endParaRPr lang="en-US" dirty="0"/>
                    </a:p>
                  </a:txBody>
                  <a:tcPr anchor="ctr"/>
                </a:tc>
                <a:tc>
                  <a:txBody>
                    <a:bodyPr/>
                    <a:lstStyle/>
                    <a:p>
                      <a:pPr algn="ctr"/>
                      <a:r>
                        <a:rPr lang="en-US" dirty="0"/>
                        <a:t>9</a:t>
                      </a:r>
                      <a:endParaRPr lang="en-US" dirty="0"/>
                    </a:p>
                  </a:txBody>
                  <a:tcPr anchor="ctr">
                    <a:noFill/>
                  </a:tcPr>
                </a:tc>
                <a:tc>
                  <a:txBody>
                    <a:bodyPr/>
                    <a:lstStyle/>
                    <a:p>
                      <a:pPr algn="ctr"/>
                      <a:r>
                        <a:rPr lang="en-US" dirty="0"/>
                        <a:t>14</a:t>
                      </a:r>
                      <a:endParaRPr lang="en-US" dirty="0"/>
                    </a:p>
                  </a:txBody>
                  <a:tcPr anchor="ctr">
                    <a:noFill/>
                  </a:tcPr>
                </a:tc>
                <a:tc>
                  <a:txBody>
                    <a:bodyPr/>
                    <a:lstStyle/>
                    <a:p>
                      <a:pPr algn="ctr"/>
                      <a:r>
                        <a:rPr lang="en-US" dirty="0"/>
                        <a:t>3</a:t>
                      </a:r>
                      <a:endParaRPr lang="en-US" dirty="0"/>
                    </a:p>
                  </a:txBody>
                  <a:tcPr anchor="ctr">
                    <a:solidFill>
                      <a:schemeClr val="accent2">
                        <a:lumMod val="60000"/>
                        <a:lumOff val="40000"/>
                      </a:schemeClr>
                    </a:solidFill>
                  </a:tcPr>
                </a:tc>
              </a:tr>
              <a:tr h="370840">
                <a:tc>
                  <a:txBody>
                    <a:bodyPr/>
                    <a:lstStyle/>
                    <a:p>
                      <a:pPr algn="ctr"/>
                      <a:r>
                        <a:rPr lang="en-US" dirty="0"/>
                        <a:t>8</a:t>
                      </a:r>
                      <a:endParaRPr lang="en-US" dirty="0"/>
                    </a:p>
                  </a:txBody>
                  <a:tcPr anchor="ctr"/>
                </a:tc>
                <a:tc>
                  <a:txBody>
                    <a:bodyPr/>
                    <a:lstStyle/>
                    <a:p>
                      <a:pPr algn="ctr"/>
                      <a:r>
                        <a:rPr lang="en-US" dirty="0"/>
                        <a:t>13</a:t>
                      </a:r>
                      <a:endParaRPr lang="en-US" dirty="0"/>
                    </a:p>
                  </a:txBody>
                  <a:tcPr anchor="ctr">
                    <a:noFill/>
                  </a:tcPr>
                </a:tc>
                <a:tc>
                  <a:txBody>
                    <a:bodyPr/>
                    <a:lstStyle/>
                    <a:p>
                      <a:pPr algn="ctr"/>
                      <a:r>
                        <a:rPr lang="en-US" dirty="0"/>
                        <a:t>2</a:t>
                      </a:r>
                      <a:endParaRPr lang="en-US" dirty="0"/>
                    </a:p>
                  </a:txBody>
                  <a:tcPr anchor="ctr">
                    <a:noFill/>
                  </a:tcPr>
                </a:tc>
                <a:tc>
                  <a:txBody>
                    <a:bodyPr/>
                    <a:lstStyle/>
                    <a:p>
                      <a:pPr algn="ctr"/>
                      <a:r>
                        <a:rPr lang="en-US" dirty="0"/>
                        <a:t>7</a:t>
                      </a:r>
                      <a:endParaRPr lang="en-US" dirty="0"/>
                    </a:p>
                  </a:txBody>
                  <a:tcPr anchor="ctr">
                    <a:solidFill>
                      <a:schemeClr val="accent2">
                        <a:lumMod val="60000"/>
                        <a:lumOff val="40000"/>
                      </a:schemeClr>
                    </a:solidFill>
                  </a:tcPr>
                </a:tc>
              </a:tr>
              <a:tr h="370840">
                <a:tc>
                  <a:txBody>
                    <a:bodyPr/>
                    <a:lstStyle/>
                    <a:p>
                      <a:pPr algn="ctr"/>
                      <a:r>
                        <a:rPr lang="en-US" dirty="0"/>
                        <a:t>12</a:t>
                      </a:r>
                      <a:endParaRPr lang="en-US" dirty="0"/>
                    </a:p>
                  </a:txBody>
                  <a:tcPr anchor="ctr"/>
                </a:tc>
                <a:tc>
                  <a:txBody>
                    <a:bodyPr/>
                    <a:lstStyle/>
                    <a:p>
                      <a:pPr algn="ctr"/>
                      <a:r>
                        <a:rPr lang="en-US" dirty="0"/>
                        <a:t>1</a:t>
                      </a:r>
                      <a:endParaRPr lang="en-US" dirty="0"/>
                    </a:p>
                  </a:txBody>
                  <a:tcPr anchor="ctr">
                    <a:noFill/>
                  </a:tcPr>
                </a:tc>
                <a:tc>
                  <a:txBody>
                    <a:bodyPr/>
                    <a:lstStyle/>
                    <a:p>
                      <a:pPr algn="ctr"/>
                      <a:r>
                        <a:rPr lang="en-US" dirty="0"/>
                        <a:t>6</a:t>
                      </a:r>
                      <a:endParaRPr lang="en-US" dirty="0"/>
                    </a:p>
                  </a:txBody>
                  <a:tcPr anchor="ctr">
                    <a:noFill/>
                  </a:tcPr>
                </a:tc>
                <a:tc>
                  <a:txBody>
                    <a:bodyPr/>
                    <a:lstStyle/>
                    <a:p>
                      <a:pPr algn="ctr"/>
                      <a:r>
                        <a:rPr lang="en-US" dirty="0"/>
                        <a:t>11</a:t>
                      </a:r>
                      <a:endParaRPr lang="en-US" dirty="0"/>
                    </a:p>
                  </a:txBody>
                  <a:tcPr anchor="ctr">
                    <a:solidFill>
                      <a:schemeClr val="accent2">
                        <a:lumMod val="60000"/>
                        <a:lumOff val="40000"/>
                      </a:schemeClr>
                    </a:solidFill>
                  </a:tcPr>
                </a:tc>
              </a:tr>
            </a:tbl>
          </a:graphicData>
        </a:graphic>
      </p:graphicFrame>
      <p:grpSp>
        <p:nvGrpSpPr>
          <p:cNvPr id="19" name="组合 18"/>
          <p:cNvGrpSpPr/>
          <p:nvPr/>
        </p:nvGrpSpPr>
        <p:grpSpPr>
          <a:xfrm rot="16200000" flipH="1">
            <a:off x="774313" y="2467985"/>
            <a:ext cx="2564726" cy="1045654"/>
            <a:chOff x="862267" y="1811846"/>
            <a:chExt cx="3823161" cy="1045654"/>
          </a:xfrm>
        </p:grpSpPr>
        <p:sp>
          <p:nvSpPr>
            <p:cNvPr id="20" name="Freeform: Shape 10"/>
            <p:cNvSpPr/>
            <p:nvPr/>
          </p:nvSpPr>
          <p:spPr bwMode="auto">
            <a:xfrm>
              <a:off x="862267" y="1811846"/>
              <a:ext cx="3823161" cy="1041400"/>
            </a:xfrm>
            <a:custGeom>
              <a:avLst/>
              <a:gdLst>
                <a:gd name="connsiteX0" fmla="*/ 1003761 w 3823161"/>
                <a:gd name="connsiteY0" fmla="*/ 1016000 h 1041400"/>
                <a:gd name="connsiteX1" fmla="*/ 190961 w 3823161"/>
                <a:gd name="connsiteY1" fmla="*/ 939800 h 1041400"/>
                <a:gd name="connsiteX2" fmla="*/ 127461 w 3823161"/>
                <a:gd name="connsiteY2" fmla="*/ 889000 h 1041400"/>
                <a:gd name="connsiteX3" fmla="*/ 38561 w 3823161"/>
                <a:gd name="connsiteY3" fmla="*/ 762000 h 1041400"/>
                <a:gd name="connsiteX4" fmla="*/ 461 w 3823161"/>
                <a:gd name="connsiteY4" fmla="*/ 635000 h 1041400"/>
                <a:gd name="connsiteX5" fmla="*/ 25861 w 3823161"/>
                <a:gd name="connsiteY5" fmla="*/ 406400 h 1041400"/>
                <a:gd name="connsiteX6" fmla="*/ 140161 w 3823161"/>
                <a:gd name="connsiteY6" fmla="*/ 228600 h 1041400"/>
                <a:gd name="connsiteX7" fmla="*/ 203661 w 3823161"/>
                <a:gd name="connsiteY7" fmla="*/ 177800 h 1041400"/>
                <a:gd name="connsiteX8" fmla="*/ 559261 w 3823161"/>
                <a:gd name="connsiteY8" fmla="*/ 88900 h 1041400"/>
                <a:gd name="connsiteX9" fmla="*/ 1206961 w 3823161"/>
                <a:gd name="connsiteY9" fmla="*/ 0 h 1041400"/>
                <a:gd name="connsiteX10" fmla="*/ 2832561 w 3823161"/>
                <a:gd name="connsiteY10" fmla="*/ 25400 h 1041400"/>
                <a:gd name="connsiteX11" fmla="*/ 3188161 w 3823161"/>
                <a:gd name="connsiteY11" fmla="*/ 88900 h 1041400"/>
                <a:gd name="connsiteX12" fmla="*/ 3378661 w 3823161"/>
                <a:gd name="connsiteY12" fmla="*/ 114300 h 1041400"/>
                <a:gd name="connsiteX13" fmla="*/ 3683461 w 3823161"/>
                <a:gd name="connsiteY13" fmla="*/ 279400 h 1041400"/>
                <a:gd name="connsiteX14" fmla="*/ 3746961 w 3823161"/>
                <a:gd name="connsiteY14" fmla="*/ 342900 h 1041400"/>
                <a:gd name="connsiteX15" fmla="*/ 3785061 w 3823161"/>
                <a:gd name="connsiteY15" fmla="*/ 431800 h 1041400"/>
                <a:gd name="connsiteX16" fmla="*/ 3823161 w 3823161"/>
                <a:gd name="connsiteY16" fmla="*/ 596900 h 1041400"/>
                <a:gd name="connsiteX17" fmla="*/ 3797761 w 3823161"/>
                <a:gd name="connsiteY17" fmla="*/ 812800 h 1041400"/>
                <a:gd name="connsiteX18" fmla="*/ 3632661 w 3823161"/>
                <a:gd name="connsiteY18" fmla="*/ 927100 h 1041400"/>
                <a:gd name="connsiteX19" fmla="*/ 3277061 w 3823161"/>
                <a:gd name="connsiteY19" fmla="*/ 1016000 h 1041400"/>
                <a:gd name="connsiteX20" fmla="*/ 3111961 w 3823161"/>
                <a:gd name="connsiteY20" fmla="*/ 1041400 h 1041400"/>
                <a:gd name="connsiteX21" fmla="*/ 2921461 w 3823161"/>
                <a:gd name="connsiteY21" fmla="*/ 10160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3161" h="1041400">
                  <a:moveTo>
                    <a:pt x="1003761" y="1016000"/>
                  </a:moveTo>
                  <a:cubicBezTo>
                    <a:pt x="647050" y="1008569"/>
                    <a:pt x="475084" y="1061567"/>
                    <a:pt x="190961" y="939800"/>
                  </a:cubicBezTo>
                  <a:cubicBezTo>
                    <a:pt x="166046" y="929122"/>
                    <a:pt x="145102" y="909581"/>
                    <a:pt x="127461" y="889000"/>
                  </a:cubicBezTo>
                  <a:cubicBezTo>
                    <a:pt x="93832" y="849766"/>
                    <a:pt x="68194" y="804333"/>
                    <a:pt x="38561" y="762000"/>
                  </a:cubicBezTo>
                  <a:cubicBezTo>
                    <a:pt x="25861" y="719667"/>
                    <a:pt x="2038" y="679169"/>
                    <a:pt x="461" y="635000"/>
                  </a:cubicBezTo>
                  <a:cubicBezTo>
                    <a:pt x="-2275" y="558380"/>
                    <a:pt x="7266" y="480780"/>
                    <a:pt x="25861" y="406400"/>
                  </a:cubicBezTo>
                  <a:cubicBezTo>
                    <a:pt x="46416" y="324179"/>
                    <a:pt x="83041" y="279374"/>
                    <a:pt x="140161" y="228600"/>
                  </a:cubicBezTo>
                  <a:cubicBezTo>
                    <a:pt x="160421" y="210591"/>
                    <a:pt x="178891" y="188809"/>
                    <a:pt x="203661" y="177800"/>
                  </a:cubicBezTo>
                  <a:cubicBezTo>
                    <a:pt x="295074" y="137172"/>
                    <a:pt x="464783" y="105434"/>
                    <a:pt x="559261" y="88900"/>
                  </a:cubicBezTo>
                  <a:cubicBezTo>
                    <a:pt x="878751" y="32989"/>
                    <a:pt x="881328" y="37573"/>
                    <a:pt x="1206961" y="0"/>
                  </a:cubicBezTo>
                  <a:lnTo>
                    <a:pt x="2832561" y="25400"/>
                  </a:lnTo>
                  <a:cubicBezTo>
                    <a:pt x="3004379" y="29108"/>
                    <a:pt x="2992379" y="52191"/>
                    <a:pt x="3188161" y="88900"/>
                  </a:cubicBezTo>
                  <a:cubicBezTo>
                    <a:pt x="3251126" y="100706"/>
                    <a:pt x="3315161" y="105833"/>
                    <a:pt x="3378661" y="114300"/>
                  </a:cubicBezTo>
                  <a:cubicBezTo>
                    <a:pt x="3579800" y="203695"/>
                    <a:pt x="3566070" y="172681"/>
                    <a:pt x="3683461" y="279400"/>
                  </a:cubicBezTo>
                  <a:cubicBezTo>
                    <a:pt x="3705611" y="299536"/>
                    <a:pt x="3725794" y="321733"/>
                    <a:pt x="3746961" y="342900"/>
                  </a:cubicBezTo>
                  <a:cubicBezTo>
                    <a:pt x="3759661" y="372533"/>
                    <a:pt x="3774217" y="401438"/>
                    <a:pt x="3785061" y="431800"/>
                  </a:cubicBezTo>
                  <a:cubicBezTo>
                    <a:pt x="3810431" y="502837"/>
                    <a:pt x="3811330" y="525913"/>
                    <a:pt x="3823161" y="596900"/>
                  </a:cubicBezTo>
                  <a:cubicBezTo>
                    <a:pt x="3814694" y="668867"/>
                    <a:pt x="3820676" y="744056"/>
                    <a:pt x="3797761" y="812800"/>
                  </a:cubicBezTo>
                  <a:cubicBezTo>
                    <a:pt x="3765454" y="909720"/>
                    <a:pt x="3708591" y="903122"/>
                    <a:pt x="3632661" y="927100"/>
                  </a:cubicBezTo>
                  <a:cubicBezTo>
                    <a:pt x="3409153" y="997682"/>
                    <a:pt x="3540267" y="970620"/>
                    <a:pt x="3277061" y="1016000"/>
                  </a:cubicBezTo>
                  <a:cubicBezTo>
                    <a:pt x="3222190" y="1025461"/>
                    <a:pt x="3167642" y="1041400"/>
                    <a:pt x="3111961" y="1041400"/>
                  </a:cubicBezTo>
                  <a:cubicBezTo>
                    <a:pt x="3047899" y="1041400"/>
                    <a:pt x="2984961" y="1024467"/>
                    <a:pt x="2921461" y="1016000"/>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21" name="Freeform: Shape 11"/>
            <p:cNvSpPr/>
            <p:nvPr/>
          </p:nvSpPr>
          <p:spPr bwMode="auto">
            <a:xfrm>
              <a:off x="2095500" y="2818102"/>
              <a:ext cx="406400" cy="26698"/>
            </a:xfrm>
            <a:custGeom>
              <a:avLst/>
              <a:gdLst>
                <a:gd name="connsiteX0" fmla="*/ 406400 w 406400"/>
                <a:gd name="connsiteY0" fmla="*/ 26698 h 26698"/>
                <a:gd name="connsiteX1" fmla="*/ 165100 w 406400"/>
                <a:gd name="connsiteY1" fmla="*/ 13998 h 26698"/>
                <a:gd name="connsiteX2" fmla="*/ 114300 w 406400"/>
                <a:gd name="connsiteY2" fmla="*/ 1298 h 26698"/>
                <a:gd name="connsiteX3" fmla="*/ 0 w 406400"/>
                <a:gd name="connsiteY3" fmla="*/ 1298 h 26698"/>
              </a:gdLst>
              <a:ahLst/>
              <a:cxnLst>
                <a:cxn ang="0">
                  <a:pos x="connsiteX0" y="connsiteY0"/>
                </a:cxn>
                <a:cxn ang="0">
                  <a:pos x="connsiteX1" y="connsiteY1"/>
                </a:cxn>
                <a:cxn ang="0">
                  <a:pos x="connsiteX2" y="connsiteY2"/>
                </a:cxn>
                <a:cxn ang="0">
                  <a:pos x="connsiteX3" y="connsiteY3"/>
                </a:cxn>
              </a:cxnLst>
              <a:rect l="l" t="t" r="r" b="b"/>
              <a:pathLst>
                <a:path w="406400" h="26698">
                  <a:moveTo>
                    <a:pt x="406400" y="26698"/>
                  </a:moveTo>
                  <a:cubicBezTo>
                    <a:pt x="325967" y="22465"/>
                    <a:pt x="245342" y="20976"/>
                    <a:pt x="165100" y="13998"/>
                  </a:cubicBezTo>
                  <a:cubicBezTo>
                    <a:pt x="147711" y="12486"/>
                    <a:pt x="131703" y="2637"/>
                    <a:pt x="114300" y="1298"/>
                  </a:cubicBezTo>
                  <a:cubicBezTo>
                    <a:pt x="76312" y="-1624"/>
                    <a:pt x="38100" y="1298"/>
                    <a:pt x="0" y="1298"/>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22" name="Freeform: Shape 13"/>
            <p:cNvSpPr/>
            <p:nvPr/>
          </p:nvSpPr>
          <p:spPr bwMode="auto">
            <a:xfrm>
              <a:off x="2730500" y="2857500"/>
              <a:ext cx="330200" cy="0"/>
            </a:xfrm>
            <a:custGeom>
              <a:avLst/>
              <a:gdLst>
                <a:gd name="connsiteX0" fmla="*/ 330200 w 330200"/>
                <a:gd name="connsiteY0" fmla="*/ 0 h 0"/>
                <a:gd name="connsiteX1" fmla="*/ 0 w 330200"/>
                <a:gd name="connsiteY1" fmla="*/ 0 h 0"/>
              </a:gdLst>
              <a:ahLst/>
              <a:cxnLst>
                <a:cxn ang="0">
                  <a:pos x="connsiteX0" y="connsiteY0"/>
                </a:cxn>
                <a:cxn ang="0">
                  <a:pos x="connsiteX1" y="connsiteY1"/>
                </a:cxn>
              </a:cxnLst>
              <a:rect l="l" t="t" r="r" b="b"/>
              <a:pathLst>
                <a:path w="330200">
                  <a:moveTo>
                    <a:pt x="330200" y="0"/>
                  </a:moveTo>
                  <a:lnTo>
                    <a:pt x="0" y="0"/>
                  </a:ln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23" name="Freeform: Shape 14"/>
            <p:cNvSpPr/>
            <p:nvPr/>
          </p:nvSpPr>
          <p:spPr bwMode="auto">
            <a:xfrm>
              <a:off x="3314700" y="2831816"/>
              <a:ext cx="317500" cy="12984"/>
            </a:xfrm>
            <a:custGeom>
              <a:avLst/>
              <a:gdLst>
                <a:gd name="connsiteX0" fmla="*/ 317500 w 317500"/>
                <a:gd name="connsiteY0" fmla="*/ 12984 h 12984"/>
                <a:gd name="connsiteX1" fmla="*/ 0 w 317500"/>
                <a:gd name="connsiteY1" fmla="*/ 284 h 12984"/>
              </a:gdLst>
              <a:ahLst/>
              <a:cxnLst>
                <a:cxn ang="0">
                  <a:pos x="connsiteX0" y="connsiteY0"/>
                </a:cxn>
                <a:cxn ang="0">
                  <a:pos x="connsiteX1" y="connsiteY1"/>
                </a:cxn>
              </a:cxnLst>
              <a:rect l="l" t="t" r="r" b="b"/>
              <a:pathLst>
                <a:path w="317500" h="12984">
                  <a:moveTo>
                    <a:pt x="317500" y="12984"/>
                  </a:moveTo>
                  <a:cubicBezTo>
                    <a:pt x="93252" y="-3034"/>
                    <a:pt x="199118" y="284"/>
                    <a:pt x="0" y="284"/>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grpSp>
        <p:nvGrpSpPr>
          <p:cNvPr id="24" name="组合 23"/>
          <p:cNvGrpSpPr/>
          <p:nvPr/>
        </p:nvGrpSpPr>
        <p:grpSpPr>
          <a:xfrm rot="16200000" flipH="1">
            <a:off x="2155672" y="5411276"/>
            <a:ext cx="2564726" cy="1045654"/>
            <a:chOff x="862267" y="1811846"/>
            <a:chExt cx="3823161" cy="1045654"/>
          </a:xfrm>
        </p:grpSpPr>
        <p:sp>
          <p:nvSpPr>
            <p:cNvPr id="25" name="Freeform: Shape 10"/>
            <p:cNvSpPr/>
            <p:nvPr/>
          </p:nvSpPr>
          <p:spPr bwMode="auto">
            <a:xfrm>
              <a:off x="862267" y="1811846"/>
              <a:ext cx="3823161" cy="1041400"/>
            </a:xfrm>
            <a:custGeom>
              <a:avLst/>
              <a:gdLst>
                <a:gd name="connsiteX0" fmla="*/ 1003761 w 3823161"/>
                <a:gd name="connsiteY0" fmla="*/ 1016000 h 1041400"/>
                <a:gd name="connsiteX1" fmla="*/ 190961 w 3823161"/>
                <a:gd name="connsiteY1" fmla="*/ 939800 h 1041400"/>
                <a:gd name="connsiteX2" fmla="*/ 127461 w 3823161"/>
                <a:gd name="connsiteY2" fmla="*/ 889000 h 1041400"/>
                <a:gd name="connsiteX3" fmla="*/ 38561 w 3823161"/>
                <a:gd name="connsiteY3" fmla="*/ 762000 h 1041400"/>
                <a:gd name="connsiteX4" fmla="*/ 461 w 3823161"/>
                <a:gd name="connsiteY4" fmla="*/ 635000 h 1041400"/>
                <a:gd name="connsiteX5" fmla="*/ 25861 w 3823161"/>
                <a:gd name="connsiteY5" fmla="*/ 406400 h 1041400"/>
                <a:gd name="connsiteX6" fmla="*/ 140161 w 3823161"/>
                <a:gd name="connsiteY6" fmla="*/ 228600 h 1041400"/>
                <a:gd name="connsiteX7" fmla="*/ 203661 w 3823161"/>
                <a:gd name="connsiteY7" fmla="*/ 177800 h 1041400"/>
                <a:gd name="connsiteX8" fmla="*/ 559261 w 3823161"/>
                <a:gd name="connsiteY8" fmla="*/ 88900 h 1041400"/>
                <a:gd name="connsiteX9" fmla="*/ 1206961 w 3823161"/>
                <a:gd name="connsiteY9" fmla="*/ 0 h 1041400"/>
                <a:gd name="connsiteX10" fmla="*/ 2832561 w 3823161"/>
                <a:gd name="connsiteY10" fmla="*/ 25400 h 1041400"/>
                <a:gd name="connsiteX11" fmla="*/ 3188161 w 3823161"/>
                <a:gd name="connsiteY11" fmla="*/ 88900 h 1041400"/>
                <a:gd name="connsiteX12" fmla="*/ 3378661 w 3823161"/>
                <a:gd name="connsiteY12" fmla="*/ 114300 h 1041400"/>
                <a:gd name="connsiteX13" fmla="*/ 3683461 w 3823161"/>
                <a:gd name="connsiteY13" fmla="*/ 279400 h 1041400"/>
                <a:gd name="connsiteX14" fmla="*/ 3746961 w 3823161"/>
                <a:gd name="connsiteY14" fmla="*/ 342900 h 1041400"/>
                <a:gd name="connsiteX15" fmla="*/ 3785061 w 3823161"/>
                <a:gd name="connsiteY15" fmla="*/ 431800 h 1041400"/>
                <a:gd name="connsiteX16" fmla="*/ 3823161 w 3823161"/>
                <a:gd name="connsiteY16" fmla="*/ 596900 h 1041400"/>
                <a:gd name="connsiteX17" fmla="*/ 3797761 w 3823161"/>
                <a:gd name="connsiteY17" fmla="*/ 812800 h 1041400"/>
                <a:gd name="connsiteX18" fmla="*/ 3632661 w 3823161"/>
                <a:gd name="connsiteY18" fmla="*/ 927100 h 1041400"/>
                <a:gd name="connsiteX19" fmla="*/ 3277061 w 3823161"/>
                <a:gd name="connsiteY19" fmla="*/ 1016000 h 1041400"/>
                <a:gd name="connsiteX20" fmla="*/ 3111961 w 3823161"/>
                <a:gd name="connsiteY20" fmla="*/ 1041400 h 1041400"/>
                <a:gd name="connsiteX21" fmla="*/ 2921461 w 3823161"/>
                <a:gd name="connsiteY21" fmla="*/ 10160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3161" h="1041400">
                  <a:moveTo>
                    <a:pt x="1003761" y="1016000"/>
                  </a:moveTo>
                  <a:cubicBezTo>
                    <a:pt x="647050" y="1008569"/>
                    <a:pt x="475084" y="1061567"/>
                    <a:pt x="190961" y="939800"/>
                  </a:cubicBezTo>
                  <a:cubicBezTo>
                    <a:pt x="166046" y="929122"/>
                    <a:pt x="145102" y="909581"/>
                    <a:pt x="127461" y="889000"/>
                  </a:cubicBezTo>
                  <a:cubicBezTo>
                    <a:pt x="93832" y="849766"/>
                    <a:pt x="68194" y="804333"/>
                    <a:pt x="38561" y="762000"/>
                  </a:cubicBezTo>
                  <a:cubicBezTo>
                    <a:pt x="25861" y="719667"/>
                    <a:pt x="2038" y="679169"/>
                    <a:pt x="461" y="635000"/>
                  </a:cubicBezTo>
                  <a:cubicBezTo>
                    <a:pt x="-2275" y="558380"/>
                    <a:pt x="7266" y="480780"/>
                    <a:pt x="25861" y="406400"/>
                  </a:cubicBezTo>
                  <a:cubicBezTo>
                    <a:pt x="46416" y="324179"/>
                    <a:pt x="83041" y="279374"/>
                    <a:pt x="140161" y="228600"/>
                  </a:cubicBezTo>
                  <a:cubicBezTo>
                    <a:pt x="160421" y="210591"/>
                    <a:pt x="178891" y="188809"/>
                    <a:pt x="203661" y="177800"/>
                  </a:cubicBezTo>
                  <a:cubicBezTo>
                    <a:pt x="295074" y="137172"/>
                    <a:pt x="464783" y="105434"/>
                    <a:pt x="559261" y="88900"/>
                  </a:cubicBezTo>
                  <a:cubicBezTo>
                    <a:pt x="878751" y="32989"/>
                    <a:pt x="881328" y="37573"/>
                    <a:pt x="1206961" y="0"/>
                  </a:cubicBezTo>
                  <a:lnTo>
                    <a:pt x="2832561" y="25400"/>
                  </a:lnTo>
                  <a:cubicBezTo>
                    <a:pt x="3004379" y="29108"/>
                    <a:pt x="2992379" y="52191"/>
                    <a:pt x="3188161" y="88900"/>
                  </a:cubicBezTo>
                  <a:cubicBezTo>
                    <a:pt x="3251126" y="100706"/>
                    <a:pt x="3315161" y="105833"/>
                    <a:pt x="3378661" y="114300"/>
                  </a:cubicBezTo>
                  <a:cubicBezTo>
                    <a:pt x="3579800" y="203695"/>
                    <a:pt x="3566070" y="172681"/>
                    <a:pt x="3683461" y="279400"/>
                  </a:cubicBezTo>
                  <a:cubicBezTo>
                    <a:pt x="3705611" y="299536"/>
                    <a:pt x="3725794" y="321733"/>
                    <a:pt x="3746961" y="342900"/>
                  </a:cubicBezTo>
                  <a:cubicBezTo>
                    <a:pt x="3759661" y="372533"/>
                    <a:pt x="3774217" y="401438"/>
                    <a:pt x="3785061" y="431800"/>
                  </a:cubicBezTo>
                  <a:cubicBezTo>
                    <a:pt x="3810431" y="502837"/>
                    <a:pt x="3811330" y="525913"/>
                    <a:pt x="3823161" y="596900"/>
                  </a:cubicBezTo>
                  <a:cubicBezTo>
                    <a:pt x="3814694" y="668867"/>
                    <a:pt x="3820676" y="744056"/>
                    <a:pt x="3797761" y="812800"/>
                  </a:cubicBezTo>
                  <a:cubicBezTo>
                    <a:pt x="3765454" y="909720"/>
                    <a:pt x="3708591" y="903122"/>
                    <a:pt x="3632661" y="927100"/>
                  </a:cubicBezTo>
                  <a:cubicBezTo>
                    <a:pt x="3409153" y="997682"/>
                    <a:pt x="3540267" y="970620"/>
                    <a:pt x="3277061" y="1016000"/>
                  </a:cubicBezTo>
                  <a:cubicBezTo>
                    <a:pt x="3222190" y="1025461"/>
                    <a:pt x="3167642" y="1041400"/>
                    <a:pt x="3111961" y="1041400"/>
                  </a:cubicBezTo>
                  <a:cubicBezTo>
                    <a:pt x="3047899" y="1041400"/>
                    <a:pt x="2984961" y="1024467"/>
                    <a:pt x="2921461" y="1016000"/>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26" name="Freeform: Shape 11"/>
            <p:cNvSpPr/>
            <p:nvPr/>
          </p:nvSpPr>
          <p:spPr bwMode="auto">
            <a:xfrm>
              <a:off x="2095500" y="2818102"/>
              <a:ext cx="406400" cy="26698"/>
            </a:xfrm>
            <a:custGeom>
              <a:avLst/>
              <a:gdLst>
                <a:gd name="connsiteX0" fmla="*/ 406400 w 406400"/>
                <a:gd name="connsiteY0" fmla="*/ 26698 h 26698"/>
                <a:gd name="connsiteX1" fmla="*/ 165100 w 406400"/>
                <a:gd name="connsiteY1" fmla="*/ 13998 h 26698"/>
                <a:gd name="connsiteX2" fmla="*/ 114300 w 406400"/>
                <a:gd name="connsiteY2" fmla="*/ 1298 h 26698"/>
                <a:gd name="connsiteX3" fmla="*/ 0 w 406400"/>
                <a:gd name="connsiteY3" fmla="*/ 1298 h 26698"/>
              </a:gdLst>
              <a:ahLst/>
              <a:cxnLst>
                <a:cxn ang="0">
                  <a:pos x="connsiteX0" y="connsiteY0"/>
                </a:cxn>
                <a:cxn ang="0">
                  <a:pos x="connsiteX1" y="connsiteY1"/>
                </a:cxn>
                <a:cxn ang="0">
                  <a:pos x="connsiteX2" y="connsiteY2"/>
                </a:cxn>
                <a:cxn ang="0">
                  <a:pos x="connsiteX3" y="connsiteY3"/>
                </a:cxn>
              </a:cxnLst>
              <a:rect l="l" t="t" r="r" b="b"/>
              <a:pathLst>
                <a:path w="406400" h="26698">
                  <a:moveTo>
                    <a:pt x="406400" y="26698"/>
                  </a:moveTo>
                  <a:cubicBezTo>
                    <a:pt x="325967" y="22465"/>
                    <a:pt x="245342" y="20976"/>
                    <a:pt x="165100" y="13998"/>
                  </a:cubicBezTo>
                  <a:cubicBezTo>
                    <a:pt x="147711" y="12486"/>
                    <a:pt x="131703" y="2637"/>
                    <a:pt x="114300" y="1298"/>
                  </a:cubicBezTo>
                  <a:cubicBezTo>
                    <a:pt x="76312" y="-1624"/>
                    <a:pt x="38100" y="1298"/>
                    <a:pt x="0" y="1298"/>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27" name="Freeform: Shape 13"/>
            <p:cNvSpPr/>
            <p:nvPr/>
          </p:nvSpPr>
          <p:spPr bwMode="auto">
            <a:xfrm>
              <a:off x="2730500" y="2857500"/>
              <a:ext cx="330200" cy="0"/>
            </a:xfrm>
            <a:custGeom>
              <a:avLst/>
              <a:gdLst>
                <a:gd name="connsiteX0" fmla="*/ 330200 w 330200"/>
                <a:gd name="connsiteY0" fmla="*/ 0 h 0"/>
                <a:gd name="connsiteX1" fmla="*/ 0 w 330200"/>
                <a:gd name="connsiteY1" fmla="*/ 0 h 0"/>
              </a:gdLst>
              <a:ahLst/>
              <a:cxnLst>
                <a:cxn ang="0">
                  <a:pos x="connsiteX0" y="connsiteY0"/>
                </a:cxn>
                <a:cxn ang="0">
                  <a:pos x="connsiteX1" y="connsiteY1"/>
                </a:cxn>
              </a:cxnLst>
              <a:rect l="l" t="t" r="r" b="b"/>
              <a:pathLst>
                <a:path w="330200">
                  <a:moveTo>
                    <a:pt x="330200" y="0"/>
                  </a:moveTo>
                  <a:lnTo>
                    <a:pt x="0" y="0"/>
                  </a:ln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28" name="Freeform: Shape 14"/>
            <p:cNvSpPr/>
            <p:nvPr/>
          </p:nvSpPr>
          <p:spPr bwMode="auto">
            <a:xfrm>
              <a:off x="3314700" y="2831816"/>
              <a:ext cx="317500" cy="12984"/>
            </a:xfrm>
            <a:custGeom>
              <a:avLst/>
              <a:gdLst>
                <a:gd name="connsiteX0" fmla="*/ 317500 w 317500"/>
                <a:gd name="connsiteY0" fmla="*/ 12984 h 12984"/>
                <a:gd name="connsiteX1" fmla="*/ 0 w 317500"/>
                <a:gd name="connsiteY1" fmla="*/ 284 h 12984"/>
              </a:gdLst>
              <a:ahLst/>
              <a:cxnLst>
                <a:cxn ang="0">
                  <a:pos x="connsiteX0" y="connsiteY0"/>
                </a:cxn>
                <a:cxn ang="0">
                  <a:pos x="connsiteX1" y="connsiteY1"/>
                </a:cxn>
              </a:cxnLst>
              <a:rect l="l" t="t" r="r" b="b"/>
              <a:pathLst>
                <a:path w="317500" h="12984">
                  <a:moveTo>
                    <a:pt x="317500" y="12984"/>
                  </a:moveTo>
                  <a:cubicBezTo>
                    <a:pt x="93252" y="-3034"/>
                    <a:pt x="199118" y="284"/>
                    <a:pt x="0" y="284"/>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grpSp>
        <p:nvGrpSpPr>
          <p:cNvPr id="29" name="组合 28"/>
          <p:cNvGrpSpPr/>
          <p:nvPr/>
        </p:nvGrpSpPr>
        <p:grpSpPr>
          <a:xfrm rot="16200000" flipH="1">
            <a:off x="6713434" y="2431820"/>
            <a:ext cx="2564726" cy="1045654"/>
            <a:chOff x="862267" y="1811846"/>
            <a:chExt cx="3823161" cy="1045654"/>
          </a:xfrm>
        </p:grpSpPr>
        <p:sp>
          <p:nvSpPr>
            <p:cNvPr id="30" name="Freeform: Shape 10"/>
            <p:cNvSpPr/>
            <p:nvPr/>
          </p:nvSpPr>
          <p:spPr bwMode="auto">
            <a:xfrm>
              <a:off x="862267" y="1811846"/>
              <a:ext cx="3823161" cy="1041400"/>
            </a:xfrm>
            <a:custGeom>
              <a:avLst/>
              <a:gdLst>
                <a:gd name="connsiteX0" fmla="*/ 1003761 w 3823161"/>
                <a:gd name="connsiteY0" fmla="*/ 1016000 h 1041400"/>
                <a:gd name="connsiteX1" fmla="*/ 190961 w 3823161"/>
                <a:gd name="connsiteY1" fmla="*/ 939800 h 1041400"/>
                <a:gd name="connsiteX2" fmla="*/ 127461 w 3823161"/>
                <a:gd name="connsiteY2" fmla="*/ 889000 h 1041400"/>
                <a:gd name="connsiteX3" fmla="*/ 38561 w 3823161"/>
                <a:gd name="connsiteY3" fmla="*/ 762000 h 1041400"/>
                <a:gd name="connsiteX4" fmla="*/ 461 w 3823161"/>
                <a:gd name="connsiteY4" fmla="*/ 635000 h 1041400"/>
                <a:gd name="connsiteX5" fmla="*/ 25861 w 3823161"/>
                <a:gd name="connsiteY5" fmla="*/ 406400 h 1041400"/>
                <a:gd name="connsiteX6" fmla="*/ 140161 w 3823161"/>
                <a:gd name="connsiteY6" fmla="*/ 228600 h 1041400"/>
                <a:gd name="connsiteX7" fmla="*/ 203661 w 3823161"/>
                <a:gd name="connsiteY7" fmla="*/ 177800 h 1041400"/>
                <a:gd name="connsiteX8" fmla="*/ 559261 w 3823161"/>
                <a:gd name="connsiteY8" fmla="*/ 88900 h 1041400"/>
                <a:gd name="connsiteX9" fmla="*/ 1206961 w 3823161"/>
                <a:gd name="connsiteY9" fmla="*/ 0 h 1041400"/>
                <a:gd name="connsiteX10" fmla="*/ 2832561 w 3823161"/>
                <a:gd name="connsiteY10" fmla="*/ 25400 h 1041400"/>
                <a:gd name="connsiteX11" fmla="*/ 3188161 w 3823161"/>
                <a:gd name="connsiteY11" fmla="*/ 88900 h 1041400"/>
                <a:gd name="connsiteX12" fmla="*/ 3378661 w 3823161"/>
                <a:gd name="connsiteY12" fmla="*/ 114300 h 1041400"/>
                <a:gd name="connsiteX13" fmla="*/ 3683461 w 3823161"/>
                <a:gd name="connsiteY13" fmla="*/ 279400 h 1041400"/>
                <a:gd name="connsiteX14" fmla="*/ 3746961 w 3823161"/>
                <a:gd name="connsiteY14" fmla="*/ 342900 h 1041400"/>
                <a:gd name="connsiteX15" fmla="*/ 3785061 w 3823161"/>
                <a:gd name="connsiteY15" fmla="*/ 431800 h 1041400"/>
                <a:gd name="connsiteX16" fmla="*/ 3823161 w 3823161"/>
                <a:gd name="connsiteY16" fmla="*/ 596900 h 1041400"/>
                <a:gd name="connsiteX17" fmla="*/ 3797761 w 3823161"/>
                <a:gd name="connsiteY17" fmla="*/ 812800 h 1041400"/>
                <a:gd name="connsiteX18" fmla="*/ 3632661 w 3823161"/>
                <a:gd name="connsiteY18" fmla="*/ 927100 h 1041400"/>
                <a:gd name="connsiteX19" fmla="*/ 3277061 w 3823161"/>
                <a:gd name="connsiteY19" fmla="*/ 1016000 h 1041400"/>
                <a:gd name="connsiteX20" fmla="*/ 3111961 w 3823161"/>
                <a:gd name="connsiteY20" fmla="*/ 1041400 h 1041400"/>
                <a:gd name="connsiteX21" fmla="*/ 2921461 w 3823161"/>
                <a:gd name="connsiteY21" fmla="*/ 10160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3161" h="1041400">
                  <a:moveTo>
                    <a:pt x="1003761" y="1016000"/>
                  </a:moveTo>
                  <a:cubicBezTo>
                    <a:pt x="647050" y="1008569"/>
                    <a:pt x="475084" y="1061567"/>
                    <a:pt x="190961" y="939800"/>
                  </a:cubicBezTo>
                  <a:cubicBezTo>
                    <a:pt x="166046" y="929122"/>
                    <a:pt x="145102" y="909581"/>
                    <a:pt x="127461" y="889000"/>
                  </a:cubicBezTo>
                  <a:cubicBezTo>
                    <a:pt x="93832" y="849766"/>
                    <a:pt x="68194" y="804333"/>
                    <a:pt x="38561" y="762000"/>
                  </a:cubicBezTo>
                  <a:cubicBezTo>
                    <a:pt x="25861" y="719667"/>
                    <a:pt x="2038" y="679169"/>
                    <a:pt x="461" y="635000"/>
                  </a:cubicBezTo>
                  <a:cubicBezTo>
                    <a:pt x="-2275" y="558380"/>
                    <a:pt x="7266" y="480780"/>
                    <a:pt x="25861" y="406400"/>
                  </a:cubicBezTo>
                  <a:cubicBezTo>
                    <a:pt x="46416" y="324179"/>
                    <a:pt x="83041" y="279374"/>
                    <a:pt x="140161" y="228600"/>
                  </a:cubicBezTo>
                  <a:cubicBezTo>
                    <a:pt x="160421" y="210591"/>
                    <a:pt x="178891" y="188809"/>
                    <a:pt x="203661" y="177800"/>
                  </a:cubicBezTo>
                  <a:cubicBezTo>
                    <a:pt x="295074" y="137172"/>
                    <a:pt x="464783" y="105434"/>
                    <a:pt x="559261" y="88900"/>
                  </a:cubicBezTo>
                  <a:cubicBezTo>
                    <a:pt x="878751" y="32989"/>
                    <a:pt x="881328" y="37573"/>
                    <a:pt x="1206961" y="0"/>
                  </a:cubicBezTo>
                  <a:lnTo>
                    <a:pt x="2832561" y="25400"/>
                  </a:lnTo>
                  <a:cubicBezTo>
                    <a:pt x="3004379" y="29108"/>
                    <a:pt x="2992379" y="52191"/>
                    <a:pt x="3188161" y="88900"/>
                  </a:cubicBezTo>
                  <a:cubicBezTo>
                    <a:pt x="3251126" y="100706"/>
                    <a:pt x="3315161" y="105833"/>
                    <a:pt x="3378661" y="114300"/>
                  </a:cubicBezTo>
                  <a:cubicBezTo>
                    <a:pt x="3579800" y="203695"/>
                    <a:pt x="3566070" y="172681"/>
                    <a:pt x="3683461" y="279400"/>
                  </a:cubicBezTo>
                  <a:cubicBezTo>
                    <a:pt x="3705611" y="299536"/>
                    <a:pt x="3725794" y="321733"/>
                    <a:pt x="3746961" y="342900"/>
                  </a:cubicBezTo>
                  <a:cubicBezTo>
                    <a:pt x="3759661" y="372533"/>
                    <a:pt x="3774217" y="401438"/>
                    <a:pt x="3785061" y="431800"/>
                  </a:cubicBezTo>
                  <a:cubicBezTo>
                    <a:pt x="3810431" y="502837"/>
                    <a:pt x="3811330" y="525913"/>
                    <a:pt x="3823161" y="596900"/>
                  </a:cubicBezTo>
                  <a:cubicBezTo>
                    <a:pt x="3814694" y="668867"/>
                    <a:pt x="3820676" y="744056"/>
                    <a:pt x="3797761" y="812800"/>
                  </a:cubicBezTo>
                  <a:cubicBezTo>
                    <a:pt x="3765454" y="909720"/>
                    <a:pt x="3708591" y="903122"/>
                    <a:pt x="3632661" y="927100"/>
                  </a:cubicBezTo>
                  <a:cubicBezTo>
                    <a:pt x="3409153" y="997682"/>
                    <a:pt x="3540267" y="970620"/>
                    <a:pt x="3277061" y="1016000"/>
                  </a:cubicBezTo>
                  <a:cubicBezTo>
                    <a:pt x="3222190" y="1025461"/>
                    <a:pt x="3167642" y="1041400"/>
                    <a:pt x="3111961" y="1041400"/>
                  </a:cubicBezTo>
                  <a:cubicBezTo>
                    <a:pt x="3047899" y="1041400"/>
                    <a:pt x="2984961" y="1024467"/>
                    <a:pt x="2921461" y="1016000"/>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31" name="Freeform: Shape 11"/>
            <p:cNvSpPr/>
            <p:nvPr/>
          </p:nvSpPr>
          <p:spPr bwMode="auto">
            <a:xfrm>
              <a:off x="2095500" y="2818102"/>
              <a:ext cx="406400" cy="26698"/>
            </a:xfrm>
            <a:custGeom>
              <a:avLst/>
              <a:gdLst>
                <a:gd name="connsiteX0" fmla="*/ 406400 w 406400"/>
                <a:gd name="connsiteY0" fmla="*/ 26698 h 26698"/>
                <a:gd name="connsiteX1" fmla="*/ 165100 w 406400"/>
                <a:gd name="connsiteY1" fmla="*/ 13998 h 26698"/>
                <a:gd name="connsiteX2" fmla="*/ 114300 w 406400"/>
                <a:gd name="connsiteY2" fmla="*/ 1298 h 26698"/>
                <a:gd name="connsiteX3" fmla="*/ 0 w 406400"/>
                <a:gd name="connsiteY3" fmla="*/ 1298 h 26698"/>
              </a:gdLst>
              <a:ahLst/>
              <a:cxnLst>
                <a:cxn ang="0">
                  <a:pos x="connsiteX0" y="connsiteY0"/>
                </a:cxn>
                <a:cxn ang="0">
                  <a:pos x="connsiteX1" y="connsiteY1"/>
                </a:cxn>
                <a:cxn ang="0">
                  <a:pos x="connsiteX2" y="connsiteY2"/>
                </a:cxn>
                <a:cxn ang="0">
                  <a:pos x="connsiteX3" y="connsiteY3"/>
                </a:cxn>
              </a:cxnLst>
              <a:rect l="l" t="t" r="r" b="b"/>
              <a:pathLst>
                <a:path w="406400" h="26698">
                  <a:moveTo>
                    <a:pt x="406400" y="26698"/>
                  </a:moveTo>
                  <a:cubicBezTo>
                    <a:pt x="325967" y="22465"/>
                    <a:pt x="245342" y="20976"/>
                    <a:pt x="165100" y="13998"/>
                  </a:cubicBezTo>
                  <a:cubicBezTo>
                    <a:pt x="147711" y="12486"/>
                    <a:pt x="131703" y="2637"/>
                    <a:pt x="114300" y="1298"/>
                  </a:cubicBezTo>
                  <a:cubicBezTo>
                    <a:pt x="76312" y="-1624"/>
                    <a:pt x="38100" y="1298"/>
                    <a:pt x="0" y="1298"/>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32" name="Freeform: Shape 13"/>
            <p:cNvSpPr/>
            <p:nvPr/>
          </p:nvSpPr>
          <p:spPr bwMode="auto">
            <a:xfrm>
              <a:off x="2730500" y="2857500"/>
              <a:ext cx="330200" cy="0"/>
            </a:xfrm>
            <a:custGeom>
              <a:avLst/>
              <a:gdLst>
                <a:gd name="connsiteX0" fmla="*/ 330200 w 330200"/>
                <a:gd name="connsiteY0" fmla="*/ 0 h 0"/>
                <a:gd name="connsiteX1" fmla="*/ 0 w 330200"/>
                <a:gd name="connsiteY1" fmla="*/ 0 h 0"/>
              </a:gdLst>
              <a:ahLst/>
              <a:cxnLst>
                <a:cxn ang="0">
                  <a:pos x="connsiteX0" y="connsiteY0"/>
                </a:cxn>
                <a:cxn ang="0">
                  <a:pos x="connsiteX1" y="connsiteY1"/>
                </a:cxn>
              </a:cxnLst>
              <a:rect l="l" t="t" r="r" b="b"/>
              <a:pathLst>
                <a:path w="330200">
                  <a:moveTo>
                    <a:pt x="330200" y="0"/>
                  </a:moveTo>
                  <a:lnTo>
                    <a:pt x="0" y="0"/>
                  </a:ln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38" name="Freeform: Shape 14"/>
            <p:cNvSpPr/>
            <p:nvPr/>
          </p:nvSpPr>
          <p:spPr bwMode="auto">
            <a:xfrm>
              <a:off x="3314700" y="2831816"/>
              <a:ext cx="317500" cy="12984"/>
            </a:xfrm>
            <a:custGeom>
              <a:avLst/>
              <a:gdLst>
                <a:gd name="connsiteX0" fmla="*/ 317500 w 317500"/>
                <a:gd name="connsiteY0" fmla="*/ 12984 h 12984"/>
                <a:gd name="connsiteX1" fmla="*/ 0 w 317500"/>
                <a:gd name="connsiteY1" fmla="*/ 284 h 12984"/>
              </a:gdLst>
              <a:ahLst/>
              <a:cxnLst>
                <a:cxn ang="0">
                  <a:pos x="connsiteX0" y="connsiteY0"/>
                </a:cxn>
                <a:cxn ang="0">
                  <a:pos x="connsiteX1" y="connsiteY1"/>
                </a:cxn>
              </a:cxnLst>
              <a:rect l="l" t="t" r="r" b="b"/>
              <a:pathLst>
                <a:path w="317500" h="12984">
                  <a:moveTo>
                    <a:pt x="317500" y="12984"/>
                  </a:moveTo>
                  <a:cubicBezTo>
                    <a:pt x="93252" y="-3034"/>
                    <a:pt x="199118" y="284"/>
                    <a:pt x="0" y="284"/>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compute</a:t>
            </a:r>
            <a:endParaRPr lang="en-US" dirty="0"/>
          </a:p>
        </p:txBody>
      </p:sp>
      <p:sp>
        <p:nvSpPr>
          <p:cNvPr id="3" name="内容占位符 2"/>
          <p:cNvSpPr>
            <a:spLocks noGrp="1"/>
          </p:cNvSpPr>
          <p:nvPr>
            <p:ph idx="1"/>
          </p:nvPr>
        </p:nvSpPr>
        <p:spPr>
          <a:xfrm>
            <a:off x="495300" y="5740896"/>
            <a:ext cx="12012613" cy="3301504"/>
          </a:xfrm>
        </p:spPr>
        <p:txBody>
          <a:bodyPr/>
          <a:lstStyle/>
          <a:p>
            <a:r>
              <a:rPr lang="en-US" altLang="zh-CN" dirty="0"/>
              <a:t>Multiply the data X and Y owned by this node
They happen to be part of Z=XY, e.g.</a:t>
            </a:r>
            <a:endParaRPr lang="en-US" altLang="zh-CN" dirty="0"/>
          </a:p>
          <a:p>
            <a:pPr lvl="2"/>
            <a:r>
              <a:rPr lang="en-US" altLang="zh-CN" dirty="0"/>
              <a:t>Z0 =</a:t>
            </a:r>
            <a:r>
              <a:rPr lang="en-US" altLang="zh-CN" dirty="0">
                <a:solidFill>
                  <a:srgbClr val="FFC000"/>
                </a:solidFill>
              </a:rPr>
              <a:t> </a:t>
            </a:r>
            <a:r>
              <a:rPr lang="en-US" altLang="zh-CN" u="sng" dirty="0">
                <a:solidFill>
                  <a:srgbClr val="FFC000"/>
                </a:solidFill>
              </a:rPr>
              <a:t>X0 Y0 </a:t>
            </a:r>
            <a:r>
              <a:rPr lang="en-US" altLang="zh-CN" dirty="0"/>
              <a:t>+ X1 Y4 + X2 Y8 + X3 Y12</a:t>
            </a:r>
            <a:endParaRPr lang="en-US" altLang="zh-CN" dirty="0"/>
          </a:p>
          <a:p>
            <a:pPr lvl="2"/>
            <a:r>
              <a:rPr lang="en-US" dirty="0"/>
              <a:t>Z5 = X4 Y1 + X5 Y5 + </a:t>
            </a:r>
            <a:r>
              <a:rPr lang="en-US" u="sng" dirty="0">
                <a:solidFill>
                  <a:schemeClr val="accent1"/>
                </a:solidFill>
              </a:rPr>
              <a:t>X6 Y9</a:t>
            </a:r>
            <a:r>
              <a:rPr lang="en-US" dirty="0"/>
              <a:t> + X7 Y13</a:t>
            </a:r>
            <a:endParaRPr lang="en-US" dirty="0"/>
          </a:p>
          <a:p>
            <a:pPr lvl="2"/>
            <a:r>
              <a:rPr lang="en-US" dirty="0"/>
              <a:t>Z14 = X12 Y2 + </a:t>
            </a:r>
            <a:r>
              <a:rPr lang="en-US" u="sng" dirty="0">
                <a:solidFill>
                  <a:srgbClr val="00B050"/>
                </a:solidFill>
              </a:rPr>
              <a:t>X13 Y6 </a:t>
            </a:r>
            <a:r>
              <a:rPr lang="en-US" dirty="0"/>
              <a:t>+ X14 Y10 + X15 Y14</a:t>
            </a:r>
            <a:endParaRPr lang="en-US" dirty="0"/>
          </a:p>
        </p:txBody>
      </p:sp>
      <p:sp>
        <p:nvSpPr>
          <p:cNvPr id="5" name="TextBox 4"/>
          <p:cNvSpPr txBox="1"/>
          <p:nvPr/>
        </p:nvSpPr>
        <p:spPr>
          <a:xfrm>
            <a:off x="3838104" y="3292624"/>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sp>
        <p:nvSpPr>
          <p:cNvPr id="6" name="TextBox 5"/>
          <p:cNvSpPr txBox="1"/>
          <p:nvPr/>
        </p:nvSpPr>
        <p:spPr>
          <a:xfrm>
            <a:off x="7510512" y="3220616"/>
            <a:ext cx="344966" cy="461665"/>
          </a:xfrm>
          <a:prstGeom prst="rect">
            <a:avLst/>
          </a:prstGeom>
          <a:noFill/>
        </p:spPr>
        <p:txBody>
          <a:bodyPr wrap="none" rtlCol="0">
            <a:spAutoFit/>
          </a:bodyPr>
          <a:lstStyle/>
          <a:p>
            <a:r>
              <a:rPr lang="en-US" sz="2400" b="1" dirty="0">
                <a:solidFill>
                  <a:schemeClr val="accent1"/>
                </a:solidFill>
              </a:rPr>
              <a:t>Y</a:t>
            </a:r>
            <a:endParaRPr lang="en-US" sz="2400" b="1" dirty="0">
              <a:solidFill>
                <a:schemeClr val="accent1"/>
              </a:solidFill>
            </a:endParaRPr>
          </a:p>
        </p:txBody>
      </p:sp>
      <p:sp>
        <p:nvSpPr>
          <p:cNvPr id="11" name="TextBox 10"/>
          <p:cNvSpPr txBox="1"/>
          <p:nvPr/>
        </p:nvSpPr>
        <p:spPr>
          <a:xfrm>
            <a:off x="5566296" y="5305475"/>
            <a:ext cx="372218" cy="461665"/>
          </a:xfrm>
          <a:prstGeom prst="rect">
            <a:avLst/>
          </a:prstGeom>
          <a:noFill/>
        </p:spPr>
        <p:txBody>
          <a:bodyPr wrap="none" rtlCol="0">
            <a:spAutoFit/>
          </a:bodyPr>
          <a:lstStyle/>
          <a:p>
            <a:r>
              <a:rPr lang="en-US" sz="2400" b="1" dirty="0">
                <a:solidFill>
                  <a:schemeClr val="accent1"/>
                </a:solidFill>
              </a:rPr>
              <a:t>Z</a:t>
            </a:r>
            <a:endParaRPr lang="en-US" sz="2400" b="1" dirty="0">
              <a:solidFill>
                <a:schemeClr val="accent1"/>
              </a:solidFill>
            </a:endParaRPr>
          </a:p>
        </p:txBody>
      </p:sp>
      <p:graphicFrame>
        <p:nvGraphicFramePr>
          <p:cNvPr id="12" name="Table 4"/>
          <p:cNvGraphicFramePr>
            <a:graphicFrameLocks noGrp="1"/>
          </p:cNvGraphicFramePr>
          <p:nvPr/>
        </p:nvGraphicFramePr>
        <p:xfrm>
          <a:off x="6422855" y="163644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solidFill>
                      <a:srgbClr val="FFFF00"/>
                    </a:solidFill>
                  </a:tcPr>
                </a:tc>
                <a:tc>
                  <a:txBody>
                    <a:bodyPr/>
                    <a:lstStyle/>
                    <a:p>
                      <a:pPr algn="ctr"/>
                      <a:r>
                        <a:rPr lang="en-US" dirty="0"/>
                        <a:t>5</a:t>
                      </a:r>
                      <a:endParaRPr lang="en-US" dirty="0"/>
                    </a:p>
                  </a:txBody>
                  <a:tcPr anchor="ctr">
                    <a:noFill/>
                  </a:tcPr>
                </a:tc>
                <a:tc>
                  <a:txBody>
                    <a:bodyPr/>
                    <a:lstStyle/>
                    <a:p>
                      <a:pPr algn="ctr"/>
                      <a:r>
                        <a:rPr lang="en-US" dirty="0"/>
                        <a:t>10</a:t>
                      </a:r>
                      <a:endParaRPr lang="en-US" dirty="0"/>
                    </a:p>
                  </a:txBody>
                  <a:tcPr anchor="ctr">
                    <a:noFill/>
                  </a:tcPr>
                </a:tc>
                <a:tc>
                  <a:txBody>
                    <a:bodyPr/>
                    <a:lstStyle/>
                    <a:p>
                      <a:pPr algn="ctr"/>
                      <a:r>
                        <a:rPr lang="en-US" dirty="0"/>
                        <a:t>15</a:t>
                      </a:r>
                      <a:endParaRPr lang="en-US" dirty="0"/>
                    </a:p>
                  </a:txBody>
                  <a:tcPr anchor="ctr">
                    <a:noFill/>
                  </a:tcPr>
                </a:tc>
              </a:tr>
              <a:tr h="370840">
                <a:tc>
                  <a:txBody>
                    <a:bodyPr/>
                    <a:lstStyle/>
                    <a:p>
                      <a:pPr algn="ctr"/>
                      <a:r>
                        <a:rPr lang="en-US" dirty="0"/>
                        <a:t>4</a:t>
                      </a:r>
                      <a:endParaRPr lang="en-US" dirty="0"/>
                    </a:p>
                  </a:txBody>
                  <a:tcPr anchor="ctr"/>
                </a:tc>
                <a:tc>
                  <a:txBody>
                    <a:bodyPr/>
                    <a:lstStyle/>
                    <a:p>
                      <a:pPr algn="ctr"/>
                      <a:r>
                        <a:rPr lang="en-US" dirty="0"/>
                        <a:t>9</a:t>
                      </a:r>
                      <a:endParaRPr lang="en-US" dirty="0"/>
                    </a:p>
                  </a:txBody>
                  <a:tcPr anchor="ctr">
                    <a:solidFill>
                      <a:schemeClr val="accent1">
                        <a:lumMod val="40000"/>
                        <a:lumOff val="60000"/>
                      </a:schemeClr>
                    </a:solidFill>
                  </a:tcPr>
                </a:tc>
                <a:tc>
                  <a:txBody>
                    <a:bodyPr/>
                    <a:lstStyle/>
                    <a:p>
                      <a:pPr algn="ctr"/>
                      <a:r>
                        <a:rPr lang="en-US" dirty="0"/>
                        <a:t>14</a:t>
                      </a:r>
                      <a:endParaRPr lang="en-US" dirty="0"/>
                    </a:p>
                  </a:txBody>
                  <a:tcPr anchor="ctr">
                    <a:noFill/>
                  </a:tcPr>
                </a:tc>
                <a:tc>
                  <a:txBody>
                    <a:bodyPr/>
                    <a:lstStyle/>
                    <a:p>
                      <a:pPr algn="ctr"/>
                      <a:r>
                        <a:rPr lang="en-US" dirty="0"/>
                        <a:t>3</a:t>
                      </a:r>
                      <a:endParaRPr lang="en-US" dirty="0"/>
                    </a:p>
                  </a:txBody>
                  <a:tcPr anchor="ctr">
                    <a:noFill/>
                  </a:tcPr>
                </a:tc>
              </a:tr>
              <a:tr h="370840">
                <a:tc>
                  <a:txBody>
                    <a:bodyPr/>
                    <a:lstStyle/>
                    <a:p>
                      <a:pPr algn="ctr"/>
                      <a:r>
                        <a:rPr lang="en-US" dirty="0"/>
                        <a:t>8</a:t>
                      </a:r>
                      <a:endParaRPr lang="en-US" dirty="0"/>
                    </a:p>
                  </a:txBody>
                  <a:tcPr anchor="ctr"/>
                </a:tc>
                <a:tc>
                  <a:txBody>
                    <a:bodyPr/>
                    <a:lstStyle/>
                    <a:p>
                      <a:pPr algn="ctr"/>
                      <a:r>
                        <a:rPr lang="en-US" dirty="0"/>
                        <a:t>13</a:t>
                      </a:r>
                      <a:endParaRPr lang="en-US" dirty="0"/>
                    </a:p>
                  </a:txBody>
                  <a:tcPr anchor="ctr">
                    <a:noFill/>
                  </a:tcPr>
                </a:tc>
                <a:tc>
                  <a:txBody>
                    <a:bodyPr/>
                    <a:lstStyle/>
                    <a:p>
                      <a:pPr algn="ctr"/>
                      <a:r>
                        <a:rPr lang="en-US" dirty="0"/>
                        <a:t>2</a:t>
                      </a:r>
                      <a:endParaRPr lang="en-US" dirty="0"/>
                    </a:p>
                  </a:txBody>
                  <a:tcPr anchor="ctr">
                    <a:noFill/>
                  </a:tcPr>
                </a:tc>
                <a:tc>
                  <a:txBody>
                    <a:bodyPr/>
                    <a:lstStyle/>
                    <a:p>
                      <a:pPr algn="ctr"/>
                      <a:r>
                        <a:rPr lang="en-US" dirty="0"/>
                        <a:t>7</a:t>
                      </a:r>
                      <a:endParaRPr lang="en-US" dirty="0"/>
                    </a:p>
                  </a:txBody>
                  <a:tcPr anchor="ctr">
                    <a:noFill/>
                  </a:tcPr>
                </a:tc>
              </a:tr>
              <a:tr h="370840">
                <a:tc>
                  <a:txBody>
                    <a:bodyPr/>
                    <a:lstStyle/>
                    <a:p>
                      <a:pPr algn="ctr"/>
                      <a:r>
                        <a:rPr lang="en-US" dirty="0"/>
                        <a:t>12</a:t>
                      </a:r>
                      <a:endParaRPr lang="en-US" dirty="0"/>
                    </a:p>
                  </a:txBody>
                  <a:tcPr anchor="ctr"/>
                </a:tc>
                <a:tc>
                  <a:txBody>
                    <a:bodyPr/>
                    <a:lstStyle/>
                    <a:p>
                      <a:pPr algn="ctr"/>
                      <a:r>
                        <a:rPr lang="en-US" dirty="0"/>
                        <a:t>1</a:t>
                      </a:r>
                      <a:endParaRPr lang="en-US" dirty="0"/>
                    </a:p>
                  </a:txBody>
                  <a:tcPr anchor="ctr">
                    <a:noFill/>
                  </a:tcPr>
                </a:tc>
                <a:tc>
                  <a:txBody>
                    <a:bodyPr/>
                    <a:lstStyle/>
                    <a:p>
                      <a:pPr algn="ctr"/>
                      <a:r>
                        <a:rPr lang="en-US" dirty="0"/>
                        <a:t>6</a:t>
                      </a:r>
                      <a:endParaRPr lang="en-US" dirty="0"/>
                    </a:p>
                  </a:txBody>
                  <a:tcPr anchor="ctr">
                    <a:solidFill>
                      <a:srgbClr val="92D050"/>
                    </a:solidFill>
                  </a:tcPr>
                </a:tc>
                <a:tc>
                  <a:txBody>
                    <a:bodyPr/>
                    <a:lstStyle/>
                    <a:p>
                      <a:pPr algn="ctr"/>
                      <a:r>
                        <a:rPr lang="en-US" dirty="0"/>
                        <a:t>11</a:t>
                      </a:r>
                      <a:endParaRPr lang="en-US" dirty="0"/>
                    </a:p>
                  </a:txBody>
                  <a:tcPr anchor="ctr">
                    <a:noFill/>
                  </a:tcPr>
                </a:tc>
              </a:tr>
            </a:tbl>
          </a:graphicData>
        </a:graphic>
      </p:graphicFrame>
      <p:graphicFrame>
        <p:nvGraphicFramePr>
          <p:cNvPr id="14" name="Table 26"/>
          <p:cNvGraphicFramePr>
            <a:graphicFrameLocks noGrp="1"/>
          </p:cNvGraphicFramePr>
          <p:nvPr/>
        </p:nvGraphicFramePr>
        <p:xfrm>
          <a:off x="2755256" y="163644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solidFill>
                      <a:srgbClr val="FFFF00"/>
                    </a:solidFill>
                  </a:tcP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c>
                  <a:txBody>
                    <a:bodyPr/>
                    <a:lstStyle/>
                    <a:p>
                      <a:pPr algn="ctr"/>
                      <a:r>
                        <a:rPr lang="en-US" dirty="0"/>
                        <a:t>3</a:t>
                      </a:r>
                      <a:endParaRPr lang="en-US" dirty="0"/>
                    </a:p>
                  </a:txBody>
                  <a:tcPr anchor="ctr"/>
                </a:tc>
              </a:tr>
              <a:tr h="370840">
                <a:tc>
                  <a:txBody>
                    <a:bodyPr/>
                    <a:lstStyle/>
                    <a:p>
                      <a:pPr algn="ctr"/>
                      <a:r>
                        <a:rPr lang="en-US" dirty="0"/>
                        <a:t>5</a:t>
                      </a:r>
                      <a:endParaRPr lang="en-US" dirty="0"/>
                    </a:p>
                  </a:txBody>
                  <a:tcPr anchor="ctr">
                    <a:noFill/>
                  </a:tcPr>
                </a:tc>
                <a:tc>
                  <a:txBody>
                    <a:bodyPr/>
                    <a:lstStyle/>
                    <a:p>
                      <a:pPr algn="ctr"/>
                      <a:r>
                        <a:rPr lang="en-US" dirty="0"/>
                        <a:t>6</a:t>
                      </a:r>
                      <a:endParaRPr lang="en-US" dirty="0"/>
                    </a:p>
                  </a:txBody>
                  <a:tcPr anchor="ctr">
                    <a:solidFill>
                      <a:schemeClr val="accent1">
                        <a:lumMod val="40000"/>
                        <a:lumOff val="60000"/>
                      </a:schemeClr>
                    </a:solidFill>
                  </a:tcPr>
                </a:tc>
                <a:tc>
                  <a:txBody>
                    <a:bodyPr/>
                    <a:lstStyle/>
                    <a:p>
                      <a:pPr algn="ctr"/>
                      <a:r>
                        <a:rPr lang="en-US" dirty="0"/>
                        <a:t>7</a:t>
                      </a:r>
                      <a:endParaRPr lang="en-US" dirty="0"/>
                    </a:p>
                  </a:txBody>
                  <a:tcPr anchor="ctr">
                    <a:noFill/>
                  </a:tcPr>
                </a:tc>
                <a:tc>
                  <a:txBody>
                    <a:bodyPr/>
                    <a:lstStyle/>
                    <a:p>
                      <a:pPr algn="ctr"/>
                      <a:r>
                        <a:rPr lang="en-US" dirty="0"/>
                        <a:t>4</a:t>
                      </a:r>
                      <a:endParaRPr lang="en-US" dirty="0"/>
                    </a:p>
                  </a:txBody>
                  <a:tcPr anchor="ctr">
                    <a:noFill/>
                  </a:tcPr>
                </a:tc>
              </a:tr>
              <a:tr h="370840">
                <a:tc>
                  <a:txBody>
                    <a:bodyPr/>
                    <a:lstStyle/>
                    <a:p>
                      <a:pPr algn="ctr"/>
                      <a:r>
                        <a:rPr lang="en-US" dirty="0"/>
                        <a:t>10</a:t>
                      </a:r>
                      <a:endParaRPr lang="en-US" dirty="0"/>
                    </a:p>
                  </a:txBody>
                  <a:tcPr anchor="ctr">
                    <a:noFill/>
                  </a:tcPr>
                </a:tc>
                <a:tc>
                  <a:txBody>
                    <a:bodyPr/>
                    <a:lstStyle/>
                    <a:p>
                      <a:pPr algn="ctr"/>
                      <a:r>
                        <a:rPr lang="en-US" dirty="0"/>
                        <a:t>11</a:t>
                      </a:r>
                      <a:endParaRPr lang="en-US" dirty="0"/>
                    </a:p>
                  </a:txBody>
                  <a:tcPr anchor="ctr">
                    <a:noFill/>
                  </a:tcPr>
                </a:tc>
                <a:tc>
                  <a:txBody>
                    <a:bodyPr/>
                    <a:lstStyle/>
                    <a:p>
                      <a:pPr algn="ctr"/>
                      <a:r>
                        <a:rPr lang="en-US" dirty="0"/>
                        <a:t>8</a:t>
                      </a:r>
                      <a:endParaRPr lang="en-US" dirty="0"/>
                    </a:p>
                  </a:txBody>
                  <a:tcPr anchor="ctr">
                    <a:noFill/>
                  </a:tcPr>
                </a:tc>
                <a:tc>
                  <a:txBody>
                    <a:bodyPr/>
                    <a:lstStyle/>
                    <a:p>
                      <a:pPr algn="ctr"/>
                      <a:r>
                        <a:rPr lang="en-US" dirty="0"/>
                        <a:t>9</a:t>
                      </a:r>
                      <a:endParaRPr lang="en-US" dirty="0"/>
                    </a:p>
                  </a:txBody>
                  <a:tcPr anchor="ctr">
                    <a:noFill/>
                  </a:tcPr>
                </a:tc>
              </a:tr>
              <a:tr h="370840">
                <a:tc>
                  <a:txBody>
                    <a:bodyPr/>
                    <a:lstStyle/>
                    <a:p>
                      <a:pPr algn="ctr"/>
                      <a:r>
                        <a:rPr lang="en-US" dirty="0"/>
                        <a:t>15</a:t>
                      </a:r>
                      <a:endParaRPr lang="en-US" dirty="0"/>
                    </a:p>
                  </a:txBody>
                  <a:tcPr anchor="ctr">
                    <a:noFill/>
                  </a:tcPr>
                </a:tc>
                <a:tc>
                  <a:txBody>
                    <a:bodyPr/>
                    <a:lstStyle/>
                    <a:p>
                      <a:pPr algn="ctr"/>
                      <a:r>
                        <a:rPr lang="en-US" dirty="0"/>
                        <a:t>12</a:t>
                      </a:r>
                      <a:endParaRPr lang="en-US" dirty="0"/>
                    </a:p>
                  </a:txBody>
                  <a:tcPr anchor="ctr">
                    <a:noFill/>
                  </a:tcPr>
                </a:tc>
                <a:tc>
                  <a:txBody>
                    <a:bodyPr/>
                    <a:lstStyle/>
                    <a:p>
                      <a:pPr algn="ctr"/>
                      <a:r>
                        <a:rPr lang="en-US" dirty="0"/>
                        <a:t>13</a:t>
                      </a:r>
                      <a:endParaRPr lang="en-US" dirty="0"/>
                    </a:p>
                  </a:txBody>
                  <a:tcPr anchor="ctr">
                    <a:solidFill>
                      <a:srgbClr val="92D050"/>
                    </a:solidFill>
                  </a:tcPr>
                </a:tc>
                <a:tc>
                  <a:txBody>
                    <a:bodyPr/>
                    <a:lstStyle/>
                    <a:p>
                      <a:pPr algn="ctr"/>
                      <a:r>
                        <a:rPr lang="en-US" dirty="0"/>
                        <a:t>14</a:t>
                      </a:r>
                      <a:endParaRPr lang="en-US" dirty="0"/>
                    </a:p>
                  </a:txBody>
                  <a:tcPr anchor="ctr">
                    <a:noFill/>
                  </a:tcPr>
                </a:tc>
              </a:tr>
            </a:tbl>
          </a:graphicData>
        </a:graphic>
      </p:graphicFrame>
      <p:graphicFrame>
        <p:nvGraphicFramePr>
          <p:cNvPr id="15" name="Table 4"/>
          <p:cNvGraphicFramePr>
            <a:graphicFrameLocks noGrp="1"/>
          </p:cNvGraphicFramePr>
          <p:nvPr/>
        </p:nvGraphicFramePr>
        <p:xfrm>
          <a:off x="4492265" y="379668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solidFill>
                      <a:srgbClr val="FFFF00"/>
                    </a:solidFill>
                  </a:tcP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c>
                  <a:txBody>
                    <a:bodyPr/>
                    <a:lstStyle/>
                    <a:p>
                      <a:pPr algn="ctr"/>
                      <a:r>
                        <a:rPr lang="en-US" dirty="0"/>
                        <a:t>3</a:t>
                      </a:r>
                      <a:endParaRPr lang="en-US" dirty="0"/>
                    </a:p>
                  </a:txBody>
                  <a:tcPr anchor="ctr"/>
                </a:tc>
              </a:tr>
              <a:tr h="370840">
                <a:tc>
                  <a:txBody>
                    <a:bodyPr/>
                    <a:lstStyle/>
                    <a:p>
                      <a:pPr algn="ctr"/>
                      <a:r>
                        <a:rPr lang="en-US" dirty="0"/>
                        <a:t>4</a:t>
                      </a:r>
                      <a:endParaRPr lang="en-US" dirty="0"/>
                    </a:p>
                  </a:txBody>
                  <a:tcPr anchor="ctr"/>
                </a:tc>
                <a:tc>
                  <a:txBody>
                    <a:bodyPr/>
                    <a:lstStyle/>
                    <a:p>
                      <a:pPr algn="ctr"/>
                      <a:r>
                        <a:rPr lang="en-US" dirty="0"/>
                        <a:t>5</a:t>
                      </a:r>
                      <a:endParaRPr lang="en-US" dirty="0"/>
                    </a:p>
                  </a:txBody>
                  <a:tcPr anchor="ctr">
                    <a:solidFill>
                      <a:schemeClr val="accent1">
                        <a:lumMod val="40000"/>
                        <a:lumOff val="60000"/>
                      </a:schemeClr>
                    </a:solidFill>
                  </a:tcPr>
                </a:tc>
                <a:tc>
                  <a:txBody>
                    <a:bodyPr/>
                    <a:lstStyle/>
                    <a:p>
                      <a:pPr algn="ctr"/>
                      <a:r>
                        <a:rPr lang="en-US" dirty="0"/>
                        <a:t>6</a:t>
                      </a:r>
                      <a:endParaRPr lang="en-US" dirty="0"/>
                    </a:p>
                  </a:txBody>
                  <a:tcPr anchor="ctr"/>
                </a:tc>
                <a:tc>
                  <a:txBody>
                    <a:bodyPr/>
                    <a:lstStyle/>
                    <a:p>
                      <a:pPr algn="ctr"/>
                      <a:r>
                        <a:rPr lang="en-US" dirty="0"/>
                        <a:t>7</a:t>
                      </a:r>
                      <a:endParaRPr lang="en-US" dirty="0"/>
                    </a:p>
                  </a:txBody>
                  <a:tcPr anchor="ctr"/>
                </a:tc>
              </a:tr>
              <a:tr h="370840">
                <a:tc>
                  <a:txBody>
                    <a:bodyPr/>
                    <a:lstStyle/>
                    <a:p>
                      <a:pPr algn="ctr"/>
                      <a:r>
                        <a:rPr lang="en-US" dirty="0"/>
                        <a:t>8</a:t>
                      </a:r>
                      <a:endParaRPr lang="en-US" dirty="0"/>
                    </a:p>
                  </a:txBody>
                  <a:tcPr anchor="ctr"/>
                </a:tc>
                <a:tc>
                  <a:txBody>
                    <a:bodyPr/>
                    <a:lstStyle/>
                    <a:p>
                      <a:pPr algn="ctr"/>
                      <a:r>
                        <a:rPr lang="en-US" dirty="0"/>
                        <a:t>9</a:t>
                      </a:r>
                      <a:endParaRPr lang="en-US" dirty="0"/>
                    </a:p>
                  </a:txBody>
                  <a:tcPr anchor="ctr"/>
                </a:tc>
                <a:tc>
                  <a:txBody>
                    <a:bodyPr/>
                    <a:lstStyle/>
                    <a:p>
                      <a:pPr algn="ctr"/>
                      <a:r>
                        <a:rPr lang="en-US" dirty="0"/>
                        <a:t>10</a:t>
                      </a:r>
                      <a:endParaRPr lang="en-US" dirty="0"/>
                    </a:p>
                  </a:txBody>
                  <a:tcPr anchor="ctr"/>
                </a:tc>
                <a:tc>
                  <a:txBody>
                    <a:bodyPr/>
                    <a:lstStyle/>
                    <a:p>
                      <a:pPr algn="ctr"/>
                      <a:r>
                        <a:rPr lang="en-US" dirty="0"/>
                        <a:t>11</a:t>
                      </a:r>
                      <a:endParaRPr lang="en-US" dirty="0"/>
                    </a:p>
                  </a:txBody>
                  <a:tcPr anchor="ctr"/>
                </a:tc>
              </a:tr>
              <a:tr h="370840">
                <a:tc>
                  <a:txBody>
                    <a:bodyPr/>
                    <a:lstStyle/>
                    <a:p>
                      <a:pPr algn="ctr"/>
                      <a:r>
                        <a:rPr lang="en-US" dirty="0"/>
                        <a:t>12</a:t>
                      </a:r>
                      <a:endParaRPr lang="en-US" dirty="0"/>
                    </a:p>
                  </a:txBody>
                  <a:tcPr anchor="ctr"/>
                </a:tc>
                <a:tc>
                  <a:txBody>
                    <a:bodyPr/>
                    <a:lstStyle/>
                    <a:p>
                      <a:pPr algn="ctr"/>
                      <a:r>
                        <a:rPr lang="en-US" dirty="0"/>
                        <a:t>13</a:t>
                      </a:r>
                      <a:endParaRPr lang="en-US" dirty="0"/>
                    </a:p>
                  </a:txBody>
                  <a:tcPr anchor="ctr"/>
                </a:tc>
                <a:tc>
                  <a:txBody>
                    <a:bodyPr/>
                    <a:lstStyle/>
                    <a:p>
                      <a:pPr algn="ctr"/>
                      <a:r>
                        <a:rPr lang="en-US" dirty="0"/>
                        <a:t>14</a:t>
                      </a:r>
                      <a:endParaRPr lang="en-US" dirty="0"/>
                    </a:p>
                  </a:txBody>
                  <a:tcPr anchor="ctr">
                    <a:solidFill>
                      <a:srgbClr val="92D050"/>
                    </a:solidFill>
                  </a:tcPr>
                </a:tc>
                <a:tc>
                  <a:txBody>
                    <a:bodyPr/>
                    <a:lstStyle/>
                    <a:p>
                      <a:pPr algn="ctr"/>
                      <a:r>
                        <a:rPr lang="en-US" dirty="0"/>
                        <a:t>15</a:t>
                      </a:r>
                      <a:endParaRPr lang="en-US" dirty="0"/>
                    </a:p>
                  </a:txBody>
                  <a:tcPr anchor="ct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Rotate as a whole</a:t>
            </a:r>
            <a:endParaRPr lang="en-US" dirty="0"/>
          </a:p>
        </p:txBody>
      </p:sp>
      <p:sp>
        <p:nvSpPr>
          <p:cNvPr id="3" name="内容占位符 2"/>
          <p:cNvSpPr>
            <a:spLocks noGrp="1"/>
          </p:cNvSpPr>
          <p:nvPr>
            <p:ph idx="1"/>
          </p:nvPr>
        </p:nvSpPr>
        <p:spPr>
          <a:xfrm>
            <a:off x="495300" y="7541096"/>
            <a:ext cx="12012613" cy="1501304"/>
          </a:xfrm>
        </p:spPr>
        <p:txBody>
          <a:bodyPr/>
          <a:lstStyle/>
          <a:p>
            <a:r>
              <a:rPr lang="en-US" altLang="zh-CN" dirty="0"/>
              <a:t>Rotate to the left for X as a whole and upward for Y as a whole
</a:t>
            </a:r>
            <a:endParaRPr lang="en-US" altLang="zh-CN" dirty="0"/>
          </a:p>
        </p:txBody>
      </p:sp>
      <p:graphicFrame>
        <p:nvGraphicFramePr>
          <p:cNvPr id="4" name="Table 4"/>
          <p:cNvGraphicFramePr>
            <a:graphicFrameLocks noGrp="1"/>
          </p:cNvGraphicFramePr>
          <p:nvPr/>
        </p:nvGraphicFramePr>
        <p:xfrm>
          <a:off x="7469501" y="3417429"/>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4</a:t>
                      </a:r>
                      <a:endParaRPr lang="en-US" dirty="0"/>
                    </a:p>
                  </a:txBody>
                  <a:tcPr anchor="ctr">
                    <a:solidFill>
                      <a:schemeClr val="accent2">
                        <a:lumMod val="60000"/>
                        <a:lumOff val="40000"/>
                      </a:schemeClr>
                    </a:solidFill>
                  </a:tcPr>
                </a:tc>
                <a:tc>
                  <a:txBody>
                    <a:bodyPr/>
                    <a:lstStyle/>
                    <a:p>
                      <a:pPr algn="ctr"/>
                      <a:r>
                        <a:rPr lang="en-US" dirty="0"/>
                        <a:t>9</a:t>
                      </a:r>
                      <a:endParaRPr lang="en-US" dirty="0"/>
                    </a:p>
                  </a:txBody>
                  <a:tcPr anchor="ctr">
                    <a:solidFill>
                      <a:schemeClr val="accent2">
                        <a:lumMod val="60000"/>
                        <a:lumOff val="40000"/>
                      </a:schemeClr>
                    </a:solidFill>
                  </a:tcPr>
                </a:tc>
                <a:tc>
                  <a:txBody>
                    <a:bodyPr/>
                    <a:lstStyle/>
                    <a:p>
                      <a:pPr algn="ctr"/>
                      <a:r>
                        <a:rPr lang="en-US" dirty="0"/>
                        <a:t>14</a:t>
                      </a:r>
                      <a:endParaRPr lang="en-US" dirty="0"/>
                    </a:p>
                  </a:txBody>
                  <a:tcPr anchor="ctr">
                    <a:solidFill>
                      <a:schemeClr val="accent2">
                        <a:lumMod val="60000"/>
                        <a:lumOff val="40000"/>
                      </a:schemeClr>
                    </a:solidFill>
                  </a:tcPr>
                </a:tc>
                <a:tc>
                  <a:txBody>
                    <a:bodyPr/>
                    <a:lstStyle/>
                    <a:p>
                      <a:pPr algn="ctr"/>
                      <a:r>
                        <a:rPr lang="en-US" dirty="0"/>
                        <a:t>3</a:t>
                      </a:r>
                      <a:endParaRPr lang="en-US" dirty="0"/>
                    </a:p>
                  </a:txBody>
                  <a:tcPr anchor="ctr">
                    <a:solidFill>
                      <a:schemeClr val="accent2">
                        <a:lumMod val="60000"/>
                        <a:lumOff val="40000"/>
                      </a:schemeClr>
                    </a:solidFill>
                  </a:tcPr>
                </a:tc>
              </a:tr>
              <a:tr h="370840">
                <a:tc>
                  <a:txBody>
                    <a:bodyPr/>
                    <a:lstStyle/>
                    <a:p>
                      <a:pPr algn="ctr"/>
                      <a:r>
                        <a:rPr lang="en-US" dirty="0"/>
                        <a:t>8</a:t>
                      </a:r>
                      <a:endParaRPr lang="en-US" dirty="0"/>
                    </a:p>
                  </a:txBody>
                  <a:tcPr anchor="ctr">
                    <a:solidFill>
                      <a:schemeClr val="accent2">
                        <a:lumMod val="60000"/>
                        <a:lumOff val="40000"/>
                      </a:schemeClr>
                    </a:solidFill>
                  </a:tcPr>
                </a:tc>
                <a:tc>
                  <a:txBody>
                    <a:bodyPr/>
                    <a:lstStyle/>
                    <a:p>
                      <a:pPr algn="ctr"/>
                      <a:r>
                        <a:rPr lang="en-US" dirty="0"/>
                        <a:t>13</a:t>
                      </a:r>
                      <a:endParaRPr lang="en-US" dirty="0"/>
                    </a:p>
                  </a:txBody>
                  <a:tcPr anchor="ctr">
                    <a:solidFill>
                      <a:schemeClr val="accent2">
                        <a:lumMod val="60000"/>
                        <a:lumOff val="40000"/>
                      </a:schemeClr>
                    </a:solidFill>
                  </a:tcPr>
                </a:tc>
                <a:tc>
                  <a:txBody>
                    <a:bodyPr/>
                    <a:lstStyle/>
                    <a:p>
                      <a:pPr algn="ctr"/>
                      <a:r>
                        <a:rPr lang="en-US" dirty="0"/>
                        <a:t>2</a:t>
                      </a:r>
                      <a:endParaRPr lang="en-US" dirty="0"/>
                    </a:p>
                  </a:txBody>
                  <a:tcPr anchor="ctr">
                    <a:solidFill>
                      <a:schemeClr val="accent2">
                        <a:lumMod val="60000"/>
                        <a:lumOff val="40000"/>
                      </a:schemeClr>
                    </a:solidFill>
                  </a:tcPr>
                </a:tc>
                <a:tc>
                  <a:txBody>
                    <a:bodyPr/>
                    <a:lstStyle/>
                    <a:p>
                      <a:pPr algn="ctr"/>
                      <a:r>
                        <a:rPr lang="en-US" dirty="0"/>
                        <a:t>7</a:t>
                      </a:r>
                      <a:endParaRPr lang="en-US" dirty="0"/>
                    </a:p>
                  </a:txBody>
                  <a:tcPr anchor="ctr">
                    <a:solidFill>
                      <a:schemeClr val="accent2">
                        <a:lumMod val="60000"/>
                        <a:lumOff val="40000"/>
                      </a:schemeClr>
                    </a:solidFill>
                  </a:tcPr>
                </a:tc>
              </a:tr>
              <a:tr h="370840">
                <a:tc>
                  <a:txBody>
                    <a:bodyPr/>
                    <a:lstStyle/>
                    <a:p>
                      <a:pPr algn="ctr"/>
                      <a:r>
                        <a:rPr lang="en-US" dirty="0"/>
                        <a:t>12</a:t>
                      </a:r>
                      <a:endParaRPr lang="en-US" dirty="0"/>
                    </a:p>
                  </a:txBody>
                  <a:tcPr anchor="ctr">
                    <a:solidFill>
                      <a:schemeClr val="accent2">
                        <a:lumMod val="60000"/>
                        <a:lumOff val="40000"/>
                      </a:schemeClr>
                    </a:solidFill>
                  </a:tcPr>
                </a:tc>
                <a:tc>
                  <a:txBody>
                    <a:bodyPr/>
                    <a:lstStyle/>
                    <a:p>
                      <a:pPr algn="ctr"/>
                      <a:r>
                        <a:rPr lang="en-US" dirty="0"/>
                        <a:t>1</a:t>
                      </a:r>
                      <a:endParaRPr lang="en-US" dirty="0"/>
                    </a:p>
                  </a:txBody>
                  <a:tcPr anchor="ctr">
                    <a:solidFill>
                      <a:schemeClr val="accent2">
                        <a:lumMod val="60000"/>
                        <a:lumOff val="40000"/>
                      </a:schemeClr>
                    </a:solidFill>
                  </a:tcPr>
                </a:tc>
                <a:tc>
                  <a:txBody>
                    <a:bodyPr/>
                    <a:lstStyle/>
                    <a:p>
                      <a:pPr algn="ctr"/>
                      <a:r>
                        <a:rPr lang="en-US" dirty="0"/>
                        <a:t>6</a:t>
                      </a:r>
                      <a:endParaRPr lang="en-US" dirty="0"/>
                    </a:p>
                  </a:txBody>
                  <a:tcPr anchor="ctr">
                    <a:solidFill>
                      <a:schemeClr val="accent2">
                        <a:lumMod val="60000"/>
                        <a:lumOff val="40000"/>
                      </a:schemeClr>
                    </a:solidFill>
                  </a:tcPr>
                </a:tc>
                <a:tc>
                  <a:txBody>
                    <a:bodyPr/>
                    <a:lstStyle/>
                    <a:p>
                      <a:pPr algn="ctr"/>
                      <a:r>
                        <a:rPr lang="en-US" dirty="0"/>
                        <a:t>11</a:t>
                      </a:r>
                      <a:endParaRPr lang="en-US" dirty="0"/>
                    </a:p>
                  </a:txBody>
                  <a:tcPr anchor="ctr">
                    <a:solidFill>
                      <a:schemeClr val="accent2">
                        <a:lumMod val="60000"/>
                        <a:lumOff val="40000"/>
                      </a:schemeClr>
                    </a:solidFill>
                  </a:tcPr>
                </a:tc>
              </a:tr>
              <a:tr h="370840">
                <a:tc>
                  <a:txBody>
                    <a:bodyPr/>
                    <a:lstStyle/>
                    <a:p>
                      <a:pPr algn="ctr"/>
                      <a:r>
                        <a:rPr lang="en-US" dirty="0"/>
                        <a:t>0</a:t>
                      </a:r>
                      <a:endParaRPr lang="en-US" dirty="0"/>
                    </a:p>
                  </a:txBody>
                  <a:tcPr anchor="ctr">
                    <a:solidFill>
                      <a:schemeClr val="accent2">
                        <a:lumMod val="60000"/>
                        <a:lumOff val="40000"/>
                      </a:schemeClr>
                    </a:solidFill>
                  </a:tcPr>
                </a:tc>
                <a:tc>
                  <a:txBody>
                    <a:bodyPr/>
                    <a:lstStyle/>
                    <a:p>
                      <a:pPr algn="ctr"/>
                      <a:r>
                        <a:rPr lang="en-US" dirty="0"/>
                        <a:t>5</a:t>
                      </a:r>
                      <a:endParaRPr lang="en-US" dirty="0"/>
                    </a:p>
                  </a:txBody>
                  <a:tcPr anchor="ctr">
                    <a:solidFill>
                      <a:schemeClr val="accent2">
                        <a:lumMod val="60000"/>
                        <a:lumOff val="40000"/>
                      </a:schemeClr>
                    </a:solidFill>
                  </a:tcPr>
                </a:tc>
                <a:tc>
                  <a:txBody>
                    <a:bodyPr/>
                    <a:lstStyle/>
                    <a:p>
                      <a:pPr algn="ctr"/>
                      <a:r>
                        <a:rPr lang="en-US" dirty="0"/>
                        <a:t>10</a:t>
                      </a:r>
                      <a:endParaRPr lang="en-US" dirty="0"/>
                    </a:p>
                  </a:txBody>
                  <a:tcPr anchor="ctr">
                    <a:solidFill>
                      <a:schemeClr val="accent2">
                        <a:lumMod val="60000"/>
                        <a:lumOff val="40000"/>
                      </a:schemeClr>
                    </a:solidFill>
                  </a:tcPr>
                </a:tc>
                <a:tc>
                  <a:txBody>
                    <a:bodyPr/>
                    <a:lstStyle/>
                    <a:p>
                      <a:pPr algn="ctr"/>
                      <a:r>
                        <a:rPr lang="en-US" dirty="0"/>
                        <a:t>15</a:t>
                      </a:r>
                      <a:endParaRPr lang="en-US" dirty="0"/>
                    </a:p>
                  </a:txBody>
                  <a:tcPr anchor="ctr">
                    <a:solidFill>
                      <a:schemeClr val="accent2">
                        <a:lumMod val="60000"/>
                        <a:lumOff val="40000"/>
                      </a:schemeClr>
                    </a:solidFill>
                  </a:tcPr>
                </a:tc>
              </a:tr>
            </a:tbl>
          </a:graphicData>
        </a:graphic>
      </p:graphicFrame>
      <p:graphicFrame>
        <p:nvGraphicFramePr>
          <p:cNvPr id="5" name="Table 26"/>
          <p:cNvGraphicFramePr>
            <a:graphicFrameLocks noGrp="1"/>
          </p:cNvGraphicFramePr>
          <p:nvPr/>
        </p:nvGraphicFramePr>
        <p:xfrm>
          <a:off x="2755256" y="3417429"/>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1</a:t>
                      </a:r>
                      <a:endParaRPr lang="en-US" dirty="0"/>
                    </a:p>
                  </a:txBody>
                  <a:tcPr anchor="ctr">
                    <a:solidFill>
                      <a:srgbClr val="FFFF00"/>
                    </a:solidFill>
                  </a:tcPr>
                </a:tc>
                <a:tc>
                  <a:txBody>
                    <a:bodyPr/>
                    <a:lstStyle/>
                    <a:p>
                      <a:pPr algn="ctr"/>
                      <a:r>
                        <a:rPr lang="en-US" dirty="0"/>
                        <a:t>2</a:t>
                      </a:r>
                      <a:endParaRPr lang="en-US" dirty="0"/>
                    </a:p>
                  </a:txBody>
                  <a:tcPr anchor="ctr">
                    <a:solidFill>
                      <a:srgbClr val="FFFF00"/>
                    </a:solidFill>
                  </a:tcPr>
                </a:tc>
                <a:tc>
                  <a:txBody>
                    <a:bodyPr/>
                    <a:lstStyle/>
                    <a:p>
                      <a:pPr algn="ctr"/>
                      <a:r>
                        <a:rPr lang="en-US" dirty="0"/>
                        <a:t>3</a:t>
                      </a:r>
                      <a:endParaRPr lang="en-US" dirty="0"/>
                    </a:p>
                  </a:txBody>
                  <a:tcPr anchor="ctr">
                    <a:solidFill>
                      <a:srgbClr val="FFFF00"/>
                    </a:solidFill>
                  </a:tcPr>
                </a:tc>
                <a:tc>
                  <a:txBody>
                    <a:bodyPr/>
                    <a:lstStyle/>
                    <a:p>
                      <a:pPr algn="ctr"/>
                      <a:r>
                        <a:rPr lang="en-US" dirty="0"/>
                        <a:t>0</a:t>
                      </a:r>
                      <a:endParaRPr lang="en-US" dirty="0"/>
                    </a:p>
                  </a:txBody>
                  <a:tcPr anchor="ctr">
                    <a:solidFill>
                      <a:srgbClr val="FFFF00"/>
                    </a:solidFill>
                  </a:tcPr>
                </a:tc>
              </a:tr>
              <a:tr h="370840">
                <a:tc>
                  <a:txBody>
                    <a:bodyPr/>
                    <a:lstStyle/>
                    <a:p>
                      <a:pPr algn="ctr"/>
                      <a:r>
                        <a:rPr lang="en-US" dirty="0"/>
                        <a:t>6</a:t>
                      </a:r>
                      <a:endParaRPr lang="en-US" dirty="0"/>
                    </a:p>
                  </a:txBody>
                  <a:tcPr anchor="ctr">
                    <a:solidFill>
                      <a:srgbClr val="FFFF00"/>
                    </a:solidFill>
                  </a:tcPr>
                </a:tc>
                <a:tc>
                  <a:txBody>
                    <a:bodyPr/>
                    <a:lstStyle/>
                    <a:p>
                      <a:pPr algn="ctr"/>
                      <a:r>
                        <a:rPr lang="en-US" dirty="0"/>
                        <a:t>7</a:t>
                      </a:r>
                      <a:endParaRPr lang="en-US" dirty="0"/>
                    </a:p>
                  </a:txBody>
                  <a:tcPr anchor="ctr">
                    <a:solidFill>
                      <a:srgbClr val="FFFF00"/>
                    </a:solidFill>
                  </a:tcPr>
                </a:tc>
                <a:tc>
                  <a:txBody>
                    <a:bodyPr/>
                    <a:lstStyle/>
                    <a:p>
                      <a:pPr algn="ctr"/>
                      <a:r>
                        <a:rPr lang="en-US" dirty="0"/>
                        <a:t>4</a:t>
                      </a:r>
                      <a:endParaRPr lang="en-US" dirty="0"/>
                    </a:p>
                  </a:txBody>
                  <a:tcPr anchor="ctr">
                    <a:solidFill>
                      <a:srgbClr val="FFFF00"/>
                    </a:solidFill>
                  </a:tcPr>
                </a:tc>
                <a:tc>
                  <a:txBody>
                    <a:bodyPr/>
                    <a:lstStyle/>
                    <a:p>
                      <a:pPr algn="ctr"/>
                      <a:r>
                        <a:rPr lang="en-US" dirty="0"/>
                        <a:t>5</a:t>
                      </a:r>
                      <a:endParaRPr lang="en-US" dirty="0"/>
                    </a:p>
                  </a:txBody>
                  <a:tcPr anchor="ctr">
                    <a:solidFill>
                      <a:srgbClr val="FFFF00"/>
                    </a:solidFill>
                  </a:tcPr>
                </a:tc>
              </a:tr>
              <a:tr h="370840">
                <a:tc>
                  <a:txBody>
                    <a:bodyPr/>
                    <a:lstStyle/>
                    <a:p>
                      <a:pPr algn="ctr"/>
                      <a:r>
                        <a:rPr lang="en-US" dirty="0"/>
                        <a:t>11</a:t>
                      </a:r>
                      <a:endParaRPr lang="en-US" dirty="0"/>
                    </a:p>
                  </a:txBody>
                  <a:tcPr anchor="ctr">
                    <a:solidFill>
                      <a:srgbClr val="FFFF00"/>
                    </a:solidFill>
                  </a:tcPr>
                </a:tc>
                <a:tc>
                  <a:txBody>
                    <a:bodyPr/>
                    <a:lstStyle/>
                    <a:p>
                      <a:pPr algn="ctr"/>
                      <a:r>
                        <a:rPr lang="en-US" dirty="0"/>
                        <a:t>8</a:t>
                      </a:r>
                      <a:endParaRPr lang="en-US" dirty="0"/>
                    </a:p>
                  </a:txBody>
                  <a:tcPr anchor="ctr">
                    <a:solidFill>
                      <a:srgbClr val="FFFF00"/>
                    </a:solidFill>
                  </a:tcPr>
                </a:tc>
                <a:tc>
                  <a:txBody>
                    <a:bodyPr/>
                    <a:lstStyle/>
                    <a:p>
                      <a:pPr algn="ctr"/>
                      <a:r>
                        <a:rPr lang="en-US" dirty="0"/>
                        <a:t>9</a:t>
                      </a:r>
                      <a:endParaRPr lang="en-US" dirty="0"/>
                    </a:p>
                  </a:txBody>
                  <a:tcPr anchor="ctr">
                    <a:solidFill>
                      <a:srgbClr val="FFFF00"/>
                    </a:solidFill>
                  </a:tcPr>
                </a:tc>
                <a:tc>
                  <a:txBody>
                    <a:bodyPr/>
                    <a:lstStyle/>
                    <a:p>
                      <a:pPr algn="ctr"/>
                      <a:r>
                        <a:rPr lang="en-US" dirty="0"/>
                        <a:t>10</a:t>
                      </a:r>
                      <a:endParaRPr lang="en-US" dirty="0"/>
                    </a:p>
                  </a:txBody>
                  <a:tcPr anchor="ctr">
                    <a:solidFill>
                      <a:srgbClr val="FFFF00"/>
                    </a:solidFill>
                  </a:tcPr>
                </a:tc>
              </a:tr>
              <a:tr h="370840">
                <a:tc>
                  <a:txBody>
                    <a:bodyPr/>
                    <a:lstStyle/>
                    <a:p>
                      <a:pPr algn="ctr"/>
                      <a:r>
                        <a:rPr lang="en-US" dirty="0"/>
                        <a:t>12</a:t>
                      </a:r>
                      <a:endParaRPr lang="en-US" dirty="0"/>
                    </a:p>
                  </a:txBody>
                  <a:tcPr anchor="ctr">
                    <a:solidFill>
                      <a:srgbClr val="FFFF00"/>
                    </a:solidFill>
                  </a:tcPr>
                </a:tc>
                <a:tc>
                  <a:txBody>
                    <a:bodyPr/>
                    <a:lstStyle/>
                    <a:p>
                      <a:pPr algn="ctr"/>
                      <a:r>
                        <a:rPr lang="en-US" dirty="0"/>
                        <a:t>13</a:t>
                      </a:r>
                      <a:endParaRPr lang="en-US" dirty="0"/>
                    </a:p>
                  </a:txBody>
                  <a:tcPr anchor="ctr">
                    <a:solidFill>
                      <a:srgbClr val="FFFF00"/>
                    </a:solidFill>
                  </a:tcPr>
                </a:tc>
                <a:tc>
                  <a:txBody>
                    <a:bodyPr/>
                    <a:lstStyle/>
                    <a:p>
                      <a:pPr algn="ctr"/>
                      <a:r>
                        <a:rPr lang="en-US" dirty="0"/>
                        <a:t>14</a:t>
                      </a:r>
                      <a:endParaRPr lang="en-US" dirty="0"/>
                    </a:p>
                  </a:txBody>
                  <a:tcPr anchor="ctr">
                    <a:solidFill>
                      <a:srgbClr val="FFFF00"/>
                    </a:solidFill>
                  </a:tcPr>
                </a:tc>
                <a:tc>
                  <a:txBody>
                    <a:bodyPr/>
                    <a:lstStyle/>
                    <a:p>
                      <a:pPr algn="ctr"/>
                      <a:r>
                        <a:rPr lang="en-US" dirty="0"/>
                        <a:t>15</a:t>
                      </a:r>
                      <a:endParaRPr lang="en-US" dirty="0"/>
                    </a:p>
                  </a:txBody>
                  <a:tcPr anchor="ctr">
                    <a:solidFill>
                      <a:srgbClr val="FFFF00"/>
                    </a:solidFill>
                  </a:tcPr>
                </a:tc>
              </a:tr>
            </a:tbl>
          </a:graphicData>
        </a:graphic>
      </p:graphicFrame>
      <p:grpSp>
        <p:nvGrpSpPr>
          <p:cNvPr id="6" name="组合 5"/>
          <p:cNvGrpSpPr/>
          <p:nvPr/>
        </p:nvGrpSpPr>
        <p:grpSpPr>
          <a:xfrm>
            <a:off x="1965896" y="2542927"/>
            <a:ext cx="3823161" cy="1045654"/>
            <a:chOff x="862267" y="1811846"/>
            <a:chExt cx="3823161" cy="1045654"/>
          </a:xfrm>
        </p:grpSpPr>
        <p:sp>
          <p:nvSpPr>
            <p:cNvPr id="7" name="Freeform: Shape 10"/>
            <p:cNvSpPr/>
            <p:nvPr/>
          </p:nvSpPr>
          <p:spPr bwMode="auto">
            <a:xfrm>
              <a:off x="862267" y="1811846"/>
              <a:ext cx="3823161" cy="1041400"/>
            </a:xfrm>
            <a:custGeom>
              <a:avLst/>
              <a:gdLst>
                <a:gd name="connsiteX0" fmla="*/ 1003761 w 3823161"/>
                <a:gd name="connsiteY0" fmla="*/ 1016000 h 1041400"/>
                <a:gd name="connsiteX1" fmla="*/ 190961 w 3823161"/>
                <a:gd name="connsiteY1" fmla="*/ 939800 h 1041400"/>
                <a:gd name="connsiteX2" fmla="*/ 127461 w 3823161"/>
                <a:gd name="connsiteY2" fmla="*/ 889000 h 1041400"/>
                <a:gd name="connsiteX3" fmla="*/ 38561 w 3823161"/>
                <a:gd name="connsiteY3" fmla="*/ 762000 h 1041400"/>
                <a:gd name="connsiteX4" fmla="*/ 461 w 3823161"/>
                <a:gd name="connsiteY4" fmla="*/ 635000 h 1041400"/>
                <a:gd name="connsiteX5" fmla="*/ 25861 w 3823161"/>
                <a:gd name="connsiteY5" fmla="*/ 406400 h 1041400"/>
                <a:gd name="connsiteX6" fmla="*/ 140161 w 3823161"/>
                <a:gd name="connsiteY6" fmla="*/ 228600 h 1041400"/>
                <a:gd name="connsiteX7" fmla="*/ 203661 w 3823161"/>
                <a:gd name="connsiteY7" fmla="*/ 177800 h 1041400"/>
                <a:gd name="connsiteX8" fmla="*/ 559261 w 3823161"/>
                <a:gd name="connsiteY8" fmla="*/ 88900 h 1041400"/>
                <a:gd name="connsiteX9" fmla="*/ 1206961 w 3823161"/>
                <a:gd name="connsiteY9" fmla="*/ 0 h 1041400"/>
                <a:gd name="connsiteX10" fmla="*/ 2832561 w 3823161"/>
                <a:gd name="connsiteY10" fmla="*/ 25400 h 1041400"/>
                <a:gd name="connsiteX11" fmla="*/ 3188161 w 3823161"/>
                <a:gd name="connsiteY11" fmla="*/ 88900 h 1041400"/>
                <a:gd name="connsiteX12" fmla="*/ 3378661 w 3823161"/>
                <a:gd name="connsiteY12" fmla="*/ 114300 h 1041400"/>
                <a:gd name="connsiteX13" fmla="*/ 3683461 w 3823161"/>
                <a:gd name="connsiteY13" fmla="*/ 279400 h 1041400"/>
                <a:gd name="connsiteX14" fmla="*/ 3746961 w 3823161"/>
                <a:gd name="connsiteY14" fmla="*/ 342900 h 1041400"/>
                <a:gd name="connsiteX15" fmla="*/ 3785061 w 3823161"/>
                <a:gd name="connsiteY15" fmla="*/ 431800 h 1041400"/>
                <a:gd name="connsiteX16" fmla="*/ 3823161 w 3823161"/>
                <a:gd name="connsiteY16" fmla="*/ 596900 h 1041400"/>
                <a:gd name="connsiteX17" fmla="*/ 3797761 w 3823161"/>
                <a:gd name="connsiteY17" fmla="*/ 812800 h 1041400"/>
                <a:gd name="connsiteX18" fmla="*/ 3632661 w 3823161"/>
                <a:gd name="connsiteY18" fmla="*/ 927100 h 1041400"/>
                <a:gd name="connsiteX19" fmla="*/ 3277061 w 3823161"/>
                <a:gd name="connsiteY19" fmla="*/ 1016000 h 1041400"/>
                <a:gd name="connsiteX20" fmla="*/ 3111961 w 3823161"/>
                <a:gd name="connsiteY20" fmla="*/ 1041400 h 1041400"/>
                <a:gd name="connsiteX21" fmla="*/ 2921461 w 3823161"/>
                <a:gd name="connsiteY21" fmla="*/ 10160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3161" h="1041400">
                  <a:moveTo>
                    <a:pt x="1003761" y="1016000"/>
                  </a:moveTo>
                  <a:cubicBezTo>
                    <a:pt x="647050" y="1008569"/>
                    <a:pt x="475084" y="1061567"/>
                    <a:pt x="190961" y="939800"/>
                  </a:cubicBezTo>
                  <a:cubicBezTo>
                    <a:pt x="166046" y="929122"/>
                    <a:pt x="145102" y="909581"/>
                    <a:pt x="127461" y="889000"/>
                  </a:cubicBezTo>
                  <a:cubicBezTo>
                    <a:pt x="93832" y="849766"/>
                    <a:pt x="68194" y="804333"/>
                    <a:pt x="38561" y="762000"/>
                  </a:cubicBezTo>
                  <a:cubicBezTo>
                    <a:pt x="25861" y="719667"/>
                    <a:pt x="2038" y="679169"/>
                    <a:pt x="461" y="635000"/>
                  </a:cubicBezTo>
                  <a:cubicBezTo>
                    <a:pt x="-2275" y="558380"/>
                    <a:pt x="7266" y="480780"/>
                    <a:pt x="25861" y="406400"/>
                  </a:cubicBezTo>
                  <a:cubicBezTo>
                    <a:pt x="46416" y="324179"/>
                    <a:pt x="83041" y="279374"/>
                    <a:pt x="140161" y="228600"/>
                  </a:cubicBezTo>
                  <a:cubicBezTo>
                    <a:pt x="160421" y="210591"/>
                    <a:pt x="178891" y="188809"/>
                    <a:pt x="203661" y="177800"/>
                  </a:cubicBezTo>
                  <a:cubicBezTo>
                    <a:pt x="295074" y="137172"/>
                    <a:pt x="464783" y="105434"/>
                    <a:pt x="559261" y="88900"/>
                  </a:cubicBezTo>
                  <a:cubicBezTo>
                    <a:pt x="878751" y="32989"/>
                    <a:pt x="881328" y="37573"/>
                    <a:pt x="1206961" y="0"/>
                  </a:cubicBezTo>
                  <a:lnTo>
                    <a:pt x="2832561" y="25400"/>
                  </a:lnTo>
                  <a:cubicBezTo>
                    <a:pt x="3004379" y="29108"/>
                    <a:pt x="2992379" y="52191"/>
                    <a:pt x="3188161" y="88900"/>
                  </a:cubicBezTo>
                  <a:cubicBezTo>
                    <a:pt x="3251126" y="100706"/>
                    <a:pt x="3315161" y="105833"/>
                    <a:pt x="3378661" y="114300"/>
                  </a:cubicBezTo>
                  <a:cubicBezTo>
                    <a:pt x="3579800" y="203695"/>
                    <a:pt x="3566070" y="172681"/>
                    <a:pt x="3683461" y="279400"/>
                  </a:cubicBezTo>
                  <a:cubicBezTo>
                    <a:pt x="3705611" y="299536"/>
                    <a:pt x="3725794" y="321733"/>
                    <a:pt x="3746961" y="342900"/>
                  </a:cubicBezTo>
                  <a:cubicBezTo>
                    <a:pt x="3759661" y="372533"/>
                    <a:pt x="3774217" y="401438"/>
                    <a:pt x="3785061" y="431800"/>
                  </a:cubicBezTo>
                  <a:cubicBezTo>
                    <a:pt x="3810431" y="502837"/>
                    <a:pt x="3811330" y="525913"/>
                    <a:pt x="3823161" y="596900"/>
                  </a:cubicBezTo>
                  <a:cubicBezTo>
                    <a:pt x="3814694" y="668867"/>
                    <a:pt x="3820676" y="744056"/>
                    <a:pt x="3797761" y="812800"/>
                  </a:cubicBezTo>
                  <a:cubicBezTo>
                    <a:pt x="3765454" y="909720"/>
                    <a:pt x="3708591" y="903122"/>
                    <a:pt x="3632661" y="927100"/>
                  </a:cubicBezTo>
                  <a:cubicBezTo>
                    <a:pt x="3409153" y="997682"/>
                    <a:pt x="3540267" y="970620"/>
                    <a:pt x="3277061" y="1016000"/>
                  </a:cubicBezTo>
                  <a:cubicBezTo>
                    <a:pt x="3222190" y="1025461"/>
                    <a:pt x="3167642" y="1041400"/>
                    <a:pt x="3111961" y="1041400"/>
                  </a:cubicBezTo>
                  <a:cubicBezTo>
                    <a:pt x="3047899" y="1041400"/>
                    <a:pt x="2984961" y="1024467"/>
                    <a:pt x="2921461" y="1016000"/>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8" name="Freeform: Shape 11"/>
            <p:cNvSpPr/>
            <p:nvPr/>
          </p:nvSpPr>
          <p:spPr bwMode="auto">
            <a:xfrm>
              <a:off x="2095500" y="2818102"/>
              <a:ext cx="406400" cy="26698"/>
            </a:xfrm>
            <a:custGeom>
              <a:avLst/>
              <a:gdLst>
                <a:gd name="connsiteX0" fmla="*/ 406400 w 406400"/>
                <a:gd name="connsiteY0" fmla="*/ 26698 h 26698"/>
                <a:gd name="connsiteX1" fmla="*/ 165100 w 406400"/>
                <a:gd name="connsiteY1" fmla="*/ 13998 h 26698"/>
                <a:gd name="connsiteX2" fmla="*/ 114300 w 406400"/>
                <a:gd name="connsiteY2" fmla="*/ 1298 h 26698"/>
                <a:gd name="connsiteX3" fmla="*/ 0 w 406400"/>
                <a:gd name="connsiteY3" fmla="*/ 1298 h 26698"/>
              </a:gdLst>
              <a:ahLst/>
              <a:cxnLst>
                <a:cxn ang="0">
                  <a:pos x="connsiteX0" y="connsiteY0"/>
                </a:cxn>
                <a:cxn ang="0">
                  <a:pos x="connsiteX1" y="connsiteY1"/>
                </a:cxn>
                <a:cxn ang="0">
                  <a:pos x="connsiteX2" y="connsiteY2"/>
                </a:cxn>
                <a:cxn ang="0">
                  <a:pos x="connsiteX3" y="connsiteY3"/>
                </a:cxn>
              </a:cxnLst>
              <a:rect l="l" t="t" r="r" b="b"/>
              <a:pathLst>
                <a:path w="406400" h="26698">
                  <a:moveTo>
                    <a:pt x="406400" y="26698"/>
                  </a:moveTo>
                  <a:cubicBezTo>
                    <a:pt x="325967" y="22465"/>
                    <a:pt x="245342" y="20976"/>
                    <a:pt x="165100" y="13998"/>
                  </a:cubicBezTo>
                  <a:cubicBezTo>
                    <a:pt x="147711" y="12486"/>
                    <a:pt x="131703" y="2637"/>
                    <a:pt x="114300" y="1298"/>
                  </a:cubicBezTo>
                  <a:cubicBezTo>
                    <a:pt x="76312" y="-1624"/>
                    <a:pt x="38100" y="1298"/>
                    <a:pt x="0" y="1298"/>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9" name="Freeform: Shape 13"/>
            <p:cNvSpPr/>
            <p:nvPr/>
          </p:nvSpPr>
          <p:spPr bwMode="auto">
            <a:xfrm>
              <a:off x="2730500" y="2857500"/>
              <a:ext cx="330200" cy="0"/>
            </a:xfrm>
            <a:custGeom>
              <a:avLst/>
              <a:gdLst>
                <a:gd name="connsiteX0" fmla="*/ 330200 w 330200"/>
                <a:gd name="connsiteY0" fmla="*/ 0 h 0"/>
                <a:gd name="connsiteX1" fmla="*/ 0 w 330200"/>
                <a:gd name="connsiteY1" fmla="*/ 0 h 0"/>
              </a:gdLst>
              <a:ahLst/>
              <a:cxnLst>
                <a:cxn ang="0">
                  <a:pos x="connsiteX0" y="connsiteY0"/>
                </a:cxn>
                <a:cxn ang="0">
                  <a:pos x="connsiteX1" y="connsiteY1"/>
                </a:cxn>
              </a:cxnLst>
              <a:rect l="l" t="t" r="r" b="b"/>
              <a:pathLst>
                <a:path w="330200">
                  <a:moveTo>
                    <a:pt x="330200" y="0"/>
                  </a:moveTo>
                  <a:lnTo>
                    <a:pt x="0" y="0"/>
                  </a:ln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0" name="Freeform: Shape 14"/>
            <p:cNvSpPr/>
            <p:nvPr/>
          </p:nvSpPr>
          <p:spPr bwMode="auto">
            <a:xfrm>
              <a:off x="3314700" y="2831816"/>
              <a:ext cx="317500" cy="12984"/>
            </a:xfrm>
            <a:custGeom>
              <a:avLst/>
              <a:gdLst>
                <a:gd name="connsiteX0" fmla="*/ 317500 w 317500"/>
                <a:gd name="connsiteY0" fmla="*/ 12984 h 12984"/>
                <a:gd name="connsiteX1" fmla="*/ 0 w 317500"/>
                <a:gd name="connsiteY1" fmla="*/ 284 h 12984"/>
              </a:gdLst>
              <a:ahLst/>
              <a:cxnLst>
                <a:cxn ang="0">
                  <a:pos x="connsiteX0" y="connsiteY0"/>
                </a:cxn>
                <a:cxn ang="0">
                  <a:pos x="connsiteX1" y="connsiteY1"/>
                </a:cxn>
              </a:cxnLst>
              <a:rect l="l" t="t" r="r" b="b"/>
              <a:pathLst>
                <a:path w="317500" h="12984">
                  <a:moveTo>
                    <a:pt x="317500" y="12984"/>
                  </a:moveTo>
                  <a:cubicBezTo>
                    <a:pt x="93252" y="-3034"/>
                    <a:pt x="199118" y="284"/>
                    <a:pt x="0" y="284"/>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grpSp>
        <p:nvGrpSpPr>
          <p:cNvPr id="11" name="组合 10"/>
          <p:cNvGrpSpPr/>
          <p:nvPr/>
        </p:nvGrpSpPr>
        <p:grpSpPr>
          <a:xfrm rot="16200000" flipH="1">
            <a:off x="5925414" y="3518487"/>
            <a:ext cx="2564726" cy="1045654"/>
            <a:chOff x="862267" y="1811846"/>
            <a:chExt cx="3823161" cy="1045654"/>
          </a:xfrm>
        </p:grpSpPr>
        <p:sp>
          <p:nvSpPr>
            <p:cNvPr id="12" name="Freeform: Shape 10"/>
            <p:cNvSpPr/>
            <p:nvPr/>
          </p:nvSpPr>
          <p:spPr bwMode="auto">
            <a:xfrm>
              <a:off x="862267" y="1811846"/>
              <a:ext cx="3823161" cy="1041400"/>
            </a:xfrm>
            <a:custGeom>
              <a:avLst/>
              <a:gdLst>
                <a:gd name="connsiteX0" fmla="*/ 1003761 w 3823161"/>
                <a:gd name="connsiteY0" fmla="*/ 1016000 h 1041400"/>
                <a:gd name="connsiteX1" fmla="*/ 190961 w 3823161"/>
                <a:gd name="connsiteY1" fmla="*/ 939800 h 1041400"/>
                <a:gd name="connsiteX2" fmla="*/ 127461 w 3823161"/>
                <a:gd name="connsiteY2" fmla="*/ 889000 h 1041400"/>
                <a:gd name="connsiteX3" fmla="*/ 38561 w 3823161"/>
                <a:gd name="connsiteY3" fmla="*/ 762000 h 1041400"/>
                <a:gd name="connsiteX4" fmla="*/ 461 w 3823161"/>
                <a:gd name="connsiteY4" fmla="*/ 635000 h 1041400"/>
                <a:gd name="connsiteX5" fmla="*/ 25861 w 3823161"/>
                <a:gd name="connsiteY5" fmla="*/ 406400 h 1041400"/>
                <a:gd name="connsiteX6" fmla="*/ 140161 w 3823161"/>
                <a:gd name="connsiteY6" fmla="*/ 228600 h 1041400"/>
                <a:gd name="connsiteX7" fmla="*/ 203661 w 3823161"/>
                <a:gd name="connsiteY7" fmla="*/ 177800 h 1041400"/>
                <a:gd name="connsiteX8" fmla="*/ 559261 w 3823161"/>
                <a:gd name="connsiteY8" fmla="*/ 88900 h 1041400"/>
                <a:gd name="connsiteX9" fmla="*/ 1206961 w 3823161"/>
                <a:gd name="connsiteY9" fmla="*/ 0 h 1041400"/>
                <a:gd name="connsiteX10" fmla="*/ 2832561 w 3823161"/>
                <a:gd name="connsiteY10" fmla="*/ 25400 h 1041400"/>
                <a:gd name="connsiteX11" fmla="*/ 3188161 w 3823161"/>
                <a:gd name="connsiteY11" fmla="*/ 88900 h 1041400"/>
                <a:gd name="connsiteX12" fmla="*/ 3378661 w 3823161"/>
                <a:gd name="connsiteY12" fmla="*/ 114300 h 1041400"/>
                <a:gd name="connsiteX13" fmla="*/ 3683461 w 3823161"/>
                <a:gd name="connsiteY13" fmla="*/ 279400 h 1041400"/>
                <a:gd name="connsiteX14" fmla="*/ 3746961 w 3823161"/>
                <a:gd name="connsiteY14" fmla="*/ 342900 h 1041400"/>
                <a:gd name="connsiteX15" fmla="*/ 3785061 w 3823161"/>
                <a:gd name="connsiteY15" fmla="*/ 431800 h 1041400"/>
                <a:gd name="connsiteX16" fmla="*/ 3823161 w 3823161"/>
                <a:gd name="connsiteY16" fmla="*/ 596900 h 1041400"/>
                <a:gd name="connsiteX17" fmla="*/ 3797761 w 3823161"/>
                <a:gd name="connsiteY17" fmla="*/ 812800 h 1041400"/>
                <a:gd name="connsiteX18" fmla="*/ 3632661 w 3823161"/>
                <a:gd name="connsiteY18" fmla="*/ 927100 h 1041400"/>
                <a:gd name="connsiteX19" fmla="*/ 3277061 w 3823161"/>
                <a:gd name="connsiteY19" fmla="*/ 1016000 h 1041400"/>
                <a:gd name="connsiteX20" fmla="*/ 3111961 w 3823161"/>
                <a:gd name="connsiteY20" fmla="*/ 1041400 h 1041400"/>
                <a:gd name="connsiteX21" fmla="*/ 2921461 w 3823161"/>
                <a:gd name="connsiteY21" fmla="*/ 10160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3161" h="1041400">
                  <a:moveTo>
                    <a:pt x="1003761" y="1016000"/>
                  </a:moveTo>
                  <a:cubicBezTo>
                    <a:pt x="647050" y="1008569"/>
                    <a:pt x="475084" y="1061567"/>
                    <a:pt x="190961" y="939800"/>
                  </a:cubicBezTo>
                  <a:cubicBezTo>
                    <a:pt x="166046" y="929122"/>
                    <a:pt x="145102" y="909581"/>
                    <a:pt x="127461" y="889000"/>
                  </a:cubicBezTo>
                  <a:cubicBezTo>
                    <a:pt x="93832" y="849766"/>
                    <a:pt x="68194" y="804333"/>
                    <a:pt x="38561" y="762000"/>
                  </a:cubicBezTo>
                  <a:cubicBezTo>
                    <a:pt x="25861" y="719667"/>
                    <a:pt x="2038" y="679169"/>
                    <a:pt x="461" y="635000"/>
                  </a:cubicBezTo>
                  <a:cubicBezTo>
                    <a:pt x="-2275" y="558380"/>
                    <a:pt x="7266" y="480780"/>
                    <a:pt x="25861" y="406400"/>
                  </a:cubicBezTo>
                  <a:cubicBezTo>
                    <a:pt x="46416" y="324179"/>
                    <a:pt x="83041" y="279374"/>
                    <a:pt x="140161" y="228600"/>
                  </a:cubicBezTo>
                  <a:cubicBezTo>
                    <a:pt x="160421" y="210591"/>
                    <a:pt x="178891" y="188809"/>
                    <a:pt x="203661" y="177800"/>
                  </a:cubicBezTo>
                  <a:cubicBezTo>
                    <a:pt x="295074" y="137172"/>
                    <a:pt x="464783" y="105434"/>
                    <a:pt x="559261" y="88900"/>
                  </a:cubicBezTo>
                  <a:cubicBezTo>
                    <a:pt x="878751" y="32989"/>
                    <a:pt x="881328" y="37573"/>
                    <a:pt x="1206961" y="0"/>
                  </a:cubicBezTo>
                  <a:lnTo>
                    <a:pt x="2832561" y="25400"/>
                  </a:lnTo>
                  <a:cubicBezTo>
                    <a:pt x="3004379" y="29108"/>
                    <a:pt x="2992379" y="52191"/>
                    <a:pt x="3188161" y="88900"/>
                  </a:cubicBezTo>
                  <a:cubicBezTo>
                    <a:pt x="3251126" y="100706"/>
                    <a:pt x="3315161" y="105833"/>
                    <a:pt x="3378661" y="114300"/>
                  </a:cubicBezTo>
                  <a:cubicBezTo>
                    <a:pt x="3579800" y="203695"/>
                    <a:pt x="3566070" y="172681"/>
                    <a:pt x="3683461" y="279400"/>
                  </a:cubicBezTo>
                  <a:cubicBezTo>
                    <a:pt x="3705611" y="299536"/>
                    <a:pt x="3725794" y="321733"/>
                    <a:pt x="3746961" y="342900"/>
                  </a:cubicBezTo>
                  <a:cubicBezTo>
                    <a:pt x="3759661" y="372533"/>
                    <a:pt x="3774217" y="401438"/>
                    <a:pt x="3785061" y="431800"/>
                  </a:cubicBezTo>
                  <a:cubicBezTo>
                    <a:pt x="3810431" y="502837"/>
                    <a:pt x="3811330" y="525913"/>
                    <a:pt x="3823161" y="596900"/>
                  </a:cubicBezTo>
                  <a:cubicBezTo>
                    <a:pt x="3814694" y="668867"/>
                    <a:pt x="3820676" y="744056"/>
                    <a:pt x="3797761" y="812800"/>
                  </a:cubicBezTo>
                  <a:cubicBezTo>
                    <a:pt x="3765454" y="909720"/>
                    <a:pt x="3708591" y="903122"/>
                    <a:pt x="3632661" y="927100"/>
                  </a:cubicBezTo>
                  <a:cubicBezTo>
                    <a:pt x="3409153" y="997682"/>
                    <a:pt x="3540267" y="970620"/>
                    <a:pt x="3277061" y="1016000"/>
                  </a:cubicBezTo>
                  <a:cubicBezTo>
                    <a:pt x="3222190" y="1025461"/>
                    <a:pt x="3167642" y="1041400"/>
                    <a:pt x="3111961" y="1041400"/>
                  </a:cubicBezTo>
                  <a:cubicBezTo>
                    <a:pt x="3047899" y="1041400"/>
                    <a:pt x="2984961" y="1024467"/>
                    <a:pt x="2921461" y="1016000"/>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3" name="Freeform: Shape 11"/>
            <p:cNvSpPr/>
            <p:nvPr/>
          </p:nvSpPr>
          <p:spPr bwMode="auto">
            <a:xfrm>
              <a:off x="2095500" y="2818102"/>
              <a:ext cx="406400" cy="26698"/>
            </a:xfrm>
            <a:custGeom>
              <a:avLst/>
              <a:gdLst>
                <a:gd name="connsiteX0" fmla="*/ 406400 w 406400"/>
                <a:gd name="connsiteY0" fmla="*/ 26698 h 26698"/>
                <a:gd name="connsiteX1" fmla="*/ 165100 w 406400"/>
                <a:gd name="connsiteY1" fmla="*/ 13998 h 26698"/>
                <a:gd name="connsiteX2" fmla="*/ 114300 w 406400"/>
                <a:gd name="connsiteY2" fmla="*/ 1298 h 26698"/>
                <a:gd name="connsiteX3" fmla="*/ 0 w 406400"/>
                <a:gd name="connsiteY3" fmla="*/ 1298 h 26698"/>
              </a:gdLst>
              <a:ahLst/>
              <a:cxnLst>
                <a:cxn ang="0">
                  <a:pos x="connsiteX0" y="connsiteY0"/>
                </a:cxn>
                <a:cxn ang="0">
                  <a:pos x="connsiteX1" y="connsiteY1"/>
                </a:cxn>
                <a:cxn ang="0">
                  <a:pos x="connsiteX2" y="connsiteY2"/>
                </a:cxn>
                <a:cxn ang="0">
                  <a:pos x="connsiteX3" y="connsiteY3"/>
                </a:cxn>
              </a:cxnLst>
              <a:rect l="l" t="t" r="r" b="b"/>
              <a:pathLst>
                <a:path w="406400" h="26698">
                  <a:moveTo>
                    <a:pt x="406400" y="26698"/>
                  </a:moveTo>
                  <a:cubicBezTo>
                    <a:pt x="325967" y="22465"/>
                    <a:pt x="245342" y="20976"/>
                    <a:pt x="165100" y="13998"/>
                  </a:cubicBezTo>
                  <a:cubicBezTo>
                    <a:pt x="147711" y="12486"/>
                    <a:pt x="131703" y="2637"/>
                    <a:pt x="114300" y="1298"/>
                  </a:cubicBezTo>
                  <a:cubicBezTo>
                    <a:pt x="76312" y="-1624"/>
                    <a:pt x="38100" y="1298"/>
                    <a:pt x="0" y="1298"/>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4" name="Freeform: Shape 13"/>
            <p:cNvSpPr/>
            <p:nvPr/>
          </p:nvSpPr>
          <p:spPr bwMode="auto">
            <a:xfrm>
              <a:off x="2730500" y="2857500"/>
              <a:ext cx="330200" cy="0"/>
            </a:xfrm>
            <a:custGeom>
              <a:avLst/>
              <a:gdLst>
                <a:gd name="connsiteX0" fmla="*/ 330200 w 330200"/>
                <a:gd name="connsiteY0" fmla="*/ 0 h 0"/>
                <a:gd name="connsiteX1" fmla="*/ 0 w 330200"/>
                <a:gd name="connsiteY1" fmla="*/ 0 h 0"/>
              </a:gdLst>
              <a:ahLst/>
              <a:cxnLst>
                <a:cxn ang="0">
                  <a:pos x="connsiteX0" y="connsiteY0"/>
                </a:cxn>
                <a:cxn ang="0">
                  <a:pos x="connsiteX1" y="connsiteY1"/>
                </a:cxn>
              </a:cxnLst>
              <a:rect l="l" t="t" r="r" b="b"/>
              <a:pathLst>
                <a:path w="330200">
                  <a:moveTo>
                    <a:pt x="330200" y="0"/>
                  </a:moveTo>
                  <a:lnTo>
                    <a:pt x="0" y="0"/>
                  </a:ln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5" name="Freeform: Shape 14"/>
            <p:cNvSpPr/>
            <p:nvPr/>
          </p:nvSpPr>
          <p:spPr bwMode="auto">
            <a:xfrm>
              <a:off x="3314700" y="2831816"/>
              <a:ext cx="317500" cy="12984"/>
            </a:xfrm>
            <a:custGeom>
              <a:avLst/>
              <a:gdLst>
                <a:gd name="connsiteX0" fmla="*/ 317500 w 317500"/>
                <a:gd name="connsiteY0" fmla="*/ 12984 h 12984"/>
                <a:gd name="connsiteX1" fmla="*/ 0 w 317500"/>
                <a:gd name="connsiteY1" fmla="*/ 284 h 12984"/>
              </a:gdLst>
              <a:ahLst/>
              <a:cxnLst>
                <a:cxn ang="0">
                  <a:pos x="connsiteX0" y="connsiteY0"/>
                </a:cxn>
                <a:cxn ang="0">
                  <a:pos x="connsiteX1" y="connsiteY1"/>
                </a:cxn>
              </a:cxnLst>
              <a:rect l="l" t="t" r="r" b="b"/>
              <a:pathLst>
                <a:path w="317500" h="12984">
                  <a:moveTo>
                    <a:pt x="317500" y="12984"/>
                  </a:moveTo>
                  <a:cubicBezTo>
                    <a:pt x="93252" y="-3034"/>
                    <a:pt x="199118" y="284"/>
                    <a:pt x="0" y="284"/>
                  </a:cubicBezTo>
                </a:path>
              </a:pathLst>
            </a:custGeom>
            <a:noFill/>
            <a:ln w="38100" cap="flat" cmpd="sng" algn="ctr">
              <a:solidFill>
                <a:srgbClr val="FF0000"/>
              </a:solidFill>
              <a:prstDash val="solid"/>
              <a:miter lim="400000"/>
              <a:headEnd type="none" w="med" len="med"/>
              <a:tailEnd type="arrow" w="med" len="med"/>
            </a:ln>
            <a:effectLst/>
          </p:spPr>
          <p:txBody>
            <a:bodyPr vert="horz" wrap="square" lIns="50800" tIns="50800" rIns="50800" bIns="50800" numCol="1" rtlCol="0" anchor="ctr" anchorCtr="0" compatLnSpc="1">
              <a:sp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sp>
        <p:nvSpPr>
          <p:cNvPr id="21" name="TextBox 20"/>
          <p:cNvSpPr txBox="1"/>
          <p:nvPr/>
        </p:nvSpPr>
        <p:spPr>
          <a:xfrm>
            <a:off x="3838104" y="4991199"/>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sp>
        <p:nvSpPr>
          <p:cNvPr id="22" name="TextBox 21"/>
          <p:cNvSpPr txBox="1"/>
          <p:nvPr/>
        </p:nvSpPr>
        <p:spPr>
          <a:xfrm>
            <a:off x="8590632" y="4919191"/>
            <a:ext cx="344966" cy="461665"/>
          </a:xfrm>
          <a:prstGeom prst="rect">
            <a:avLst/>
          </a:prstGeom>
          <a:noFill/>
        </p:spPr>
        <p:txBody>
          <a:bodyPr wrap="none" rtlCol="0">
            <a:spAutoFit/>
          </a:bodyPr>
          <a:lstStyle/>
          <a:p>
            <a:r>
              <a:rPr lang="en-US" sz="2400" b="1" dirty="0">
                <a:solidFill>
                  <a:schemeClr val="accent1"/>
                </a:solidFill>
              </a:rPr>
              <a:t>Y</a:t>
            </a:r>
            <a:endParaRPr lang="en-US" sz="2400" b="1" dirty="0">
              <a:solidFill>
                <a:schemeClr val="accen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compute</a:t>
            </a:r>
            <a:endParaRPr lang="en-US" dirty="0"/>
          </a:p>
        </p:txBody>
      </p:sp>
      <p:sp>
        <p:nvSpPr>
          <p:cNvPr id="3" name="内容占位符 2"/>
          <p:cNvSpPr>
            <a:spLocks noGrp="1"/>
          </p:cNvSpPr>
          <p:nvPr>
            <p:ph idx="1"/>
          </p:nvPr>
        </p:nvSpPr>
        <p:spPr>
          <a:xfrm>
            <a:off x="495300" y="6532984"/>
            <a:ext cx="12012613" cy="2509416"/>
          </a:xfrm>
        </p:spPr>
        <p:txBody>
          <a:bodyPr/>
          <a:lstStyle/>
          <a:p>
            <a:pPr lvl="1"/>
            <a:r>
              <a:rPr lang="en-US" altLang="zh-CN" dirty="0"/>
              <a:t>They happen to be </a:t>
            </a:r>
            <a:r>
              <a:rPr lang="en-US" altLang="zh-CN" b="1" dirty="0"/>
              <a:t>another</a:t>
            </a:r>
            <a:r>
              <a:rPr lang="en-US" altLang="zh-CN" dirty="0"/>
              <a:t> part of Z=XY, e.g.
Z0 =</a:t>
            </a:r>
            <a:r>
              <a:rPr lang="en-US" altLang="zh-CN" dirty="0">
                <a:solidFill>
                  <a:srgbClr val="FFC000"/>
                </a:solidFill>
              </a:rPr>
              <a:t> </a:t>
            </a:r>
            <a:r>
              <a:rPr lang="en-US" altLang="zh-CN" dirty="0"/>
              <a:t>X0 Y0 + </a:t>
            </a:r>
            <a:r>
              <a:rPr lang="en-US" altLang="zh-CN" u="sng" dirty="0">
                <a:solidFill>
                  <a:srgbClr val="FFC000"/>
                </a:solidFill>
              </a:rPr>
              <a:t>X1 Y4 </a:t>
            </a:r>
            <a:r>
              <a:rPr lang="en-US" altLang="zh-CN" dirty="0"/>
              <a:t>+ X2 Y8 + X3 Y12</a:t>
            </a:r>
            <a:endParaRPr lang="en-US" altLang="zh-CN" dirty="0"/>
          </a:p>
          <a:p>
            <a:pPr lvl="2"/>
            <a:r>
              <a:rPr lang="en-US" dirty="0"/>
              <a:t>Z5 = X4 Y1 + X5 Y5 + X6 Y9 + </a:t>
            </a:r>
            <a:r>
              <a:rPr lang="en-US" u="sng" dirty="0">
                <a:solidFill>
                  <a:schemeClr val="accent1"/>
                </a:solidFill>
              </a:rPr>
              <a:t>X7 Y13</a:t>
            </a:r>
            <a:endParaRPr lang="en-US" u="sng" dirty="0">
              <a:solidFill>
                <a:schemeClr val="accent1"/>
              </a:solidFill>
            </a:endParaRPr>
          </a:p>
          <a:p>
            <a:pPr lvl="2"/>
            <a:r>
              <a:rPr lang="en-US" dirty="0"/>
              <a:t>Z14 = X12 Y2 + X13 Y6 + </a:t>
            </a:r>
            <a:r>
              <a:rPr lang="en-US" u="sng" dirty="0">
                <a:solidFill>
                  <a:srgbClr val="00B050"/>
                </a:solidFill>
              </a:rPr>
              <a:t>X14 Y10 </a:t>
            </a:r>
            <a:r>
              <a:rPr lang="en-US" dirty="0"/>
              <a:t>+ X15 Y14</a:t>
            </a:r>
            <a:endParaRPr lang="en-US" dirty="0"/>
          </a:p>
          <a:p>
            <a:endParaRPr lang="en-US" dirty="0"/>
          </a:p>
        </p:txBody>
      </p:sp>
      <p:graphicFrame>
        <p:nvGraphicFramePr>
          <p:cNvPr id="4" name="Table 4"/>
          <p:cNvGraphicFramePr>
            <a:graphicFrameLocks noGrp="1"/>
          </p:cNvGraphicFramePr>
          <p:nvPr/>
        </p:nvGraphicFramePr>
        <p:xfrm>
          <a:off x="7469501" y="2438934"/>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4</a:t>
                      </a:r>
                      <a:endParaRPr lang="en-US" dirty="0"/>
                    </a:p>
                  </a:txBody>
                  <a:tcPr anchor="ctr">
                    <a:solidFill>
                      <a:srgbClr val="FFFF00"/>
                    </a:solidFill>
                  </a:tcPr>
                </a:tc>
                <a:tc>
                  <a:txBody>
                    <a:bodyPr/>
                    <a:lstStyle/>
                    <a:p>
                      <a:pPr algn="ctr"/>
                      <a:r>
                        <a:rPr lang="en-US" dirty="0"/>
                        <a:t>9</a:t>
                      </a:r>
                      <a:endParaRPr lang="en-US" dirty="0"/>
                    </a:p>
                  </a:txBody>
                  <a:tcPr anchor="ctr">
                    <a:solidFill>
                      <a:schemeClr val="bg1"/>
                    </a:solidFill>
                  </a:tcPr>
                </a:tc>
                <a:tc>
                  <a:txBody>
                    <a:bodyPr/>
                    <a:lstStyle/>
                    <a:p>
                      <a:pPr algn="ctr"/>
                      <a:r>
                        <a:rPr lang="en-US" dirty="0"/>
                        <a:t>14</a:t>
                      </a:r>
                      <a:endParaRPr lang="en-US" dirty="0"/>
                    </a:p>
                  </a:txBody>
                  <a:tcPr anchor="ctr">
                    <a:solidFill>
                      <a:schemeClr val="bg1"/>
                    </a:solidFill>
                  </a:tcPr>
                </a:tc>
                <a:tc>
                  <a:txBody>
                    <a:bodyPr/>
                    <a:lstStyle/>
                    <a:p>
                      <a:pPr algn="ctr"/>
                      <a:r>
                        <a:rPr lang="en-US" dirty="0"/>
                        <a:t>3</a:t>
                      </a:r>
                      <a:endParaRPr lang="en-US" dirty="0"/>
                    </a:p>
                  </a:txBody>
                  <a:tcPr anchor="ctr">
                    <a:solidFill>
                      <a:schemeClr val="bg1"/>
                    </a:solidFill>
                  </a:tcPr>
                </a:tc>
              </a:tr>
              <a:tr h="370840">
                <a:tc>
                  <a:txBody>
                    <a:bodyPr/>
                    <a:lstStyle/>
                    <a:p>
                      <a:pPr algn="ctr"/>
                      <a:r>
                        <a:rPr lang="en-US" dirty="0"/>
                        <a:t>8</a:t>
                      </a:r>
                      <a:endParaRPr lang="en-US" dirty="0"/>
                    </a:p>
                  </a:txBody>
                  <a:tcPr anchor="ctr">
                    <a:solidFill>
                      <a:schemeClr val="bg1"/>
                    </a:solidFill>
                  </a:tcPr>
                </a:tc>
                <a:tc>
                  <a:txBody>
                    <a:bodyPr/>
                    <a:lstStyle/>
                    <a:p>
                      <a:pPr algn="ctr"/>
                      <a:r>
                        <a:rPr lang="en-US" dirty="0"/>
                        <a:t>13</a:t>
                      </a:r>
                      <a:endParaRPr lang="en-US" dirty="0"/>
                    </a:p>
                  </a:txBody>
                  <a:tcPr anchor="ctr">
                    <a:solidFill>
                      <a:schemeClr val="accent1">
                        <a:lumMod val="40000"/>
                        <a:lumOff val="60000"/>
                      </a:schemeClr>
                    </a:solidFill>
                  </a:tcPr>
                </a:tc>
                <a:tc>
                  <a:txBody>
                    <a:bodyPr/>
                    <a:lstStyle/>
                    <a:p>
                      <a:pPr algn="ctr"/>
                      <a:r>
                        <a:rPr lang="en-US" dirty="0"/>
                        <a:t>2</a:t>
                      </a:r>
                      <a:endParaRPr lang="en-US" dirty="0"/>
                    </a:p>
                  </a:txBody>
                  <a:tcPr anchor="ctr">
                    <a:solidFill>
                      <a:schemeClr val="bg1"/>
                    </a:solidFill>
                  </a:tcPr>
                </a:tc>
                <a:tc>
                  <a:txBody>
                    <a:bodyPr/>
                    <a:lstStyle/>
                    <a:p>
                      <a:pPr algn="ctr"/>
                      <a:r>
                        <a:rPr lang="en-US" dirty="0"/>
                        <a:t>7</a:t>
                      </a:r>
                      <a:endParaRPr lang="en-US" dirty="0"/>
                    </a:p>
                  </a:txBody>
                  <a:tcPr anchor="ctr">
                    <a:solidFill>
                      <a:schemeClr val="bg1"/>
                    </a:solidFill>
                  </a:tcPr>
                </a:tc>
              </a:tr>
              <a:tr h="370840">
                <a:tc>
                  <a:txBody>
                    <a:bodyPr/>
                    <a:lstStyle/>
                    <a:p>
                      <a:pPr algn="ctr"/>
                      <a:r>
                        <a:rPr lang="en-US" dirty="0"/>
                        <a:t>12</a:t>
                      </a:r>
                      <a:endParaRPr lang="en-US" dirty="0"/>
                    </a:p>
                  </a:txBody>
                  <a:tcPr anchor="ctr">
                    <a:solidFill>
                      <a:schemeClr val="bg1"/>
                    </a:solidFill>
                  </a:tcPr>
                </a:tc>
                <a:tc>
                  <a:txBody>
                    <a:bodyPr/>
                    <a:lstStyle/>
                    <a:p>
                      <a:pPr algn="ctr"/>
                      <a:r>
                        <a:rPr lang="en-US" dirty="0"/>
                        <a:t>1</a:t>
                      </a:r>
                      <a:endParaRPr lang="en-US" dirty="0"/>
                    </a:p>
                  </a:txBody>
                  <a:tcPr anchor="ctr">
                    <a:solidFill>
                      <a:schemeClr val="bg1"/>
                    </a:solidFill>
                  </a:tcPr>
                </a:tc>
                <a:tc>
                  <a:txBody>
                    <a:bodyPr/>
                    <a:lstStyle/>
                    <a:p>
                      <a:pPr algn="ctr"/>
                      <a:r>
                        <a:rPr lang="en-US" dirty="0"/>
                        <a:t>6</a:t>
                      </a:r>
                      <a:endParaRPr lang="en-US" dirty="0"/>
                    </a:p>
                  </a:txBody>
                  <a:tcPr anchor="ctr">
                    <a:solidFill>
                      <a:schemeClr val="bg1"/>
                    </a:solidFill>
                  </a:tcPr>
                </a:tc>
                <a:tc>
                  <a:txBody>
                    <a:bodyPr/>
                    <a:lstStyle/>
                    <a:p>
                      <a:pPr algn="ctr"/>
                      <a:r>
                        <a:rPr lang="en-US" dirty="0"/>
                        <a:t>11</a:t>
                      </a:r>
                      <a:endParaRPr lang="en-US" dirty="0"/>
                    </a:p>
                  </a:txBody>
                  <a:tcPr anchor="ctr">
                    <a:solidFill>
                      <a:schemeClr val="bg1"/>
                    </a:solidFill>
                  </a:tcPr>
                </a:tc>
              </a:tr>
              <a:tr h="370840">
                <a:tc>
                  <a:txBody>
                    <a:bodyPr/>
                    <a:lstStyle/>
                    <a:p>
                      <a:pPr algn="ctr"/>
                      <a:r>
                        <a:rPr lang="en-US" dirty="0"/>
                        <a:t>0</a:t>
                      </a:r>
                      <a:endParaRPr lang="en-US" dirty="0"/>
                    </a:p>
                  </a:txBody>
                  <a:tcPr anchor="ctr">
                    <a:solidFill>
                      <a:schemeClr val="bg1"/>
                    </a:solidFill>
                  </a:tcPr>
                </a:tc>
                <a:tc>
                  <a:txBody>
                    <a:bodyPr/>
                    <a:lstStyle/>
                    <a:p>
                      <a:pPr algn="ctr"/>
                      <a:r>
                        <a:rPr lang="en-US" dirty="0"/>
                        <a:t>5</a:t>
                      </a:r>
                      <a:endParaRPr lang="en-US" dirty="0"/>
                    </a:p>
                  </a:txBody>
                  <a:tcPr anchor="ctr">
                    <a:solidFill>
                      <a:schemeClr val="bg1"/>
                    </a:solidFill>
                  </a:tcPr>
                </a:tc>
                <a:tc>
                  <a:txBody>
                    <a:bodyPr/>
                    <a:lstStyle/>
                    <a:p>
                      <a:pPr algn="ctr"/>
                      <a:r>
                        <a:rPr lang="en-US" dirty="0"/>
                        <a:t>10</a:t>
                      </a:r>
                      <a:endParaRPr lang="en-US" dirty="0"/>
                    </a:p>
                  </a:txBody>
                  <a:tcPr anchor="ctr">
                    <a:solidFill>
                      <a:srgbClr val="92D050"/>
                    </a:solidFill>
                  </a:tcPr>
                </a:tc>
                <a:tc>
                  <a:txBody>
                    <a:bodyPr/>
                    <a:lstStyle/>
                    <a:p>
                      <a:pPr algn="ctr"/>
                      <a:r>
                        <a:rPr lang="en-US" dirty="0"/>
                        <a:t>15</a:t>
                      </a:r>
                      <a:endParaRPr lang="en-US" dirty="0"/>
                    </a:p>
                  </a:txBody>
                  <a:tcPr anchor="ctr">
                    <a:solidFill>
                      <a:schemeClr val="bg1"/>
                    </a:solidFill>
                  </a:tcPr>
                </a:tc>
              </a:tr>
            </a:tbl>
          </a:graphicData>
        </a:graphic>
      </p:graphicFrame>
      <p:graphicFrame>
        <p:nvGraphicFramePr>
          <p:cNvPr id="5" name="Table 26"/>
          <p:cNvGraphicFramePr>
            <a:graphicFrameLocks noGrp="1"/>
          </p:cNvGraphicFramePr>
          <p:nvPr/>
        </p:nvGraphicFramePr>
        <p:xfrm>
          <a:off x="2755256" y="2438934"/>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1</a:t>
                      </a:r>
                      <a:endParaRPr lang="en-US" dirty="0"/>
                    </a:p>
                  </a:txBody>
                  <a:tcPr anchor="ctr">
                    <a:solidFill>
                      <a:srgbClr val="FFFF00"/>
                    </a:solidFill>
                  </a:tcPr>
                </a:tc>
                <a:tc>
                  <a:txBody>
                    <a:bodyPr/>
                    <a:lstStyle/>
                    <a:p>
                      <a:pPr algn="ctr"/>
                      <a:r>
                        <a:rPr lang="en-US" dirty="0"/>
                        <a:t>2</a:t>
                      </a:r>
                      <a:endParaRPr lang="en-US" dirty="0"/>
                    </a:p>
                  </a:txBody>
                  <a:tcPr anchor="ctr">
                    <a:solidFill>
                      <a:schemeClr val="bg1"/>
                    </a:solidFill>
                  </a:tcPr>
                </a:tc>
                <a:tc>
                  <a:txBody>
                    <a:bodyPr/>
                    <a:lstStyle/>
                    <a:p>
                      <a:pPr algn="ctr"/>
                      <a:r>
                        <a:rPr lang="en-US" dirty="0"/>
                        <a:t>3</a:t>
                      </a:r>
                      <a:endParaRPr lang="en-US" dirty="0"/>
                    </a:p>
                  </a:txBody>
                  <a:tcPr anchor="ctr">
                    <a:solidFill>
                      <a:schemeClr val="bg1"/>
                    </a:solidFill>
                  </a:tcPr>
                </a:tc>
                <a:tc>
                  <a:txBody>
                    <a:bodyPr/>
                    <a:lstStyle/>
                    <a:p>
                      <a:pPr algn="ctr"/>
                      <a:r>
                        <a:rPr lang="en-US" dirty="0"/>
                        <a:t>0</a:t>
                      </a:r>
                      <a:endParaRPr lang="en-US" dirty="0"/>
                    </a:p>
                  </a:txBody>
                  <a:tcPr anchor="ctr">
                    <a:solidFill>
                      <a:schemeClr val="bg1"/>
                    </a:solidFill>
                  </a:tcPr>
                </a:tc>
              </a:tr>
              <a:tr h="370840">
                <a:tc>
                  <a:txBody>
                    <a:bodyPr/>
                    <a:lstStyle/>
                    <a:p>
                      <a:pPr algn="ctr"/>
                      <a:r>
                        <a:rPr lang="en-US" dirty="0"/>
                        <a:t>6</a:t>
                      </a:r>
                      <a:endParaRPr lang="en-US" dirty="0"/>
                    </a:p>
                  </a:txBody>
                  <a:tcPr anchor="ctr">
                    <a:solidFill>
                      <a:schemeClr val="bg1"/>
                    </a:solidFill>
                  </a:tcPr>
                </a:tc>
                <a:tc>
                  <a:txBody>
                    <a:bodyPr/>
                    <a:lstStyle/>
                    <a:p>
                      <a:pPr algn="ctr"/>
                      <a:r>
                        <a:rPr lang="en-US" dirty="0"/>
                        <a:t>7</a:t>
                      </a:r>
                      <a:endParaRPr lang="en-US" dirty="0"/>
                    </a:p>
                  </a:txBody>
                  <a:tcPr anchor="ctr">
                    <a:solidFill>
                      <a:schemeClr val="accent1">
                        <a:lumMod val="40000"/>
                        <a:lumOff val="60000"/>
                      </a:schemeClr>
                    </a:solidFill>
                  </a:tcPr>
                </a:tc>
                <a:tc>
                  <a:txBody>
                    <a:bodyPr/>
                    <a:lstStyle/>
                    <a:p>
                      <a:pPr algn="ctr"/>
                      <a:r>
                        <a:rPr lang="en-US" dirty="0"/>
                        <a:t>4</a:t>
                      </a:r>
                      <a:endParaRPr lang="en-US" dirty="0"/>
                    </a:p>
                  </a:txBody>
                  <a:tcPr anchor="ctr">
                    <a:solidFill>
                      <a:schemeClr val="bg1"/>
                    </a:solidFill>
                  </a:tcPr>
                </a:tc>
                <a:tc>
                  <a:txBody>
                    <a:bodyPr/>
                    <a:lstStyle/>
                    <a:p>
                      <a:pPr algn="ctr"/>
                      <a:r>
                        <a:rPr lang="en-US" dirty="0"/>
                        <a:t>5</a:t>
                      </a:r>
                      <a:endParaRPr lang="en-US" dirty="0"/>
                    </a:p>
                  </a:txBody>
                  <a:tcPr anchor="ctr">
                    <a:solidFill>
                      <a:schemeClr val="bg1"/>
                    </a:solidFill>
                  </a:tcPr>
                </a:tc>
              </a:tr>
              <a:tr h="370840">
                <a:tc>
                  <a:txBody>
                    <a:bodyPr/>
                    <a:lstStyle/>
                    <a:p>
                      <a:pPr algn="ctr"/>
                      <a:r>
                        <a:rPr lang="en-US" dirty="0"/>
                        <a:t>11</a:t>
                      </a:r>
                      <a:endParaRPr lang="en-US" dirty="0"/>
                    </a:p>
                  </a:txBody>
                  <a:tcPr anchor="ctr">
                    <a:solidFill>
                      <a:schemeClr val="bg1"/>
                    </a:solidFill>
                  </a:tcPr>
                </a:tc>
                <a:tc>
                  <a:txBody>
                    <a:bodyPr/>
                    <a:lstStyle/>
                    <a:p>
                      <a:pPr algn="ctr"/>
                      <a:r>
                        <a:rPr lang="en-US" dirty="0"/>
                        <a:t>8</a:t>
                      </a:r>
                      <a:endParaRPr lang="en-US" dirty="0"/>
                    </a:p>
                  </a:txBody>
                  <a:tcPr anchor="ctr">
                    <a:solidFill>
                      <a:schemeClr val="bg1"/>
                    </a:solidFill>
                  </a:tcPr>
                </a:tc>
                <a:tc>
                  <a:txBody>
                    <a:bodyPr/>
                    <a:lstStyle/>
                    <a:p>
                      <a:pPr algn="ctr"/>
                      <a:r>
                        <a:rPr lang="en-US" dirty="0"/>
                        <a:t>9</a:t>
                      </a:r>
                      <a:endParaRPr lang="en-US" dirty="0"/>
                    </a:p>
                  </a:txBody>
                  <a:tcPr anchor="ctr">
                    <a:solidFill>
                      <a:schemeClr val="bg1"/>
                    </a:solidFill>
                  </a:tcPr>
                </a:tc>
                <a:tc>
                  <a:txBody>
                    <a:bodyPr/>
                    <a:lstStyle/>
                    <a:p>
                      <a:pPr algn="ctr"/>
                      <a:r>
                        <a:rPr lang="en-US" dirty="0"/>
                        <a:t>10</a:t>
                      </a:r>
                      <a:endParaRPr lang="en-US" dirty="0"/>
                    </a:p>
                  </a:txBody>
                  <a:tcPr anchor="ctr">
                    <a:solidFill>
                      <a:schemeClr val="bg1"/>
                    </a:solidFill>
                  </a:tcPr>
                </a:tc>
              </a:tr>
              <a:tr h="370840">
                <a:tc>
                  <a:txBody>
                    <a:bodyPr/>
                    <a:lstStyle/>
                    <a:p>
                      <a:pPr algn="ctr"/>
                      <a:r>
                        <a:rPr lang="en-US" dirty="0"/>
                        <a:t>12</a:t>
                      </a:r>
                      <a:endParaRPr lang="en-US" dirty="0"/>
                    </a:p>
                  </a:txBody>
                  <a:tcPr anchor="ctr">
                    <a:solidFill>
                      <a:schemeClr val="bg1"/>
                    </a:solidFill>
                  </a:tcPr>
                </a:tc>
                <a:tc>
                  <a:txBody>
                    <a:bodyPr/>
                    <a:lstStyle/>
                    <a:p>
                      <a:pPr algn="ctr"/>
                      <a:r>
                        <a:rPr lang="en-US" dirty="0"/>
                        <a:t>13</a:t>
                      </a:r>
                      <a:endParaRPr lang="en-US" dirty="0"/>
                    </a:p>
                  </a:txBody>
                  <a:tcPr anchor="ctr">
                    <a:solidFill>
                      <a:schemeClr val="bg1"/>
                    </a:solidFill>
                  </a:tcPr>
                </a:tc>
                <a:tc>
                  <a:txBody>
                    <a:bodyPr/>
                    <a:lstStyle/>
                    <a:p>
                      <a:pPr algn="ctr"/>
                      <a:r>
                        <a:rPr lang="en-US" dirty="0"/>
                        <a:t>14</a:t>
                      </a:r>
                      <a:endParaRPr lang="en-US" dirty="0"/>
                    </a:p>
                  </a:txBody>
                  <a:tcPr anchor="ctr">
                    <a:solidFill>
                      <a:srgbClr val="92D050"/>
                    </a:solidFill>
                  </a:tcPr>
                </a:tc>
                <a:tc>
                  <a:txBody>
                    <a:bodyPr/>
                    <a:lstStyle/>
                    <a:p>
                      <a:pPr algn="ctr"/>
                      <a:r>
                        <a:rPr lang="en-US" dirty="0"/>
                        <a:t>15</a:t>
                      </a:r>
                      <a:endParaRPr lang="en-US" dirty="0"/>
                    </a:p>
                  </a:txBody>
                  <a:tcPr anchor="ctr">
                    <a:solidFill>
                      <a:schemeClr val="bg1"/>
                    </a:solidFill>
                  </a:tcPr>
                </a:tc>
              </a:tr>
            </a:tbl>
          </a:graphicData>
        </a:graphic>
      </p:graphicFrame>
      <p:sp>
        <p:nvSpPr>
          <p:cNvPr id="16" name="TextBox 15"/>
          <p:cNvSpPr txBox="1"/>
          <p:nvPr/>
        </p:nvSpPr>
        <p:spPr>
          <a:xfrm>
            <a:off x="3838104" y="4012704"/>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sp>
        <p:nvSpPr>
          <p:cNvPr id="17" name="TextBox 16"/>
          <p:cNvSpPr txBox="1"/>
          <p:nvPr/>
        </p:nvSpPr>
        <p:spPr>
          <a:xfrm>
            <a:off x="8590632" y="3940696"/>
            <a:ext cx="344966" cy="461665"/>
          </a:xfrm>
          <a:prstGeom prst="rect">
            <a:avLst/>
          </a:prstGeom>
          <a:noFill/>
        </p:spPr>
        <p:txBody>
          <a:bodyPr wrap="none" rtlCol="0">
            <a:spAutoFit/>
          </a:bodyPr>
          <a:lstStyle/>
          <a:p>
            <a:r>
              <a:rPr lang="en-US" sz="2400" b="1" dirty="0">
                <a:solidFill>
                  <a:schemeClr val="accent1"/>
                </a:solidFill>
              </a:rPr>
              <a:t>Y</a:t>
            </a:r>
            <a:endParaRPr lang="en-US" sz="2400" b="1" dirty="0">
              <a:solidFill>
                <a:schemeClr val="accent1"/>
              </a:solidFill>
            </a:endParaRPr>
          </a:p>
        </p:txBody>
      </p:sp>
      <p:sp>
        <p:nvSpPr>
          <p:cNvPr id="18" name="TextBox 17"/>
          <p:cNvSpPr txBox="1"/>
          <p:nvPr/>
        </p:nvSpPr>
        <p:spPr>
          <a:xfrm>
            <a:off x="5566296" y="6025555"/>
            <a:ext cx="372218" cy="461665"/>
          </a:xfrm>
          <a:prstGeom prst="rect">
            <a:avLst/>
          </a:prstGeom>
          <a:noFill/>
        </p:spPr>
        <p:txBody>
          <a:bodyPr wrap="none" rtlCol="0">
            <a:spAutoFit/>
          </a:bodyPr>
          <a:lstStyle/>
          <a:p>
            <a:r>
              <a:rPr lang="en-US" sz="2400" b="1" dirty="0">
                <a:solidFill>
                  <a:schemeClr val="accent1"/>
                </a:solidFill>
              </a:rPr>
              <a:t>Z</a:t>
            </a:r>
            <a:endParaRPr lang="en-US" sz="2400" b="1" dirty="0">
              <a:solidFill>
                <a:schemeClr val="accent1"/>
              </a:solidFill>
            </a:endParaRPr>
          </a:p>
        </p:txBody>
      </p:sp>
      <p:graphicFrame>
        <p:nvGraphicFramePr>
          <p:cNvPr id="19" name="Table 4"/>
          <p:cNvGraphicFramePr>
            <a:graphicFrameLocks noGrp="1"/>
          </p:cNvGraphicFramePr>
          <p:nvPr/>
        </p:nvGraphicFramePr>
        <p:xfrm>
          <a:off x="4492265" y="4516760"/>
          <a:ext cx="2520280" cy="1483360"/>
        </p:xfrm>
        <a:graphic>
          <a:graphicData uri="http://schemas.openxmlformats.org/drawingml/2006/table">
            <a:tbl>
              <a:tblPr firstRow="1" bandRow="1">
                <a:tableStyleId>{5940675A-B579-460E-94D1-54222C63F5DA}</a:tableStyleId>
              </a:tblPr>
              <a:tblGrid>
                <a:gridCol w="630070"/>
                <a:gridCol w="630070"/>
                <a:gridCol w="630070"/>
                <a:gridCol w="630070"/>
              </a:tblGrid>
              <a:tr h="370840">
                <a:tc>
                  <a:txBody>
                    <a:bodyPr/>
                    <a:lstStyle/>
                    <a:p>
                      <a:pPr algn="ctr"/>
                      <a:r>
                        <a:rPr lang="en-US" dirty="0"/>
                        <a:t>0</a:t>
                      </a:r>
                      <a:endParaRPr lang="en-US" dirty="0"/>
                    </a:p>
                  </a:txBody>
                  <a:tcPr anchor="ctr">
                    <a:solidFill>
                      <a:srgbClr val="FFFF00"/>
                    </a:solidFill>
                  </a:tcP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c>
                  <a:txBody>
                    <a:bodyPr/>
                    <a:lstStyle/>
                    <a:p>
                      <a:pPr algn="ctr"/>
                      <a:r>
                        <a:rPr lang="en-US" dirty="0"/>
                        <a:t>3</a:t>
                      </a:r>
                      <a:endParaRPr lang="en-US" dirty="0"/>
                    </a:p>
                  </a:txBody>
                  <a:tcPr anchor="ctr"/>
                </a:tc>
              </a:tr>
              <a:tr h="370840">
                <a:tc>
                  <a:txBody>
                    <a:bodyPr/>
                    <a:lstStyle/>
                    <a:p>
                      <a:pPr algn="ctr"/>
                      <a:r>
                        <a:rPr lang="en-US" dirty="0"/>
                        <a:t>4</a:t>
                      </a:r>
                      <a:endParaRPr lang="en-US" dirty="0"/>
                    </a:p>
                  </a:txBody>
                  <a:tcPr anchor="ctr"/>
                </a:tc>
                <a:tc>
                  <a:txBody>
                    <a:bodyPr/>
                    <a:lstStyle/>
                    <a:p>
                      <a:pPr algn="ctr"/>
                      <a:r>
                        <a:rPr lang="en-US" dirty="0"/>
                        <a:t>5</a:t>
                      </a:r>
                      <a:endParaRPr lang="en-US" dirty="0"/>
                    </a:p>
                  </a:txBody>
                  <a:tcPr anchor="ctr">
                    <a:solidFill>
                      <a:schemeClr val="accent1">
                        <a:lumMod val="40000"/>
                        <a:lumOff val="60000"/>
                      </a:schemeClr>
                    </a:solidFill>
                  </a:tcPr>
                </a:tc>
                <a:tc>
                  <a:txBody>
                    <a:bodyPr/>
                    <a:lstStyle/>
                    <a:p>
                      <a:pPr algn="ctr"/>
                      <a:r>
                        <a:rPr lang="en-US" dirty="0"/>
                        <a:t>6</a:t>
                      </a:r>
                      <a:endParaRPr lang="en-US" dirty="0"/>
                    </a:p>
                  </a:txBody>
                  <a:tcPr anchor="ctr"/>
                </a:tc>
                <a:tc>
                  <a:txBody>
                    <a:bodyPr/>
                    <a:lstStyle/>
                    <a:p>
                      <a:pPr algn="ctr"/>
                      <a:r>
                        <a:rPr lang="en-US" dirty="0"/>
                        <a:t>7</a:t>
                      </a:r>
                      <a:endParaRPr lang="en-US" dirty="0"/>
                    </a:p>
                  </a:txBody>
                  <a:tcPr anchor="ctr"/>
                </a:tc>
              </a:tr>
              <a:tr h="370840">
                <a:tc>
                  <a:txBody>
                    <a:bodyPr/>
                    <a:lstStyle/>
                    <a:p>
                      <a:pPr algn="ctr"/>
                      <a:r>
                        <a:rPr lang="en-US" dirty="0"/>
                        <a:t>8</a:t>
                      </a:r>
                      <a:endParaRPr lang="en-US" dirty="0"/>
                    </a:p>
                  </a:txBody>
                  <a:tcPr anchor="ctr"/>
                </a:tc>
                <a:tc>
                  <a:txBody>
                    <a:bodyPr/>
                    <a:lstStyle/>
                    <a:p>
                      <a:pPr algn="ctr"/>
                      <a:r>
                        <a:rPr lang="en-US" dirty="0"/>
                        <a:t>9</a:t>
                      </a:r>
                      <a:endParaRPr lang="en-US" dirty="0"/>
                    </a:p>
                  </a:txBody>
                  <a:tcPr anchor="ctr"/>
                </a:tc>
                <a:tc>
                  <a:txBody>
                    <a:bodyPr/>
                    <a:lstStyle/>
                    <a:p>
                      <a:pPr algn="ctr"/>
                      <a:r>
                        <a:rPr lang="en-US" dirty="0"/>
                        <a:t>10</a:t>
                      </a:r>
                      <a:endParaRPr lang="en-US" dirty="0"/>
                    </a:p>
                  </a:txBody>
                  <a:tcPr anchor="ctr"/>
                </a:tc>
                <a:tc>
                  <a:txBody>
                    <a:bodyPr/>
                    <a:lstStyle/>
                    <a:p>
                      <a:pPr algn="ctr"/>
                      <a:r>
                        <a:rPr lang="en-US" dirty="0"/>
                        <a:t>11</a:t>
                      </a:r>
                      <a:endParaRPr lang="en-US" dirty="0"/>
                    </a:p>
                  </a:txBody>
                  <a:tcPr anchor="ctr"/>
                </a:tc>
              </a:tr>
              <a:tr h="370840">
                <a:tc>
                  <a:txBody>
                    <a:bodyPr/>
                    <a:lstStyle/>
                    <a:p>
                      <a:pPr algn="ctr"/>
                      <a:r>
                        <a:rPr lang="en-US" dirty="0"/>
                        <a:t>12</a:t>
                      </a:r>
                      <a:endParaRPr lang="en-US" dirty="0"/>
                    </a:p>
                  </a:txBody>
                  <a:tcPr anchor="ctr"/>
                </a:tc>
                <a:tc>
                  <a:txBody>
                    <a:bodyPr/>
                    <a:lstStyle/>
                    <a:p>
                      <a:pPr algn="ctr"/>
                      <a:r>
                        <a:rPr lang="en-US" dirty="0"/>
                        <a:t>13</a:t>
                      </a:r>
                      <a:endParaRPr lang="en-US" dirty="0"/>
                    </a:p>
                  </a:txBody>
                  <a:tcPr anchor="ctr"/>
                </a:tc>
                <a:tc>
                  <a:txBody>
                    <a:bodyPr/>
                    <a:lstStyle/>
                    <a:p>
                      <a:pPr algn="ctr"/>
                      <a:r>
                        <a:rPr lang="en-US" dirty="0"/>
                        <a:t>14</a:t>
                      </a:r>
                      <a:endParaRPr lang="en-US" dirty="0"/>
                    </a:p>
                  </a:txBody>
                  <a:tcPr anchor="ctr">
                    <a:solidFill>
                      <a:srgbClr val="92D050"/>
                    </a:solidFill>
                  </a:tcPr>
                </a:tc>
                <a:tc>
                  <a:txBody>
                    <a:bodyPr/>
                    <a:lstStyle/>
                    <a:p>
                      <a:pPr algn="ctr"/>
                      <a:r>
                        <a:rPr lang="en-US" dirty="0"/>
                        <a:t>15</a:t>
                      </a:r>
                      <a:endParaRPr lang="en-US" dirty="0"/>
                    </a:p>
                  </a:txBody>
                  <a:tcPr anchor="ct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iterate
</a:t>
            </a:r>
            <a:endParaRPr lang="en-US" dirty="0"/>
          </a:p>
        </p:txBody>
      </p:sp>
      <p:sp>
        <p:nvSpPr>
          <p:cNvPr id="3" name="内容占位符 2"/>
          <p:cNvSpPr>
            <a:spLocks noGrp="1"/>
          </p:cNvSpPr>
          <p:nvPr>
            <p:ph idx="1"/>
          </p:nvPr>
        </p:nvSpPr>
        <p:spPr/>
        <p:txBody>
          <a:bodyPr/>
          <a:lstStyle/>
          <a:p>
            <a:r>
              <a:rPr lang="en-US" altLang="zh-CN" dirty="0"/>
              <a:t>Repeat the calculation + rotate process B times, and the data retained by each node at the end is what we want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82058" y="2803724"/>
            <a:ext cx="8203602" cy="1609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r>
              <a:rPr lang="en-US" altLang="zh-CN" dirty="0"/>
              <a:t>code</a:t>
            </a:r>
            <a:endParaRPr lang="en-US" dirty="0"/>
          </a:p>
        </p:txBody>
      </p:sp>
      <p:sp>
        <p:nvSpPr>
          <p:cNvPr id="3" name="内容占位符 2"/>
          <p:cNvSpPr>
            <a:spLocks noGrp="1"/>
          </p:cNvSpPr>
          <p:nvPr>
            <p:ph idx="1"/>
          </p:nvPr>
        </p:nvSpPr>
        <p:spPr>
          <a:xfrm>
            <a:off x="523030" y="1420416"/>
            <a:ext cx="12012613" cy="7678737"/>
          </a:xfrm>
        </p:spPr>
        <p:txBody>
          <a:bodyPr/>
          <a:lstStyle/>
          <a:p>
            <a:r>
              <a:rPr lang="en-US" altLang="zh-CN" dirty="0"/>
              <a:t>The rotation operations used here are directly supported in MPI. It requires: 1) define a looping </a:t>
            </a:r>
            <a:r>
              <a:rPr lang="en-US" altLang="zh-CN" dirty="0" err="1"/>
              <a:t>topolopy</a:t>
            </a:r>
            <a:r>
              <a:rPr lang="en-US" altLang="zh-CN" dirty="0"/>
              <a:t>,</a:t>
            </a:r>
            <a:endParaRPr lang="en-US" altLang="zh-CN" dirty="0"/>
          </a:p>
          <a:p>
            <a:endParaRPr lang="en-US" altLang="zh-CN" dirty="0"/>
          </a:p>
          <a:p>
            <a:endParaRPr lang="en-US" altLang="zh-CN" dirty="0"/>
          </a:p>
          <a:p>
            <a:endParaRPr lang="en-US" altLang="zh-CN" dirty="0"/>
          </a:p>
          <a:p>
            <a:r>
              <a:rPr lang="en-US" altLang="zh-CN" dirty="0"/>
              <a:t>2) Use the shift method to query the source and destination of the data stored in the rotation of this node
</a:t>
            </a:r>
            <a:endParaRPr lang="en-US" altLang="zh-CN" dirty="0"/>
          </a:p>
          <a:p>
            <a:r>
              <a:rPr lang="en-US" altLang="zh-CN" dirty="0"/>
              <a:t>For example, for node 5, for X (horizontal), it needs to send to 4 and receive 6; For Y (vertical), it needs to go to 1 and receive 9
</a:t>
            </a:r>
            <a:endParaRPr lang="en-US" altLang="zh-CN" dirty="0"/>
          </a:p>
        </p:txBody>
      </p:sp>
      <p:sp>
        <p:nvSpPr>
          <p:cNvPr id="4" name="矩形 3"/>
          <p:cNvSpPr/>
          <p:nvPr/>
        </p:nvSpPr>
        <p:spPr bwMode="auto">
          <a:xfrm>
            <a:off x="7294488" y="3128864"/>
            <a:ext cx="2664296" cy="504056"/>
          </a:xfrm>
          <a:prstGeom prst="rect">
            <a:avLst/>
          </a:prstGeom>
          <a:noFill/>
          <a:ln w="38100" cap="flat" cmpd="sng" algn="ctr">
            <a:solidFill>
              <a:srgbClr val="FF0000"/>
            </a:solidFill>
            <a:prstDash val="solid"/>
            <a:miter lim="400000"/>
            <a:headEnd type="none" w="med" len="med"/>
            <a:tailEnd type="none" w="med" len="med"/>
          </a:ln>
          <a:effectLst/>
        </p:spPr>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0723" y="5796361"/>
            <a:ext cx="4405913"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 name="Table 4"/>
          <p:cNvGraphicFramePr>
            <a:graphicFrameLocks noGrp="1"/>
          </p:cNvGraphicFramePr>
          <p:nvPr/>
        </p:nvGraphicFramePr>
        <p:xfrm>
          <a:off x="5075664" y="7757120"/>
          <a:ext cx="2794888" cy="1728192"/>
        </p:xfrm>
        <a:graphic>
          <a:graphicData uri="http://schemas.openxmlformats.org/drawingml/2006/table">
            <a:tbl>
              <a:tblPr firstRow="1" bandRow="1">
                <a:tableStyleId>{5940675A-B579-460E-94D1-54222C63F5DA}</a:tableStyleId>
              </a:tblPr>
              <a:tblGrid>
                <a:gridCol w="698722"/>
                <a:gridCol w="698722"/>
                <a:gridCol w="698722"/>
                <a:gridCol w="698722"/>
              </a:tblGrid>
              <a:tr h="432048">
                <a:tc>
                  <a:txBody>
                    <a:bodyPr/>
                    <a:lstStyle/>
                    <a:p>
                      <a:pPr algn="ctr"/>
                      <a:r>
                        <a:rPr lang="en-US" dirty="0"/>
                        <a:t>0</a:t>
                      </a:r>
                      <a:endParaRPr lang="en-US" dirty="0"/>
                    </a:p>
                  </a:txBody>
                  <a:tcPr anchor="ctr">
                    <a:noFill/>
                  </a:tcP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c>
                  <a:txBody>
                    <a:bodyPr/>
                    <a:lstStyle/>
                    <a:p>
                      <a:pPr algn="ctr"/>
                      <a:r>
                        <a:rPr lang="en-US" dirty="0"/>
                        <a:t>3</a:t>
                      </a:r>
                      <a:endParaRPr lang="en-US" dirty="0"/>
                    </a:p>
                  </a:txBody>
                  <a:tcPr anchor="ctr"/>
                </a:tc>
              </a:tr>
              <a:tr h="432048">
                <a:tc>
                  <a:txBody>
                    <a:bodyPr/>
                    <a:lstStyle/>
                    <a:p>
                      <a:pPr algn="ctr"/>
                      <a:r>
                        <a:rPr lang="en-US" dirty="0"/>
                        <a:t>4</a:t>
                      </a:r>
                      <a:endParaRPr lang="en-US" dirty="0"/>
                    </a:p>
                  </a:txBody>
                  <a:tcPr anchor="ctr"/>
                </a:tc>
                <a:tc>
                  <a:txBody>
                    <a:bodyPr/>
                    <a:lstStyle/>
                    <a:p>
                      <a:pPr algn="ctr"/>
                      <a:r>
                        <a:rPr lang="en-US" dirty="0"/>
                        <a:t>5</a:t>
                      </a:r>
                      <a:endParaRPr lang="en-US" dirty="0"/>
                    </a:p>
                  </a:txBody>
                  <a:tcPr anchor="ctr">
                    <a:solidFill>
                      <a:schemeClr val="accent1">
                        <a:lumMod val="40000"/>
                        <a:lumOff val="60000"/>
                      </a:schemeClr>
                    </a:solidFill>
                  </a:tcPr>
                </a:tc>
                <a:tc>
                  <a:txBody>
                    <a:bodyPr/>
                    <a:lstStyle/>
                    <a:p>
                      <a:pPr algn="ctr"/>
                      <a:r>
                        <a:rPr lang="en-US" dirty="0"/>
                        <a:t>6</a:t>
                      </a:r>
                      <a:endParaRPr lang="en-US" dirty="0"/>
                    </a:p>
                  </a:txBody>
                  <a:tcPr anchor="ctr"/>
                </a:tc>
                <a:tc>
                  <a:txBody>
                    <a:bodyPr/>
                    <a:lstStyle/>
                    <a:p>
                      <a:pPr algn="ctr"/>
                      <a:r>
                        <a:rPr lang="en-US" dirty="0"/>
                        <a:t>7</a:t>
                      </a:r>
                      <a:endParaRPr lang="en-US" dirty="0"/>
                    </a:p>
                  </a:txBody>
                  <a:tcPr anchor="ctr"/>
                </a:tc>
              </a:tr>
              <a:tr h="432048">
                <a:tc>
                  <a:txBody>
                    <a:bodyPr/>
                    <a:lstStyle/>
                    <a:p>
                      <a:pPr algn="ctr"/>
                      <a:r>
                        <a:rPr lang="en-US" dirty="0"/>
                        <a:t>8</a:t>
                      </a:r>
                      <a:endParaRPr lang="en-US" dirty="0"/>
                    </a:p>
                  </a:txBody>
                  <a:tcPr anchor="ctr"/>
                </a:tc>
                <a:tc>
                  <a:txBody>
                    <a:bodyPr/>
                    <a:lstStyle/>
                    <a:p>
                      <a:pPr algn="ctr"/>
                      <a:r>
                        <a:rPr lang="en-US" dirty="0"/>
                        <a:t>9</a:t>
                      </a:r>
                      <a:endParaRPr lang="en-US" dirty="0"/>
                    </a:p>
                  </a:txBody>
                  <a:tcPr anchor="ctr"/>
                </a:tc>
                <a:tc>
                  <a:txBody>
                    <a:bodyPr/>
                    <a:lstStyle/>
                    <a:p>
                      <a:pPr algn="ctr"/>
                      <a:r>
                        <a:rPr lang="en-US" dirty="0"/>
                        <a:t>10</a:t>
                      </a:r>
                      <a:endParaRPr lang="en-US" dirty="0"/>
                    </a:p>
                  </a:txBody>
                  <a:tcPr anchor="ctr"/>
                </a:tc>
                <a:tc>
                  <a:txBody>
                    <a:bodyPr/>
                    <a:lstStyle/>
                    <a:p>
                      <a:pPr algn="ctr"/>
                      <a:r>
                        <a:rPr lang="en-US" dirty="0"/>
                        <a:t>11</a:t>
                      </a:r>
                      <a:endParaRPr lang="en-US" dirty="0"/>
                    </a:p>
                  </a:txBody>
                  <a:tcPr anchor="ctr"/>
                </a:tc>
              </a:tr>
              <a:tr h="432048">
                <a:tc>
                  <a:txBody>
                    <a:bodyPr/>
                    <a:lstStyle/>
                    <a:p>
                      <a:pPr algn="ctr"/>
                      <a:r>
                        <a:rPr lang="en-US" dirty="0"/>
                        <a:t>12</a:t>
                      </a:r>
                      <a:endParaRPr lang="en-US" dirty="0"/>
                    </a:p>
                  </a:txBody>
                  <a:tcPr anchor="ctr"/>
                </a:tc>
                <a:tc>
                  <a:txBody>
                    <a:bodyPr/>
                    <a:lstStyle/>
                    <a:p>
                      <a:pPr algn="ctr"/>
                      <a:r>
                        <a:rPr lang="en-US" dirty="0"/>
                        <a:t>13</a:t>
                      </a:r>
                      <a:endParaRPr lang="en-US" dirty="0"/>
                    </a:p>
                  </a:txBody>
                  <a:tcPr anchor="ctr"/>
                </a:tc>
                <a:tc>
                  <a:txBody>
                    <a:bodyPr/>
                    <a:lstStyle/>
                    <a:p>
                      <a:pPr algn="ctr"/>
                      <a:r>
                        <a:rPr lang="en-US" dirty="0"/>
                        <a:t>14</a:t>
                      </a:r>
                      <a:endParaRPr lang="en-US" dirty="0"/>
                    </a:p>
                  </a:txBody>
                  <a:tcPr anchor="ctr">
                    <a:noFill/>
                  </a:tcPr>
                </a:tc>
                <a:tc>
                  <a:txBody>
                    <a:bodyPr/>
                    <a:lstStyle/>
                    <a:p>
                      <a:pPr algn="ctr"/>
                      <a:r>
                        <a:rPr lang="en-US" dirty="0"/>
                        <a:t>15</a:t>
                      </a:r>
                      <a:endParaRPr lang="en-US" dirty="0"/>
                    </a:p>
                  </a:txBody>
                  <a:tcPr anchor="ct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Sample output
</a:t>
            </a:r>
            <a:endParaRPr lang="en-US" dirty="0"/>
          </a:p>
        </p:txBody>
      </p:sp>
      <p:sp>
        <p:nvSpPr>
          <p:cNvPr id="3" name="Content Placeholder 2"/>
          <p:cNvSpPr>
            <a:spLocks noGrp="1"/>
          </p:cNvSpPr>
          <p:nvPr>
            <p:ph idx="1"/>
          </p:nvPr>
        </p:nvSpPr>
        <p:spPr/>
        <p:txBody>
          <a:bodyPr/>
          <a:lstStyle/>
          <a:p>
            <a:endParaRPr lang="en-US" dirty="0"/>
          </a:p>
        </p:txBody>
      </p:sp>
      <p:grpSp>
        <p:nvGrpSpPr>
          <p:cNvPr id="9" name="Group 8"/>
          <p:cNvGrpSpPr/>
          <p:nvPr/>
        </p:nvGrpSpPr>
        <p:grpSpPr>
          <a:xfrm>
            <a:off x="2089175" y="1286346"/>
            <a:ext cx="9001000" cy="3785531"/>
            <a:chOff x="2109912" y="1492424"/>
            <a:chExt cx="9001000" cy="3785531"/>
          </a:xfrm>
        </p:grpSpPr>
        <p:pic>
          <p:nvPicPr>
            <p:cNvPr id="5" name="Picture 4"/>
            <p:cNvPicPr>
              <a:picLocks noChangeAspect="1"/>
            </p:cNvPicPr>
            <p:nvPr/>
          </p:nvPicPr>
          <p:blipFill>
            <a:blip r:embed="rId1"/>
            <a:stretch>
              <a:fillRect/>
            </a:stretch>
          </p:blipFill>
          <p:spPr>
            <a:xfrm>
              <a:off x="2974008" y="1492424"/>
              <a:ext cx="7231334" cy="3785531"/>
            </a:xfrm>
            <a:prstGeom prst="rect">
              <a:avLst/>
            </a:prstGeom>
          </p:spPr>
        </p:pic>
        <p:sp>
          <p:nvSpPr>
            <p:cNvPr id="6" name="Rectangle 5"/>
            <p:cNvSpPr/>
            <p:nvPr/>
          </p:nvSpPr>
          <p:spPr bwMode="auto">
            <a:xfrm>
              <a:off x="2109912" y="3652664"/>
              <a:ext cx="9001000" cy="288032"/>
            </a:xfrm>
            <a:prstGeom prst="rect">
              <a:avLst/>
            </a:prstGeom>
            <a:noFill/>
            <a:ln w="38100" cap="flat" cmpd="sng" algn="ctr">
              <a:solidFill>
                <a:srgbClr val="FF0000"/>
              </a:solidFill>
              <a:prstDash val="solid"/>
              <a:miter lim="400000"/>
              <a:headEnd type="none" w="med" len="med"/>
              <a:tailEnd type="none" w="med" len="med"/>
            </a:ln>
            <a:effectLst/>
          </p:spPr>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pSp>
      <p:pic>
        <p:nvPicPr>
          <p:cNvPr id="8" name="Picture 7"/>
          <p:cNvPicPr>
            <a:picLocks noChangeAspect="1"/>
          </p:cNvPicPr>
          <p:nvPr/>
        </p:nvPicPr>
        <p:blipFill>
          <a:blip r:embed="rId2"/>
          <a:stretch>
            <a:fillRect/>
          </a:stretch>
        </p:blipFill>
        <p:spPr>
          <a:xfrm>
            <a:off x="2974008" y="5203031"/>
            <a:ext cx="7231334" cy="3840864"/>
          </a:xfrm>
          <a:prstGeom prst="rect">
            <a:avLst/>
          </a:prstGeom>
        </p:spPr>
      </p:pic>
      <p:sp>
        <p:nvSpPr>
          <p:cNvPr id="10" name="Rectangle 9"/>
          <p:cNvSpPr/>
          <p:nvPr/>
        </p:nvSpPr>
        <p:spPr bwMode="auto">
          <a:xfrm>
            <a:off x="2109912" y="5668888"/>
            <a:ext cx="9001000" cy="288032"/>
          </a:xfrm>
          <a:prstGeom prst="rect">
            <a:avLst/>
          </a:prstGeom>
          <a:noFill/>
          <a:ln w="38100" cap="flat" cmpd="sng" algn="ctr">
            <a:solidFill>
              <a:srgbClr val="FF0000"/>
            </a:solidFill>
            <a:prstDash val="solid"/>
            <a:miter lim="400000"/>
            <a:headEnd type="none" w="med" len="med"/>
            <a:tailEnd type="none" w="med" len="med"/>
          </a:ln>
          <a:effectLst/>
        </p:spPr>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code</a:t>
            </a:r>
            <a:endParaRPr lang="en-US" dirty="0"/>
          </a:p>
        </p:txBody>
      </p:sp>
      <p:sp>
        <p:nvSpPr>
          <p:cNvPr id="3" name="内容占位符 2"/>
          <p:cNvSpPr>
            <a:spLocks noGrp="1"/>
          </p:cNvSpPr>
          <p:nvPr>
            <p:ph idx="1"/>
          </p:nvPr>
        </p:nvSpPr>
        <p:spPr/>
        <p:txBody>
          <a:bodyPr/>
          <a:lstStyle/>
          <a:p>
            <a:r>
              <a:rPr lang="en-US" dirty="0"/>
              <a:t>3) </a:t>
            </a:r>
            <a:r>
              <a:rPr lang="en-US" altLang="zh-CN" dirty="0"/>
              <a:t>MPI relay communication: Trigger multiple transmit and receive processes simultaneously. This function not only makes the rotation operations simple, but also has the possibility of optimizing them with specific hardware.
</a:t>
            </a:r>
            <a:endParaRPr lang="en-US" dirty="0"/>
          </a:p>
          <a:p>
            <a:endParaRPr lang="en-US" dirty="0"/>
          </a:p>
          <a:p>
            <a:endParaRPr lang="en-US" dirty="0"/>
          </a:p>
          <a:p>
            <a:endParaRPr lang="en-US" dirty="0"/>
          </a:p>
          <a:p>
            <a:endParaRPr lang="en-US" dirty="0"/>
          </a:p>
          <a:p>
            <a:endParaRPr lang="en-US" dirty="0"/>
          </a:p>
          <a:p>
            <a:endParaRPr lang="en-US" dirty="0"/>
          </a:p>
          <a:p>
            <a:r>
              <a:rPr lang="en-US" altLang="zh-CN" dirty="0"/>
              <a:t>*If the software-defined topology and hardware network match, the resources will be fully utilized!</a:t>
            </a:r>
            <a:endParaRPr lang="en-US" dirty="0"/>
          </a:p>
        </p:txBody>
      </p:sp>
      <p:pic>
        <p:nvPicPr>
          <p:cNvPr id="205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27617"/>
          <a:stretch>
            <a:fillRect/>
          </a:stretch>
        </p:blipFill>
        <p:spPr bwMode="auto">
          <a:xfrm>
            <a:off x="453728" y="3468637"/>
            <a:ext cx="12160768" cy="472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rotWithShape="1">
          <a:blip r:embed="rId2"/>
          <a:srcRect l="36307" r="31391"/>
          <a:stretch>
            <a:fillRect/>
          </a:stretch>
        </p:blipFill>
        <p:spPr>
          <a:xfrm>
            <a:off x="4198144" y="4156721"/>
            <a:ext cx="3600502" cy="3312370"/>
          </a:xfrm>
          <a:prstGeom prst="rect">
            <a:avLst/>
          </a:prstGeom>
        </p:spPr>
      </p:pic>
      <p:sp>
        <p:nvSpPr>
          <p:cNvPr id="6" name="TextBox 5"/>
          <p:cNvSpPr txBox="1"/>
          <p:nvPr/>
        </p:nvSpPr>
        <p:spPr>
          <a:xfrm>
            <a:off x="4918224" y="7466651"/>
            <a:ext cx="2556233" cy="400110"/>
          </a:xfrm>
          <a:prstGeom prst="rect">
            <a:avLst/>
          </a:prstGeom>
          <a:noFill/>
        </p:spPr>
        <p:txBody>
          <a:bodyPr wrap="square" rtlCol="0">
            <a:spAutoFit/>
          </a:bodyPr>
          <a:lstStyle/>
          <a:p>
            <a:r>
              <a:rPr lang="en-US" altLang="zh-CN" sz="2000" dirty="0"/>
              <a:t>2-D wraparound grid</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DNS algorithm
</a:t>
            </a:r>
            <a:endParaRPr lang="en-US" dirty="0"/>
          </a:p>
        </p:txBody>
      </p:sp>
      <p:sp>
        <p:nvSpPr>
          <p:cNvPr id="3" name="内容占位符 2"/>
          <p:cNvSpPr>
            <a:spLocks noGrp="1"/>
          </p:cNvSpPr>
          <p:nvPr>
            <p:ph idx="1"/>
          </p:nvPr>
        </p:nvSpPr>
        <p:spPr/>
        <p:txBody>
          <a:bodyPr/>
          <a:lstStyle/>
          <a:p>
            <a:r>
              <a:rPr lang="en-US" altLang="zh-CN" sz="2800" dirty="0"/>
              <a:t>Simple and </a:t>
            </a:r>
            <a:r>
              <a:rPr lang="en-US" altLang="zh-CN" sz="2800" dirty="0" err="1"/>
              <a:t>Connon‘s</a:t>
            </a:r>
            <a:r>
              <a:rPr lang="en-US" altLang="zh-CN" sz="2800" dirty="0"/>
              <a:t> algorithms, using O(N^2) processors - can it be faster?
Yes! With O(N^3) processors, The program can be further accelerated. The basic idea is to use nodes to process intermediate data (has N^3), not inputs or outputs (only N^2).</a:t>
            </a:r>
            <a:endParaRPr lang="en-US" altLang="zh-CN" sz="2800" dirty="0"/>
          </a:p>
          <a:p>
            <a:r>
              <a:rPr lang="en-US" altLang="zh-CN" sz="2800" dirty="0"/>
              <a:t>Steps:</a:t>
            </a:r>
            <a:endParaRPr lang="en-US" altLang="zh-CN" sz="2800" dirty="0"/>
          </a:p>
          <a:p>
            <a:pPr lvl="1"/>
            <a:r>
              <a:rPr lang="en-US" altLang="zh-CN" sz="2800" dirty="0"/>
              <a:t>First of all, put the data to the 0~N^2-1 node, which is the same as before</a:t>
            </a:r>
            <a:endParaRPr lang="en-US" altLang="zh-CN" sz="2800" dirty="0"/>
          </a:p>
          <a:p>
            <a:endParaRPr lang="en-US" sz="2800" dirty="0"/>
          </a:p>
        </p:txBody>
      </p:sp>
      <p:graphicFrame>
        <p:nvGraphicFramePr>
          <p:cNvPr id="4" name="Table 4"/>
          <p:cNvGraphicFramePr>
            <a:graphicFrameLocks noGrp="1"/>
          </p:cNvGraphicFramePr>
          <p:nvPr/>
        </p:nvGraphicFramePr>
        <p:xfrm>
          <a:off x="2902000" y="8127151"/>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r>
              <a:tr h="370840">
                <a:tc>
                  <a:txBody>
                    <a:bodyPr/>
                    <a:lstStyle/>
                    <a:p>
                      <a:pPr algn="ctr"/>
                      <a:r>
                        <a:rPr lang="en-US" dirty="0"/>
                        <a:t>3</a:t>
                      </a:r>
                      <a:endParaRPr lang="en-US" dirty="0"/>
                    </a:p>
                  </a:txBody>
                  <a:tcPr anchor="ctr"/>
                </a:tc>
                <a:tc>
                  <a:txBody>
                    <a:bodyPr/>
                    <a:lstStyle/>
                    <a:p>
                      <a:pPr algn="ctr"/>
                      <a:r>
                        <a:rPr lang="en-US" dirty="0"/>
                        <a:t>4</a:t>
                      </a:r>
                      <a:endParaRPr lang="en-US" dirty="0"/>
                    </a:p>
                  </a:txBody>
                  <a:tcPr anchor="ctr"/>
                </a:tc>
                <a:tc>
                  <a:txBody>
                    <a:bodyPr/>
                    <a:lstStyle/>
                    <a:p>
                      <a:pPr algn="ctr"/>
                      <a:r>
                        <a:rPr lang="en-US" dirty="0"/>
                        <a:t>5</a:t>
                      </a:r>
                      <a:endParaRPr lang="en-US" dirty="0"/>
                    </a:p>
                  </a:txBody>
                  <a:tcPr anchor="ctr"/>
                </a:tc>
              </a:tr>
              <a:tr h="370840">
                <a:tc>
                  <a:txBody>
                    <a:bodyPr/>
                    <a:lstStyle/>
                    <a:p>
                      <a:pPr algn="ctr"/>
                      <a:r>
                        <a:rPr lang="en-US" dirty="0"/>
                        <a:t>6</a:t>
                      </a:r>
                      <a:endParaRPr lang="en-US" dirty="0"/>
                    </a:p>
                  </a:txBody>
                  <a:tcPr anchor="ctr"/>
                </a:tc>
                <a:tc>
                  <a:txBody>
                    <a:bodyPr/>
                    <a:lstStyle/>
                    <a:p>
                      <a:pPr algn="ctr"/>
                      <a:r>
                        <a:rPr lang="en-US" dirty="0"/>
                        <a:t>7</a:t>
                      </a:r>
                      <a:endParaRPr lang="en-US" dirty="0"/>
                    </a:p>
                  </a:txBody>
                  <a:tcPr anchor="ctr"/>
                </a:tc>
                <a:tc>
                  <a:txBody>
                    <a:bodyPr/>
                    <a:lstStyle/>
                    <a:p>
                      <a:pPr algn="ctr"/>
                      <a:r>
                        <a:rPr lang="en-US" dirty="0"/>
                        <a:t>8</a:t>
                      </a:r>
                      <a:endParaRPr lang="en-US" dirty="0"/>
                    </a:p>
                  </a:txBody>
                  <a:tcPr anchor="ctr"/>
                </a:tc>
              </a:tr>
            </a:tbl>
          </a:graphicData>
        </a:graphic>
      </p:graphicFrame>
      <p:sp>
        <p:nvSpPr>
          <p:cNvPr id="5" name="TextBox 4"/>
          <p:cNvSpPr txBox="1"/>
          <p:nvPr/>
        </p:nvSpPr>
        <p:spPr>
          <a:xfrm>
            <a:off x="3622080" y="9239671"/>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sp>
        <p:nvSpPr>
          <p:cNvPr id="7" name="TextBox 6"/>
          <p:cNvSpPr txBox="1"/>
          <p:nvPr/>
        </p:nvSpPr>
        <p:spPr>
          <a:xfrm>
            <a:off x="9109762" y="9239671"/>
            <a:ext cx="344966" cy="461665"/>
          </a:xfrm>
          <a:prstGeom prst="rect">
            <a:avLst/>
          </a:prstGeom>
          <a:noFill/>
        </p:spPr>
        <p:txBody>
          <a:bodyPr wrap="none" rtlCol="0">
            <a:spAutoFit/>
          </a:bodyPr>
          <a:lstStyle/>
          <a:p>
            <a:r>
              <a:rPr lang="en-US" sz="2400" b="1" dirty="0">
                <a:solidFill>
                  <a:schemeClr val="accent1"/>
                </a:solidFill>
              </a:rPr>
              <a:t>Y</a:t>
            </a:r>
            <a:endParaRPr lang="en-US" sz="2400" b="1" dirty="0">
              <a:solidFill>
                <a:schemeClr val="accent1"/>
              </a:solidFill>
            </a:endParaRPr>
          </a:p>
        </p:txBody>
      </p:sp>
      <p:graphicFrame>
        <p:nvGraphicFramePr>
          <p:cNvPr id="8" name="Table 4"/>
          <p:cNvGraphicFramePr>
            <a:graphicFrameLocks noGrp="1"/>
          </p:cNvGraphicFramePr>
          <p:nvPr/>
        </p:nvGraphicFramePr>
        <p:xfrm>
          <a:off x="8322066" y="8127151"/>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r>
              <a:tr h="370840">
                <a:tc>
                  <a:txBody>
                    <a:bodyPr/>
                    <a:lstStyle/>
                    <a:p>
                      <a:pPr algn="ctr"/>
                      <a:r>
                        <a:rPr lang="en-US" dirty="0"/>
                        <a:t>3</a:t>
                      </a:r>
                      <a:endParaRPr lang="en-US" dirty="0"/>
                    </a:p>
                  </a:txBody>
                  <a:tcPr anchor="ctr"/>
                </a:tc>
                <a:tc>
                  <a:txBody>
                    <a:bodyPr/>
                    <a:lstStyle/>
                    <a:p>
                      <a:pPr algn="ctr"/>
                      <a:r>
                        <a:rPr lang="en-US" dirty="0"/>
                        <a:t>4</a:t>
                      </a:r>
                      <a:endParaRPr lang="en-US" dirty="0"/>
                    </a:p>
                  </a:txBody>
                  <a:tcPr anchor="ctr"/>
                </a:tc>
                <a:tc>
                  <a:txBody>
                    <a:bodyPr/>
                    <a:lstStyle/>
                    <a:p>
                      <a:pPr algn="ctr"/>
                      <a:r>
                        <a:rPr lang="en-US" dirty="0"/>
                        <a:t>5</a:t>
                      </a:r>
                      <a:endParaRPr lang="en-US" dirty="0"/>
                    </a:p>
                  </a:txBody>
                  <a:tcPr anchor="ctr"/>
                </a:tc>
              </a:tr>
              <a:tr h="370840">
                <a:tc>
                  <a:txBody>
                    <a:bodyPr/>
                    <a:lstStyle/>
                    <a:p>
                      <a:pPr algn="ctr"/>
                      <a:r>
                        <a:rPr lang="en-US" dirty="0"/>
                        <a:t>6</a:t>
                      </a:r>
                      <a:endParaRPr lang="en-US" dirty="0"/>
                    </a:p>
                  </a:txBody>
                  <a:tcPr anchor="ctr"/>
                </a:tc>
                <a:tc>
                  <a:txBody>
                    <a:bodyPr/>
                    <a:lstStyle/>
                    <a:p>
                      <a:pPr algn="ctr"/>
                      <a:r>
                        <a:rPr lang="en-US" dirty="0"/>
                        <a:t>7</a:t>
                      </a:r>
                      <a:endParaRPr lang="en-US" dirty="0"/>
                    </a:p>
                  </a:txBody>
                  <a:tcPr anchor="ctr"/>
                </a:tc>
                <a:tc>
                  <a:txBody>
                    <a:bodyPr/>
                    <a:lstStyle/>
                    <a:p>
                      <a:pPr algn="ctr"/>
                      <a:r>
                        <a:rPr lang="en-US" dirty="0"/>
                        <a:t>8</a:t>
                      </a:r>
                      <a:endParaRPr lang="en-US" dirty="0"/>
                    </a:p>
                  </a:txBody>
                  <a:tcPr anchor="ctr"/>
                </a:tc>
              </a:tr>
            </a:tbl>
          </a:graphicData>
        </a:graphic>
      </p:graphicFrame>
      <p:graphicFrame>
        <p:nvGraphicFramePr>
          <p:cNvPr id="9" name="Table 4"/>
          <p:cNvGraphicFramePr>
            <a:graphicFrameLocks noGrp="1"/>
          </p:cNvGraphicFramePr>
          <p:nvPr/>
        </p:nvGraphicFramePr>
        <p:xfrm>
          <a:off x="2902000" y="6816511"/>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bl>
          </a:graphicData>
        </a:graphic>
      </p:graphicFrame>
      <p:graphicFrame>
        <p:nvGraphicFramePr>
          <p:cNvPr id="10" name="Table 4"/>
          <p:cNvGraphicFramePr>
            <a:graphicFrameLocks noGrp="1"/>
          </p:cNvGraphicFramePr>
          <p:nvPr/>
        </p:nvGraphicFramePr>
        <p:xfrm>
          <a:off x="2902000" y="5505871"/>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bl>
          </a:graphicData>
        </a:graphic>
      </p:graphicFrame>
      <p:graphicFrame>
        <p:nvGraphicFramePr>
          <p:cNvPr id="11" name="Table 4"/>
          <p:cNvGraphicFramePr>
            <a:graphicFrameLocks noGrp="1"/>
          </p:cNvGraphicFramePr>
          <p:nvPr/>
        </p:nvGraphicFramePr>
        <p:xfrm>
          <a:off x="8337140" y="6816511"/>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bl>
          </a:graphicData>
        </a:graphic>
      </p:graphicFrame>
      <p:graphicFrame>
        <p:nvGraphicFramePr>
          <p:cNvPr id="12" name="Table 4"/>
          <p:cNvGraphicFramePr>
            <a:graphicFrameLocks noGrp="1"/>
          </p:cNvGraphicFramePr>
          <p:nvPr/>
        </p:nvGraphicFramePr>
        <p:xfrm>
          <a:off x="8337140" y="5505871"/>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Propagation
</a:t>
            </a:r>
            <a:endParaRPr lang="en-US" dirty="0"/>
          </a:p>
        </p:txBody>
      </p:sp>
      <p:sp>
        <p:nvSpPr>
          <p:cNvPr id="3" name="内容占位符 2"/>
          <p:cNvSpPr>
            <a:spLocks noGrp="1"/>
          </p:cNvSpPr>
          <p:nvPr>
            <p:ph idx="1"/>
          </p:nvPr>
        </p:nvSpPr>
        <p:spPr/>
        <p:txBody>
          <a:bodyPr/>
          <a:lstStyle/>
          <a:p>
            <a:r>
              <a:rPr lang="en-US" altLang="zh-CN" dirty="0"/>
              <a:t>1)</a:t>
            </a:r>
            <a:r>
              <a:rPr lang="zh-CN" altLang="en-US" dirty="0"/>
              <a:t> </a:t>
            </a:r>
            <a:r>
              <a:rPr lang="en-US" altLang="zh-CN" dirty="0"/>
              <a:t>Send different columns of A and different rows of B to different planes</a:t>
            </a:r>
            <a:endParaRPr lang="en-US" dirty="0"/>
          </a:p>
        </p:txBody>
      </p:sp>
      <p:graphicFrame>
        <p:nvGraphicFramePr>
          <p:cNvPr id="4" name="Table 4"/>
          <p:cNvGraphicFramePr>
            <a:graphicFrameLocks noGrp="1"/>
          </p:cNvGraphicFramePr>
          <p:nvPr/>
        </p:nvGraphicFramePr>
        <p:xfrm>
          <a:off x="6780781" y="569125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bl>
          </a:graphicData>
        </a:graphic>
      </p:graphicFrame>
      <p:sp>
        <p:nvSpPr>
          <p:cNvPr id="5" name="TextBox 4"/>
          <p:cNvSpPr txBox="1"/>
          <p:nvPr/>
        </p:nvSpPr>
        <p:spPr>
          <a:xfrm>
            <a:off x="3622080" y="7151439"/>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sp>
        <p:nvSpPr>
          <p:cNvPr id="6" name="TextBox 5"/>
          <p:cNvSpPr txBox="1"/>
          <p:nvPr/>
        </p:nvSpPr>
        <p:spPr>
          <a:xfrm>
            <a:off x="7524936" y="7151439"/>
            <a:ext cx="344966" cy="461665"/>
          </a:xfrm>
          <a:prstGeom prst="rect">
            <a:avLst/>
          </a:prstGeom>
          <a:noFill/>
        </p:spPr>
        <p:txBody>
          <a:bodyPr wrap="none" rtlCol="0">
            <a:spAutoFit/>
          </a:bodyPr>
          <a:lstStyle/>
          <a:p>
            <a:r>
              <a:rPr lang="en-US" sz="2400" b="1" dirty="0">
                <a:solidFill>
                  <a:schemeClr val="accent1"/>
                </a:solidFill>
              </a:rPr>
              <a:t>Y</a:t>
            </a:r>
            <a:endParaRPr lang="en-US" sz="2400" b="1" dirty="0">
              <a:solidFill>
                <a:schemeClr val="accent1"/>
              </a:solidFill>
            </a:endParaRPr>
          </a:p>
        </p:txBody>
      </p:sp>
      <p:graphicFrame>
        <p:nvGraphicFramePr>
          <p:cNvPr id="7" name="Table 4"/>
          <p:cNvGraphicFramePr>
            <a:graphicFrameLocks noGrp="1"/>
          </p:cNvGraphicFramePr>
          <p:nvPr/>
        </p:nvGraphicFramePr>
        <p:xfrm>
          <a:off x="2958934" y="569125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0</a:t>
                      </a: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r>
                        <a:rPr lang="en-US" dirty="0"/>
                        <a:t>3</a:t>
                      </a: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r>
                        <a:rPr lang="en-US" dirty="0"/>
                        <a:t>6</a:t>
                      </a:r>
                      <a:endParaRPr lang="en-US" dirty="0"/>
                    </a:p>
                  </a:txBody>
                  <a:tcPr anchor="ctr"/>
                </a:tc>
                <a:tc>
                  <a:txBody>
                    <a:bodyPr/>
                    <a:lstStyle/>
                    <a:p>
                      <a:pPr algn="ctr"/>
                      <a:endParaRPr lang="en-US" dirty="0"/>
                    </a:p>
                  </a:txBody>
                  <a:tcPr anchor="ctr"/>
                </a:tc>
                <a:tc>
                  <a:txBody>
                    <a:bodyPr/>
                    <a:lstStyle/>
                    <a:p>
                      <a:pPr algn="ctr"/>
                      <a:endParaRPr lang="en-US" dirty="0"/>
                    </a:p>
                  </a:txBody>
                  <a:tcPr anchor="ctr"/>
                </a:tc>
              </a:tr>
            </a:tbl>
          </a:graphicData>
        </a:graphic>
      </p:graphicFrame>
      <p:graphicFrame>
        <p:nvGraphicFramePr>
          <p:cNvPr id="8" name="Table 4"/>
          <p:cNvGraphicFramePr>
            <a:graphicFrameLocks noGrp="1"/>
          </p:cNvGraphicFramePr>
          <p:nvPr/>
        </p:nvGraphicFramePr>
        <p:xfrm>
          <a:off x="6780781" y="438061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r>
                        <a:rPr lang="en-US" dirty="0"/>
                        <a:t>3</a:t>
                      </a:r>
                      <a:endParaRPr lang="en-US" dirty="0"/>
                    </a:p>
                  </a:txBody>
                  <a:tcPr anchor="ctr">
                    <a:solidFill>
                      <a:srgbClr val="FFFF00"/>
                    </a:solidFill>
                  </a:tcPr>
                </a:tc>
                <a:tc>
                  <a:txBody>
                    <a:bodyPr/>
                    <a:lstStyle/>
                    <a:p>
                      <a:pPr algn="ctr"/>
                      <a:r>
                        <a:rPr lang="en-US" dirty="0"/>
                        <a:t>4</a:t>
                      </a:r>
                      <a:endParaRPr lang="en-US" dirty="0"/>
                    </a:p>
                  </a:txBody>
                  <a:tcPr anchor="ctr">
                    <a:solidFill>
                      <a:srgbClr val="FFFF00"/>
                    </a:solidFill>
                  </a:tcPr>
                </a:tc>
                <a:tc>
                  <a:txBody>
                    <a:bodyPr/>
                    <a:lstStyle/>
                    <a:p>
                      <a:pPr algn="ctr"/>
                      <a:r>
                        <a:rPr lang="en-US" dirty="0"/>
                        <a:t>5</a:t>
                      </a:r>
                      <a:endParaRPr lang="en-US" dirty="0"/>
                    </a:p>
                  </a:txBody>
                  <a:tcPr anchor="ctr">
                    <a:solidFill>
                      <a:srgbClr val="FFFF00"/>
                    </a:solidFill>
                  </a:tcP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bl>
          </a:graphicData>
        </a:graphic>
      </p:graphicFrame>
      <p:graphicFrame>
        <p:nvGraphicFramePr>
          <p:cNvPr id="9" name="Table 4"/>
          <p:cNvGraphicFramePr>
            <a:graphicFrameLocks noGrp="1"/>
          </p:cNvGraphicFramePr>
          <p:nvPr/>
        </p:nvGraphicFramePr>
        <p:xfrm>
          <a:off x="6780781" y="306997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endParaRPr lang="en-US" dirty="0"/>
                    </a:p>
                  </a:txBody>
                  <a:tcPr anchor="ctr">
                    <a:noFill/>
                  </a:tcPr>
                </a:tc>
                <a:tc>
                  <a:txBody>
                    <a:bodyPr/>
                    <a:lstStyle/>
                    <a:p>
                      <a:pPr algn="ctr"/>
                      <a:endParaRPr lang="en-US" dirty="0"/>
                    </a:p>
                  </a:txBody>
                  <a:tcPr anchor="ctr">
                    <a:noFill/>
                  </a:tcPr>
                </a:tc>
                <a:tc>
                  <a:txBody>
                    <a:bodyPr/>
                    <a:lstStyle/>
                    <a:p>
                      <a:pPr algn="ctr"/>
                      <a:endParaRPr lang="en-US" dirty="0"/>
                    </a:p>
                  </a:txBody>
                  <a:tcPr anchor="ctr">
                    <a:noFill/>
                  </a:tcPr>
                </a:tc>
              </a:tr>
              <a:tr h="37084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r>
              <a:tr h="370840">
                <a:tc>
                  <a:txBody>
                    <a:bodyPr/>
                    <a:lstStyle/>
                    <a:p>
                      <a:pPr algn="ctr"/>
                      <a:r>
                        <a:rPr lang="en-US" dirty="0"/>
                        <a:t>6</a:t>
                      </a:r>
                      <a:endParaRPr lang="en-US" dirty="0"/>
                    </a:p>
                  </a:txBody>
                  <a:tcPr anchor="ctr">
                    <a:solidFill>
                      <a:srgbClr val="FFFF00"/>
                    </a:solidFill>
                  </a:tcPr>
                </a:tc>
                <a:tc>
                  <a:txBody>
                    <a:bodyPr/>
                    <a:lstStyle/>
                    <a:p>
                      <a:pPr algn="ctr"/>
                      <a:r>
                        <a:rPr lang="en-US" dirty="0"/>
                        <a:t>7</a:t>
                      </a:r>
                      <a:endParaRPr lang="en-US" dirty="0"/>
                    </a:p>
                  </a:txBody>
                  <a:tcPr anchor="ctr">
                    <a:solidFill>
                      <a:srgbClr val="FFFF00"/>
                    </a:solidFill>
                  </a:tcPr>
                </a:tc>
                <a:tc>
                  <a:txBody>
                    <a:bodyPr/>
                    <a:lstStyle/>
                    <a:p>
                      <a:pPr algn="ctr"/>
                      <a:r>
                        <a:rPr lang="en-US" dirty="0"/>
                        <a:t>8</a:t>
                      </a:r>
                      <a:endParaRPr lang="en-US" dirty="0"/>
                    </a:p>
                  </a:txBody>
                  <a:tcPr anchor="ctr">
                    <a:solidFill>
                      <a:srgbClr val="FFFF00"/>
                    </a:solidFill>
                  </a:tcPr>
                </a:tc>
              </a:tr>
            </a:tbl>
          </a:graphicData>
        </a:graphic>
      </p:graphicFrame>
      <p:graphicFrame>
        <p:nvGraphicFramePr>
          <p:cNvPr id="10" name="Table 4"/>
          <p:cNvGraphicFramePr>
            <a:graphicFrameLocks noGrp="1"/>
          </p:cNvGraphicFramePr>
          <p:nvPr/>
        </p:nvGraphicFramePr>
        <p:xfrm>
          <a:off x="2974008" y="438061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endParaRPr lang="en-US" dirty="0"/>
                    </a:p>
                  </a:txBody>
                  <a:tcPr anchor="ctr"/>
                </a:tc>
                <a:tc>
                  <a:txBody>
                    <a:bodyPr/>
                    <a:lstStyle/>
                    <a:p>
                      <a:pPr algn="ctr"/>
                      <a:r>
                        <a:rPr lang="en-US" dirty="0"/>
                        <a:t>1</a:t>
                      </a:r>
                      <a:endParaRPr lang="en-US" dirty="0"/>
                    </a:p>
                  </a:txBody>
                  <a:tcPr anchor="ctr">
                    <a:solidFill>
                      <a:srgbClr val="FFFF00"/>
                    </a:solidFill>
                  </a:tcPr>
                </a:tc>
                <a:tc>
                  <a:txBody>
                    <a:bodyPr/>
                    <a:lstStyle/>
                    <a:p>
                      <a:pPr algn="ctr"/>
                      <a:endParaRPr lang="en-US" dirty="0"/>
                    </a:p>
                  </a:txBody>
                  <a:tcPr anchor="ctr"/>
                </a:tc>
              </a:tr>
              <a:tr h="370840">
                <a:tc>
                  <a:txBody>
                    <a:bodyPr/>
                    <a:lstStyle/>
                    <a:p>
                      <a:pPr algn="ctr"/>
                      <a:endParaRPr lang="en-US" dirty="0"/>
                    </a:p>
                  </a:txBody>
                  <a:tcPr anchor="ctr"/>
                </a:tc>
                <a:tc>
                  <a:txBody>
                    <a:bodyPr/>
                    <a:lstStyle/>
                    <a:p>
                      <a:pPr algn="ctr"/>
                      <a:r>
                        <a:rPr lang="en-US" dirty="0"/>
                        <a:t>4</a:t>
                      </a:r>
                      <a:endParaRPr lang="en-US" dirty="0"/>
                    </a:p>
                  </a:txBody>
                  <a:tcPr anchor="ctr">
                    <a:solidFill>
                      <a:srgbClr val="FFFF00"/>
                    </a:solidFill>
                  </a:tcPr>
                </a:tc>
                <a:tc>
                  <a:txBody>
                    <a:bodyPr/>
                    <a:lstStyle/>
                    <a:p>
                      <a:pPr algn="ctr"/>
                      <a:endParaRPr lang="en-US" dirty="0"/>
                    </a:p>
                  </a:txBody>
                  <a:tcPr anchor="ctr"/>
                </a:tc>
              </a:tr>
              <a:tr h="370840">
                <a:tc>
                  <a:txBody>
                    <a:bodyPr/>
                    <a:lstStyle/>
                    <a:p>
                      <a:pPr algn="ctr"/>
                      <a:endParaRPr lang="en-US" dirty="0"/>
                    </a:p>
                  </a:txBody>
                  <a:tcPr anchor="ctr"/>
                </a:tc>
                <a:tc>
                  <a:txBody>
                    <a:bodyPr/>
                    <a:lstStyle/>
                    <a:p>
                      <a:pPr algn="ctr"/>
                      <a:r>
                        <a:rPr lang="en-US" dirty="0"/>
                        <a:t>7</a:t>
                      </a:r>
                      <a:endParaRPr lang="en-US" dirty="0"/>
                    </a:p>
                  </a:txBody>
                  <a:tcPr anchor="ctr">
                    <a:solidFill>
                      <a:srgbClr val="FFFF00"/>
                    </a:solidFill>
                  </a:tcPr>
                </a:tc>
                <a:tc>
                  <a:txBody>
                    <a:bodyPr/>
                    <a:lstStyle/>
                    <a:p>
                      <a:pPr algn="ctr"/>
                      <a:endParaRPr lang="en-US" dirty="0"/>
                    </a:p>
                  </a:txBody>
                  <a:tcPr anchor="ctr"/>
                </a:tc>
              </a:tr>
            </a:tbl>
          </a:graphicData>
        </a:graphic>
      </p:graphicFrame>
      <p:graphicFrame>
        <p:nvGraphicFramePr>
          <p:cNvPr id="11" name="Table 4"/>
          <p:cNvGraphicFramePr>
            <a:graphicFrameLocks noGrp="1"/>
          </p:cNvGraphicFramePr>
          <p:nvPr/>
        </p:nvGraphicFramePr>
        <p:xfrm>
          <a:off x="2974008" y="306997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2</a:t>
                      </a:r>
                      <a:endParaRPr lang="en-US" dirty="0"/>
                    </a:p>
                  </a:txBody>
                  <a:tcPr anchor="ctr">
                    <a:solidFill>
                      <a:srgbClr val="FFFF00"/>
                    </a:solidFill>
                  </a:tcPr>
                </a:tc>
              </a:tr>
              <a:tr h="370840">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5</a:t>
                      </a:r>
                      <a:endParaRPr lang="en-US" dirty="0"/>
                    </a:p>
                  </a:txBody>
                  <a:tcPr anchor="ctr">
                    <a:solidFill>
                      <a:srgbClr val="FFFF00"/>
                    </a:solidFill>
                  </a:tcPr>
                </a:tc>
              </a:tr>
              <a:tr h="370840">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8</a:t>
                      </a:r>
                      <a:endParaRPr lang="en-US" dirty="0"/>
                    </a:p>
                  </a:txBody>
                  <a:tcPr anchor="ctr">
                    <a:solidFill>
                      <a:srgbClr val="FFFF00"/>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Propagation</a:t>
            </a:r>
            <a:endParaRPr lang="en-US" dirty="0"/>
          </a:p>
        </p:txBody>
      </p:sp>
      <p:sp>
        <p:nvSpPr>
          <p:cNvPr id="3" name="内容占位符 2"/>
          <p:cNvSpPr>
            <a:spLocks noGrp="1"/>
          </p:cNvSpPr>
          <p:nvPr>
            <p:ph idx="1"/>
          </p:nvPr>
        </p:nvSpPr>
        <p:spPr/>
        <p:txBody>
          <a:bodyPr/>
          <a:lstStyle/>
          <a:p>
            <a:r>
              <a:rPr lang="en-US" altLang="zh-CN" dirty="0"/>
              <a:t>2) On every planes, broadcast existing data</a:t>
            </a:r>
            <a:endParaRPr lang="en-US" dirty="0"/>
          </a:p>
          <a:p>
            <a:endParaRPr lang="en-US" dirty="0"/>
          </a:p>
        </p:txBody>
      </p:sp>
      <p:graphicFrame>
        <p:nvGraphicFramePr>
          <p:cNvPr id="4" name="Table 4"/>
          <p:cNvGraphicFramePr>
            <a:graphicFrameLocks noGrp="1"/>
          </p:cNvGraphicFramePr>
          <p:nvPr/>
        </p:nvGraphicFramePr>
        <p:xfrm>
          <a:off x="3838104" y="5674364"/>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0</a:t>
                      </a:r>
                      <a:endParaRPr lang="en-US" dirty="0"/>
                    </a:p>
                  </a:txBody>
                  <a:tcPr anchor="ctr">
                    <a:solidFill>
                      <a:srgbClr val="FFFF00"/>
                    </a:solidFill>
                  </a:tcPr>
                </a:tc>
                <a:tc>
                  <a:txBody>
                    <a:bodyPr/>
                    <a:lstStyle/>
                    <a:p>
                      <a:pPr algn="ctr"/>
                      <a:r>
                        <a:rPr lang="en-US" dirty="0"/>
                        <a:t>1</a:t>
                      </a:r>
                      <a:endParaRPr lang="en-US" dirty="0"/>
                    </a:p>
                  </a:txBody>
                  <a:tcPr anchor="ctr">
                    <a:solidFill>
                      <a:srgbClr val="FFFF00"/>
                    </a:solidFill>
                  </a:tcPr>
                </a:tc>
                <a:tc>
                  <a:txBody>
                    <a:bodyPr/>
                    <a:lstStyle/>
                    <a:p>
                      <a:pPr algn="ctr"/>
                      <a:r>
                        <a:rPr lang="en-US" dirty="0"/>
                        <a:t>2</a:t>
                      </a:r>
                      <a:endParaRPr lang="en-US" dirty="0"/>
                    </a:p>
                  </a:txBody>
                  <a:tcPr anchor="ctr">
                    <a:solidFill>
                      <a:srgbClr val="FFFF00"/>
                    </a:solidFill>
                  </a:tcPr>
                </a:tc>
              </a:tr>
              <a:tr h="370840">
                <a:tc>
                  <a:txBody>
                    <a:bodyPr/>
                    <a:lstStyle/>
                    <a:p>
                      <a:pPr algn="ctr"/>
                      <a:r>
                        <a:rPr lang="en-US" dirty="0"/>
                        <a:t>0</a:t>
                      </a:r>
                      <a:endParaRPr lang="en-US" dirty="0"/>
                    </a:p>
                  </a:txBody>
                  <a:tcPr anchor="ctr">
                    <a:solidFill>
                      <a:srgbClr val="FFFF00"/>
                    </a:solidFill>
                  </a:tcPr>
                </a:tc>
                <a:tc>
                  <a:txBody>
                    <a:bodyPr/>
                    <a:lstStyle/>
                    <a:p>
                      <a:pPr algn="ctr"/>
                      <a:r>
                        <a:rPr lang="en-US" dirty="0"/>
                        <a:t>1</a:t>
                      </a:r>
                      <a:endParaRPr lang="en-US" dirty="0"/>
                    </a:p>
                  </a:txBody>
                  <a:tcPr anchor="ctr">
                    <a:solidFill>
                      <a:srgbClr val="FFFF00"/>
                    </a:solidFill>
                  </a:tcPr>
                </a:tc>
                <a:tc>
                  <a:txBody>
                    <a:bodyPr/>
                    <a:lstStyle/>
                    <a:p>
                      <a:pPr algn="ctr"/>
                      <a:r>
                        <a:rPr lang="en-US" dirty="0"/>
                        <a:t>2</a:t>
                      </a:r>
                      <a:endParaRPr lang="en-US" dirty="0"/>
                    </a:p>
                  </a:txBody>
                  <a:tcPr anchor="ctr">
                    <a:solidFill>
                      <a:srgbClr val="FFFF00"/>
                    </a:solidFill>
                  </a:tcPr>
                </a:tc>
              </a:tr>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tc>
                <a:tc>
                  <a:txBody>
                    <a:bodyPr/>
                    <a:lstStyle/>
                    <a:p>
                      <a:pPr algn="ctr"/>
                      <a:r>
                        <a:rPr lang="en-US" dirty="0"/>
                        <a:t>2</a:t>
                      </a:r>
                      <a:endParaRPr lang="en-US" dirty="0"/>
                    </a:p>
                  </a:txBody>
                  <a:tcPr anchor="ctr"/>
                </a:tc>
              </a:tr>
            </a:tbl>
          </a:graphicData>
        </a:graphic>
      </p:graphicFrame>
      <p:sp>
        <p:nvSpPr>
          <p:cNvPr id="5" name="TextBox 4"/>
          <p:cNvSpPr txBox="1"/>
          <p:nvPr/>
        </p:nvSpPr>
        <p:spPr>
          <a:xfrm>
            <a:off x="1415504" y="7151439"/>
            <a:ext cx="354584" cy="461665"/>
          </a:xfrm>
          <a:prstGeom prst="rect">
            <a:avLst/>
          </a:prstGeom>
          <a:noFill/>
        </p:spPr>
        <p:txBody>
          <a:bodyPr wrap="none" rtlCol="0">
            <a:spAutoFit/>
          </a:bodyPr>
          <a:lstStyle/>
          <a:p>
            <a:r>
              <a:rPr lang="en-US" altLang="zh-CN" sz="2400" b="1" dirty="0">
                <a:solidFill>
                  <a:schemeClr val="accent1"/>
                </a:solidFill>
              </a:rPr>
              <a:t>X</a:t>
            </a:r>
            <a:endParaRPr lang="en-US" sz="2400" b="1" dirty="0">
              <a:solidFill>
                <a:schemeClr val="accent1"/>
              </a:solidFill>
            </a:endParaRPr>
          </a:p>
        </p:txBody>
      </p:sp>
      <p:sp>
        <p:nvSpPr>
          <p:cNvPr id="6" name="TextBox 5"/>
          <p:cNvSpPr txBox="1"/>
          <p:nvPr/>
        </p:nvSpPr>
        <p:spPr>
          <a:xfrm>
            <a:off x="4631657" y="7109048"/>
            <a:ext cx="344966" cy="461665"/>
          </a:xfrm>
          <a:prstGeom prst="rect">
            <a:avLst/>
          </a:prstGeom>
          <a:noFill/>
        </p:spPr>
        <p:txBody>
          <a:bodyPr wrap="none" rtlCol="0">
            <a:spAutoFit/>
          </a:bodyPr>
          <a:lstStyle/>
          <a:p>
            <a:r>
              <a:rPr lang="en-US" sz="2400" b="1" dirty="0">
                <a:solidFill>
                  <a:schemeClr val="accent1"/>
                </a:solidFill>
              </a:rPr>
              <a:t>Y</a:t>
            </a:r>
            <a:endParaRPr lang="en-US" sz="2400" b="1" dirty="0">
              <a:solidFill>
                <a:schemeClr val="accent1"/>
              </a:solidFill>
            </a:endParaRPr>
          </a:p>
        </p:txBody>
      </p:sp>
      <p:graphicFrame>
        <p:nvGraphicFramePr>
          <p:cNvPr id="7" name="Table 4"/>
          <p:cNvGraphicFramePr>
            <a:graphicFrameLocks noGrp="1"/>
          </p:cNvGraphicFramePr>
          <p:nvPr/>
        </p:nvGraphicFramePr>
        <p:xfrm>
          <a:off x="696126" y="5674364"/>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0</a:t>
                      </a:r>
                      <a:endParaRPr lang="en-US" dirty="0"/>
                    </a:p>
                  </a:txBody>
                  <a:tcPr anchor="ctr">
                    <a:solidFill>
                      <a:srgbClr val="FFFF00"/>
                    </a:solidFill>
                  </a:tcPr>
                </a:tc>
                <a:tc>
                  <a:txBody>
                    <a:bodyPr/>
                    <a:lstStyle/>
                    <a:p>
                      <a:pPr algn="ctr"/>
                      <a:r>
                        <a:rPr lang="en-US" dirty="0"/>
                        <a:t>0</a:t>
                      </a:r>
                      <a:endParaRPr lang="en-US" dirty="0"/>
                    </a:p>
                  </a:txBody>
                  <a:tcPr anchor="ctr">
                    <a:solidFill>
                      <a:srgbClr val="FFFF00"/>
                    </a:solidFill>
                  </a:tcPr>
                </a:tc>
              </a:tr>
              <a:tr h="370840">
                <a:tc>
                  <a:txBody>
                    <a:bodyPr/>
                    <a:lstStyle/>
                    <a:p>
                      <a:pPr algn="ctr"/>
                      <a:r>
                        <a:rPr lang="en-US" dirty="0"/>
                        <a:t>3</a:t>
                      </a:r>
                      <a:endParaRPr lang="en-US" dirty="0"/>
                    </a:p>
                  </a:txBody>
                  <a:tcPr anchor="ctr"/>
                </a:tc>
                <a:tc>
                  <a:txBody>
                    <a:bodyPr/>
                    <a:lstStyle/>
                    <a:p>
                      <a:pPr algn="ctr"/>
                      <a:r>
                        <a:rPr lang="en-US" dirty="0"/>
                        <a:t>3</a:t>
                      </a:r>
                      <a:endParaRPr lang="en-US" dirty="0"/>
                    </a:p>
                  </a:txBody>
                  <a:tcPr anchor="ctr">
                    <a:solidFill>
                      <a:srgbClr val="FFFF00"/>
                    </a:solidFill>
                  </a:tcPr>
                </a:tc>
                <a:tc>
                  <a:txBody>
                    <a:bodyPr/>
                    <a:lstStyle/>
                    <a:p>
                      <a:pPr algn="ctr"/>
                      <a:r>
                        <a:rPr lang="en-US" dirty="0"/>
                        <a:t>3</a:t>
                      </a:r>
                      <a:endParaRPr lang="en-US" dirty="0"/>
                    </a:p>
                  </a:txBody>
                  <a:tcPr anchor="ctr">
                    <a:solidFill>
                      <a:srgbClr val="FFFF00"/>
                    </a:solidFill>
                  </a:tcPr>
                </a:tc>
              </a:tr>
              <a:tr h="370840">
                <a:tc>
                  <a:txBody>
                    <a:bodyPr/>
                    <a:lstStyle/>
                    <a:p>
                      <a:pPr algn="ctr"/>
                      <a:r>
                        <a:rPr lang="en-US" dirty="0"/>
                        <a:t>6</a:t>
                      </a:r>
                      <a:endParaRPr lang="en-US" dirty="0"/>
                    </a:p>
                  </a:txBody>
                  <a:tcPr anchor="ctr"/>
                </a:tc>
                <a:tc>
                  <a:txBody>
                    <a:bodyPr/>
                    <a:lstStyle/>
                    <a:p>
                      <a:pPr algn="ctr"/>
                      <a:r>
                        <a:rPr lang="en-US" dirty="0"/>
                        <a:t>6</a:t>
                      </a:r>
                      <a:endParaRPr lang="en-US" dirty="0"/>
                    </a:p>
                  </a:txBody>
                  <a:tcPr anchor="ctr">
                    <a:solidFill>
                      <a:srgbClr val="FFFF00"/>
                    </a:solidFill>
                  </a:tcPr>
                </a:tc>
                <a:tc>
                  <a:txBody>
                    <a:bodyPr/>
                    <a:lstStyle/>
                    <a:p>
                      <a:pPr algn="ctr"/>
                      <a:r>
                        <a:rPr lang="en-US" dirty="0"/>
                        <a:t>6</a:t>
                      </a:r>
                      <a:endParaRPr lang="en-US" dirty="0"/>
                    </a:p>
                  </a:txBody>
                  <a:tcPr anchor="ctr">
                    <a:solidFill>
                      <a:srgbClr val="FFFF00"/>
                    </a:solidFill>
                  </a:tcPr>
                </a:tc>
              </a:tr>
            </a:tbl>
          </a:graphicData>
        </a:graphic>
      </p:graphicFrame>
      <p:graphicFrame>
        <p:nvGraphicFramePr>
          <p:cNvPr id="8" name="Table 4"/>
          <p:cNvGraphicFramePr>
            <a:graphicFrameLocks noGrp="1"/>
          </p:cNvGraphicFramePr>
          <p:nvPr/>
        </p:nvGraphicFramePr>
        <p:xfrm>
          <a:off x="3838104" y="4363724"/>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3</a:t>
                      </a:r>
                      <a:endParaRPr lang="en-US" dirty="0"/>
                    </a:p>
                  </a:txBody>
                  <a:tcPr anchor="ctr">
                    <a:solidFill>
                      <a:srgbClr val="FFFF00"/>
                    </a:solidFill>
                  </a:tcPr>
                </a:tc>
                <a:tc>
                  <a:txBody>
                    <a:bodyPr/>
                    <a:lstStyle/>
                    <a:p>
                      <a:pPr algn="ctr"/>
                      <a:r>
                        <a:rPr lang="en-US" dirty="0"/>
                        <a:t>4</a:t>
                      </a:r>
                      <a:endParaRPr lang="en-US" dirty="0"/>
                    </a:p>
                  </a:txBody>
                  <a:tcPr anchor="ctr">
                    <a:solidFill>
                      <a:srgbClr val="FFFF00"/>
                    </a:solidFill>
                  </a:tcPr>
                </a:tc>
                <a:tc>
                  <a:txBody>
                    <a:bodyPr/>
                    <a:lstStyle/>
                    <a:p>
                      <a:pPr algn="ctr"/>
                      <a:r>
                        <a:rPr lang="en-US" dirty="0"/>
                        <a:t>5</a:t>
                      </a:r>
                      <a:endParaRPr lang="en-US" dirty="0"/>
                    </a:p>
                  </a:txBody>
                  <a:tcPr anchor="ctr">
                    <a:solidFill>
                      <a:srgbClr val="FFFF00"/>
                    </a:solidFill>
                  </a:tcPr>
                </a:tc>
              </a:tr>
              <a:tr h="370840">
                <a:tc>
                  <a:txBody>
                    <a:bodyPr/>
                    <a:lstStyle/>
                    <a:p>
                      <a:pPr algn="ctr"/>
                      <a:r>
                        <a:rPr lang="en-US" dirty="0"/>
                        <a:t>3</a:t>
                      </a:r>
                      <a:endParaRPr lang="en-US" dirty="0"/>
                    </a:p>
                  </a:txBody>
                  <a:tcPr anchor="ctr">
                    <a:noFill/>
                  </a:tcPr>
                </a:tc>
                <a:tc>
                  <a:txBody>
                    <a:bodyPr/>
                    <a:lstStyle/>
                    <a:p>
                      <a:pPr algn="ctr"/>
                      <a:r>
                        <a:rPr lang="en-US" dirty="0"/>
                        <a:t>4</a:t>
                      </a:r>
                      <a:endParaRPr lang="en-US" dirty="0"/>
                    </a:p>
                  </a:txBody>
                  <a:tcPr anchor="ctr">
                    <a:noFill/>
                  </a:tcPr>
                </a:tc>
                <a:tc>
                  <a:txBody>
                    <a:bodyPr/>
                    <a:lstStyle/>
                    <a:p>
                      <a:pPr algn="ctr"/>
                      <a:r>
                        <a:rPr lang="en-US" dirty="0"/>
                        <a:t>5</a:t>
                      </a:r>
                      <a:endParaRPr lang="en-US" dirty="0"/>
                    </a:p>
                  </a:txBody>
                  <a:tcPr anchor="ctr">
                    <a:noFill/>
                  </a:tcPr>
                </a:tc>
              </a:tr>
              <a:tr h="370840">
                <a:tc>
                  <a:txBody>
                    <a:bodyPr/>
                    <a:lstStyle/>
                    <a:p>
                      <a:pPr algn="ctr"/>
                      <a:r>
                        <a:rPr lang="en-US" dirty="0"/>
                        <a:t>3</a:t>
                      </a:r>
                      <a:endParaRPr lang="en-US" dirty="0"/>
                    </a:p>
                  </a:txBody>
                  <a:tcPr anchor="ctr">
                    <a:solidFill>
                      <a:srgbClr val="FFFF00"/>
                    </a:solidFill>
                  </a:tcPr>
                </a:tc>
                <a:tc>
                  <a:txBody>
                    <a:bodyPr/>
                    <a:lstStyle/>
                    <a:p>
                      <a:pPr algn="ctr"/>
                      <a:r>
                        <a:rPr lang="en-US" dirty="0"/>
                        <a:t>4</a:t>
                      </a:r>
                      <a:endParaRPr lang="en-US" dirty="0"/>
                    </a:p>
                  </a:txBody>
                  <a:tcPr anchor="ctr">
                    <a:solidFill>
                      <a:srgbClr val="FFFF00"/>
                    </a:solidFill>
                  </a:tcPr>
                </a:tc>
                <a:tc>
                  <a:txBody>
                    <a:bodyPr/>
                    <a:lstStyle/>
                    <a:p>
                      <a:pPr algn="ctr"/>
                      <a:r>
                        <a:rPr lang="en-US" dirty="0"/>
                        <a:t>5</a:t>
                      </a:r>
                      <a:endParaRPr lang="en-US" dirty="0"/>
                    </a:p>
                  </a:txBody>
                  <a:tcPr anchor="ctr">
                    <a:solidFill>
                      <a:srgbClr val="FFFF00"/>
                    </a:solidFill>
                  </a:tcPr>
                </a:tc>
              </a:tr>
            </a:tbl>
          </a:graphicData>
        </a:graphic>
      </p:graphicFrame>
      <p:graphicFrame>
        <p:nvGraphicFramePr>
          <p:cNvPr id="9" name="Table 4"/>
          <p:cNvGraphicFramePr>
            <a:graphicFrameLocks noGrp="1"/>
          </p:cNvGraphicFramePr>
          <p:nvPr/>
        </p:nvGraphicFramePr>
        <p:xfrm>
          <a:off x="3838104" y="3053084"/>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6</a:t>
                      </a:r>
                      <a:endParaRPr lang="en-US" dirty="0"/>
                    </a:p>
                  </a:txBody>
                  <a:tcPr anchor="ctr">
                    <a:noFill/>
                  </a:tcPr>
                </a:tc>
                <a:tc>
                  <a:txBody>
                    <a:bodyPr/>
                    <a:lstStyle/>
                    <a:p>
                      <a:pPr algn="ctr"/>
                      <a:r>
                        <a:rPr lang="en-US" dirty="0"/>
                        <a:t>7</a:t>
                      </a:r>
                      <a:endParaRPr lang="en-US" dirty="0"/>
                    </a:p>
                  </a:txBody>
                  <a:tcPr anchor="ctr">
                    <a:noFill/>
                  </a:tcPr>
                </a:tc>
                <a:tc>
                  <a:txBody>
                    <a:bodyPr/>
                    <a:lstStyle/>
                    <a:p>
                      <a:pPr algn="ctr"/>
                      <a:r>
                        <a:rPr lang="en-US" dirty="0"/>
                        <a:t>8</a:t>
                      </a:r>
                      <a:endParaRPr lang="en-US" dirty="0"/>
                    </a:p>
                  </a:txBody>
                  <a:tcPr anchor="ctr">
                    <a:noFill/>
                  </a:tcPr>
                </a:tc>
              </a:tr>
              <a:tr h="370840">
                <a:tc>
                  <a:txBody>
                    <a:bodyPr/>
                    <a:lstStyle/>
                    <a:p>
                      <a:pPr algn="ctr"/>
                      <a:r>
                        <a:rPr lang="en-US" dirty="0"/>
                        <a:t>6</a:t>
                      </a:r>
                      <a:endParaRPr lang="en-US" dirty="0"/>
                    </a:p>
                  </a:txBody>
                  <a:tcPr anchor="ctr">
                    <a:solidFill>
                      <a:srgbClr val="FFFF00"/>
                    </a:solidFill>
                  </a:tcPr>
                </a:tc>
                <a:tc>
                  <a:txBody>
                    <a:bodyPr/>
                    <a:lstStyle/>
                    <a:p>
                      <a:pPr algn="ctr"/>
                      <a:r>
                        <a:rPr lang="en-US" dirty="0"/>
                        <a:t>7</a:t>
                      </a:r>
                      <a:endParaRPr lang="en-US" dirty="0"/>
                    </a:p>
                  </a:txBody>
                  <a:tcPr anchor="ctr">
                    <a:solidFill>
                      <a:srgbClr val="FFFF00"/>
                    </a:solidFill>
                  </a:tcPr>
                </a:tc>
                <a:tc>
                  <a:txBody>
                    <a:bodyPr/>
                    <a:lstStyle/>
                    <a:p>
                      <a:pPr algn="ctr"/>
                      <a:r>
                        <a:rPr lang="en-US" dirty="0"/>
                        <a:t>8</a:t>
                      </a:r>
                      <a:endParaRPr lang="en-US" dirty="0"/>
                    </a:p>
                  </a:txBody>
                  <a:tcPr anchor="ctr">
                    <a:solidFill>
                      <a:srgbClr val="FFFF00"/>
                    </a:solidFill>
                  </a:tcPr>
                </a:tc>
              </a:tr>
              <a:tr h="370840">
                <a:tc>
                  <a:txBody>
                    <a:bodyPr/>
                    <a:lstStyle/>
                    <a:p>
                      <a:pPr algn="ctr"/>
                      <a:r>
                        <a:rPr lang="en-US" dirty="0"/>
                        <a:t>6</a:t>
                      </a:r>
                      <a:endParaRPr lang="en-US" dirty="0"/>
                    </a:p>
                  </a:txBody>
                  <a:tcPr anchor="ctr">
                    <a:solidFill>
                      <a:srgbClr val="FFFF00"/>
                    </a:solidFill>
                  </a:tcPr>
                </a:tc>
                <a:tc>
                  <a:txBody>
                    <a:bodyPr/>
                    <a:lstStyle/>
                    <a:p>
                      <a:pPr algn="ctr"/>
                      <a:r>
                        <a:rPr lang="en-US" dirty="0"/>
                        <a:t>7</a:t>
                      </a:r>
                      <a:endParaRPr lang="en-US" dirty="0"/>
                    </a:p>
                  </a:txBody>
                  <a:tcPr anchor="ctr">
                    <a:solidFill>
                      <a:srgbClr val="FFFF00"/>
                    </a:solidFill>
                  </a:tcPr>
                </a:tc>
                <a:tc>
                  <a:txBody>
                    <a:bodyPr/>
                    <a:lstStyle/>
                    <a:p>
                      <a:pPr algn="ctr"/>
                      <a:r>
                        <a:rPr lang="en-US" dirty="0"/>
                        <a:t>8</a:t>
                      </a:r>
                      <a:endParaRPr lang="en-US" dirty="0"/>
                    </a:p>
                  </a:txBody>
                  <a:tcPr anchor="ctr">
                    <a:solidFill>
                      <a:srgbClr val="FFFF00"/>
                    </a:solidFill>
                  </a:tcPr>
                </a:tc>
              </a:tr>
            </a:tbl>
          </a:graphicData>
        </a:graphic>
      </p:graphicFrame>
      <p:graphicFrame>
        <p:nvGraphicFramePr>
          <p:cNvPr id="10" name="Table 4"/>
          <p:cNvGraphicFramePr>
            <a:graphicFrameLocks noGrp="1"/>
          </p:cNvGraphicFramePr>
          <p:nvPr/>
        </p:nvGraphicFramePr>
        <p:xfrm>
          <a:off x="711200" y="4363724"/>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1</a:t>
                      </a:r>
                      <a:endParaRPr lang="en-US" dirty="0"/>
                    </a:p>
                  </a:txBody>
                  <a:tcPr anchor="ctr">
                    <a:solidFill>
                      <a:srgbClr val="FFFF00"/>
                    </a:solidFill>
                  </a:tcPr>
                </a:tc>
                <a:tc>
                  <a:txBody>
                    <a:bodyPr/>
                    <a:lstStyle/>
                    <a:p>
                      <a:pPr algn="ctr"/>
                      <a:r>
                        <a:rPr lang="en-US" dirty="0"/>
                        <a:t>1</a:t>
                      </a:r>
                      <a:endParaRPr lang="en-US" dirty="0"/>
                    </a:p>
                  </a:txBody>
                  <a:tcPr anchor="ctr">
                    <a:noFill/>
                  </a:tcPr>
                </a:tc>
                <a:tc>
                  <a:txBody>
                    <a:bodyPr/>
                    <a:lstStyle/>
                    <a:p>
                      <a:pPr algn="ctr"/>
                      <a:r>
                        <a:rPr lang="en-US" dirty="0"/>
                        <a:t>1</a:t>
                      </a:r>
                      <a:endParaRPr lang="en-US" dirty="0"/>
                    </a:p>
                  </a:txBody>
                  <a:tcPr anchor="ctr">
                    <a:solidFill>
                      <a:srgbClr val="FFFF00"/>
                    </a:solidFill>
                  </a:tcPr>
                </a:tc>
              </a:tr>
              <a:tr h="370840">
                <a:tc>
                  <a:txBody>
                    <a:bodyPr/>
                    <a:lstStyle/>
                    <a:p>
                      <a:pPr algn="ctr"/>
                      <a:r>
                        <a:rPr lang="en-US" dirty="0"/>
                        <a:t>4</a:t>
                      </a:r>
                      <a:endParaRPr lang="en-US" dirty="0"/>
                    </a:p>
                  </a:txBody>
                  <a:tcPr anchor="ctr">
                    <a:solidFill>
                      <a:srgbClr val="FFFF00"/>
                    </a:solidFill>
                  </a:tcPr>
                </a:tc>
                <a:tc>
                  <a:txBody>
                    <a:bodyPr/>
                    <a:lstStyle/>
                    <a:p>
                      <a:pPr algn="ctr"/>
                      <a:r>
                        <a:rPr lang="en-US" dirty="0"/>
                        <a:t>4</a:t>
                      </a:r>
                      <a:endParaRPr lang="en-US" dirty="0"/>
                    </a:p>
                  </a:txBody>
                  <a:tcPr anchor="ctr">
                    <a:noFill/>
                  </a:tcPr>
                </a:tc>
                <a:tc>
                  <a:txBody>
                    <a:bodyPr/>
                    <a:lstStyle/>
                    <a:p>
                      <a:pPr algn="ctr"/>
                      <a:r>
                        <a:rPr lang="en-US" dirty="0"/>
                        <a:t>4</a:t>
                      </a:r>
                      <a:endParaRPr lang="en-US" dirty="0"/>
                    </a:p>
                  </a:txBody>
                  <a:tcPr anchor="ctr">
                    <a:solidFill>
                      <a:srgbClr val="FFFF00"/>
                    </a:solidFill>
                  </a:tcPr>
                </a:tc>
              </a:tr>
              <a:tr h="370840">
                <a:tc>
                  <a:txBody>
                    <a:bodyPr/>
                    <a:lstStyle/>
                    <a:p>
                      <a:pPr algn="ctr"/>
                      <a:r>
                        <a:rPr lang="en-US" dirty="0"/>
                        <a:t>7</a:t>
                      </a:r>
                      <a:endParaRPr lang="en-US" dirty="0"/>
                    </a:p>
                  </a:txBody>
                  <a:tcPr anchor="ctr">
                    <a:solidFill>
                      <a:srgbClr val="FFFF00"/>
                    </a:solidFill>
                  </a:tcPr>
                </a:tc>
                <a:tc>
                  <a:txBody>
                    <a:bodyPr/>
                    <a:lstStyle/>
                    <a:p>
                      <a:pPr algn="ctr"/>
                      <a:r>
                        <a:rPr lang="en-US" dirty="0"/>
                        <a:t>7</a:t>
                      </a:r>
                      <a:endParaRPr lang="en-US" dirty="0"/>
                    </a:p>
                  </a:txBody>
                  <a:tcPr anchor="ctr">
                    <a:noFill/>
                  </a:tcPr>
                </a:tc>
                <a:tc>
                  <a:txBody>
                    <a:bodyPr/>
                    <a:lstStyle/>
                    <a:p>
                      <a:pPr algn="ctr"/>
                      <a:r>
                        <a:rPr lang="en-US" dirty="0"/>
                        <a:t>7</a:t>
                      </a:r>
                      <a:endParaRPr lang="en-US" dirty="0"/>
                    </a:p>
                  </a:txBody>
                  <a:tcPr anchor="ctr">
                    <a:solidFill>
                      <a:srgbClr val="FFFF00"/>
                    </a:solidFill>
                  </a:tcPr>
                </a:tc>
              </a:tr>
            </a:tbl>
          </a:graphicData>
        </a:graphic>
      </p:graphicFrame>
      <p:graphicFrame>
        <p:nvGraphicFramePr>
          <p:cNvPr id="11" name="Table 4"/>
          <p:cNvGraphicFramePr>
            <a:graphicFrameLocks noGrp="1"/>
          </p:cNvGraphicFramePr>
          <p:nvPr/>
        </p:nvGraphicFramePr>
        <p:xfrm>
          <a:off x="711200" y="3053084"/>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2</a:t>
                      </a:r>
                      <a:endParaRPr lang="en-US" dirty="0"/>
                    </a:p>
                  </a:txBody>
                  <a:tcPr anchor="ctr">
                    <a:solidFill>
                      <a:srgbClr val="FFFF00"/>
                    </a:solidFill>
                  </a:tcPr>
                </a:tc>
                <a:tc>
                  <a:txBody>
                    <a:bodyPr/>
                    <a:lstStyle/>
                    <a:p>
                      <a:pPr algn="ctr"/>
                      <a:r>
                        <a:rPr lang="en-US" dirty="0"/>
                        <a:t>2</a:t>
                      </a:r>
                      <a:endParaRPr lang="en-US" dirty="0"/>
                    </a:p>
                  </a:txBody>
                  <a:tcPr anchor="ctr">
                    <a:solidFill>
                      <a:srgbClr val="FFFF00"/>
                    </a:solidFill>
                  </a:tcPr>
                </a:tc>
                <a:tc>
                  <a:txBody>
                    <a:bodyPr/>
                    <a:lstStyle/>
                    <a:p>
                      <a:pPr algn="ctr"/>
                      <a:r>
                        <a:rPr lang="en-US" dirty="0"/>
                        <a:t>2</a:t>
                      </a:r>
                      <a:endParaRPr lang="en-US" dirty="0"/>
                    </a:p>
                  </a:txBody>
                  <a:tcPr anchor="ctr">
                    <a:noFill/>
                  </a:tcPr>
                </a:tc>
              </a:tr>
              <a:tr h="370840">
                <a:tc>
                  <a:txBody>
                    <a:bodyPr/>
                    <a:lstStyle/>
                    <a:p>
                      <a:pPr algn="ctr"/>
                      <a:r>
                        <a:rPr lang="en-US" dirty="0"/>
                        <a:t>5</a:t>
                      </a:r>
                      <a:endParaRPr lang="en-US" dirty="0"/>
                    </a:p>
                  </a:txBody>
                  <a:tcPr anchor="ctr">
                    <a:solidFill>
                      <a:srgbClr val="FFFF00"/>
                    </a:solidFill>
                  </a:tcPr>
                </a:tc>
                <a:tc>
                  <a:txBody>
                    <a:bodyPr/>
                    <a:lstStyle/>
                    <a:p>
                      <a:pPr algn="ctr"/>
                      <a:r>
                        <a:rPr lang="en-US" dirty="0"/>
                        <a:t>5</a:t>
                      </a:r>
                      <a:endParaRPr lang="en-US" dirty="0"/>
                    </a:p>
                  </a:txBody>
                  <a:tcPr anchor="ctr">
                    <a:solidFill>
                      <a:srgbClr val="FFFF00"/>
                    </a:solidFill>
                  </a:tcPr>
                </a:tc>
                <a:tc>
                  <a:txBody>
                    <a:bodyPr/>
                    <a:lstStyle/>
                    <a:p>
                      <a:pPr algn="ctr"/>
                      <a:r>
                        <a:rPr lang="en-US" dirty="0"/>
                        <a:t>5</a:t>
                      </a:r>
                      <a:endParaRPr lang="en-US" dirty="0"/>
                    </a:p>
                  </a:txBody>
                  <a:tcPr anchor="ctr">
                    <a:noFill/>
                  </a:tcPr>
                </a:tc>
              </a:tr>
              <a:tr h="370840">
                <a:tc>
                  <a:txBody>
                    <a:bodyPr/>
                    <a:lstStyle/>
                    <a:p>
                      <a:pPr algn="ctr"/>
                      <a:r>
                        <a:rPr lang="en-US" dirty="0"/>
                        <a:t>8</a:t>
                      </a:r>
                      <a:endParaRPr lang="en-US" dirty="0"/>
                    </a:p>
                  </a:txBody>
                  <a:tcPr anchor="ctr">
                    <a:solidFill>
                      <a:srgbClr val="FFFF00"/>
                    </a:solidFill>
                  </a:tcPr>
                </a:tc>
                <a:tc>
                  <a:txBody>
                    <a:bodyPr/>
                    <a:lstStyle/>
                    <a:p>
                      <a:pPr algn="ctr"/>
                      <a:r>
                        <a:rPr lang="en-US" dirty="0"/>
                        <a:t>8</a:t>
                      </a:r>
                      <a:endParaRPr lang="en-US" dirty="0"/>
                    </a:p>
                  </a:txBody>
                  <a:tcPr anchor="ctr">
                    <a:solidFill>
                      <a:srgbClr val="FFFF00"/>
                    </a:solidFill>
                  </a:tcPr>
                </a:tc>
                <a:tc>
                  <a:txBody>
                    <a:bodyPr/>
                    <a:lstStyle/>
                    <a:p>
                      <a:pPr algn="ctr"/>
                      <a:r>
                        <a:rPr lang="en-US" dirty="0"/>
                        <a:t>8</a:t>
                      </a:r>
                      <a:endParaRPr lang="en-US" dirty="0"/>
                    </a:p>
                  </a:txBody>
                  <a:tcPr anchor="ctr">
                    <a:noFill/>
                  </a:tcPr>
                </a:tc>
              </a:tr>
            </a:tbl>
          </a:graphicData>
        </a:graphic>
      </p:graphicFrame>
      <p:pic>
        <p:nvPicPr>
          <p:cNvPr id="13" name="Picture 12"/>
          <p:cNvPicPr>
            <a:picLocks noChangeAspect="1"/>
          </p:cNvPicPr>
          <p:nvPr/>
        </p:nvPicPr>
        <p:blipFill rotWithShape="1">
          <a:blip r:embed="rId1"/>
          <a:srcRect r="15109"/>
          <a:stretch>
            <a:fillRect/>
          </a:stretch>
        </p:blipFill>
        <p:spPr>
          <a:xfrm>
            <a:off x="7185534" y="2770337"/>
            <a:ext cx="5256584" cy="479174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multiplication
</a:t>
            </a:r>
            <a:endParaRPr lang="en-US" dirty="0"/>
          </a:p>
        </p:txBody>
      </p:sp>
      <p:sp>
        <p:nvSpPr>
          <p:cNvPr id="3" name="内容占位符 2"/>
          <p:cNvSpPr>
            <a:spLocks noGrp="1"/>
          </p:cNvSpPr>
          <p:nvPr>
            <p:ph idx="1"/>
          </p:nvPr>
        </p:nvSpPr>
        <p:spPr>
          <a:xfrm>
            <a:off x="495300" y="6316960"/>
            <a:ext cx="12012613" cy="2413807"/>
          </a:xfrm>
        </p:spPr>
        <p:txBody>
          <a:bodyPr/>
          <a:lstStyle/>
          <a:p>
            <a:r>
              <a:rPr lang="en-US" altLang="zh-CN" dirty="0"/>
              <a:t>At this time, in each node, there are exactly the data blocks required for each multiplication, a total of which is N^3. Multiply it!</a:t>
            </a:r>
            <a:endParaRPr lang="en-US" altLang="zh-CN" dirty="0"/>
          </a:p>
          <a:p>
            <a:pPr lvl="2"/>
            <a:r>
              <a:rPr lang="en-US" altLang="zh-CN" dirty="0"/>
              <a:t>Z1 =</a:t>
            </a:r>
            <a:r>
              <a:rPr lang="en-US" altLang="zh-CN" dirty="0">
                <a:solidFill>
                  <a:srgbClr val="FFC000"/>
                </a:solidFill>
              </a:rPr>
              <a:t> </a:t>
            </a:r>
            <a:r>
              <a:rPr lang="en-US" altLang="zh-CN" dirty="0"/>
              <a:t>X0 Y1 + X1 Y4 + X2 Y7</a:t>
            </a:r>
            <a:endParaRPr lang="en-US" altLang="zh-CN" dirty="0"/>
          </a:p>
          <a:p>
            <a:pPr lvl="2"/>
            <a:r>
              <a:rPr lang="en-US" dirty="0"/>
              <a:t>Z5 = X3 Y2 + X4 Y5 + X5 Y8</a:t>
            </a:r>
            <a:endParaRPr lang="en-US" dirty="0"/>
          </a:p>
          <a:p>
            <a:pPr lvl="2"/>
            <a:r>
              <a:rPr lang="en-US" dirty="0"/>
              <a:t>Z6 = X6 Y0 + X7 Y3 + X8 Y6</a:t>
            </a:r>
            <a:endParaRPr lang="en-US" dirty="0"/>
          </a:p>
          <a:p>
            <a:endParaRPr lang="en-US" dirty="0"/>
          </a:p>
        </p:txBody>
      </p:sp>
      <p:sp>
        <p:nvSpPr>
          <p:cNvPr id="5" name="TextBox 4"/>
          <p:cNvSpPr txBox="1"/>
          <p:nvPr/>
        </p:nvSpPr>
        <p:spPr>
          <a:xfrm>
            <a:off x="6165157" y="5659611"/>
            <a:ext cx="344966" cy="461665"/>
          </a:xfrm>
          <a:prstGeom prst="rect">
            <a:avLst/>
          </a:prstGeom>
          <a:noFill/>
        </p:spPr>
        <p:txBody>
          <a:bodyPr wrap="none" rtlCol="0">
            <a:spAutoFit/>
          </a:bodyPr>
          <a:lstStyle/>
          <a:p>
            <a:r>
              <a:rPr lang="en-US" sz="2400" b="1" dirty="0">
                <a:solidFill>
                  <a:schemeClr val="accent1"/>
                </a:solidFill>
              </a:rPr>
              <a:t>Y</a:t>
            </a:r>
            <a:endParaRPr lang="en-US" sz="2400" b="1" dirty="0">
              <a:solidFill>
                <a:schemeClr val="accent1"/>
              </a:solidFill>
            </a:endParaRPr>
          </a:p>
        </p:txBody>
      </p:sp>
      <p:sp>
        <p:nvSpPr>
          <p:cNvPr id="6" name="TextBox 5"/>
          <p:cNvSpPr txBox="1"/>
          <p:nvPr/>
        </p:nvSpPr>
        <p:spPr>
          <a:xfrm>
            <a:off x="2418823" y="5639271"/>
            <a:ext cx="354584" cy="461665"/>
          </a:xfrm>
          <a:prstGeom prst="rect">
            <a:avLst/>
          </a:prstGeom>
          <a:noFill/>
        </p:spPr>
        <p:txBody>
          <a:bodyPr wrap="none" rtlCol="0">
            <a:spAutoFit/>
          </a:bodyPr>
          <a:lstStyle/>
          <a:p>
            <a:r>
              <a:rPr lang="en-US" sz="2400" b="1" dirty="0">
                <a:solidFill>
                  <a:schemeClr val="accent1"/>
                </a:solidFill>
              </a:rPr>
              <a:t>X</a:t>
            </a:r>
            <a:endParaRPr lang="en-US" sz="2400" b="1" dirty="0">
              <a:solidFill>
                <a:schemeClr val="accent1"/>
              </a:solidFill>
            </a:endParaRPr>
          </a:p>
        </p:txBody>
      </p:sp>
      <p:graphicFrame>
        <p:nvGraphicFramePr>
          <p:cNvPr id="15" name="Table 4"/>
          <p:cNvGraphicFramePr>
            <a:graphicFrameLocks noGrp="1"/>
          </p:cNvGraphicFramePr>
          <p:nvPr/>
        </p:nvGraphicFramePr>
        <p:xfrm>
          <a:off x="9386227" y="4329728"/>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0</a:t>
                      </a:r>
                      <a:endParaRPr lang="en-US" dirty="0"/>
                    </a:p>
                  </a:txBody>
                  <a:tcPr anchor="ctr"/>
                </a:tc>
                <a:tc>
                  <a:txBody>
                    <a:bodyPr/>
                    <a:lstStyle/>
                    <a:p>
                      <a:pPr algn="ctr"/>
                      <a:r>
                        <a:rPr lang="en-US" dirty="0"/>
                        <a:t>1</a:t>
                      </a:r>
                      <a:endParaRPr lang="en-US" dirty="0"/>
                    </a:p>
                  </a:txBody>
                  <a:tcPr anchor="ctr">
                    <a:solidFill>
                      <a:schemeClr val="accent1">
                        <a:lumMod val="40000"/>
                        <a:lumOff val="60000"/>
                      </a:schemeClr>
                    </a:solidFill>
                  </a:tcPr>
                </a:tc>
                <a:tc>
                  <a:txBody>
                    <a:bodyPr/>
                    <a:lstStyle/>
                    <a:p>
                      <a:pPr algn="ctr"/>
                      <a:r>
                        <a:rPr lang="en-US" dirty="0"/>
                        <a:t>2</a:t>
                      </a:r>
                      <a:endParaRPr lang="en-US" dirty="0"/>
                    </a:p>
                  </a:txBody>
                  <a:tcPr anchor="ctr"/>
                </a:tc>
              </a:tr>
              <a:tr h="370840">
                <a:tc>
                  <a:txBody>
                    <a:bodyPr/>
                    <a:lstStyle/>
                    <a:p>
                      <a:pPr algn="ctr"/>
                      <a:r>
                        <a:rPr lang="en-US" dirty="0"/>
                        <a:t>3</a:t>
                      </a:r>
                      <a:endParaRPr lang="en-US" dirty="0"/>
                    </a:p>
                  </a:txBody>
                  <a:tcPr anchor="ctr"/>
                </a:tc>
                <a:tc>
                  <a:txBody>
                    <a:bodyPr/>
                    <a:lstStyle/>
                    <a:p>
                      <a:pPr algn="ctr"/>
                      <a:r>
                        <a:rPr lang="en-US" dirty="0"/>
                        <a:t>4</a:t>
                      </a:r>
                      <a:endParaRPr lang="en-US" dirty="0"/>
                    </a:p>
                  </a:txBody>
                  <a:tcPr anchor="ctr"/>
                </a:tc>
                <a:tc>
                  <a:txBody>
                    <a:bodyPr/>
                    <a:lstStyle/>
                    <a:p>
                      <a:pPr algn="ctr"/>
                      <a:r>
                        <a:rPr lang="en-US" dirty="0"/>
                        <a:t>5</a:t>
                      </a:r>
                      <a:endParaRPr lang="en-US" dirty="0"/>
                    </a:p>
                  </a:txBody>
                  <a:tcPr anchor="ctr">
                    <a:solidFill>
                      <a:srgbClr val="92D050"/>
                    </a:solidFill>
                  </a:tcPr>
                </a:tc>
              </a:tr>
              <a:tr h="370840">
                <a:tc>
                  <a:txBody>
                    <a:bodyPr/>
                    <a:lstStyle/>
                    <a:p>
                      <a:pPr algn="ctr"/>
                      <a:r>
                        <a:rPr lang="en-US" dirty="0"/>
                        <a:t>6</a:t>
                      </a:r>
                      <a:endParaRPr lang="en-US" dirty="0"/>
                    </a:p>
                  </a:txBody>
                  <a:tcPr anchor="ctr">
                    <a:solidFill>
                      <a:srgbClr val="FFC000"/>
                    </a:solidFill>
                  </a:tcPr>
                </a:tc>
                <a:tc>
                  <a:txBody>
                    <a:bodyPr/>
                    <a:lstStyle/>
                    <a:p>
                      <a:pPr algn="ctr"/>
                      <a:r>
                        <a:rPr lang="en-US" dirty="0"/>
                        <a:t>7</a:t>
                      </a:r>
                      <a:endParaRPr lang="en-US" dirty="0"/>
                    </a:p>
                  </a:txBody>
                  <a:tcPr anchor="ctr"/>
                </a:tc>
                <a:tc>
                  <a:txBody>
                    <a:bodyPr/>
                    <a:lstStyle/>
                    <a:p>
                      <a:pPr algn="ctr"/>
                      <a:r>
                        <a:rPr lang="en-US" dirty="0"/>
                        <a:t>8</a:t>
                      </a:r>
                      <a:endParaRPr lang="en-US" dirty="0"/>
                    </a:p>
                  </a:txBody>
                  <a:tcPr anchor="ctr"/>
                </a:tc>
              </a:tr>
            </a:tbl>
          </a:graphicData>
        </a:graphic>
      </p:graphicFrame>
      <p:sp>
        <p:nvSpPr>
          <p:cNvPr id="16" name="TextBox 15"/>
          <p:cNvSpPr txBox="1"/>
          <p:nvPr/>
        </p:nvSpPr>
        <p:spPr>
          <a:xfrm>
            <a:off x="10216675" y="5639271"/>
            <a:ext cx="332142" cy="461665"/>
          </a:xfrm>
          <a:prstGeom prst="rect">
            <a:avLst/>
          </a:prstGeom>
          <a:noFill/>
        </p:spPr>
        <p:txBody>
          <a:bodyPr wrap="none" rtlCol="0">
            <a:spAutoFit/>
          </a:bodyPr>
          <a:lstStyle/>
          <a:p>
            <a:r>
              <a:rPr lang="en-US" altLang="zh-CN" sz="2400" b="1" dirty="0">
                <a:solidFill>
                  <a:schemeClr val="accent1"/>
                </a:solidFill>
              </a:rPr>
              <a:t>Z</a:t>
            </a:r>
            <a:endParaRPr lang="en-US" sz="2400" b="1" dirty="0">
              <a:solidFill>
                <a:schemeClr val="accent1"/>
              </a:solidFill>
            </a:endParaRPr>
          </a:p>
        </p:txBody>
      </p:sp>
      <p:sp>
        <p:nvSpPr>
          <p:cNvPr id="17" name="Equals 16"/>
          <p:cNvSpPr/>
          <p:nvPr/>
        </p:nvSpPr>
        <p:spPr bwMode="auto">
          <a:xfrm>
            <a:off x="7942560" y="3307777"/>
            <a:ext cx="1008112" cy="648072"/>
          </a:xfrm>
          <a:prstGeom prst="mathEqual">
            <a:avLst/>
          </a:prstGeom>
          <a:noFill/>
          <a:ln w="38100" cap="flat" cmpd="sng" algn="ctr">
            <a:solidFill>
              <a:srgbClr val="FF0000"/>
            </a:solidFill>
            <a:prstDash val="solid"/>
            <a:miter lim="400000"/>
            <a:headEnd type="none" w="med" len="med"/>
            <a:tailEnd type="none" w="med" len="med"/>
          </a:ln>
          <a:effectLst/>
        </p:spPr>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sp>
        <p:nvSpPr>
          <p:cNvPr id="18" name="Multiplication Sign 17"/>
          <p:cNvSpPr/>
          <p:nvPr/>
        </p:nvSpPr>
        <p:spPr bwMode="auto">
          <a:xfrm>
            <a:off x="3913720" y="3205570"/>
            <a:ext cx="1002916" cy="852487"/>
          </a:xfrm>
          <a:prstGeom prst="mathMultiply">
            <a:avLst/>
          </a:prstGeom>
          <a:noFill/>
          <a:ln w="38100" cap="flat" cmpd="sng" algn="ctr">
            <a:solidFill>
              <a:srgbClr val="FF0000"/>
            </a:solidFill>
            <a:prstDash val="solid"/>
            <a:miter lim="400000"/>
            <a:headEnd type="none" w="med" len="med"/>
            <a:tailEnd type="none" w="med" len="med"/>
          </a:ln>
          <a:effectLst/>
        </p:spPr>
        <p:txBody>
          <a:bodyPr vert="horz" wrap="square" lIns="50800" tIns="50800" rIns="50800" bIns="50800" numCol="1" rtlCol="0" anchor="ctr" anchorCtr="0" compatLnSpc="1">
            <a:noAutofit/>
          </a:bodyPr>
          <a:lstStyle/>
          <a:p>
            <a:pPr marL="0" marR="0" indent="0" algn="ctr" defTabSz="1733550" rtl="0" eaLnBrk="1" fontAlgn="base" latinLnBrk="0" hangingPunct="0">
              <a:lnSpc>
                <a:spcPct val="90000"/>
              </a:lnSpc>
              <a:spcBef>
                <a:spcPct val="0"/>
              </a:spcBef>
              <a:spcAft>
                <a:spcPct val="0"/>
              </a:spcAft>
              <a:buClrTx/>
              <a:buSzTx/>
              <a:buFontTx/>
              <a:buNone/>
            </a:pPr>
            <a:endParaRPr kumimoji="0" lang="en-US" sz="1600" b="0" i="0" u="none" strike="noStrike" cap="none" normalizeH="0" baseline="0">
              <a:ln>
                <a:noFill/>
              </a:ln>
              <a:solidFill>
                <a:srgbClr val="000000"/>
              </a:solidFill>
              <a:effectLst/>
              <a:latin typeface="Canela Text Regular" charset="0"/>
              <a:ea typeface="Canela Text Regular" charset="0"/>
              <a:cs typeface="Canela Text Regular" charset="0"/>
              <a:sym typeface="Canela Text Regular" charset="0"/>
            </a:endParaRPr>
          </a:p>
        </p:txBody>
      </p:sp>
      <p:graphicFrame>
        <p:nvGraphicFramePr>
          <p:cNvPr id="19" name="Table 4"/>
          <p:cNvGraphicFramePr>
            <a:graphicFrameLocks noGrp="1"/>
          </p:cNvGraphicFramePr>
          <p:nvPr/>
        </p:nvGraphicFramePr>
        <p:xfrm>
          <a:off x="5467253" y="435795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0</a:t>
                      </a:r>
                      <a:endParaRPr lang="en-US" dirty="0"/>
                    </a:p>
                  </a:txBody>
                  <a:tcPr anchor="ctr">
                    <a:noFill/>
                  </a:tcPr>
                </a:tc>
                <a:tc>
                  <a:txBody>
                    <a:bodyPr/>
                    <a:lstStyle/>
                    <a:p>
                      <a:pPr algn="ctr"/>
                      <a:r>
                        <a:rPr lang="en-US" dirty="0"/>
                        <a:t>1</a:t>
                      </a:r>
                      <a:endParaRPr lang="en-US" dirty="0"/>
                    </a:p>
                  </a:txBody>
                  <a:tcPr anchor="ctr">
                    <a:solidFill>
                      <a:schemeClr val="accent1">
                        <a:lumMod val="40000"/>
                        <a:lumOff val="60000"/>
                      </a:schemeClr>
                    </a:solidFill>
                  </a:tcPr>
                </a:tc>
                <a:tc>
                  <a:txBody>
                    <a:bodyPr/>
                    <a:lstStyle/>
                    <a:p>
                      <a:pPr algn="ctr"/>
                      <a:r>
                        <a:rPr lang="en-US" dirty="0"/>
                        <a:t>2</a:t>
                      </a:r>
                      <a:endParaRPr lang="en-US" dirty="0"/>
                    </a:p>
                  </a:txBody>
                  <a:tcPr anchor="ctr">
                    <a:noFill/>
                  </a:tcPr>
                </a:tc>
              </a:tr>
              <a:tr h="370840">
                <a:tc>
                  <a:txBody>
                    <a:bodyPr/>
                    <a:lstStyle/>
                    <a:p>
                      <a:pPr algn="ctr"/>
                      <a:r>
                        <a:rPr lang="en-US" dirty="0"/>
                        <a:t>0</a:t>
                      </a:r>
                      <a:endParaRPr lang="en-US" dirty="0"/>
                    </a:p>
                  </a:txBody>
                  <a:tcPr anchor="ctr">
                    <a:noFill/>
                  </a:tcPr>
                </a:tc>
                <a:tc>
                  <a:txBody>
                    <a:bodyPr/>
                    <a:lstStyle/>
                    <a:p>
                      <a:pPr algn="ctr"/>
                      <a:r>
                        <a:rPr lang="en-US" dirty="0"/>
                        <a:t>1</a:t>
                      </a:r>
                      <a:endParaRPr lang="en-US" dirty="0"/>
                    </a:p>
                  </a:txBody>
                  <a:tcPr anchor="ctr">
                    <a:noFill/>
                  </a:tcPr>
                </a:tc>
                <a:tc>
                  <a:txBody>
                    <a:bodyPr/>
                    <a:lstStyle/>
                    <a:p>
                      <a:pPr algn="ctr"/>
                      <a:r>
                        <a:rPr lang="en-US" dirty="0"/>
                        <a:t>2</a:t>
                      </a:r>
                      <a:endParaRPr lang="en-US" dirty="0"/>
                    </a:p>
                  </a:txBody>
                  <a:tcPr anchor="ctr">
                    <a:solidFill>
                      <a:srgbClr val="92D050"/>
                    </a:solidFill>
                  </a:tcPr>
                </a:tc>
              </a:tr>
              <a:tr h="370840">
                <a:tc>
                  <a:txBody>
                    <a:bodyPr/>
                    <a:lstStyle/>
                    <a:p>
                      <a:pPr algn="ctr"/>
                      <a:r>
                        <a:rPr lang="en-US" dirty="0"/>
                        <a:t>0</a:t>
                      </a:r>
                      <a:endParaRPr lang="en-US" dirty="0"/>
                    </a:p>
                  </a:txBody>
                  <a:tcPr anchor="ctr">
                    <a:solidFill>
                      <a:srgbClr val="FFC000"/>
                    </a:solidFill>
                  </a:tcPr>
                </a:tc>
                <a:tc>
                  <a:txBody>
                    <a:bodyPr/>
                    <a:lstStyle/>
                    <a:p>
                      <a:pPr algn="ctr"/>
                      <a:r>
                        <a:rPr lang="en-US" dirty="0"/>
                        <a:t>1</a:t>
                      </a:r>
                      <a:endParaRPr lang="en-US" dirty="0"/>
                    </a:p>
                  </a:txBody>
                  <a:tcPr anchor="ctr">
                    <a:noFill/>
                  </a:tcPr>
                </a:tc>
                <a:tc>
                  <a:txBody>
                    <a:bodyPr/>
                    <a:lstStyle/>
                    <a:p>
                      <a:pPr algn="ctr"/>
                      <a:r>
                        <a:rPr lang="en-US" dirty="0"/>
                        <a:t>2</a:t>
                      </a:r>
                      <a:endParaRPr lang="en-US" dirty="0"/>
                    </a:p>
                  </a:txBody>
                  <a:tcPr anchor="ctr">
                    <a:noFill/>
                  </a:tcPr>
                </a:tc>
              </a:tr>
            </a:tbl>
          </a:graphicData>
        </a:graphic>
      </p:graphicFrame>
      <p:graphicFrame>
        <p:nvGraphicFramePr>
          <p:cNvPr id="20" name="Table 4"/>
          <p:cNvGraphicFramePr>
            <a:graphicFrameLocks noGrp="1"/>
          </p:cNvGraphicFramePr>
          <p:nvPr/>
        </p:nvGraphicFramePr>
        <p:xfrm>
          <a:off x="5467253" y="304731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3</a:t>
                      </a:r>
                      <a:endParaRPr lang="en-US" dirty="0"/>
                    </a:p>
                  </a:txBody>
                  <a:tcPr anchor="ctr">
                    <a:noFill/>
                  </a:tcPr>
                </a:tc>
                <a:tc>
                  <a:txBody>
                    <a:bodyPr/>
                    <a:lstStyle/>
                    <a:p>
                      <a:pPr algn="ctr"/>
                      <a:r>
                        <a:rPr lang="en-US" dirty="0"/>
                        <a:t>4</a:t>
                      </a:r>
                      <a:endParaRPr lang="en-US" dirty="0"/>
                    </a:p>
                  </a:txBody>
                  <a:tcPr anchor="ctr">
                    <a:solidFill>
                      <a:schemeClr val="accent1">
                        <a:lumMod val="40000"/>
                        <a:lumOff val="60000"/>
                      </a:schemeClr>
                    </a:solidFill>
                  </a:tcPr>
                </a:tc>
                <a:tc>
                  <a:txBody>
                    <a:bodyPr/>
                    <a:lstStyle/>
                    <a:p>
                      <a:pPr algn="ctr"/>
                      <a:r>
                        <a:rPr lang="en-US" dirty="0"/>
                        <a:t>5</a:t>
                      </a:r>
                      <a:endParaRPr lang="en-US" dirty="0"/>
                    </a:p>
                  </a:txBody>
                  <a:tcPr anchor="ctr">
                    <a:noFill/>
                  </a:tcPr>
                </a:tc>
              </a:tr>
              <a:tr h="370840">
                <a:tc>
                  <a:txBody>
                    <a:bodyPr/>
                    <a:lstStyle/>
                    <a:p>
                      <a:pPr algn="ctr"/>
                      <a:r>
                        <a:rPr lang="en-US" dirty="0"/>
                        <a:t>3</a:t>
                      </a:r>
                      <a:endParaRPr lang="en-US" dirty="0"/>
                    </a:p>
                  </a:txBody>
                  <a:tcPr anchor="ctr">
                    <a:noFill/>
                  </a:tcPr>
                </a:tc>
                <a:tc>
                  <a:txBody>
                    <a:bodyPr/>
                    <a:lstStyle/>
                    <a:p>
                      <a:pPr algn="ctr"/>
                      <a:r>
                        <a:rPr lang="en-US" dirty="0"/>
                        <a:t>4</a:t>
                      </a:r>
                      <a:endParaRPr lang="en-US" dirty="0"/>
                    </a:p>
                  </a:txBody>
                  <a:tcPr anchor="ctr">
                    <a:noFill/>
                  </a:tcPr>
                </a:tc>
                <a:tc>
                  <a:txBody>
                    <a:bodyPr/>
                    <a:lstStyle/>
                    <a:p>
                      <a:pPr algn="ctr"/>
                      <a:r>
                        <a:rPr lang="en-US" dirty="0"/>
                        <a:t>5</a:t>
                      </a:r>
                      <a:endParaRPr lang="en-US" dirty="0"/>
                    </a:p>
                  </a:txBody>
                  <a:tcPr anchor="ctr">
                    <a:solidFill>
                      <a:srgbClr val="92D050"/>
                    </a:solidFill>
                  </a:tcPr>
                </a:tc>
              </a:tr>
              <a:tr h="370840">
                <a:tc>
                  <a:txBody>
                    <a:bodyPr/>
                    <a:lstStyle/>
                    <a:p>
                      <a:pPr algn="ctr"/>
                      <a:r>
                        <a:rPr lang="en-US" dirty="0"/>
                        <a:t>3</a:t>
                      </a:r>
                      <a:endParaRPr lang="en-US" dirty="0"/>
                    </a:p>
                  </a:txBody>
                  <a:tcPr anchor="ctr">
                    <a:solidFill>
                      <a:srgbClr val="FFC000"/>
                    </a:solidFill>
                  </a:tcPr>
                </a:tc>
                <a:tc>
                  <a:txBody>
                    <a:bodyPr/>
                    <a:lstStyle/>
                    <a:p>
                      <a:pPr algn="ctr"/>
                      <a:r>
                        <a:rPr lang="en-US" dirty="0"/>
                        <a:t>4</a:t>
                      </a:r>
                      <a:endParaRPr lang="en-US" dirty="0"/>
                    </a:p>
                  </a:txBody>
                  <a:tcPr anchor="ctr">
                    <a:noFill/>
                  </a:tcPr>
                </a:tc>
                <a:tc>
                  <a:txBody>
                    <a:bodyPr/>
                    <a:lstStyle/>
                    <a:p>
                      <a:pPr algn="ctr"/>
                      <a:r>
                        <a:rPr lang="en-US" dirty="0"/>
                        <a:t>5</a:t>
                      </a:r>
                      <a:endParaRPr lang="en-US" dirty="0"/>
                    </a:p>
                  </a:txBody>
                  <a:tcPr anchor="ctr">
                    <a:noFill/>
                  </a:tcPr>
                </a:tc>
              </a:tr>
            </a:tbl>
          </a:graphicData>
        </a:graphic>
      </p:graphicFrame>
      <p:graphicFrame>
        <p:nvGraphicFramePr>
          <p:cNvPr id="21" name="Table 4"/>
          <p:cNvGraphicFramePr>
            <a:graphicFrameLocks noGrp="1"/>
          </p:cNvGraphicFramePr>
          <p:nvPr/>
        </p:nvGraphicFramePr>
        <p:xfrm>
          <a:off x="5467253" y="173667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6</a:t>
                      </a:r>
                      <a:endParaRPr lang="en-US" dirty="0"/>
                    </a:p>
                  </a:txBody>
                  <a:tcPr anchor="ctr">
                    <a:noFill/>
                  </a:tcPr>
                </a:tc>
                <a:tc>
                  <a:txBody>
                    <a:bodyPr/>
                    <a:lstStyle/>
                    <a:p>
                      <a:pPr algn="ctr"/>
                      <a:r>
                        <a:rPr lang="en-US" dirty="0"/>
                        <a:t>7</a:t>
                      </a:r>
                      <a:endParaRPr lang="en-US" dirty="0"/>
                    </a:p>
                  </a:txBody>
                  <a:tcPr anchor="ctr">
                    <a:solidFill>
                      <a:schemeClr val="accent1">
                        <a:lumMod val="40000"/>
                        <a:lumOff val="60000"/>
                      </a:schemeClr>
                    </a:solidFill>
                  </a:tcPr>
                </a:tc>
                <a:tc>
                  <a:txBody>
                    <a:bodyPr/>
                    <a:lstStyle/>
                    <a:p>
                      <a:pPr algn="ctr"/>
                      <a:r>
                        <a:rPr lang="en-US" dirty="0"/>
                        <a:t>8</a:t>
                      </a:r>
                      <a:endParaRPr lang="en-US" dirty="0"/>
                    </a:p>
                  </a:txBody>
                  <a:tcPr anchor="ctr">
                    <a:noFill/>
                  </a:tcPr>
                </a:tc>
              </a:tr>
              <a:tr h="370840">
                <a:tc>
                  <a:txBody>
                    <a:bodyPr/>
                    <a:lstStyle/>
                    <a:p>
                      <a:pPr algn="ctr"/>
                      <a:r>
                        <a:rPr lang="en-US" dirty="0"/>
                        <a:t>6</a:t>
                      </a:r>
                      <a:endParaRPr lang="en-US" dirty="0"/>
                    </a:p>
                  </a:txBody>
                  <a:tcPr anchor="ctr">
                    <a:noFill/>
                  </a:tcPr>
                </a:tc>
                <a:tc>
                  <a:txBody>
                    <a:bodyPr/>
                    <a:lstStyle/>
                    <a:p>
                      <a:pPr algn="ctr"/>
                      <a:r>
                        <a:rPr lang="en-US" dirty="0"/>
                        <a:t>7</a:t>
                      </a:r>
                      <a:endParaRPr lang="en-US" dirty="0"/>
                    </a:p>
                  </a:txBody>
                  <a:tcPr anchor="ctr">
                    <a:noFill/>
                  </a:tcPr>
                </a:tc>
                <a:tc>
                  <a:txBody>
                    <a:bodyPr/>
                    <a:lstStyle/>
                    <a:p>
                      <a:pPr algn="ctr"/>
                      <a:r>
                        <a:rPr lang="en-US" dirty="0"/>
                        <a:t>8</a:t>
                      </a:r>
                      <a:endParaRPr lang="en-US" dirty="0"/>
                    </a:p>
                  </a:txBody>
                  <a:tcPr anchor="ctr">
                    <a:solidFill>
                      <a:srgbClr val="92D050"/>
                    </a:solidFill>
                  </a:tcPr>
                </a:tc>
              </a:tr>
              <a:tr h="370840">
                <a:tc>
                  <a:txBody>
                    <a:bodyPr/>
                    <a:lstStyle/>
                    <a:p>
                      <a:pPr algn="ctr"/>
                      <a:r>
                        <a:rPr lang="en-US" dirty="0"/>
                        <a:t>6</a:t>
                      </a:r>
                      <a:endParaRPr lang="en-US" dirty="0"/>
                    </a:p>
                  </a:txBody>
                  <a:tcPr anchor="ctr">
                    <a:solidFill>
                      <a:srgbClr val="FFC000"/>
                    </a:solidFill>
                  </a:tcPr>
                </a:tc>
                <a:tc>
                  <a:txBody>
                    <a:bodyPr/>
                    <a:lstStyle/>
                    <a:p>
                      <a:pPr algn="ctr"/>
                      <a:r>
                        <a:rPr lang="en-US" dirty="0"/>
                        <a:t>7</a:t>
                      </a:r>
                      <a:endParaRPr lang="en-US" dirty="0"/>
                    </a:p>
                  </a:txBody>
                  <a:tcPr anchor="ctr">
                    <a:noFill/>
                  </a:tcPr>
                </a:tc>
                <a:tc>
                  <a:txBody>
                    <a:bodyPr/>
                    <a:lstStyle/>
                    <a:p>
                      <a:pPr algn="ctr"/>
                      <a:r>
                        <a:rPr lang="en-US" dirty="0"/>
                        <a:t>8</a:t>
                      </a:r>
                      <a:endParaRPr lang="en-US" dirty="0"/>
                    </a:p>
                  </a:txBody>
                  <a:tcPr anchor="ctr">
                    <a:noFill/>
                  </a:tcPr>
                </a:tc>
              </a:tr>
            </a:tbl>
          </a:graphicData>
        </a:graphic>
      </p:graphicFrame>
      <p:graphicFrame>
        <p:nvGraphicFramePr>
          <p:cNvPr id="22" name="Table 4"/>
          <p:cNvGraphicFramePr>
            <a:graphicFrameLocks noGrp="1"/>
          </p:cNvGraphicFramePr>
          <p:nvPr/>
        </p:nvGraphicFramePr>
        <p:xfrm>
          <a:off x="1648586" y="433761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0</a:t>
                      </a:r>
                      <a:endParaRPr lang="en-US" dirty="0"/>
                    </a:p>
                  </a:txBody>
                  <a:tcPr anchor="ctr">
                    <a:noFill/>
                  </a:tcPr>
                </a:tc>
                <a:tc>
                  <a:txBody>
                    <a:bodyPr/>
                    <a:lstStyle/>
                    <a:p>
                      <a:pPr algn="ctr"/>
                      <a:r>
                        <a:rPr lang="en-US" dirty="0"/>
                        <a:t>0</a:t>
                      </a:r>
                      <a:endParaRPr lang="en-US" dirty="0"/>
                    </a:p>
                  </a:txBody>
                  <a:tcPr anchor="ctr">
                    <a:solidFill>
                      <a:schemeClr val="accent1">
                        <a:lumMod val="40000"/>
                        <a:lumOff val="60000"/>
                      </a:schemeClr>
                    </a:solidFill>
                  </a:tcPr>
                </a:tc>
                <a:tc>
                  <a:txBody>
                    <a:bodyPr/>
                    <a:lstStyle/>
                    <a:p>
                      <a:pPr algn="ctr"/>
                      <a:r>
                        <a:rPr lang="en-US" dirty="0"/>
                        <a:t>0</a:t>
                      </a:r>
                      <a:endParaRPr lang="en-US" dirty="0"/>
                    </a:p>
                  </a:txBody>
                  <a:tcPr anchor="ctr">
                    <a:noFill/>
                  </a:tcPr>
                </a:tc>
              </a:tr>
              <a:tr h="370840">
                <a:tc>
                  <a:txBody>
                    <a:bodyPr/>
                    <a:lstStyle/>
                    <a:p>
                      <a:pPr algn="ctr"/>
                      <a:r>
                        <a:rPr lang="en-US" dirty="0"/>
                        <a:t>3</a:t>
                      </a:r>
                      <a:endParaRPr lang="en-US" dirty="0"/>
                    </a:p>
                  </a:txBody>
                  <a:tcPr anchor="ctr">
                    <a:noFill/>
                  </a:tcPr>
                </a:tc>
                <a:tc>
                  <a:txBody>
                    <a:bodyPr/>
                    <a:lstStyle/>
                    <a:p>
                      <a:pPr algn="ctr"/>
                      <a:r>
                        <a:rPr lang="en-US" dirty="0"/>
                        <a:t>3</a:t>
                      </a:r>
                      <a:endParaRPr lang="en-US" dirty="0"/>
                    </a:p>
                  </a:txBody>
                  <a:tcPr anchor="ctr">
                    <a:noFill/>
                  </a:tcPr>
                </a:tc>
                <a:tc>
                  <a:txBody>
                    <a:bodyPr/>
                    <a:lstStyle/>
                    <a:p>
                      <a:pPr algn="ctr"/>
                      <a:r>
                        <a:rPr lang="en-US" dirty="0"/>
                        <a:t>3</a:t>
                      </a:r>
                      <a:endParaRPr lang="en-US" dirty="0"/>
                    </a:p>
                  </a:txBody>
                  <a:tcPr anchor="ctr">
                    <a:solidFill>
                      <a:srgbClr val="92D050"/>
                    </a:solidFill>
                  </a:tcPr>
                </a:tc>
              </a:tr>
              <a:tr h="370840">
                <a:tc>
                  <a:txBody>
                    <a:bodyPr/>
                    <a:lstStyle/>
                    <a:p>
                      <a:pPr algn="ctr"/>
                      <a:r>
                        <a:rPr lang="en-US" dirty="0"/>
                        <a:t>6</a:t>
                      </a:r>
                      <a:endParaRPr lang="en-US" dirty="0"/>
                    </a:p>
                  </a:txBody>
                  <a:tcPr anchor="ctr">
                    <a:solidFill>
                      <a:srgbClr val="FFC000"/>
                    </a:solidFill>
                  </a:tcPr>
                </a:tc>
                <a:tc>
                  <a:txBody>
                    <a:bodyPr/>
                    <a:lstStyle/>
                    <a:p>
                      <a:pPr algn="ctr"/>
                      <a:r>
                        <a:rPr lang="en-US" dirty="0"/>
                        <a:t>6</a:t>
                      </a:r>
                      <a:endParaRPr lang="en-US" dirty="0"/>
                    </a:p>
                  </a:txBody>
                  <a:tcPr anchor="ctr">
                    <a:noFill/>
                  </a:tcPr>
                </a:tc>
                <a:tc>
                  <a:txBody>
                    <a:bodyPr/>
                    <a:lstStyle/>
                    <a:p>
                      <a:pPr algn="ctr"/>
                      <a:r>
                        <a:rPr lang="en-US" dirty="0"/>
                        <a:t>6</a:t>
                      </a:r>
                      <a:endParaRPr lang="en-US" dirty="0"/>
                    </a:p>
                  </a:txBody>
                  <a:tcPr anchor="ctr">
                    <a:noFill/>
                  </a:tcPr>
                </a:tc>
              </a:tr>
            </a:tbl>
          </a:graphicData>
        </a:graphic>
      </p:graphicFrame>
      <p:graphicFrame>
        <p:nvGraphicFramePr>
          <p:cNvPr id="23" name="Table 4"/>
          <p:cNvGraphicFramePr>
            <a:graphicFrameLocks noGrp="1"/>
          </p:cNvGraphicFramePr>
          <p:nvPr/>
        </p:nvGraphicFramePr>
        <p:xfrm>
          <a:off x="1663660" y="302697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1</a:t>
                      </a:r>
                      <a:endParaRPr lang="en-US" dirty="0"/>
                    </a:p>
                  </a:txBody>
                  <a:tcPr anchor="ctr">
                    <a:noFill/>
                  </a:tcPr>
                </a:tc>
                <a:tc>
                  <a:txBody>
                    <a:bodyPr/>
                    <a:lstStyle/>
                    <a:p>
                      <a:pPr algn="ctr"/>
                      <a:r>
                        <a:rPr lang="en-US" dirty="0"/>
                        <a:t>1</a:t>
                      </a:r>
                      <a:endParaRPr lang="en-US" dirty="0"/>
                    </a:p>
                  </a:txBody>
                  <a:tcPr anchor="ctr">
                    <a:solidFill>
                      <a:schemeClr val="accent1">
                        <a:lumMod val="40000"/>
                        <a:lumOff val="60000"/>
                      </a:schemeClr>
                    </a:solidFill>
                  </a:tcPr>
                </a:tc>
                <a:tc>
                  <a:txBody>
                    <a:bodyPr/>
                    <a:lstStyle/>
                    <a:p>
                      <a:pPr algn="ctr"/>
                      <a:r>
                        <a:rPr lang="en-US" dirty="0"/>
                        <a:t>1</a:t>
                      </a:r>
                      <a:endParaRPr lang="en-US" dirty="0"/>
                    </a:p>
                  </a:txBody>
                  <a:tcPr anchor="ctr">
                    <a:noFill/>
                  </a:tcPr>
                </a:tc>
              </a:tr>
              <a:tr h="370840">
                <a:tc>
                  <a:txBody>
                    <a:bodyPr/>
                    <a:lstStyle/>
                    <a:p>
                      <a:pPr algn="ctr"/>
                      <a:r>
                        <a:rPr lang="en-US" dirty="0"/>
                        <a:t>4</a:t>
                      </a:r>
                      <a:endParaRPr lang="en-US" dirty="0"/>
                    </a:p>
                  </a:txBody>
                  <a:tcPr anchor="ctr">
                    <a:noFill/>
                  </a:tcPr>
                </a:tc>
                <a:tc>
                  <a:txBody>
                    <a:bodyPr/>
                    <a:lstStyle/>
                    <a:p>
                      <a:pPr algn="ctr"/>
                      <a:r>
                        <a:rPr lang="en-US" dirty="0"/>
                        <a:t>4</a:t>
                      </a:r>
                      <a:endParaRPr lang="en-US" dirty="0"/>
                    </a:p>
                  </a:txBody>
                  <a:tcPr anchor="ctr">
                    <a:noFill/>
                  </a:tcPr>
                </a:tc>
                <a:tc>
                  <a:txBody>
                    <a:bodyPr/>
                    <a:lstStyle/>
                    <a:p>
                      <a:pPr algn="ctr"/>
                      <a:r>
                        <a:rPr lang="en-US" dirty="0"/>
                        <a:t>4</a:t>
                      </a:r>
                      <a:endParaRPr lang="en-US" dirty="0"/>
                    </a:p>
                  </a:txBody>
                  <a:tcPr anchor="ctr">
                    <a:solidFill>
                      <a:srgbClr val="92D050"/>
                    </a:solidFill>
                  </a:tcPr>
                </a:tc>
              </a:tr>
              <a:tr h="370840">
                <a:tc>
                  <a:txBody>
                    <a:bodyPr/>
                    <a:lstStyle/>
                    <a:p>
                      <a:pPr algn="ctr"/>
                      <a:r>
                        <a:rPr lang="en-US" dirty="0"/>
                        <a:t>7</a:t>
                      </a:r>
                      <a:endParaRPr lang="en-US" dirty="0"/>
                    </a:p>
                  </a:txBody>
                  <a:tcPr anchor="ctr">
                    <a:solidFill>
                      <a:srgbClr val="FFC000"/>
                    </a:solidFill>
                  </a:tcPr>
                </a:tc>
                <a:tc>
                  <a:txBody>
                    <a:bodyPr/>
                    <a:lstStyle/>
                    <a:p>
                      <a:pPr algn="ctr"/>
                      <a:r>
                        <a:rPr lang="en-US" dirty="0"/>
                        <a:t>7</a:t>
                      </a:r>
                      <a:endParaRPr lang="en-US" dirty="0"/>
                    </a:p>
                  </a:txBody>
                  <a:tcPr anchor="ctr">
                    <a:noFill/>
                  </a:tcPr>
                </a:tc>
                <a:tc>
                  <a:txBody>
                    <a:bodyPr/>
                    <a:lstStyle/>
                    <a:p>
                      <a:pPr algn="ctr"/>
                      <a:r>
                        <a:rPr lang="en-US" dirty="0"/>
                        <a:t>7</a:t>
                      </a:r>
                      <a:endParaRPr lang="en-US" dirty="0"/>
                    </a:p>
                  </a:txBody>
                  <a:tcPr anchor="ctr">
                    <a:noFill/>
                  </a:tcPr>
                </a:tc>
              </a:tr>
            </a:tbl>
          </a:graphicData>
        </a:graphic>
      </p:graphicFrame>
      <p:graphicFrame>
        <p:nvGraphicFramePr>
          <p:cNvPr id="24" name="Table 4"/>
          <p:cNvGraphicFramePr>
            <a:graphicFrameLocks noGrp="1"/>
          </p:cNvGraphicFramePr>
          <p:nvPr/>
        </p:nvGraphicFramePr>
        <p:xfrm>
          <a:off x="1663660" y="1716336"/>
          <a:ext cx="1890210" cy="1112520"/>
        </p:xfrm>
        <a:graphic>
          <a:graphicData uri="http://schemas.openxmlformats.org/drawingml/2006/table">
            <a:tbl>
              <a:tblPr firstRow="1" bandRow="1">
                <a:tableStyleId>{5940675A-B579-460E-94D1-54222C63F5DA}</a:tableStyleId>
              </a:tblPr>
              <a:tblGrid>
                <a:gridCol w="630070"/>
                <a:gridCol w="630070"/>
                <a:gridCol w="630070"/>
              </a:tblGrid>
              <a:tr h="370840">
                <a:tc>
                  <a:txBody>
                    <a:bodyPr/>
                    <a:lstStyle/>
                    <a:p>
                      <a:pPr algn="ctr"/>
                      <a:r>
                        <a:rPr lang="en-US" dirty="0"/>
                        <a:t>2</a:t>
                      </a:r>
                      <a:endParaRPr lang="en-US" dirty="0"/>
                    </a:p>
                  </a:txBody>
                  <a:tcPr anchor="ctr">
                    <a:noFill/>
                  </a:tcPr>
                </a:tc>
                <a:tc>
                  <a:txBody>
                    <a:bodyPr/>
                    <a:lstStyle/>
                    <a:p>
                      <a:pPr algn="ctr"/>
                      <a:r>
                        <a:rPr lang="en-US" dirty="0"/>
                        <a:t>2</a:t>
                      </a:r>
                      <a:endParaRPr lang="en-US" dirty="0"/>
                    </a:p>
                  </a:txBody>
                  <a:tcPr anchor="ctr">
                    <a:solidFill>
                      <a:schemeClr val="accent1">
                        <a:lumMod val="40000"/>
                        <a:lumOff val="60000"/>
                      </a:schemeClr>
                    </a:solidFill>
                  </a:tcPr>
                </a:tc>
                <a:tc>
                  <a:txBody>
                    <a:bodyPr/>
                    <a:lstStyle/>
                    <a:p>
                      <a:pPr algn="ctr"/>
                      <a:r>
                        <a:rPr lang="en-US" dirty="0"/>
                        <a:t>2</a:t>
                      </a:r>
                      <a:endParaRPr lang="en-US" dirty="0"/>
                    </a:p>
                  </a:txBody>
                  <a:tcPr anchor="ctr">
                    <a:noFill/>
                  </a:tcPr>
                </a:tc>
              </a:tr>
              <a:tr h="370840">
                <a:tc>
                  <a:txBody>
                    <a:bodyPr/>
                    <a:lstStyle/>
                    <a:p>
                      <a:pPr algn="ctr"/>
                      <a:r>
                        <a:rPr lang="en-US" dirty="0"/>
                        <a:t>5</a:t>
                      </a:r>
                      <a:endParaRPr lang="en-US" dirty="0"/>
                    </a:p>
                  </a:txBody>
                  <a:tcPr anchor="ctr">
                    <a:noFill/>
                  </a:tcPr>
                </a:tc>
                <a:tc>
                  <a:txBody>
                    <a:bodyPr/>
                    <a:lstStyle/>
                    <a:p>
                      <a:pPr algn="ctr"/>
                      <a:r>
                        <a:rPr lang="en-US" dirty="0"/>
                        <a:t>5</a:t>
                      </a:r>
                      <a:endParaRPr lang="en-US" dirty="0"/>
                    </a:p>
                  </a:txBody>
                  <a:tcPr anchor="ctr">
                    <a:noFill/>
                  </a:tcPr>
                </a:tc>
                <a:tc>
                  <a:txBody>
                    <a:bodyPr/>
                    <a:lstStyle/>
                    <a:p>
                      <a:pPr algn="ctr"/>
                      <a:r>
                        <a:rPr lang="en-US" dirty="0"/>
                        <a:t>5</a:t>
                      </a:r>
                      <a:endParaRPr lang="en-US" dirty="0"/>
                    </a:p>
                  </a:txBody>
                  <a:tcPr anchor="ctr">
                    <a:solidFill>
                      <a:srgbClr val="92D050"/>
                    </a:solidFill>
                  </a:tcPr>
                </a:tc>
              </a:tr>
              <a:tr h="370840">
                <a:tc>
                  <a:txBody>
                    <a:bodyPr/>
                    <a:lstStyle/>
                    <a:p>
                      <a:pPr algn="ctr"/>
                      <a:r>
                        <a:rPr lang="en-US" dirty="0"/>
                        <a:t>8</a:t>
                      </a:r>
                      <a:endParaRPr lang="en-US" dirty="0"/>
                    </a:p>
                  </a:txBody>
                  <a:tcPr anchor="ctr">
                    <a:solidFill>
                      <a:srgbClr val="FFC000"/>
                    </a:solidFill>
                  </a:tcPr>
                </a:tc>
                <a:tc>
                  <a:txBody>
                    <a:bodyPr/>
                    <a:lstStyle/>
                    <a:p>
                      <a:pPr algn="ctr"/>
                      <a:r>
                        <a:rPr lang="en-US" dirty="0"/>
                        <a:t>8</a:t>
                      </a:r>
                      <a:endParaRPr lang="en-US" dirty="0"/>
                    </a:p>
                  </a:txBody>
                  <a:tcPr anchor="ctr">
                    <a:noFill/>
                  </a:tcPr>
                </a:tc>
                <a:tc>
                  <a:txBody>
                    <a:bodyPr/>
                    <a:lstStyle/>
                    <a:p>
                      <a:pPr algn="ctr"/>
                      <a:r>
                        <a:rPr lang="en-US" dirty="0"/>
                        <a:t>8</a:t>
                      </a:r>
                      <a:endParaRPr lang="en-US" dirty="0"/>
                    </a:p>
                  </a:txBody>
                  <a:tcPr anchor="ctr">
                    <a:no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Reduction</a:t>
            </a:r>
            <a:endParaRPr lang="en-US" dirty="0"/>
          </a:p>
        </p:txBody>
      </p:sp>
      <p:sp>
        <p:nvSpPr>
          <p:cNvPr id="3" name="内容占位符 2"/>
          <p:cNvSpPr>
            <a:spLocks noGrp="1"/>
          </p:cNvSpPr>
          <p:nvPr>
            <p:ph idx="1"/>
          </p:nvPr>
        </p:nvSpPr>
        <p:spPr/>
        <p:txBody>
          <a:bodyPr/>
          <a:lstStyle/>
          <a:p>
            <a:r>
              <a:rPr lang="en-US" altLang="zh-CN" dirty="0"/>
              <a:t>3</a:t>
            </a:r>
            <a:r>
              <a:rPr lang="zh-CN" altLang="en-US" dirty="0"/>
              <a:t>）</a:t>
            </a:r>
            <a:r>
              <a:rPr lang="en-US" altLang="zh-CN" dirty="0"/>
              <a:t>For results on different planes, perform reduction (sum) operations. In plane 0, that is, what we want.
</a:t>
            </a:r>
            <a:endParaRPr lang="en-US" dirty="0"/>
          </a:p>
          <a:p>
            <a:r>
              <a:rPr lang="en-US" dirty="0"/>
              <a:t>*</a:t>
            </a:r>
            <a:r>
              <a:rPr lang="en-US" altLang="zh-CN" dirty="0"/>
              <a:t>Understand this algorithm from a coder’s perspective: 1) Loop unfolding. If we rewrite</a:t>
            </a:r>
            <a:endParaRPr lang="en-US" altLang="zh-CN" dirty="0"/>
          </a:p>
          <a:p>
            <a:endParaRPr lang="en-US" dirty="0"/>
          </a:p>
          <a:p>
            <a:endParaRPr lang="en-US" dirty="0"/>
          </a:p>
          <a:p>
            <a:r>
              <a:rPr lang="en-US" altLang="zh-CN" dirty="0"/>
              <a:t>as</a:t>
            </a:r>
            <a:endParaRPr lang="en-US" altLang="zh-CN" dirty="0"/>
          </a:p>
          <a:p>
            <a:pPr lvl="2"/>
            <a:r>
              <a:rPr lang="en-US" altLang="zh-CN" dirty="0"/>
              <a:t>for </a:t>
            </a:r>
            <a:r>
              <a:rPr lang="en-US" altLang="zh-CN" dirty="0" err="1"/>
              <a:t>i</a:t>
            </a:r>
            <a:r>
              <a:rPr lang="en-US" altLang="zh-CN" dirty="0"/>
              <a:t> in range(N**3): ….(omit)…</a:t>
            </a:r>
            <a:endParaRPr lang="en-US" altLang="zh-CN" dirty="0"/>
          </a:p>
          <a:p>
            <a:r>
              <a:rPr lang="en-US" altLang="zh-CN" dirty="0"/>
              <a:t>2</a:t>
            </a:r>
            <a:r>
              <a:rPr lang="zh-CN" altLang="en-US" dirty="0"/>
              <a:t>）</a:t>
            </a:r>
            <a:r>
              <a:rPr lang="en-US" altLang="zh-CN" dirty="0"/>
              <a:t>Parallel execution. For unrelated loops, a parallel step can be done.
3</a:t>
            </a:r>
            <a:r>
              <a:rPr lang="zh-CN" altLang="en-US" dirty="0"/>
              <a:t>）</a:t>
            </a:r>
            <a:r>
              <a:rPr lang="en-US" altLang="zh-CN" dirty="0"/>
              <a:t>Reduction. A O(</a:t>
            </a:r>
            <a:r>
              <a:rPr lang="en-US" altLang="zh-CN" dirty="0" err="1"/>
              <a:t>logN</a:t>
            </a:r>
            <a:r>
              <a:rPr lang="en-US" altLang="zh-CN" dirty="0"/>
              <a:t>) step is required (explained later).</a:t>
            </a:r>
            <a:endParaRPr lang="en-US" altLang="zh-CN"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83681" y="2500536"/>
            <a:ext cx="8640960" cy="606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5"/>
          <p:cNvPicPr>
            <a:picLocks noChangeAspect="1"/>
          </p:cNvPicPr>
          <p:nvPr/>
        </p:nvPicPr>
        <p:blipFill rotWithShape="1">
          <a:blip r:embed="rId2">
            <a:extLst>
              <a:ext uri="{28A0092B-C50C-407E-A947-70E740481C1C}">
                <a14:useLocalDpi xmlns:a14="http://schemas.microsoft.com/office/drawing/2010/main" val="0"/>
              </a:ext>
            </a:extLst>
          </a:blip>
          <a:srcRect t="53373" b="13726"/>
          <a:stretch>
            <a:fillRect/>
          </a:stretch>
        </p:blipFill>
        <p:spPr bwMode="auto">
          <a:xfrm>
            <a:off x="3046016" y="4300736"/>
            <a:ext cx="6764337" cy="162018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32769"/>
          <p:cNvSpPr>
            <a:spLocks noGrp="1"/>
          </p:cNvSpPr>
          <p:nvPr>
            <p:ph type="title"/>
          </p:nvPr>
        </p:nvSpPr>
        <p:spPr/>
        <p:txBody>
          <a:bodyPr anchor="ctr" anchorCtr="0"/>
          <a:p>
            <a:r>
              <a:t>Solving a System of Linear Equations</a:t>
            </a:r>
          </a:p>
        </p:txBody>
      </p:sp>
      <p:sp>
        <p:nvSpPr>
          <p:cNvPr id="32771" name="Text Placeholder 32770"/>
          <p:cNvSpPr>
            <a:spLocks noGrp="1"/>
          </p:cNvSpPr>
          <p:nvPr>
            <p:ph type="body" idx="1"/>
          </p:nvPr>
        </p:nvSpPr>
        <p:spPr/>
        <p:txBody>
          <a:bodyPr/>
          <a:p>
            <a:r>
              <a:t>Consider the problem of solving linear equations of the kind:</a:t>
            </a:r>
          </a:p>
          <a:p/>
          <a:p/>
          <a:p/>
          <a:p/>
          <a:p>
            <a:r>
              <a:t>This is written as </a:t>
            </a:r>
            <a:r>
              <a:rPr i="1">
                <a:latin typeface="Times New Roman" panose="02020603050405020304" pitchFamily="18" charset="0"/>
              </a:rPr>
              <a:t>Ax = b</a:t>
            </a:r>
            <a:r>
              <a:t>, where </a:t>
            </a:r>
            <a:r>
              <a:rPr i="1">
                <a:latin typeface="Times New Roman" panose="02020603050405020304" pitchFamily="18" charset="0"/>
              </a:rPr>
              <a:t>A</a:t>
            </a:r>
            <a:r>
              <a:t> is an </a:t>
            </a:r>
            <a:r>
              <a:rPr sz="3980" i="1">
                <a:latin typeface="Times New Roman" panose="02020603050405020304" pitchFamily="18" charset="0"/>
              </a:rPr>
              <a:t>n</a:t>
            </a:r>
            <a:r>
              <a:rPr sz="3980"/>
              <a:t> x </a:t>
            </a:r>
            <a:r>
              <a:rPr sz="3980" i="1">
                <a:latin typeface="Times New Roman" panose="02020603050405020304" pitchFamily="18" charset="0"/>
              </a:rPr>
              <a:t>n</a:t>
            </a:r>
            <a:r>
              <a:rPr sz="3980"/>
              <a:t> </a:t>
            </a:r>
            <a:r>
              <a:t>matrix with </a:t>
            </a:r>
            <a:r>
              <a:rPr i="1" err="1">
                <a:latin typeface="Times New Roman" panose="02020603050405020304" pitchFamily="18" charset="0"/>
              </a:rPr>
              <a:t>A</a:t>
            </a:r>
            <a:r>
              <a:rPr err="1">
                <a:latin typeface="Times New Roman" panose="02020603050405020304" pitchFamily="18" charset="0"/>
              </a:rPr>
              <a:t>[</a:t>
            </a:r>
            <a:r>
              <a:rPr i="1" err="1">
                <a:latin typeface="Times New Roman" panose="02020603050405020304" pitchFamily="18" charset="0"/>
              </a:rPr>
              <a:t>i</a:t>
            </a:r>
            <a:r>
              <a:rPr i="1">
                <a:latin typeface="Times New Roman" panose="02020603050405020304" pitchFamily="18" charset="0"/>
              </a:rPr>
              <a:t>, j</a:t>
            </a:r>
            <a:r>
              <a:rPr>
                <a:latin typeface="Times New Roman" panose="02020603050405020304" pitchFamily="18" charset="0"/>
              </a:rPr>
              <a:t>]</a:t>
            </a:r>
            <a:r>
              <a:rPr i="1">
                <a:latin typeface="Times New Roman" panose="02020603050405020304" pitchFamily="18" charset="0"/>
              </a:rPr>
              <a:t> = </a:t>
            </a:r>
            <a:r>
              <a:rPr i="1" err="1">
                <a:latin typeface="Times New Roman" panose="02020603050405020304" pitchFamily="18" charset="0"/>
              </a:rPr>
              <a:t>a</a:t>
            </a:r>
            <a:r>
              <a:rPr i="1" baseline="-25000" err="1">
                <a:latin typeface="Times New Roman" panose="02020603050405020304" pitchFamily="18" charset="0"/>
              </a:rPr>
              <a:t>i,j</a:t>
            </a:r>
            <a:r>
              <a:t>, </a:t>
            </a:r>
            <a:r>
              <a:rPr i="1">
                <a:latin typeface="Times New Roman" panose="02020603050405020304" pitchFamily="18" charset="0"/>
              </a:rPr>
              <a:t>b</a:t>
            </a:r>
            <a:r>
              <a:t> is an </a:t>
            </a:r>
            <a:r>
              <a:rPr sz="3980" i="1">
                <a:latin typeface="Times New Roman" panose="02020603050405020304" pitchFamily="18" charset="0"/>
              </a:rPr>
              <a:t>n</a:t>
            </a:r>
            <a:r>
              <a:rPr sz="3980"/>
              <a:t> x </a:t>
            </a:r>
            <a:r>
              <a:rPr sz="3980" i="1">
                <a:latin typeface="Times New Roman" panose="02020603050405020304" pitchFamily="18" charset="0"/>
              </a:rPr>
              <a:t>1</a:t>
            </a:r>
            <a:r>
              <a:rPr sz="3980"/>
              <a:t> </a:t>
            </a:r>
            <a:r>
              <a:t>vector [ </a:t>
            </a:r>
            <a:r>
              <a:rPr i="1">
                <a:latin typeface="Times New Roman" panose="02020603050405020304" pitchFamily="18" charset="0"/>
              </a:rPr>
              <a:t>b</a:t>
            </a:r>
            <a:r>
              <a:rPr i="1" baseline="-25000">
                <a:latin typeface="Times New Roman" panose="02020603050405020304" pitchFamily="18" charset="0"/>
              </a:rPr>
              <a:t>0</a:t>
            </a:r>
            <a:r>
              <a:rPr i="1">
                <a:latin typeface="Times New Roman" panose="02020603050405020304" pitchFamily="18" charset="0"/>
              </a:rPr>
              <a:t>, b</a:t>
            </a:r>
            <a:r>
              <a:rPr i="1" baseline="-25000">
                <a:latin typeface="Times New Roman" panose="02020603050405020304" pitchFamily="18" charset="0"/>
              </a:rPr>
              <a:t>1</a:t>
            </a:r>
            <a:r>
              <a:rPr i="1">
                <a:latin typeface="Times New Roman" panose="02020603050405020304" pitchFamily="18" charset="0"/>
              </a:rPr>
              <a:t>, … , </a:t>
            </a:r>
            <a:r>
              <a:rPr i="1" err="1">
                <a:latin typeface="Times New Roman" panose="02020603050405020304" pitchFamily="18" charset="0"/>
              </a:rPr>
              <a:t>b</a:t>
            </a:r>
            <a:r>
              <a:rPr i="1" baseline="-25000" err="1">
                <a:latin typeface="Times New Roman" panose="02020603050405020304" pitchFamily="18" charset="0"/>
              </a:rPr>
              <a:t>n</a:t>
            </a:r>
            <a:r>
              <a:t> ]</a:t>
            </a:r>
            <a:r>
              <a:rPr baseline="30000">
                <a:latin typeface="Times New Roman" panose="02020603050405020304" pitchFamily="18" charset="0"/>
              </a:rPr>
              <a:t>T</a:t>
            </a:r>
            <a:r>
              <a:t>, and </a:t>
            </a:r>
            <a:r>
              <a:rPr i="1">
                <a:latin typeface="Times New Roman" panose="02020603050405020304" pitchFamily="18" charset="0"/>
              </a:rPr>
              <a:t>x</a:t>
            </a:r>
            <a:r>
              <a:t> is the solution.</a:t>
            </a:r>
          </a:p>
          <a:p/>
          <a:p/>
        </p:txBody>
      </p:sp>
      <p:pic>
        <p:nvPicPr>
          <p:cNvPr id="32792" name="Picture 32791"/>
          <p:cNvPicPr>
            <a:picLocks noChangeAspect="1"/>
          </p:cNvPicPr>
          <p:nvPr/>
        </p:nvPicPr>
        <p:blipFill>
          <a:blip r:embed="rId1"/>
          <a:stretch>
            <a:fillRect/>
          </a:stretch>
        </p:blipFill>
        <p:spPr>
          <a:xfrm>
            <a:off x="1517227" y="3576320"/>
            <a:ext cx="10505441" cy="2079414"/>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itle 33793"/>
          <p:cNvSpPr>
            <a:spLocks noGrp="1"/>
          </p:cNvSpPr>
          <p:nvPr>
            <p:ph type="title"/>
          </p:nvPr>
        </p:nvSpPr>
        <p:spPr/>
        <p:txBody>
          <a:bodyPr anchor="ctr" anchorCtr="0"/>
          <a:p>
            <a:r>
              <a:t>Solving a System of Linear Equations</a:t>
            </a:r>
          </a:p>
        </p:txBody>
      </p:sp>
      <p:sp>
        <p:nvSpPr>
          <p:cNvPr id="33795" name="Text Placeholder 33794"/>
          <p:cNvSpPr>
            <a:spLocks noGrp="1"/>
          </p:cNvSpPr>
          <p:nvPr>
            <p:ph type="body" idx="1"/>
          </p:nvPr>
        </p:nvSpPr>
        <p:spPr/>
        <p:txBody>
          <a:bodyPr/>
          <a:p>
            <a:pPr algn="ctr">
              <a:buNone/>
            </a:pPr>
            <a:r>
              <a:t>Two steps in solution are: reduction to triangular form, and back-substitution. The triangular form is as:</a:t>
            </a:r>
          </a:p>
          <a:p>
            <a:pPr algn="ctr">
              <a:buNone/>
            </a:pPr>
          </a:p>
          <a:p>
            <a:pPr algn="ctr">
              <a:buNone/>
            </a:pPr>
          </a:p>
          <a:p>
            <a:pPr algn="ctr">
              <a:buNone/>
            </a:pPr>
          </a:p>
          <a:p>
            <a:pPr algn="ctr">
              <a:buNone/>
            </a:pPr>
          </a:p>
          <a:p>
            <a:pPr algn="ctr">
              <a:buNone/>
            </a:pPr>
          </a:p>
          <a:p>
            <a:pPr algn="ctr">
              <a:buNone/>
            </a:pPr>
            <a:r>
              <a:t>We write this as:  </a:t>
            </a:r>
            <a:r>
              <a:rPr i="1" err="1">
                <a:latin typeface="Times New Roman" panose="02020603050405020304" pitchFamily="18" charset="0"/>
              </a:rPr>
              <a:t>Ux</a:t>
            </a:r>
            <a:r>
              <a:rPr i="1">
                <a:latin typeface="Times New Roman" panose="02020603050405020304" pitchFamily="18" charset="0"/>
              </a:rPr>
              <a:t> = y</a:t>
            </a:r>
            <a:r>
              <a:t> . </a:t>
            </a:r>
          </a:p>
          <a:p>
            <a:pPr algn="ctr">
              <a:buNone/>
            </a:pPr>
            <a:r>
              <a:t>A commonly used method for transforming a given matrix into an upper-triangular matrix is Gaussian Elimination.  </a:t>
            </a:r>
          </a:p>
        </p:txBody>
      </p:sp>
      <p:pic>
        <p:nvPicPr>
          <p:cNvPr id="33797" name="Picture 33796"/>
          <p:cNvPicPr>
            <a:picLocks noChangeAspect="1"/>
          </p:cNvPicPr>
          <p:nvPr/>
        </p:nvPicPr>
        <p:blipFill>
          <a:blip r:embed="rId1"/>
          <a:stretch>
            <a:fillRect/>
          </a:stretch>
        </p:blipFill>
        <p:spPr>
          <a:xfrm>
            <a:off x="1192107" y="3684693"/>
            <a:ext cx="10972800" cy="2341316"/>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itle 34817"/>
          <p:cNvSpPr>
            <a:spLocks noGrp="1"/>
          </p:cNvSpPr>
          <p:nvPr>
            <p:ph type="title"/>
          </p:nvPr>
        </p:nvSpPr>
        <p:spPr/>
        <p:txBody>
          <a:bodyPr anchor="ctr" anchorCtr="0"/>
          <a:p>
            <a:r>
              <a:t>Gaussian Elimination</a:t>
            </a:r>
          </a:p>
        </p:txBody>
      </p:sp>
      <p:sp>
        <p:nvSpPr>
          <p:cNvPr id="34821" name="Rectangles 34820"/>
          <p:cNvSpPr/>
          <p:nvPr/>
        </p:nvSpPr>
        <p:spPr>
          <a:xfrm>
            <a:off x="4334933" y="8200249"/>
            <a:ext cx="6253480" cy="529590"/>
          </a:xfrm>
          <a:prstGeom prst="rect">
            <a:avLst/>
          </a:prstGeom>
          <a:noFill/>
          <a:ln w="9525">
            <a:noFill/>
          </a:ln>
        </p:spPr>
        <p:txBody>
          <a:bodyPr wrap="none" anchor="t" anchorCtr="0">
            <a:spAutoFit/>
          </a:bodyPr>
          <a:p>
            <a:r>
              <a:rPr sz="2845" i="0"/>
              <a:t>Serial Gaussian Elimination</a:t>
            </a:r>
            <a:endParaRPr sz="2845" i="0"/>
          </a:p>
        </p:txBody>
      </p:sp>
      <p:pic>
        <p:nvPicPr>
          <p:cNvPr id="34822" name="Picture 34821"/>
          <p:cNvPicPr>
            <a:picLocks noChangeAspect="1"/>
          </p:cNvPicPr>
          <p:nvPr/>
        </p:nvPicPr>
        <p:blipFill>
          <a:blip r:embed="rId1"/>
          <a:stretch>
            <a:fillRect/>
          </a:stretch>
        </p:blipFill>
        <p:spPr>
          <a:xfrm>
            <a:off x="1083733" y="1733973"/>
            <a:ext cx="11076658" cy="6342098"/>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itle 35841"/>
          <p:cNvSpPr>
            <a:spLocks noGrp="1"/>
          </p:cNvSpPr>
          <p:nvPr>
            <p:ph type="title"/>
          </p:nvPr>
        </p:nvSpPr>
        <p:spPr/>
        <p:txBody>
          <a:bodyPr anchor="ctr" anchorCtr="0"/>
          <a:p>
            <a:r>
              <a:t>Gaussian Elimination</a:t>
            </a:r>
          </a:p>
        </p:txBody>
      </p:sp>
      <p:sp>
        <p:nvSpPr>
          <p:cNvPr id="35843" name="Text Placeholder 35842"/>
          <p:cNvSpPr>
            <a:spLocks noGrp="1"/>
          </p:cNvSpPr>
          <p:nvPr>
            <p:ph type="body" idx="1"/>
          </p:nvPr>
        </p:nvSpPr>
        <p:spPr>
          <a:xfrm>
            <a:off x="650240" y="2275840"/>
            <a:ext cx="11704320" cy="2384213"/>
          </a:xfrm>
        </p:spPr>
        <p:txBody>
          <a:bodyPr/>
          <a:p>
            <a:r>
              <a:t>The computation has three nested loops - in the </a:t>
            </a:r>
            <a:r>
              <a:rPr i="1" err="1">
                <a:latin typeface="Times New Roman" panose="02020603050405020304" pitchFamily="18" charset="0"/>
              </a:rPr>
              <a:t>k</a:t>
            </a:r>
            <a:r>
              <a:rPr err="1"/>
              <a:t>th</a:t>
            </a:r>
            <a:r>
              <a:t> iteration of the outer loop, the algorithm performs </a:t>
            </a:r>
            <a:r>
              <a:rPr i="1">
                <a:latin typeface="Times New Roman" panose="02020603050405020304" pitchFamily="18" charset="0"/>
              </a:rPr>
              <a:t>(n-k)</a:t>
            </a:r>
            <a:r>
              <a:rPr i="1" baseline="30000">
                <a:latin typeface="Times New Roman" panose="02020603050405020304" pitchFamily="18" charset="0"/>
              </a:rPr>
              <a:t>2</a:t>
            </a:r>
            <a:r>
              <a:t> computations. Summing from </a:t>
            </a:r>
            <a:r>
              <a:rPr i="1">
                <a:latin typeface="Times New Roman" panose="02020603050405020304" pitchFamily="18" charset="0"/>
              </a:rPr>
              <a:t>k = 1..n</a:t>
            </a:r>
            <a:r>
              <a:t>, we have roughly </a:t>
            </a:r>
            <a:r>
              <a:rPr i="1">
                <a:latin typeface="Times New Roman" panose="02020603050405020304" pitchFamily="18" charset="0"/>
              </a:rPr>
              <a:t>(n</a:t>
            </a:r>
            <a:r>
              <a:rPr i="1" baseline="30000">
                <a:latin typeface="Times New Roman" panose="02020603050405020304" pitchFamily="18" charset="0"/>
              </a:rPr>
              <a:t>3</a:t>
            </a:r>
            <a:r>
              <a:rPr i="1">
                <a:latin typeface="Times New Roman" panose="02020603050405020304" pitchFamily="18" charset="0"/>
              </a:rPr>
              <a:t>/3)</a:t>
            </a:r>
            <a:r>
              <a:t> multiplications-subtractions.</a:t>
            </a:r>
          </a:p>
          <a:p/>
        </p:txBody>
      </p:sp>
      <p:sp>
        <p:nvSpPr>
          <p:cNvPr id="35845" name="Rectangles 35844"/>
          <p:cNvSpPr/>
          <p:nvPr/>
        </p:nvSpPr>
        <p:spPr>
          <a:xfrm>
            <a:off x="2600960" y="8344747"/>
            <a:ext cx="10708005" cy="529590"/>
          </a:xfrm>
          <a:prstGeom prst="rect">
            <a:avLst/>
          </a:prstGeom>
          <a:noFill/>
          <a:ln w="9525">
            <a:noFill/>
          </a:ln>
        </p:spPr>
        <p:txBody>
          <a:bodyPr wrap="none" anchor="t" anchorCtr="0">
            <a:spAutoFit/>
          </a:bodyPr>
          <a:p>
            <a:r>
              <a:rPr sz="2845" i="0"/>
              <a:t>A typical computation in Gaussian elimination.</a:t>
            </a:r>
            <a:endParaRPr sz="2845" i="0"/>
          </a:p>
        </p:txBody>
      </p:sp>
      <p:pic>
        <p:nvPicPr>
          <p:cNvPr id="35846" name="Picture 35845"/>
          <p:cNvPicPr>
            <a:picLocks noChangeAspect="1"/>
          </p:cNvPicPr>
          <p:nvPr/>
        </p:nvPicPr>
        <p:blipFill>
          <a:blip r:embed="rId1"/>
          <a:stretch>
            <a:fillRect/>
          </a:stretch>
        </p:blipFill>
        <p:spPr>
          <a:xfrm>
            <a:off x="2926080" y="4551680"/>
            <a:ext cx="6590454" cy="3273778"/>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itle 36865"/>
          <p:cNvSpPr>
            <a:spLocks noGrp="1"/>
          </p:cNvSpPr>
          <p:nvPr>
            <p:ph type="title"/>
          </p:nvPr>
        </p:nvSpPr>
        <p:spPr/>
        <p:txBody>
          <a:bodyPr anchor="ctr" anchorCtr="0"/>
          <a:p>
            <a:r>
              <a:t>Parallel Gaussian Elimination</a:t>
            </a:r>
          </a:p>
        </p:txBody>
      </p:sp>
      <p:sp>
        <p:nvSpPr>
          <p:cNvPr id="36867" name="Text Placeholder 36866"/>
          <p:cNvSpPr>
            <a:spLocks noGrp="1"/>
          </p:cNvSpPr>
          <p:nvPr>
            <p:ph type="body" idx="1"/>
          </p:nvPr>
        </p:nvSpPr>
        <p:spPr>
          <a:xfrm>
            <a:off x="650240" y="1950720"/>
            <a:ext cx="11704320" cy="7044267"/>
          </a:xfrm>
        </p:spPr>
        <p:txBody>
          <a:bodyPr/>
          <a:p>
            <a:pPr>
              <a:lnSpc>
                <a:spcPct val="90000"/>
              </a:lnSpc>
            </a:pPr>
            <a:r>
              <a:t>Assume </a:t>
            </a:r>
            <a:r>
              <a:rPr i="1">
                <a:latin typeface="Times New Roman" panose="02020603050405020304" pitchFamily="18" charset="0"/>
              </a:rPr>
              <a:t>p = n</a:t>
            </a:r>
            <a:r>
              <a:t> with each row assigned to a processor. </a:t>
            </a:r>
          </a:p>
          <a:p>
            <a:pPr>
              <a:lnSpc>
                <a:spcPct val="90000"/>
              </a:lnSpc>
            </a:pPr>
            <a:r>
              <a:t>The first step of the algorithm normalizes the row. This is a serial operation and takes time  (</a:t>
            </a:r>
            <a:r>
              <a:rPr i="1" err="1">
                <a:latin typeface="Times New Roman" panose="02020603050405020304" pitchFamily="18" charset="0"/>
              </a:rPr>
              <a:t>n-k</a:t>
            </a:r>
            <a:r>
              <a:rPr>
                <a:latin typeface="Times New Roman" panose="02020603050405020304" pitchFamily="18" charset="0"/>
              </a:rPr>
              <a:t>)</a:t>
            </a:r>
            <a:r>
              <a:t> in the   </a:t>
            </a:r>
            <a:r>
              <a:rPr i="1" err="1">
                <a:latin typeface="Times New Roman" panose="02020603050405020304" pitchFamily="18" charset="0"/>
              </a:rPr>
              <a:t>k</a:t>
            </a:r>
            <a:r>
              <a:rPr err="1"/>
              <a:t>th</a:t>
            </a:r>
            <a:r>
              <a:t> iteration. </a:t>
            </a:r>
          </a:p>
          <a:p>
            <a:pPr>
              <a:lnSpc>
                <a:spcPct val="90000"/>
              </a:lnSpc>
            </a:pPr>
            <a:r>
              <a:t>In the second step, the normalized row is broadcast to all the processors. This takes time                                    . </a:t>
            </a:r>
          </a:p>
          <a:p>
            <a:pPr>
              <a:lnSpc>
                <a:spcPct val="90000"/>
              </a:lnSpc>
            </a:pPr>
            <a:r>
              <a:t>Each processor can independently eliminate this row from its own. This requires  (</a:t>
            </a:r>
            <a:r>
              <a:rPr i="1">
                <a:latin typeface="Times New Roman" panose="02020603050405020304" pitchFamily="18" charset="0"/>
              </a:rPr>
              <a:t>n-k-</a:t>
            </a:r>
            <a:r>
              <a:rPr>
                <a:latin typeface="Times New Roman" panose="02020603050405020304" pitchFamily="18" charset="0"/>
              </a:rPr>
              <a:t>1</a:t>
            </a:r>
            <a:r>
              <a:t>) multiplications and subtractions. </a:t>
            </a:r>
          </a:p>
          <a:p>
            <a:pPr>
              <a:lnSpc>
                <a:spcPct val="90000"/>
              </a:lnSpc>
            </a:pPr>
            <a:r>
              <a:t>The total parallel time can be computed by summing from   </a:t>
            </a:r>
            <a:r>
              <a:rPr i="1">
                <a:latin typeface="Times New Roman" panose="02020603050405020304" pitchFamily="18" charset="0"/>
              </a:rPr>
              <a:t>k = </a:t>
            </a:r>
            <a:r>
              <a:rPr>
                <a:latin typeface="Times New Roman" panose="02020603050405020304" pitchFamily="18" charset="0"/>
              </a:rPr>
              <a:t>1</a:t>
            </a:r>
            <a:r>
              <a:rPr i="1">
                <a:latin typeface="Times New Roman" panose="02020603050405020304" pitchFamily="18" charset="0"/>
              </a:rPr>
              <a:t> … n-</a:t>
            </a:r>
            <a:r>
              <a:rPr>
                <a:latin typeface="Times New Roman" panose="02020603050405020304" pitchFamily="18" charset="0"/>
              </a:rPr>
              <a:t>1</a:t>
            </a:r>
            <a:r>
              <a:t> as </a:t>
            </a:r>
          </a:p>
          <a:p>
            <a:pPr>
              <a:lnSpc>
                <a:spcPct val="90000"/>
              </a:lnSpc>
            </a:pPr>
          </a:p>
          <a:p>
            <a:pPr>
              <a:lnSpc>
                <a:spcPct val="90000"/>
              </a:lnSpc>
            </a:pPr>
            <a:r>
              <a:t>The formulation is not cost optimal because of the </a:t>
            </a:r>
            <a:r>
              <a:rPr i="1" err="1">
                <a:latin typeface="Times New Roman" panose="02020603050405020304" pitchFamily="18" charset="0"/>
              </a:rPr>
              <a:t>t</a:t>
            </a:r>
            <a:r>
              <a:rPr i="1" baseline="-25000" err="1">
                <a:latin typeface="Times New Roman" panose="02020603050405020304" pitchFamily="18" charset="0"/>
              </a:rPr>
              <a:t>w</a:t>
            </a:r>
            <a:r>
              <a:t>  term. </a:t>
            </a:r>
          </a:p>
          <a:p>
            <a:pPr>
              <a:lnSpc>
                <a:spcPct val="90000"/>
              </a:lnSpc>
            </a:pPr>
          </a:p>
        </p:txBody>
      </p:sp>
      <p:pic>
        <p:nvPicPr>
          <p:cNvPr id="36869" name="Picture 36868" descr="$ (t_s + t_w(n-k-1))\log n$"/>
          <p:cNvPicPr>
            <a:picLocks noChangeAspect="1"/>
          </p:cNvPicPr>
          <p:nvPr/>
        </p:nvPicPr>
        <p:blipFill>
          <a:blip r:embed="rId1"/>
          <a:stretch>
            <a:fillRect/>
          </a:stretch>
        </p:blipFill>
        <p:spPr>
          <a:xfrm>
            <a:off x="7369387" y="4551680"/>
            <a:ext cx="4237850" cy="765387"/>
          </a:xfrm>
          <a:prstGeom prst="rect">
            <a:avLst/>
          </a:prstGeom>
          <a:noFill/>
          <a:ln w="9525">
            <a:noFill/>
          </a:ln>
        </p:spPr>
      </p:pic>
      <p:pic>
        <p:nvPicPr>
          <p:cNvPr id="36871" name="Picture 36870" descr="$\displaystyle T_P = \frac{3}{2}n(n-1) + t_sn\log n + \frac{1}{2}t_wn(n-1)\log n.$"/>
          <p:cNvPicPr>
            <a:picLocks noChangeAspect="1"/>
          </p:cNvPicPr>
          <p:nvPr/>
        </p:nvPicPr>
        <p:blipFill>
          <a:blip r:embed="rId2"/>
          <a:stretch>
            <a:fillRect/>
          </a:stretch>
        </p:blipFill>
        <p:spPr>
          <a:xfrm>
            <a:off x="2492587" y="7477760"/>
            <a:ext cx="7461956" cy="1079218"/>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itle 37889"/>
          <p:cNvSpPr>
            <a:spLocks noGrp="1"/>
          </p:cNvSpPr>
          <p:nvPr>
            <p:ph type="title"/>
          </p:nvPr>
        </p:nvSpPr>
        <p:spPr/>
        <p:txBody>
          <a:bodyPr anchor="ctr" anchorCtr="0"/>
          <a:p>
            <a:r>
              <a:t>Parallel Gaussian Elimination</a:t>
            </a:r>
          </a:p>
        </p:txBody>
      </p:sp>
      <p:sp>
        <p:nvSpPr>
          <p:cNvPr id="37893" name="Rectangles 37892"/>
          <p:cNvSpPr/>
          <p:nvPr/>
        </p:nvSpPr>
        <p:spPr>
          <a:xfrm>
            <a:off x="650240" y="8344747"/>
            <a:ext cx="10945707" cy="1845310"/>
          </a:xfrm>
          <a:prstGeom prst="rect">
            <a:avLst/>
          </a:prstGeom>
          <a:noFill/>
          <a:ln w="9525">
            <a:noFill/>
          </a:ln>
        </p:spPr>
        <p:txBody>
          <a:bodyPr>
            <a:spAutoFit/>
          </a:bodyPr>
          <a:p>
            <a:pPr algn="ctr"/>
            <a:r>
              <a:rPr sz="2845" i="0"/>
              <a:t>Gaussian elimination steps during the iteration corresponding </a:t>
            </a:r>
            <a:r>
              <a:rPr sz="2845">
                <a:latin typeface="Times New Roman" panose="02020603050405020304" pitchFamily="18" charset="0"/>
              </a:rPr>
              <a:t>k</a:t>
            </a:r>
            <a:r>
              <a:rPr sz="2845" i="0"/>
              <a:t> = 3 for an 8 x 8 matrix partitioned </a:t>
            </a:r>
            <a:r>
              <a:rPr sz="2845" i="0" err="1"/>
              <a:t>rowwise</a:t>
            </a:r>
            <a:r>
              <a:rPr sz="2845" i="0"/>
              <a:t> among eight processes.</a:t>
            </a:r>
            <a:endParaRPr sz="2845" i="0"/>
          </a:p>
        </p:txBody>
      </p:sp>
      <p:pic>
        <p:nvPicPr>
          <p:cNvPr id="37894" name="Picture 37893"/>
          <p:cNvPicPr>
            <a:picLocks noChangeAspect="1"/>
          </p:cNvPicPr>
          <p:nvPr/>
        </p:nvPicPr>
        <p:blipFill>
          <a:blip r:embed="rId1"/>
          <a:stretch>
            <a:fillRect/>
          </a:stretch>
        </p:blipFill>
        <p:spPr>
          <a:xfrm>
            <a:off x="3467947" y="1733973"/>
            <a:ext cx="5642187" cy="6475307"/>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itle 39937"/>
          <p:cNvSpPr>
            <a:spLocks noGrp="1"/>
          </p:cNvSpPr>
          <p:nvPr>
            <p:ph type="title"/>
          </p:nvPr>
        </p:nvSpPr>
        <p:spPr/>
        <p:txBody>
          <a:bodyPr anchor="ctr" anchorCtr="0"/>
          <a:p>
            <a:r>
              <a:t>Parallel Gaussian Elimination: </a:t>
            </a:r>
            <a:br/>
            <a:r>
              <a:t>Pipelined Execution</a:t>
            </a:r>
          </a:p>
        </p:txBody>
      </p:sp>
      <p:sp>
        <p:nvSpPr>
          <p:cNvPr id="39939" name="Text Placeholder 39938"/>
          <p:cNvSpPr>
            <a:spLocks noGrp="1"/>
          </p:cNvSpPr>
          <p:nvPr>
            <p:ph type="body" idx="1"/>
          </p:nvPr>
        </p:nvSpPr>
        <p:spPr/>
        <p:txBody>
          <a:bodyPr/>
          <a:p>
            <a:r>
              <a:t>In the previous formulation, the (</a:t>
            </a:r>
            <a:r>
              <a:rPr i="1">
                <a:latin typeface="Times New Roman" panose="02020603050405020304" pitchFamily="18" charset="0"/>
              </a:rPr>
              <a:t>k</a:t>
            </a:r>
            <a:r>
              <a:t>+1)st iteration starts only after all the computation and communication for the </a:t>
            </a:r>
            <a:r>
              <a:rPr err="1"/>
              <a:t>kth</a:t>
            </a:r>
            <a:r>
              <a:t> iteration is complete.</a:t>
            </a:r>
          </a:p>
          <a:p>
            <a:r>
              <a:t>In the pipelined version, there are three steps -  normalization of a row, communication, and elimination. These steps are performed in an asynchronous fashion.</a:t>
            </a:r>
          </a:p>
          <a:p>
            <a:r>
              <a:t>A processor </a:t>
            </a:r>
            <a:r>
              <a:rPr i="1" err="1">
                <a:latin typeface="Times New Roman" panose="02020603050405020304" pitchFamily="18" charset="0"/>
              </a:rPr>
              <a:t>P</a:t>
            </a:r>
            <a:r>
              <a:rPr i="1" baseline="-25000" err="1">
                <a:latin typeface="Times New Roman" panose="02020603050405020304" pitchFamily="18" charset="0"/>
              </a:rPr>
              <a:t>k</a:t>
            </a:r>
            <a:r>
              <a:t> waits to receive and eliminate all rows prior to </a:t>
            </a:r>
            <a:r>
              <a:rPr i="1">
                <a:latin typeface="Times New Roman" panose="02020603050405020304" pitchFamily="18" charset="0"/>
              </a:rPr>
              <a:t>k</a:t>
            </a:r>
            <a:r>
              <a:t>.</a:t>
            </a:r>
          </a:p>
          <a:p>
            <a:r>
              <a:t>Once it has done this, it forwards its own row to processor </a:t>
            </a:r>
            <a:r>
              <a:rPr i="1">
                <a:latin typeface="Times New Roman" panose="02020603050405020304" pitchFamily="18" charset="0"/>
              </a:rPr>
              <a:t>Pk</a:t>
            </a:r>
            <a:r>
              <a:t>+1.</a:t>
            </a:r>
          </a:p>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itle 40961"/>
          <p:cNvSpPr>
            <a:spLocks noGrp="1"/>
          </p:cNvSpPr>
          <p:nvPr>
            <p:ph type="title"/>
          </p:nvPr>
        </p:nvSpPr>
        <p:spPr/>
        <p:txBody>
          <a:bodyPr anchor="ctr" anchorCtr="0"/>
          <a:p>
            <a:r>
              <a:t>Parallel Gaussian Elimination: </a:t>
            </a:r>
            <a:br/>
            <a:r>
              <a:t>Pipelined Execution</a:t>
            </a:r>
          </a:p>
        </p:txBody>
      </p:sp>
      <p:sp>
        <p:nvSpPr>
          <p:cNvPr id="40965" name="Rectangles 40964"/>
          <p:cNvSpPr/>
          <p:nvPr/>
        </p:nvSpPr>
        <p:spPr>
          <a:xfrm>
            <a:off x="1517227" y="8453120"/>
            <a:ext cx="9970347" cy="1407160"/>
          </a:xfrm>
          <a:prstGeom prst="rect">
            <a:avLst/>
          </a:prstGeom>
          <a:noFill/>
          <a:ln w="9525">
            <a:noFill/>
          </a:ln>
        </p:spPr>
        <p:txBody>
          <a:bodyPr>
            <a:spAutoFit/>
          </a:bodyPr>
          <a:p>
            <a:pPr algn="ctr"/>
            <a:r>
              <a:rPr sz="2845" i="0"/>
              <a:t>Pipelined Gaussian elimination on a 5 x 5 matrix partitioned </a:t>
            </a:r>
            <a:r>
              <a:rPr sz="2845" i="0" err="1"/>
              <a:t>withone</a:t>
            </a:r>
            <a:r>
              <a:rPr sz="2845" i="0"/>
              <a:t> row per process.</a:t>
            </a:r>
            <a:endParaRPr sz="2845" i="0"/>
          </a:p>
        </p:txBody>
      </p:sp>
      <p:pic>
        <p:nvPicPr>
          <p:cNvPr id="40966" name="Picture 40965"/>
          <p:cNvPicPr>
            <a:picLocks noChangeAspect="1"/>
          </p:cNvPicPr>
          <p:nvPr/>
        </p:nvPicPr>
        <p:blipFill>
          <a:blip r:embed="rId1"/>
          <a:srcRect b="1952"/>
          <a:stretch>
            <a:fillRect/>
          </a:stretch>
        </p:blipFill>
        <p:spPr>
          <a:xfrm>
            <a:off x="3901440" y="2059093"/>
            <a:ext cx="4971627" cy="6534009"/>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itle 41985"/>
          <p:cNvSpPr>
            <a:spLocks noGrp="1"/>
          </p:cNvSpPr>
          <p:nvPr>
            <p:ph type="title"/>
          </p:nvPr>
        </p:nvSpPr>
        <p:spPr/>
        <p:txBody>
          <a:bodyPr anchor="ctr" anchorCtr="0"/>
          <a:p>
            <a:r>
              <a:t>Parallel Gaussian Elimination: </a:t>
            </a:r>
            <a:br/>
            <a:r>
              <a:t>Pipelined Execution</a:t>
            </a:r>
          </a:p>
        </p:txBody>
      </p:sp>
      <p:sp>
        <p:nvSpPr>
          <p:cNvPr id="41987" name="Text Placeholder 41986"/>
          <p:cNvSpPr>
            <a:spLocks noGrp="1"/>
          </p:cNvSpPr>
          <p:nvPr>
            <p:ph type="body" idx="1"/>
          </p:nvPr>
        </p:nvSpPr>
        <p:spPr/>
        <p:txBody>
          <a:bodyPr/>
          <a:p>
            <a:r>
              <a:t>The total number of steps in the entire pipelined procedure is </a:t>
            </a:r>
            <a:r>
              <a:rPr lang="el-GR" altLang="x-none" i="1" dirty="0">
                <a:cs typeface="Arial" panose="020B0604020202020204" pitchFamily="34" charset="0"/>
              </a:rPr>
              <a:t>Θ</a:t>
            </a:r>
            <a:r>
              <a:t>(</a:t>
            </a:r>
            <a:r>
              <a:rPr i="1">
                <a:latin typeface="Times New Roman" panose="02020603050405020304" pitchFamily="18" charset="0"/>
              </a:rPr>
              <a:t>n</a:t>
            </a:r>
            <a:r>
              <a:t>).</a:t>
            </a:r>
          </a:p>
          <a:p>
            <a:r>
              <a:t>In any step, either </a:t>
            </a:r>
            <a:r>
              <a:rPr i="1" err="1">
                <a:latin typeface="Times New Roman" panose="02020603050405020304" pitchFamily="18" charset="0"/>
              </a:rPr>
              <a:t>O(n</a:t>
            </a:r>
            <a:r>
              <a:rPr i="1">
                <a:latin typeface="Times New Roman" panose="02020603050405020304" pitchFamily="18" charset="0"/>
              </a:rPr>
              <a:t>)</a:t>
            </a:r>
            <a:r>
              <a:t> elements are communicated between directly-connected processes, or a division step is performed on </a:t>
            </a:r>
            <a:r>
              <a:rPr i="1" err="1">
                <a:latin typeface="Times New Roman" panose="02020603050405020304" pitchFamily="18" charset="0"/>
              </a:rPr>
              <a:t>O(n</a:t>
            </a:r>
            <a:r>
              <a:rPr i="1">
                <a:latin typeface="Times New Roman" panose="02020603050405020304" pitchFamily="18" charset="0"/>
              </a:rPr>
              <a:t>)</a:t>
            </a:r>
            <a:r>
              <a:t> elements of a row, or an elimination step is performed on </a:t>
            </a:r>
            <a:r>
              <a:rPr i="1" err="1">
                <a:latin typeface="Times New Roman" panose="02020603050405020304" pitchFamily="18" charset="0"/>
              </a:rPr>
              <a:t>O(n</a:t>
            </a:r>
            <a:r>
              <a:rPr i="1">
                <a:latin typeface="Times New Roman" panose="02020603050405020304" pitchFamily="18" charset="0"/>
              </a:rPr>
              <a:t>)</a:t>
            </a:r>
            <a:r>
              <a:t> elements of a row.</a:t>
            </a:r>
          </a:p>
          <a:p>
            <a:r>
              <a:t> The parallel time is therefore </a:t>
            </a:r>
            <a:r>
              <a:rPr i="1">
                <a:latin typeface="Times New Roman" panose="02020603050405020304" pitchFamily="18" charset="0"/>
              </a:rPr>
              <a:t>O(n</a:t>
            </a:r>
            <a:r>
              <a:rPr i="1" baseline="30000">
                <a:latin typeface="Times New Roman" panose="02020603050405020304" pitchFamily="18" charset="0"/>
              </a:rPr>
              <a:t>2</a:t>
            </a:r>
            <a:r>
              <a:rPr i="1">
                <a:latin typeface="Times New Roman" panose="02020603050405020304" pitchFamily="18" charset="0"/>
              </a:rPr>
              <a:t>)</a:t>
            </a:r>
            <a:r>
              <a:t> .</a:t>
            </a:r>
          </a:p>
          <a:p>
            <a:r>
              <a:t> This is cost optimal.</a:t>
            </a:r>
          </a:p>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itle 38913"/>
          <p:cNvSpPr>
            <a:spLocks noGrp="1"/>
          </p:cNvSpPr>
          <p:nvPr>
            <p:ph type="title"/>
          </p:nvPr>
        </p:nvSpPr>
        <p:spPr/>
        <p:txBody>
          <a:bodyPr anchor="ctr" anchorCtr="0"/>
          <a:p>
            <a:r>
              <a:t>Parallel Gaussian Elimination: </a:t>
            </a:r>
            <a:br/>
            <a:r>
              <a:t>Pipelined Execution</a:t>
            </a:r>
          </a:p>
        </p:txBody>
      </p:sp>
      <p:pic>
        <p:nvPicPr>
          <p:cNvPr id="38917" name="Picture 38916" descr="c4f6-strip"/>
          <p:cNvPicPr>
            <a:picLocks noChangeAspect="1"/>
          </p:cNvPicPr>
          <p:nvPr/>
        </p:nvPicPr>
        <p:blipFill>
          <a:blip r:embed="rId1"/>
          <a:stretch>
            <a:fillRect/>
          </a:stretch>
        </p:blipFill>
        <p:spPr>
          <a:xfrm>
            <a:off x="4660053" y="2384213"/>
            <a:ext cx="4147538" cy="3497298"/>
          </a:xfrm>
          <a:prstGeom prst="rect">
            <a:avLst/>
          </a:prstGeom>
          <a:noFill/>
          <a:ln w="9525">
            <a:noFill/>
          </a:ln>
        </p:spPr>
      </p:pic>
      <p:sp>
        <p:nvSpPr>
          <p:cNvPr id="38918" name="Rectangles 38917"/>
          <p:cNvSpPr/>
          <p:nvPr/>
        </p:nvSpPr>
        <p:spPr>
          <a:xfrm>
            <a:off x="1625600" y="6177280"/>
            <a:ext cx="9861973" cy="2284095"/>
          </a:xfrm>
          <a:prstGeom prst="rect">
            <a:avLst/>
          </a:prstGeom>
          <a:noFill/>
          <a:ln w="9525">
            <a:noFill/>
          </a:ln>
        </p:spPr>
        <p:txBody>
          <a:bodyPr>
            <a:spAutoFit/>
          </a:bodyPr>
          <a:p>
            <a:pPr algn="ctr"/>
            <a:r>
              <a:rPr sz="2845" i="0"/>
              <a:t>The communication in the Gaussian elimination iteration</a:t>
            </a:r>
            <a:endParaRPr sz="2845" i="0"/>
          </a:p>
          <a:p>
            <a:pPr algn="ctr"/>
            <a:r>
              <a:rPr sz="2845" i="0"/>
              <a:t>corresponding to </a:t>
            </a:r>
            <a:r>
              <a:rPr sz="2845">
                <a:latin typeface="Times New Roman" panose="02020603050405020304" pitchFamily="18" charset="0"/>
              </a:rPr>
              <a:t>k</a:t>
            </a:r>
            <a:r>
              <a:rPr sz="2845" i="0"/>
              <a:t> = 3 for an 8 x 8 matrix distributed among four processes using block 1-D partitioning.</a:t>
            </a:r>
            <a:endParaRPr sz="2845" i="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30721"/>
          <p:cNvSpPr>
            <a:spLocks noGrp="1"/>
          </p:cNvSpPr>
          <p:nvPr>
            <p:ph type="title"/>
          </p:nvPr>
        </p:nvSpPr>
        <p:spPr/>
        <p:txBody>
          <a:bodyPr anchor="ctr" anchorCtr="0"/>
          <a:p>
            <a:r>
              <a:t>Parallel Gaussian Elimination: </a:t>
            </a:r>
            <a:br/>
            <a:r>
              <a:t>Block 1D with </a:t>
            </a:r>
            <a:r>
              <a:rPr i="1">
                <a:latin typeface="Times New Roman" panose="02020603050405020304" pitchFamily="18" charset="0"/>
              </a:rPr>
              <a:t>p &lt; n</a:t>
            </a:r>
            <a:endParaRPr i="1">
              <a:latin typeface="Times New Roman" panose="02020603050405020304" pitchFamily="18" charset="0"/>
            </a:endParaRPr>
          </a:p>
        </p:txBody>
      </p:sp>
      <p:sp>
        <p:nvSpPr>
          <p:cNvPr id="30723" name="Text Placeholder 30722"/>
          <p:cNvSpPr>
            <a:spLocks noGrp="1"/>
          </p:cNvSpPr>
          <p:nvPr>
            <p:ph type="body" idx="1"/>
          </p:nvPr>
        </p:nvSpPr>
        <p:spPr>
          <a:xfrm>
            <a:off x="650240" y="2059093"/>
            <a:ext cx="11921067" cy="7369387"/>
          </a:xfrm>
        </p:spPr>
        <p:txBody>
          <a:bodyPr/>
          <a:p>
            <a:pPr>
              <a:lnSpc>
                <a:spcPct val="90000"/>
              </a:lnSpc>
            </a:pPr>
            <a:r>
              <a:t>The above algorithm can be easily adapted to the case when </a:t>
            </a:r>
            <a:r>
              <a:rPr i="1">
                <a:latin typeface="Times New Roman" panose="02020603050405020304" pitchFamily="18" charset="0"/>
              </a:rPr>
              <a:t>p &lt; n</a:t>
            </a:r>
            <a:r>
              <a:t>.</a:t>
            </a:r>
          </a:p>
          <a:p>
            <a:pPr>
              <a:lnSpc>
                <a:spcPct val="90000"/>
              </a:lnSpc>
            </a:pPr>
            <a:r>
              <a:t>In the </a:t>
            </a:r>
            <a:r>
              <a:rPr i="1" err="1">
                <a:latin typeface="Times New Roman" panose="02020603050405020304" pitchFamily="18" charset="0"/>
              </a:rPr>
              <a:t>k</a:t>
            </a:r>
            <a:r>
              <a:rPr err="1"/>
              <a:t>th</a:t>
            </a:r>
            <a:r>
              <a:t> iteration, a processor with all rows belonging to the active part of the matrix performs (</a:t>
            </a:r>
            <a:r>
              <a:rPr i="1">
                <a:latin typeface="Times New Roman" panose="02020603050405020304" pitchFamily="18" charset="0"/>
              </a:rPr>
              <a:t>n – k </a:t>
            </a:r>
            <a:r>
              <a:t>-1) / </a:t>
            </a:r>
            <a:r>
              <a:rPr i="1" err="1">
                <a:latin typeface="Times New Roman" panose="02020603050405020304" pitchFamily="18" charset="0"/>
              </a:rPr>
              <a:t>np</a:t>
            </a:r>
            <a:r>
              <a:t> multiplications and subtractions.</a:t>
            </a:r>
          </a:p>
          <a:p>
            <a:pPr>
              <a:lnSpc>
                <a:spcPct val="90000"/>
              </a:lnSpc>
            </a:pPr>
            <a:r>
              <a:t>In the pipelined version, for </a:t>
            </a:r>
            <a:r>
              <a:rPr i="1">
                <a:latin typeface="Times New Roman" panose="02020603050405020304" pitchFamily="18" charset="0"/>
              </a:rPr>
              <a:t>n &gt; p</a:t>
            </a:r>
            <a:r>
              <a:t>, computation dominates communication.</a:t>
            </a:r>
          </a:p>
          <a:p>
            <a:pPr>
              <a:lnSpc>
                <a:spcPct val="90000"/>
              </a:lnSpc>
            </a:pPr>
            <a:r>
              <a:t>The parallel time is given by:                                               </a:t>
            </a:r>
          </a:p>
          <a:p>
            <a:pPr>
              <a:lnSpc>
                <a:spcPct val="90000"/>
              </a:lnSpc>
              <a:buNone/>
            </a:pPr>
            <a:r>
              <a:t>    or approximately, </a:t>
            </a:r>
            <a:r>
              <a:rPr i="1">
                <a:latin typeface="Times New Roman" panose="02020603050405020304" pitchFamily="18" charset="0"/>
              </a:rPr>
              <a:t>n</a:t>
            </a:r>
            <a:r>
              <a:rPr i="1" baseline="30000">
                <a:latin typeface="Times New Roman" panose="02020603050405020304" pitchFamily="18" charset="0"/>
              </a:rPr>
              <a:t>3</a:t>
            </a:r>
            <a:r>
              <a:rPr i="1">
                <a:latin typeface="Times New Roman" panose="02020603050405020304" pitchFamily="18" charset="0"/>
              </a:rPr>
              <a:t>/p</a:t>
            </a:r>
            <a:r>
              <a:t>.</a:t>
            </a:r>
          </a:p>
          <a:p>
            <a:pPr>
              <a:lnSpc>
                <a:spcPct val="90000"/>
              </a:lnSpc>
            </a:pPr>
            <a:r>
              <a:t>While the algorithm is cost optimal, the cost of the parallel algorithm is higher than the sequential run time by a factor of 3/2.</a:t>
            </a:r>
          </a:p>
          <a:p>
            <a:pPr>
              <a:lnSpc>
                <a:spcPct val="90000"/>
              </a:lnSpc>
              <a:buNone/>
            </a:pPr>
          </a:p>
          <a:p>
            <a:pPr>
              <a:lnSpc>
                <a:spcPct val="90000"/>
              </a:lnSpc>
              <a:buNone/>
            </a:pPr>
            <a:r>
              <a:rPr sz="2845"/>
              <a:t>      </a:t>
            </a:r>
            <a:endParaRPr sz="2845"/>
          </a:p>
        </p:txBody>
      </p:sp>
      <p:pic>
        <p:nvPicPr>
          <p:cNvPr id="30725" name="Picture 30724" descr="$ 2(n/p)\Sigma_{k=0}^{n-1}(n-k-1)$"/>
          <p:cNvPicPr>
            <a:picLocks noChangeAspect="1"/>
          </p:cNvPicPr>
          <p:nvPr/>
        </p:nvPicPr>
        <p:blipFill>
          <a:blip r:embed="rId1"/>
          <a:stretch>
            <a:fillRect/>
          </a:stretch>
        </p:blipFill>
        <p:spPr>
          <a:xfrm>
            <a:off x="6935893" y="5635413"/>
            <a:ext cx="3887893" cy="808284"/>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itle 44033"/>
          <p:cNvSpPr>
            <a:spLocks noGrp="1"/>
          </p:cNvSpPr>
          <p:nvPr>
            <p:ph type="title"/>
          </p:nvPr>
        </p:nvSpPr>
        <p:spPr/>
        <p:txBody>
          <a:bodyPr anchor="ctr" anchorCtr="0"/>
          <a:p>
            <a:r>
              <a:t>Parallel Gaussian Elimination: </a:t>
            </a:r>
            <a:br/>
            <a:r>
              <a:t>Block 1D with </a:t>
            </a:r>
            <a:r>
              <a:rPr i="1">
                <a:latin typeface="Times New Roman" panose="02020603050405020304" pitchFamily="18" charset="0"/>
              </a:rPr>
              <a:t>p &lt; n</a:t>
            </a:r>
            <a:endParaRPr i="1">
              <a:latin typeface="Times New Roman" panose="02020603050405020304" pitchFamily="18" charset="0"/>
            </a:endParaRPr>
          </a:p>
        </p:txBody>
      </p:sp>
      <p:pic>
        <p:nvPicPr>
          <p:cNvPr id="44036" name="Picture 44035" descr="c4f7-strip"/>
          <p:cNvPicPr>
            <a:picLocks noChangeAspect="1"/>
          </p:cNvPicPr>
          <p:nvPr/>
        </p:nvPicPr>
        <p:blipFill>
          <a:blip r:embed="rId1"/>
          <a:srcRect l="-1286" t="-2846" r="-1286" b="-2846"/>
          <a:stretch>
            <a:fillRect/>
          </a:stretch>
        </p:blipFill>
        <p:spPr>
          <a:xfrm>
            <a:off x="1625600" y="2492587"/>
            <a:ext cx="9360747" cy="4357511"/>
          </a:xfrm>
          <a:prstGeom prst="rect">
            <a:avLst/>
          </a:prstGeom>
          <a:noFill/>
          <a:ln w="9525">
            <a:noFill/>
          </a:ln>
        </p:spPr>
      </p:pic>
      <p:sp>
        <p:nvSpPr>
          <p:cNvPr id="44037" name="Rectangles 44036"/>
          <p:cNvSpPr/>
          <p:nvPr/>
        </p:nvSpPr>
        <p:spPr>
          <a:xfrm>
            <a:off x="1300480" y="7586133"/>
            <a:ext cx="10403840" cy="2722880"/>
          </a:xfrm>
          <a:prstGeom prst="rect">
            <a:avLst/>
          </a:prstGeom>
          <a:noFill/>
          <a:ln w="9525">
            <a:noFill/>
          </a:ln>
        </p:spPr>
        <p:txBody>
          <a:bodyPr>
            <a:spAutoFit/>
          </a:bodyPr>
          <a:p>
            <a:pPr algn="ctr"/>
            <a:r>
              <a:rPr sz="2845" i="0"/>
              <a:t>Computation load on different processes in block and cyclic </a:t>
            </a:r>
            <a:endParaRPr sz="2845" i="0"/>
          </a:p>
          <a:p>
            <a:pPr algn="ctr"/>
            <a:r>
              <a:rPr sz="2845" i="0"/>
              <a:t>1-D partitioning of an 8 x 8 matrix on four processes during the</a:t>
            </a:r>
            <a:endParaRPr sz="2845" i="0"/>
          </a:p>
          <a:p>
            <a:pPr algn="ctr"/>
            <a:r>
              <a:rPr sz="2845" i="0"/>
              <a:t>Gaussian elimination iteration corresponding to </a:t>
            </a:r>
            <a:r>
              <a:rPr sz="2845">
                <a:latin typeface="Times New Roman" panose="02020603050405020304" pitchFamily="18" charset="0"/>
              </a:rPr>
              <a:t>k</a:t>
            </a:r>
            <a:r>
              <a:rPr sz="2845" i="0"/>
              <a:t> = 3.</a:t>
            </a:r>
            <a:endParaRPr sz="2845" i="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itle 45057"/>
          <p:cNvSpPr>
            <a:spLocks noGrp="1"/>
          </p:cNvSpPr>
          <p:nvPr>
            <p:ph type="title"/>
          </p:nvPr>
        </p:nvSpPr>
        <p:spPr/>
        <p:txBody>
          <a:bodyPr anchor="ctr" anchorCtr="0"/>
          <a:p>
            <a:r>
              <a:t>Parallel Gaussian Elimination: </a:t>
            </a:r>
            <a:br/>
            <a:r>
              <a:t>Block 1D with </a:t>
            </a:r>
            <a:r>
              <a:rPr i="1">
                <a:latin typeface="Times New Roman" panose="02020603050405020304" pitchFamily="18" charset="0"/>
              </a:rPr>
              <a:t>p &lt; n</a:t>
            </a:r>
            <a:endParaRPr i="1">
              <a:latin typeface="Times New Roman" panose="02020603050405020304" pitchFamily="18" charset="0"/>
            </a:endParaRPr>
          </a:p>
        </p:txBody>
      </p:sp>
      <p:sp>
        <p:nvSpPr>
          <p:cNvPr id="45059" name="Text Placeholder 45058"/>
          <p:cNvSpPr>
            <a:spLocks noGrp="1"/>
          </p:cNvSpPr>
          <p:nvPr>
            <p:ph type="body" idx="1"/>
          </p:nvPr>
        </p:nvSpPr>
        <p:spPr/>
        <p:txBody>
          <a:bodyPr/>
          <a:p>
            <a:r>
              <a:t>The load imbalance problem can be alleviated by using a cyclic mapping.</a:t>
            </a:r>
          </a:p>
          <a:p>
            <a:r>
              <a:t>In this case, other than processing of the last </a:t>
            </a:r>
            <a:r>
              <a:rPr i="1">
                <a:latin typeface="Times New Roman" panose="02020603050405020304" pitchFamily="18" charset="0"/>
              </a:rPr>
              <a:t>p </a:t>
            </a:r>
            <a:r>
              <a:t>rows, there is no load imbalance.</a:t>
            </a:r>
          </a:p>
          <a:p>
            <a:r>
              <a:t>This corresponds to a cumulative load imbalance overhead of </a:t>
            </a:r>
            <a:r>
              <a:rPr i="1">
                <a:latin typeface="Times New Roman" panose="02020603050405020304" pitchFamily="18" charset="0"/>
              </a:rPr>
              <a:t>O(n</a:t>
            </a:r>
            <a:r>
              <a:rPr i="1" baseline="30000">
                <a:latin typeface="Times New Roman" panose="02020603050405020304" pitchFamily="18" charset="0"/>
              </a:rPr>
              <a:t>2</a:t>
            </a:r>
            <a:r>
              <a:rPr i="1">
                <a:latin typeface="Times New Roman" panose="02020603050405020304" pitchFamily="18" charset="0"/>
              </a:rPr>
              <a:t>p)</a:t>
            </a:r>
            <a:r>
              <a:t> (instead of </a:t>
            </a:r>
            <a:r>
              <a:rPr i="1">
                <a:latin typeface="Times New Roman" panose="02020603050405020304" pitchFamily="18" charset="0"/>
              </a:rPr>
              <a:t>O(n</a:t>
            </a:r>
            <a:r>
              <a:rPr i="1" baseline="30000">
                <a:latin typeface="Times New Roman" panose="02020603050405020304" pitchFamily="18" charset="0"/>
              </a:rPr>
              <a:t>3</a:t>
            </a:r>
            <a:r>
              <a:rPr i="1">
                <a:latin typeface="Times New Roman" panose="02020603050405020304" pitchFamily="18" charset="0"/>
              </a:rPr>
              <a:t>)</a:t>
            </a:r>
            <a:r>
              <a:t> in the previous case).</a:t>
            </a:r>
          </a:p>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itle 46081"/>
          <p:cNvSpPr>
            <a:spLocks noGrp="1"/>
          </p:cNvSpPr>
          <p:nvPr>
            <p:ph type="title"/>
          </p:nvPr>
        </p:nvSpPr>
        <p:spPr/>
        <p:txBody>
          <a:bodyPr anchor="ctr" anchorCtr="0"/>
          <a:p>
            <a:r>
              <a:t>Parallel Gaussian Elimination: </a:t>
            </a:r>
            <a:br/>
            <a:r>
              <a:t>2-D Mapping </a:t>
            </a:r>
          </a:p>
        </p:txBody>
      </p:sp>
      <p:sp>
        <p:nvSpPr>
          <p:cNvPr id="46083" name="Text Placeholder 46082"/>
          <p:cNvSpPr>
            <a:spLocks noGrp="1"/>
          </p:cNvSpPr>
          <p:nvPr>
            <p:ph type="body" idx="1"/>
          </p:nvPr>
        </p:nvSpPr>
        <p:spPr/>
        <p:txBody>
          <a:bodyPr/>
          <a:p>
            <a:pPr>
              <a:lnSpc>
                <a:spcPct val="90000"/>
              </a:lnSpc>
            </a:pPr>
            <a:r>
              <a:t>Assume an </a:t>
            </a:r>
            <a:r>
              <a:rPr sz="3980" i="1">
                <a:latin typeface="Times New Roman" panose="02020603050405020304" pitchFamily="18" charset="0"/>
              </a:rPr>
              <a:t>n</a:t>
            </a:r>
            <a:r>
              <a:rPr sz="3980"/>
              <a:t> x </a:t>
            </a:r>
            <a:r>
              <a:rPr sz="3980" i="1">
                <a:latin typeface="Times New Roman" panose="02020603050405020304" pitchFamily="18" charset="0"/>
              </a:rPr>
              <a:t>n</a:t>
            </a:r>
            <a:r>
              <a:t> matrix  </a:t>
            </a:r>
            <a:r>
              <a:rPr i="1">
                <a:latin typeface="Times New Roman" panose="02020603050405020304" pitchFamily="18" charset="0"/>
              </a:rPr>
              <a:t>A</a:t>
            </a:r>
            <a:r>
              <a:t> mapped onto an </a:t>
            </a:r>
            <a:r>
              <a:rPr sz="3980" i="1">
                <a:latin typeface="Times New Roman" panose="02020603050405020304" pitchFamily="18" charset="0"/>
              </a:rPr>
              <a:t>n</a:t>
            </a:r>
            <a:r>
              <a:rPr sz="3980"/>
              <a:t> x </a:t>
            </a:r>
            <a:r>
              <a:rPr sz="3980" i="1">
                <a:latin typeface="Times New Roman" panose="02020603050405020304" pitchFamily="18" charset="0"/>
              </a:rPr>
              <a:t>n</a:t>
            </a:r>
            <a:r>
              <a:t> mesh of processors. </a:t>
            </a:r>
          </a:p>
          <a:p>
            <a:pPr>
              <a:lnSpc>
                <a:spcPct val="90000"/>
              </a:lnSpc>
            </a:pPr>
            <a:r>
              <a:t>Each update of the partial matrix can be thought of as a scaled rank-one update (scaling by the pivot element). </a:t>
            </a:r>
          </a:p>
          <a:p>
            <a:pPr>
              <a:lnSpc>
                <a:spcPct val="90000"/>
              </a:lnSpc>
            </a:pPr>
            <a:r>
              <a:t>In the first step, the pivot is broadcast to the row of processors. </a:t>
            </a:r>
          </a:p>
          <a:p>
            <a:pPr>
              <a:lnSpc>
                <a:spcPct val="90000"/>
              </a:lnSpc>
            </a:pPr>
            <a:r>
              <a:t>In the second step, each processor locally updates its value. For this it needs the corresponding value from the pivot row, and the scaling value from its own row. </a:t>
            </a:r>
          </a:p>
          <a:p>
            <a:pPr>
              <a:lnSpc>
                <a:spcPct val="90000"/>
              </a:lnSpc>
            </a:pPr>
            <a:r>
              <a:t>This requires two broadcasts, each of which takes  </a:t>
            </a:r>
            <a:r>
              <a:rPr>
                <a:latin typeface="Times New Roman" panose="02020603050405020304" pitchFamily="18" charset="0"/>
              </a:rPr>
              <a:t>log </a:t>
            </a:r>
            <a:r>
              <a:rPr i="1">
                <a:latin typeface="Times New Roman" panose="02020603050405020304" pitchFamily="18" charset="0"/>
              </a:rPr>
              <a:t>n</a:t>
            </a:r>
            <a:r>
              <a:t>  time. </a:t>
            </a:r>
          </a:p>
          <a:p>
            <a:pPr>
              <a:lnSpc>
                <a:spcPct val="90000"/>
              </a:lnSpc>
            </a:pPr>
            <a:r>
              <a:t>This results in a non-cost-optimal algorithm. </a:t>
            </a:r>
          </a:p>
          <a:p>
            <a:pPr>
              <a:lnSpc>
                <a:spcPct val="90000"/>
              </a:lnSpc>
            </a:p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itle 47105"/>
          <p:cNvSpPr>
            <a:spLocks noGrp="1"/>
          </p:cNvSpPr>
          <p:nvPr>
            <p:ph type="title"/>
          </p:nvPr>
        </p:nvSpPr>
        <p:spPr/>
        <p:txBody>
          <a:bodyPr anchor="ctr" anchorCtr="0"/>
          <a:p>
            <a:r>
              <a:t>Parallel Gaussian Elimination: </a:t>
            </a:r>
            <a:br/>
            <a:r>
              <a:t>2-D Mapping</a:t>
            </a:r>
          </a:p>
        </p:txBody>
      </p:sp>
      <p:sp>
        <p:nvSpPr>
          <p:cNvPr id="47109" name="Rectangles 47108"/>
          <p:cNvSpPr/>
          <p:nvPr/>
        </p:nvSpPr>
        <p:spPr>
          <a:xfrm>
            <a:off x="1950720" y="8019627"/>
            <a:ext cx="9211733" cy="2284095"/>
          </a:xfrm>
          <a:prstGeom prst="rect">
            <a:avLst/>
          </a:prstGeom>
          <a:noFill/>
          <a:ln w="9525">
            <a:noFill/>
          </a:ln>
        </p:spPr>
        <p:txBody>
          <a:bodyPr>
            <a:spAutoFit/>
          </a:bodyPr>
          <a:p>
            <a:pPr algn="ctr"/>
            <a:r>
              <a:rPr sz="2845" i="0"/>
              <a:t>Various steps in the Gaussian elimination iteration corresponding to k = 3 for an 8 x 8 matrix on 64 processes arranged in a logical two-dimensional mesh.</a:t>
            </a:r>
            <a:endParaRPr sz="2845" i="0"/>
          </a:p>
        </p:txBody>
      </p:sp>
      <p:pic>
        <p:nvPicPr>
          <p:cNvPr id="47110" name="Picture 47109"/>
          <p:cNvPicPr>
            <a:picLocks noChangeAspect="1"/>
          </p:cNvPicPr>
          <p:nvPr/>
        </p:nvPicPr>
        <p:blipFill>
          <a:blip r:embed="rId1"/>
          <a:stretch>
            <a:fillRect/>
          </a:stretch>
        </p:blipFill>
        <p:spPr>
          <a:xfrm>
            <a:off x="3359573" y="2167467"/>
            <a:ext cx="6188570" cy="5714436"/>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itle 48129"/>
          <p:cNvSpPr>
            <a:spLocks noGrp="1"/>
          </p:cNvSpPr>
          <p:nvPr>
            <p:ph type="title"/>
          </p:nvPr>
        </p:nvSpPr>
        <p:spPr/>
        <p:txBody>
          <a:bodyPr anchor="ctr" anchorCtr="0"/>
          <a:p>
            <a:r>
              <a:t>Parallel Gaussian Elimination: </a:t>
            </a:r>
            <a:br/>
            <a:r>
              <a:t>2-D Mapping with Pipelining </a:t>
            </a:r>
          </a:p>
        </p:txBody>
      </p:sp>
      <p:sp>
        <p:nvSpPr>
          <p:cNvPr id="48131" name="Text Placeholder 48130"/>
          <p:cNvSpPr>
            <a:spLocks noGrp="1"/>
          </p:cNvSpPr>
          <p:nvPr>
            <p:ph type="body" idx="1"/>
          </p:nvPr>
        </p:nvSpPr>
        <p:spPr/>
        <p:txBody>
          <a:bodyPr/>
          <a:p>
            <a:r>
              <a:rPr sz="2845"/>
              <a:t>We pipeline along two dimensions. First, the pivot value is pipelined along the row. Then the scaled pivot row is pipelined down. </a:t>
            </a:r>
            <a:endParaRPr sz="2845"/>
          </a:p>
          <a:p>
            <a:r>
              <a:rPr sz="2845"/>
              <a:t>Processor </a:t>
            </a:r>
            <a:r>
              <a:rPr sz="2845" i="1" err="1">
                <a:latin typeface="Times New Roman" panose="02020603050405020304" pitchFamily="18" charset="0"/>
              </a:rPr>
              <a:t>P</a:t>
            </a:r>
            <a:r>
              <a:rPr sz="2845" i="1" baseline="-25000" err="1">
                <a:latin typeface="Times New Roman" panose="02020603050405020304" pitchFamily="18" charset="0"/>
              </a:rPr>
              <a:t>i,j</a:t>
            </a:r>
            <a:r>
              <a:rPr sz="2845"/>
              <a:t>  (not on the pivot row) performs the elimination step   </a:t>
            </a:r>
            <a:r>
              <a:rPr sz="2845" i="1" err="1">
                <a:latin typeface="Times New Roman" panose="02020603050405020304" pitchFamily="18" charset="0"/>
              </a:rPr>
              <a:t>A</a:t>
            </a:r>
            <a:r>
              <a:rPr sz="2845" err="1"/>
              <a:t>[</a:t>
            </a:r>
            <a:r>
              <a:rPr sz="2845" i="1" err="1">
                <a:latin typeface="Times New Roman" panose="02020603050405020304" pitchFamily="18" charset="0"/>
              </a:rPr>
              <a:t>i</a:t>
            </a:r>
            <a:r>
              <a:rPr sz="2845" i="1">
                <a:latin typeface="Times New Roman" panose="02020603050405020304" pitchFamily="18" charset="0"/>
              </a:rPr>
              <a:t>,</a:t>
            </a:r>
            <a:r>
              <a:rPr sz="2845"/>
              <a:t> </a:t>
            </a:r>
            <a:r>
              <a:rPr sz="2845" i="1">
                <a:latin typeface="Times New Roman" panose="02020603050405020304" pitchFamily="18" charset="0"/>
              </a:rPr>
              <a:t>j</a:t>
            </a:r>
            <a:r>
              <a:rPr sz="2845"/>
              <a:t>] := </a:t>
            </a:r>
            <a:r>
              <a:rPr sz="2845" i="1" err="1">
                <a:latin typeface="Times New Roman" panose="02020603050405020304" pitchFamily="18" charset="0"/>
              </a:rPr>
              <a:t>A</a:t>
            </a:r>
            <a:r>
              <a:rPr sz="2845" err="1"/>
              <a:t>[</a:t>
            </a:r>
            <a:r>
              <a:rPr sz="2845" i="1" err="1">
                <a:latin typeface="Times New Roman" panose="02020603050405020304" pitchFamily="18" charset="0"/>
              </a:rPr>
              <a:t>i</a:t>
            </a:r>
            <a:r>
              <a:rPr sz="2845" i="1">
                <a:latin typeface="Times New Roman" panose="02020603050405020304" pitchFamily="18" charset="0"/>
              </a:rPr>
              <a:t>,</a:t>
            </a:r>
            <a:r>
              <a:rPr sz="2845"/>
              <a:t> </a:t>
            </a:r>
            <a:r>
              <a:rPr sz="2845" i="1">
                <a:latin typeface="Times New Roman" panose="02020603050405020304" pitchFamily="18" charset="0"/>
              </a:rPr>
              <a:t>j</a:t>
            </a:r>
            <a:r>
              <a:rPr sz="2845"/>
              <a:t>]] - </a:t>
            </a:r>
            <a:r>
              <a:rPr sz="2845" i="1" err="1">
                <a:latin typeface="Times New Roman" panose="02020603050405020304" pitchFamily="18" charset="0"/>
              </a:rPr>
              <a:t>A</a:t>
            </a:r>
            <a:r>
              <a:rPr sz="2845" err="1"/>
              <a:t>[</a:t>
            </a:r>
            <a:r>
              <a:rPr sz="2845" i="1" err="1">
                <a:latin typeface="Times New Roman" panose="02020603050405020304" pitchFamily="18" charset="0"/>
              </a:rPr>
              <a:t>i</a:t>
            </a:r>
            <a:r>
              <a:rPr sz="2845" i="1">
                <a:latin typeface="Times New Roman" panose="02020603050405020304" pitchFamily="18" charset="0"/>
              </a:rPr>
              <a:t>,</a:t>
            </a:r>
            <a:r>
              <a:rPr sz="2845"/>
              <a:t> </a:t>
            </a:r>
            <a:r>
              <a:rPr sz="2845" i="1">
                <a:latin typeface="Times New Roman" panose="02020603050405020304" pitchFamily="18" charset="0"/>
              </a:rPr>
              <a:t>k</a:t>
            </a:r>
            <a:r>
              <a:rPr sz="2845"/>
              <a:t>] </a:t>
            </a:r>
            <a:r>
              <a:rPr sz="2845" i="1" err="1">
                <a:latin typeface="Times New Roman" panose="02020603050405020304" pitchFamily="18" charset="0"/>
              </a:rPr>
              <a:t>A</a:t>
            </a:r>
            <a:r>
              <a:rPr sz="2845" err="1"/>
              <a:t>[</a:t>
            </a:r>
            <a:r>
              <a:rPr sz="2845" i="1" err="1">
                <a:latin typeface="Times New Roman" panose="02020603050405020304" pitchFamily="18" charset="0"/>
              </a:rPr>
              <a:t>k</a:t>
            </a:r>
            <a:r>
              <a:rPr sz="2845" i="1">
                <a:latin typeface="Times New Roman" panose="02020603050405020304" pitchFamily="18" charset="0"/>
              </a:rPr>
              <a:t>,</a:t>
            </a:r>
            <a:r>
              <a:rPr sz="2845"/>
              <a:t> </a:t>
            </a:r>
            <a:r>
              <a:rPr sz="2845" i="1">
                <a:latin typeface="Times New Roman" panose="02020603050405020304" pitchFamily="18" charset="0"/>
              </a:rPr>
              <a:t>j</a:t>
            </a:r>
            <a:r>
              <a:rPr sz="2845"/>
              <a:t>] as soon as </a:t>
            </a:r>
            <a:r>
              <a:rPr sz="2845" i="1" err="1">
                <a:latin typeface="Times New Roman" panose="02020603050405020304" pitchFamily="18" charset="0"/>
              </a:rPr>
              <a:t>A</a:t>
            </a:r>
            <a:r>
              <a:rPr sz="2845" err="1"/>
              <a:t>[</a:t>
            </a:r>
            <a:r>
              <a:rPr sz="2845" i="1" err="1">
                <a:latin typeface="Times New Roman" panose="02020603050405020304" pitchFamily="18" charset="0"/>
              </a:rPr>
              <a:t>i</a:t>
            </a:r>
            <a:r>
              <a:rPr sz="2845" i="1">
                <a:latin typeface="Times New Roman" panose="02020603050405020304" pitchFamily="18" charset="0"/>
              </a:rPr>
              <a:t>,</a:t>
            </a:r>
            <a:r>
              <a:rPr sz="2845"/>
              <a:t> </a:t>
            </a:r>
            <a:r>
              <a:rPr sz="2845" i="1">
                <a:latin typeface="Times New Roman" panose="02020603050405020304" pitchFamily="18" charset="0"/>
              </a:rPr>
              <a:t>k</a:t>
            </a:r>
            <a:r>
              <a:rPr sz="2845"/>
              <a:t>] and </a:t>
            </a:r>
            <a:r>
              <a:rPr sz="2845" i="1" err="1">
                <a:latin typeface="Times New Roman" panose="02020603050405020304" pitchFamily="18" charset="0"/>
              </a:rPr>
              <a:t>A</a:t>
            </a:r>
            <a:r>
              <a:rPr sz="2845" err="1"/>
              <a:t>[</a:t>
            </a:r>
            <a:r>
              <a:rPr sz="2845" i="1" err="1">
                <a:latin typeface="Times New Roman" panose="02020603050405020304" pitchFamily="18" charset="0"/>
              </a:rPr>
              <a:t>k</a:t>
            </a:r>
            <a:r>
              <a:rPr sz="2845" i="1">
                <a:latin typeface="Times New Roman" panose="02020603050405020304" pitchFamily="18" charset="0"/>
              </a:rPr>
              <a:t>,</a:t>
            </a:r>
            <a:r>
              <a:rPr sz="2845"/>
              <a:t> </a:t>
            </a:r>
            <a:r>
              <a:rPr sz="2845" i="1">
                <a:latin typeface="Times New Roman" panose="02020603050405020304" pitchFamily="18" charset="0"/>
              </a:rPr>
              <a:t>j</a:t>
            </a:r>
            <a:r>
              <a:rPr sz="2845"/>
              <a:t>] are available. </a:t>
            </a:r>
            <a:endParaRPr sz="2845"/>
          </a:p>
          <a:p>
            <a:r>
              <a:rPr sz="2845"/>
              <a:t>The computation and communication for each iteration moves through the mesh from top-left to bottom-right as a ``front.'' </a:t>
            </a:r>
            <a:endParaRPr sz="2845"/>
          </a:p>
          <a:p>
            <a:r>
              <a:rPr sz="2845"/>
              <a:t>After the front corresponding to a certain iteration passes through a process, the process is free to perform subsequent iterations. </a:t>
            </a:r>
            <a:endParaRPr sz="2845"/>
          </a:p>
          <a:p>
            <a:r>
              <a:rPr sz="2845"/>
              <a:t>Multiple fronts that correspond to different iterations are active simultaneously. </a:t>
            </a:r>
            <a:endParaRPr sz="2845"/>
          </a:p>
          <a:p>
            <a:endParaRPr sz="2845"/>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itle 49153"/>
          <p:cNvSpPr>
            <a:spLocks noGrp="1"/>
          </p:cNvSpPr>
          <p:nvPr>
            <p:ph type="title"/>
          </p:nvPr>
        </p:nvSpPr>
        <p:spPr/>
        <p:txBody>
          <a:bodyPr anchor="ctr" anchorCtr="0"/>
          <a:p>
            <a:r>
              <a:t>Parallel Gaussian Elimination: </a:t>
            </a:r>
            <a:br/>
            <a:r>
              <a:t>2-D Mapping with Pipelining</a:t>
            </a:r>
          </a:p>
        </p:txBody>
      </p:sp>
      <p:sp>
        <p:nvSpPr>
          <p:cNvPr id="49155" name="Text Placeholder 49154"/>
          <p:cNvSpPr>
            <a:spLocks noGrp="1"/>
          </p:cNvSpPr>
          <p:nvPr>
            <p:ph type="body" idx="1"/>
          </p:nvPr>
        </p:nvSpPr>
        <p:spPr/>
        <p:txBody>
          <a:bodyPr/>
          <a:p>
            <a:r>
              <a:t>If each step (division, elimination, or communication) is assumed to take constant time, the front moves a single step in this time. The front takes </a:t>
            </a:r>
            <a:r>
              <a:rPr lang="el-GR" altLang="x-none" dirty="0">
                <a:cs typeface="Arial" panose="020B0604020202020204" pitchFamily="34" charset="0"/>
              </a:rPr>
              <a:t>Θ</a:t>
            </a:r>
            <a:r>
              <a:rPr>
                <a:cs typeface="Arial" panose="020B0604020202020204" pitchFamily="34" charset="0"/>
              </a:rPr>
              <a:t>(</a:t>
            </a:r>
            <a:r>
              <a:rPr i="1">
                <a:latin typeface="Times New Roman" panose="02020603050405020304" pitchFamily="18" charset="0"/>
                <a:cs typeface="Arial" panose="020B0604020202020204" pitchFamily="34" charset="0"/>
              </a:rPr>
              <a:t>n</a:t>
            </a:r>
            <a:r>
              <a:rPr>
                <a:cs typeface="Arial" panose="020B0604020202020204" pitchFamily="34" charset="0"/>
              </a:rPr>
              <a:t>)</a:t>
            </a:r>
            <a:r>
              <a:t> time to reach </a:t>
            </a:r>
            <a:r>
              <a:rPr i="1">
                <a:latin typeface="Times New Roman" panose="02020603050405020304" pitchFamily="18" charset="0"/>
              </a:rPr>
              <a:t>P</a:t>
            </a:r>
            <a:r>
              <a:rPr i="1" baseline="-25000">
                <a:latin typeface="Times New Roman" panose="02020603050405020304" pitchFamily="18" charset="0"/>
              </a:rPr>
              <a:t>n</a:t>
            </a:r>
            <a:r>
              <a:rPr baseline="-25000"/>
              <a:t>-1,</a:t>
            </a:r>
            <a:r>
              <a:rPr i="1" baseline="-25000">
                <a:latin typeface="Times New Roman" panose="02020603050405020304" pitchFamily="18" charset="0"/>
              </a:rPr>
              <a:t>n</a:t>
            </a:r>
            <a:r>
              <a:rPr baseline="-25000"/>
              <a:t>-1</a:t>
            </a:r>
            <a:r>
              <a:t>. </a:t>
            </a:r>
          </a:p>
          <a:p>
            <a:r>
              <a:t>Once the front has progressed past a diagonal processor, the next front can be initiated. In this way, the last front passes the bottom-right corner of the matrix </a:t>
            </a:r>
            <a:r>
              <a:rPr lang="el-GR" altLang="x-none" dirty="0">
                <a:cs typeface="Arial" panose="020B0604020202020204" pitchFamily="34" charset="0"/>
              </a:rPr>
              <a:t>Θ</a:t>
            </a:r>
            <a:r>
              <a:rPr>
                <a:cs typeface="Arial" panose="020B0604020202020204" pitchFamily="34" charset="0"/>
              </a:rPr>
              <a:t>(</a:t>
            </a:r>
            <a:r>
              <a:rPr i="1">
                <a:latin typeface="Times New Roman" panose="02020603050405020304" pitchFamily="18" charset="0"/>
                <a:cs typeface="Arial" panose="020B0604020202020204" pitchFamily="34" charset="0"/>
              </a:rPr>
              <a:t>n</a:t>
            </a:r>
            <a:r>
              <a:rPr>
                <a:cs typeface="Arial" panose="020B0604020202020204" pitchFamily="34" charset="0"/>
              </a:rPr>
              <a:t>)</a:t>
            </a:r>
            <a:r>
              <a:t> steps after the first one. </a:t>
            </a:r>
          </a:p>
          <a:p>
            <a:r>
              <a:t>The parallel time is therefore </a:t>
            </a:r>
            <a:r>
              <a:rPr i="1" err="1">
                <a:cs typeface="Arial" panose="020B0604020202020204" pitchFamily="34" charset="0"/>
              </a:rPr>
              <a:t>O</a:t>
            </a:r>
            <a:r>
              <a:rPr err="1">
                <a:cs typeface="Arial" panose="020B0604020202020204" pitchFamily="34" charset="0"/>
              </a:rPr>
              <a:t>(</a:t>
            </a:r>
            <a:r>
              <a:rPr i="1" err="1">
                <a:latin typeface="Times New Roman" panose="02020603050405020304" pitchFamily="18" charset="0"/>
                <a:cs typeface="Arial" panose="020B0604020202020204" pitchFamily="34" charset="0"/>
              </a:rPr>
              <a:t>n</a:t>
            </a:r>
            <a:r>
              <a:rPr>
                <a:cs typeface="Arial" panose="020B0604020202020204" pitchFamily="34" charset="0"/>
              </a:rPr>
              <a:t>)</a:t>
            </a:r>
            <a:r>
              <a:t> , which is cost-optimal. </a:t>
            </a:r>
          </a:p>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itle 50177"/>
          <p:cNvSpPr>
            <a:spLocks noGrp="1"/>
          </p:cNvSpPr>
          <p:nvPr>
            <p:ph type="title"/>
          </p:nvPr>
        </p:nvSpPr>
        <p:spPr/>
        <p:txBody>
          <a:bodyPr anchor="ctr" anchorCtr="0"/>
          <a:p>
            <a:r>
              <a:t>2-D Mapping with Pipelining</a:t>
            </a:r>
          </a:p>
        </p:txBody>
      </p:sp>
      <p:sp>
        <p:nvSpPr>
          <p:cNvPr id="50181" name="Rectangles 50180"/>
          <p:cNvSpPr/>
          <p:nvPr/>
        </p:nvSpPr>
        <p:spPr>
          <a:xfrm>
            <a:off x="-1071139" y="8453120"/>
            <a:ext cx="15506065" cy="529590"/>
          </a:xfrm>
          <a:prstGeom prst="rect">
            <a:avLst/>
          </a:prstGeom>
          <a:noFill/>
          <a:ln w="9525">
            <a:noFill/>
          </a:ln>
        </p:spPr>
        <p:txBody>
          <a:bodyPr wrap="none" anchor="t" anchorCtr="0">
            <a:spAutoFit/>
          </a:bodyPr>
          <a:p>
            <a:pPr algn="ctr"/>
            <a:r>
              <a:rPr sz="2845" i="0"/>
              <a:t>Pipelined Gaussian elimination for a 5 x 5 matrix with 25 processors.</a:t>
            </a:r>
            <a:endParaRPr sz="2845" i="0"/>
          </a:p>
        </p:txBody>
      </p:sp>
      <p:pic>
        <p:nvPicPr>
          <p:cNvPr id="50182" name="Picture 50181"/>
          <p:cNvPicPr>
            <a:picLocks noChangeAspect="1"/>
          </p:cNvPicPr>
          <p:nvPr/>
        </p:nvPicPr>
        <p:blipFill>
          <a:blip r:embed="rId1"/>
          <a:stretch>
            <a:fillRect/>
          </a:stretch>
        </p:blipFill>
        <p:spPr>
          <a:xfrm>
            <a:off x="4009813" y="1842347"/>
            <a:ext cx="4998720" cy="6583680"/>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itle 51201"/>
          <p:cNvSpPr>
            <a:spLocks noGrp="1"/>
          </p:cNvSpPr>
          <p:nvPr>
            <p:ph type="title"/>
          </p:nvPr>
        </p:nvSpPr>
        <p:spPr/>
        <p:txBody>
          <a:bodyPr anchor="ctr" anchorCtr="0"/>
          <a:p>
            <a:r>
              <a:t>Parallel Gaussian Elimination: </a:t>
            </a:r>
            <a:br/>
            <a:r>
              <a:t>2-D Mapping with Pipelining and </a:t>
            </a:r>
            <a:r>
              <a:rPr i="1">
                <a:latin typeface="Times New Roman" panose="02020603050405020304" pitchFamily="18" charset="0"/>
              </a:rPr>
              <a:t>p &lt; n</a:t>
            </a:r>
            <a:endParaRPr i="1">
              <a:latin typeface="Times New Roman" panose="02020603050405020304" pitchFamily="18" charset="0"/>
            </a:endParaRPr>
          </a:p>
        </p:txBody>
      </p:sp>
      <p:sp>
        <p:nvSpPr>
          <p:cNvPr id="51203" name="Text Placeholder 51202"/>
          <p:cNvSpPr>
            <a:spLocks noGrp="1"/>
          </p:cNvSpPr>
          <p:nvPr>
            <p:ph type="body" idx="1"/>
          </p:nvPr>
        </p:nvSpPr>
        <p:spPr/>
        <p:txBody>
          <a:bodyPr/>
          <a:p>
            <a:r>
              <a:t>In this case, a processor containing a completely active part of the matrix performs </a:t>
            </a:r>
            <a:r>
              <a:rPr i="1">
                <a:latin typeface="Times New Roman" panose="02020603050405020304" pitchFamily="18" charset="0"/>
              </a:rPr>
              <a:t>n</a:t>
            </a:r>
            <a:r>
              <a:rPr i="1" baseline="30000">
                <a:latin typeface="Times New Roman" panose="02020603050405020304" pitchFamily="18" charset="0"/>
              </a:rPr>
              <a:t>2</a:t>
            </a:r>
            <a:r>
              <a:rPr i="1">
                <a:latin typeface="Times New Roman" panose="02020603050405020304" pitchFamily="18" charset="0"/>
              </a:rPr>
              <a:t>/p</a:t>
            </a:r>
            <a:r>
              <a:t> multiplications and subtractions, and communicates            words along its row and its column.</a:t>
            </a:r>
          </a:p>
          <a:p>
            <a:r>
              <a:t>The computation dominates communication for </a:t>
            </a:r>
            <a:r>
              <a:rPr i="1">
                <a:latin typeface="Times New Roman" panose="02020603050405020304" pitchFamily="18" charset="0"/>
              </a:rPr>
              <a:t>n</a:t>
            </a:r>
            <a:r>
              <a:t> &gt;&gt; </a:t>
            </a:r>
            <a:r>
              <a:rPr i="1">
                <a:latin typeface="Times New Roman" panose="02020603050405020304" pitchFamily="18" charset="0"/>
              </a:rPr>
              <a:t>p</a:t>
            </a:r>
            <a:r>
              <a:t>.</a:t>
            </a:r>
          </a:p>
          <a:p>
            <a:r>
              <a:t>The total parallel run time of this algorithm is (</a:t>
            </a:r>
            <a:r>
              <a:rPr i="1">
                <a:latin typeface="Times New Roman" panose="02020603050405020304" pitchFamily="18" charset="0"/>
              </a:rPr>
              <a:t>2n</a:t>
            </a:r>
            <a:r>
              <a:rPr i="1" baseline="30000">
                <a:latin typeface="Times New Roman" panose="02020603050405020304" pitchFamily="18" charset="0"/>
              </a:rPr>
              <a:t>2</a:t>
            </a:r>
            <a:r>
              <a:rPr i="1">
                <a:latin typeface="Times New Roman" panose="02020603050405020304" pitchFamily="18" charset="0"/>
              </a:rPr>
              <a:t>/p</a:t>
            </a:r>
            <a:r>
              <a:t>) x </a:t>
            </a:r>
            <a:r>
              <a:rPr i="1">
                <a:latin typeface="Times New Roman" panose="02020603050405020304" pitchFamily="18" charset="0"/>
              </a:rPr>
              <a:t>n</a:t>
            </a:r>
            <a:r>
              <a:t>, since there are n iterations. This is equal to </a:t>
            </a:r>
            <a:r>
              <a:rPr i="1">
                <a:latin typeface="Times New Roman" panose="02020603050405020304" pitchFamily="18" charset="0"/>
              </a:rPr>
              <a:t>2n</a:t>
            </a:r>
            <a:r>
              <a:rPr i="1" baseline="30000">
                <a:latin typeface="Times New Roman" panose="02020603050405020304" pitchFamily="18" charset="0"/>
              </a:rPr>
              <a:t>3</a:t>
            </a:r>
            <a:r>
              <a:rPr i="1">
                <a:latin typeface="Times New Roman" panose="02020603050405020304" pitchFamily="18" charset="0"/>
              </a:rPr>
              <a:t>/p</a:t>
            </a:r>
            <a:r>
              <a:t>.</a:t>
            </a:r>
          </a:p>
          <a:p>
            <a:r>
              <a:t> This is three times the serial operation count!</a:t>
            </a:r>
          </a:p>
          <a:p/>
        </p:txBody>
      </p:sp>
      <p:pic>
        <p:nvPicPr>
          <p:cNvPr id="51207" name="Picture 51206" descr="$ n/{\sqrt p}$"/>
          <p:cNvPicPr>
            <a:picLocks noChangeAspect="1"/>
          </p:cNvPicPr>
          <p:nvPr/>
        </p:nvPicPr>
        <p:blipFill>
          <a:blip r:embed="rId1"/>
          <a:stretch>
            <a:fillRect/>
          </a:stretch>
        </p:blipFill>
        <p:spPr>
          <a:xfrm>
            <a:off x="7694507" y="3359573"/>
            <a:ext cx="1013743" cy="769903"/>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itle 52225"/>
          <p:cNvSpPr>
            <a:spLocks noGrp="1"/>
          </p:cNvSpPr>
          <p:nvPr>
            <p:ph type="title"/>
          </p:nvPr>
        </p:nvSpPr>
        <p:spPr/>
        <p:txBody>
          <a:bodyPr anchor="ctr" anchorCtr="0"/>
          <a:p>
            <a:r>
              <a:t>Parallel Gaussian Elimination: </a:t>
            </a:r>
            <a:br/>
            <a:r>
              <a:t>2-D Mapping with Pipelining and </a:t>
            </a:r>
            <a:r>
              <a:rPr i="1">
                <a:latin typeface="Times New Roman" panose="02020603050405020304" pitchFamily="18" charset="0"/>
              </a:rPr>
              <a:t>p &lt; n</a:t>
            </a:r>
            <a:endParaRPr i="1">
              <a:latin typeface="Times New Roman" panose="02020603050405020304" pitchFamily="18" charset="0"/>
            </a:endParaRPr>
          </a:p>
        </p:txBody>
      </p:sp>
      <p:sp>
        <p:nvSpPr>
          <p:cNvPr id="52229" name="Rectangles 52228"/>
          <p:cNvSpPr/>
          <p:nvPr/>
        </p:nvSpPr>
        <p:spPr>
          <a:xfrm>
            <a:off x="1083733" y="6935893"/>
            <a:ext cx="10078720" cy="1845310"/>
          </a:xfrm>
          <a:prstGeom prst="rect">
            <a:avLst/>
          </a:prstGeom>
          <a:noFill/>
          <a:ln w="9525">
            <a:noFill/>
          </a:ln>
        </p:spPr>
        <p:txBody>
          <a:bodyPr>
            <a:spAutoFit/>
          </a:bodyPr>
          <a:p>
            <a:pPr algn="ctr"/>
            <a:r>
              <a:rPr sz="2845" i="0"/>
              <a:t>The communication steps in the Gaussian elimination iteration corresponding to </a:t>
            </a:r>
            <a:r>
              <a:rPr sz="2845">
                <a:latin typeface="Times New Roman" panose="02020603050405020304" pitchFamily="18" charset="0"/>
              </a:rPr>
              <a:t>k</a:t>
            </a:r>
            <a:r>
              <a:rPr sz="2845" i="0"/>
              <a:t> = 3 for an 8 x 8 matrix on 16 processes of a two-dimensional mesh.</a:t>
            </a:r>
            <a:endParaRPr sz="2845" i="0"/>
          </a:p>
        </p:txBody>
      </p:sp>
      <p:pic>
        <p:nvPicPr>
          <p:cNvPr id="52234" name="Picture 52233" descr="gaus2dpip"/>
          <p:cNvPicPr>
            <a:picLocks noChangeAspect="1"/>
          </p:cNvPicPr>
          <p:nvPr/>
        </p:nvPicPr>
        <p:blipFill>
          <a:blip r:embed="rId1"/>
          <a:srcRect l="18152" t="18811" r="12102" b="55579"/>
          <a:stretch>
            <a:fillRect/>
          </a:stretch>
        </p:blipFill>
        <p:spPr>
          <a:xfrm>
            <a:off x="1733973" y="2059093"/>
            <a:ext cx="9008533" cy="4680374"/>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itle 54273"/>
          <p:cNvSpPr>
            <a:spLocks noGrp="1"/>
          </p:cNvSpPr>
          <p:nvPr>
            <p:ph type="title"/>
          </p:nvPr>
        </p:nvSpPr>
        <p:spPr/>
        <p:txBody>
          <a:bodyPr anchor="ctr" anchorCtr="0"/>
          <a:p>
            <a:r>
              <a:t>Parallel Gaussian Elimination: </a:t>
            </a:r>
            <a:br/>
            <a:r>
              <a:t>2-D Mapping with Pipelining and </a:t>
            </a:r>
            <a:r>
              <a:rPr i="1">
                <a:latin typeface="Times New Roman" panose="02020603050405020304" pitchFamily="18" charset="0"/>
              </a:rPr>
              <a:t>p &lt; n</a:t>
            </a:r>
            <a:endParaRPr i="1">
              <a:latin typeface="Times New Roman" panose="02020603050405020304" pitchFamily="18" charset="0"/>
            </a:endParaRPr>
          </a:p>
        </p:txBody>
      </p:sp>
      <p:sp>
        <p:nvSpPr>
          <p:cNvPr id="54276" name="Rectangles 54275"/>
          <p:cNvSpPr/>
          <p:nvPr/>
        </p:nvSpPr>
        <p:spPr>
          <a:xfrm>
            <a:off x="1192107" y="6285653"/>
            <a:ext cx="10078720" cy="2284095"/>
          </a:xfrm>
          <a:prstGeom prst="rect">
            <a:avLst/>
          </a:prstGeom>
          <a:noFill/>
          <a:ln w="9525">
            <a:noFill/>
          </a:ln>
        </p:spPr>
        <p:txBody>
          <a:bodyPr>
            <a:spAutoFit/>
          </a:bodyPr>
          <a:p>
            <a:pPr algn="ctr"/>
            <a:r>
              <a:rPr sz="2845" i="0"/>
              <a:t>Computational load on different processes in block and cyclic</a:t>
            </a:r>
            <a:endParaRPr sz="2845" i="0"/>
          </a:p>
          <a:p>
            <a:pPr algn="ctr"/>
            <a:r>
              <a:rPr sz="2845" i="0"/>
              <a:t>2-D mappings of an 8 x 8 matrix onto 16 processes during the Gaussian elimination iteration corresponding to </a:t>
            </a:r>
            <a:r>
              <a:rPr sz="2845">
                <a:latin typeface="Times New Roman" panose="02020603050405020304" pitchFamily="18" charset="0"/>
              </a:rPr>
              <a:t>k</a:t>
            </a:r>
            <a:r>
              <a:rPr sz="2845" i="0"/>
              <a:t> = 3.</a:t>
            </a:r>
            <a:endParaRPr sz="2845" i="0"/>
          </a:p>
        </p:txBody>
      </p:sp>
      <p:pic>
        <p:nvPicPr>
          <p:cNvPr id="54277" name="Picture 54276"/>
          <p:cNvPicPr>
            <a:picLocks noChangeAspect="1"/>
          </p:cNvPicPr>
          <p:nvPr/>
        </p:nvPicPr>
        <p:blipFill>
          <a:blip r:embed="rId1"/>
          <a:stretch>
            <a:fillRect/>
          </a:stretch>
        </p:blipFill>
        <p:spPr>
          <a:xfrm>
            <a:off x="2275840" y="2167467"/>
            <a:ext cx="7825458" cy="4109156"/>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itle 53249"/>
          <p:cNvSpPr>
            <a:spLocks noGrp="1"/>
          </p:cNvSpPr>
          <p:nvPr>
            <p:ph type="title"/>
          </p:nvPr>
        </p:nvSpPr>
        <p:spPr/>
        <p:txBody>
          <a:bodyPr anchor="ctr" anchorCtr="0"/>
          <a:p>
            <a:r>
              <a:t>Parallel Gaussian Elimination: </a:t>
            </a:r>
            <a:br/>
            <a:r>
              <a:t>2-D Cyclic Mapping </a:t>
            </a:r>
          </a:p>
        </p:txBody>
      </p:sp>
      <p:sp>
        <p:nvSpPr>
          <p:cNvPr id="53251" name="Text Placeholder 53250"/>
          <p:cNvSpPr>
            <a:spLocks noGrp="1"/>
          </p:cNvSpPr>
          <p:nvPr>
            <p:ph type="body" idx="1"/>
          </p:nvPr>
        </p:nvSpPr>
        <p:spPr/>
        <p:txBody>
          <a:bodyPr/>
          <a:p>
            <a:r>
              <a:t>The idling in the block mapping can be alleviated using a cyclic mapping. </a:t>
            </a:r>
          </a:p>
          <a:p>
            <a:r>
              <a:t>The maximum difference in computational load between any two processes in any iteration is that of one row and one column update. </a:t>
            </a:r>
          </a:p>
          <a:p>
            <a:r>
              <a:t>This contributes              to the overhead function. Since there are </a:t>
            </a:r>
            <a:r>
              <a:rPr i="1">
                <a:latin typeface="Times New Roman" panose="02020603050405020304" pitchFamily="18" charset="0"/>
              </a:rPr>
              <a:t>n</a:t>
            </a:r>
            <a:r>
              <a:t> iterations, the total overhead is               . </a:t>
            </a:r>
          </a:p>
        </p:txBody>
      </p:sp>
      <p:pic>
        <p:nvPicPr>
          <p:cNvPr id="53253" name="Picture 53252" descr="$ \Theta(n\sqrt p)$"/>
          <p:cNvPicPr>
            <a:picLocks noChangeAspect="1"/>
          </p:cNvPicPr>
          <p:nvPr/>
        </p:nvPicPr>
        <p:blipFill>
          <a:blip r:embed="rId1"/>
          <a:stretch>
            <a:fillRect/>
          </a:stretch>
        </p:blipFill>
        <p:spPr>
          <a:xfrm>
            <a:off x="4443307" y="5201920"/>
            <a:ext cx="1417884" cy="767644"/>
          </a:xfrm>
          <a:prstGeom prst="rect">
            <a:avLst/>
          </a:prstGeom>
          <a:noFill/>
          <a:ln w="9525">
            <a:noFill/>
          </a:ln>
        </p:spPr>
      </p:pic>
      <p:pic>
        <p:nvPicPr>
          <p:cNvPr id="53255" name="Picture 53254" descr="$ \Theta(n^2\sqrt p)$"/>
          <p:cNvPicPr>
            <a:picLocks noChangeAspect="1"/>
          </p:cNvPicPr>
          <p:nvPr/>
        </p:nvPicPr>
        <p:blipFill>
          <a:blip r:embed="rId2"/>
          <a:stretch>
            <a:fillRect/>
          </a:stretch>
        </p:blipFill>
        <p:spPr>
          <a:xfrm>
            <a:off x="9536853" y="5743787"/>
            <a:ext cx="1584960" cy="767644"/>
          </a:xfrm>
          <a:prstGeom prst="rect">
            <a:avLst/>
          </a:prstGeom>
          <a:noFill/>
          <a:ln w="9525">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itle 55297"/>
          <p:cNvSpPr>
            <a:spLocks noGrp="1"/>
          </p:cNvSpPr>
          <p:nvPr>
            <p:ph type="title"/>
          </p:nvPr>
        </p:nvSpPr>
        <p:spPr/>
        <p:txBody>
          <a:bodyPr anchor="ctr" anchorCtr="0"/>
          <a:p>
            <a:r>
              <a:t>Gaussian Elimination </a:t>
            </a:r>
            <a:br/>
            <a:r>
              <a:t>with Partial Pivoting</a:t>
            </a:r>
          </a:p>
        </p:txBody>
      </p:sp>
      <p:sp>
        <p:nvSpPr>
          <p:cNvPr id="55299" name="Text Placeholder 55298"/>
          <p:cNvSpPr>
            <a:spLocks noGrp="1"/>
          </p:cNvSpPr>
          <p:nvPr>
            <p:ph type="body" idx="1"/>
          </p:nvPr>
        </p:nvSpPr>
        <p:spPr/>
        <p:txBody>
          <a:bodyPr/>
          <a:p>
            <a:pPr>
              <a:lnSpc>
                <a:spcPct val="90000"/>
              </a:lnSpc>
            </a:pPr>
            <a:r>
              <a:t>For numerical stability, one generally uses partial pivoting.</a:t>
            </a:r>
          </a:p>
          <a:p>
            <a:pPr>
              <a:lnSpc>
                <a:spcPct val="90000"/>
              </a:lnSpc>
            </a:pPr>
            <a:r>
              <a:t>In the </a:t>
            </a:r>
            <a:r>
              <a:rPr i="1">
                <a:latin typeface="Times New Roman" panose="02020603050405020304" pitchFamily="18" charset="0"/>
              </a:rPr>
              <a:t>k </a:t>
            </a:r>
            <a:r>
              <a:rPr err="1"/>
              <a:t>th</a:t>
            </a:r>
            <a:r>
              <a:t> iteration, we select a column i (called the </a:t>
            </a:r>
            <a:r>
              <a:rPr i="1"/>
              <a:t>pivot </a:t>
            </a:r>
            <a:r>
              <a:t>column) such that </a:t>
            </a:r>
            <a:r>
              <a:rPr i="1" err="1">
                <a:latin typeface="Times New Roman" panose="02020603050405020304" pitchFamily="18" charset="0"/>
              </a:rPr>
              <a:t>A</a:t>
            </a:r>
            <a:r>
              <a:rPr err="1">
                <a:latin typeface="Times New Roman" panose="02020603050405020304" pitchFamily="18" charset="0"/>
              </a:rPr>
              <a:t>[</a:t>
            </a:r>
            <a:r>
              <a:rPr i="1" err="1">
                <a:latin typeface="Times New Roman" panose="02020603050405020304" pitchFamily="18" charset="0"/>
              </a:rPr>
              <a:t>k</a:t>
            </a:r>
            <a:r>
              <a:rPr i="1">
                <a:latin typeface="Times New Roman" panose="02020603050405020304" pitchFamily="18" charset="0"/>
              </a:rPr>
              <a:t>, i</a:t>
            </a:r>
            <a:r>
              <a:rPr>
                <a:latin typeface="Times New Roman" panose="02020603050405020304" pitchFamily="18" charset="0"/>
              </a:rPr>
              <a:t>]</a:t>
            </a:r>
            <a:r>
              <a:t> is the largest in magnitude among all </a:t>
            </a:r>
            <a:r>
              <a:rPr i="1" err="1">
                <a:latin typeface="Times New Roman" panose="02020603050405020304" pitchFamily="18" charset="0"/>
              </a:rPr>
              <a:t>A</a:t>
            </a:r>
            <a:r>
              <a:rPr err="1">
                <a:latin typeface="Times New Roman" panose="02020603050405020304" pitchFamily="18" charset="0"/>
              </a:rPr>
              <a:t>[</a:t>
            </a:r>
            <a:r>
              <a:rPr i="1" err="1">
                <a:latin typeface="Times New Roman" panose="02020603050405020304" pitchFamily="18" charset="0"/>
              </a:rPr>
              <a:t>k</a:t>
            </a:r>
            <a:r>
              <a:rPr i="1">
                <a:latin typeface="Times New Roman" panose="02020603050405020304" pitchFamily="18" charset="0"/>
              </a:rPr>
              <a:t>, i</a:t>
            </a:r>
            <a:r>
              <a:rPr>
                <a:latin typeface="Times New Roman" panose="02020603050405020304" pitchFamily="18" charset="0"/>
              </a:rPr>
              <a:t>]</a:t>
            </a:r>
            <a:r>
              <a:t> such that </a:t>
            </a:r>
            <a:r>
              <a:rPr i="1">
                <a:latin typeface="Times New Roman" panose="02020603050405020304" pitchFamily="18" charset="0"/>
              </a:rPr>
              <a:t>k </a:t>
            </a:r>
            <a:r>
              <a:rPr i="1">
                <a:latin typeface="Times New Roman" panose="02020603050405020304" pitchFamily="18" charset="0"/>
                <a:cs typeface="Arial" panose="020B0604020202020204" pitchFamily="34" charset="0"/>
              </a:rPr>
              <a:t>≤ </a:t>
            </a:r>
            <a:r>
              <a:rPr i="1">
                <a:latin typeface="Times New Roman" panose="02020603050405020304" pitchFamily="18" charset="0"/>
              </a:rPr>
              <a:t>j &lt; n</a:t>
            </a:r>
            <a:r>
              <a:t>.</a:t>
            </a:r>
          </a:p>
          <a:p>
            <a:pPr>
              <a:lnSpc>
                <a:spcPct val="90000"/>
              </a:lnSpc>
            </a:pPr>
            <a:r>
              <a:t>The </a:t>
            </a:r>
            <a:r>
              <a:rPr i="1">
                <a:latin typeface="Times New Roman" panose="02020603050405020304" pitchFamily="18" charset="0"/>
              </a:rPr>
              <a:t>k </a:t>
            </a:r>
            <a:r>
              <a:rPr err="1"/>
              <a:t>th</a:t>
            </a:r>
            <a:r>
              <a:t> and the </a:t>
            </a:r>
            <a:r>
              <a:rPr i="1">
                <a:latin typeface="Times New Roman" panose="02020603050405020304" pitchFamily="18" charset="0"/>
              </a:rPr>
              <a:t>i </a:t>
            </a:r>
            <a:r>
              <a:rPr err="1"/>
              <a:t>th</a:t>
            </a:r>
            <a:r>
              <a:t> columns are interchanged.</a:t>
            </a:r>
          </a:p>
          <a:p>
            <a:pPr>
              <a:lnSpc>
                <a:spcPct val="90000"/>
              </a:lnSpc>
            </a:pPr>
            <a:r>
              <a:t>Simple to implement with row-partitioning and does not add overhead since the division step takes the same time as computing the max.</a:t>
            </a:r>
          </a:p>
          <a:p>
            <a:pPr>
              <a:lnSpc>
                <a:spcPct val="90000"/>
              </a:lnSpc>
            </a:pPr>
            <a:r>
              <a:t>Column-partitioning, however, requires a global reduction, adding a </a:t>
            </a:r>
            <a:r>
              <a:rPr>
                <a:latin typeface="Times New Roman" panose="02020603050405020304" pitchFamily="18" charset="0"/>
              </a:rPr>
              <a:t>log </a:t>
            </a:r>
            <a:r>
              <a:rPr i="1">
                <a:latin typeface="Times New Roman" panose="02020603050405020304" pitchFamily="18" charset="0"/>
              </a:rPr>
              <a:t>p</a:t>
            </a:r>
            <a:r>
              <a:t> term to the overhead.</a:t>
            </a:r>
          </a:p>
          <a:p>
            <a:pPr>
              <a:lnSpc>
                <a:spcPct val="90000"/>
              </a:lnSpc>
            </a:pPr>
            <a:r>
              <a:t>Pivoting precludes the use of pipelining.</a:t>
            </a:r>
          </a:p>
          <a:p>
            <a:pPr>
              <a:lnSpc>
                <a:spcPct val="90000"/>
              </a:lnSpc>
            </a:p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itle 56321"/>
          <p:cNvSpPr>
            <a:spLocks noGrp="1"/>
          </p:cNvSpPr>
          <p:nvPr>
            <p:ph type="title"/>
          </p:nvPr>
        </p:nvSpPr>
        <p:spPr/>
        <p:txBody>
          <a:bodyPr anchor="ctr" anchorCtr="0"/>
          <a:p>
            <a:r>
              <a:t>Gaussian Elimination with Partial Pivoting: 2-D Partitioning </a:t>
            </a:r>
          </a:p>
        </p:txBody>
      </p:sp>
      <p:sp>
        <p:nvSpPr>
          <p:cNvPr id="56323" name="Text Placeholder 56322"/>
          <p:cNvSpPr>
            <a:spLocks noGrp="1"/>
          </p:cNvSpPr>
          <p:nvPr>
            <p:ph type="body" idx="1"/>
          </p:nvPr>
        </p:nvSpPr>
        <p:spPr/>
        <p:txBody>
          <a:bodyPr/>
          <a:p>
            <a:r>
              <a:t>Partial pivoting restricts use of pipelining, resulting in performance loss. </a:t>
            </a:r>
          </a:p>
          <a:p>
            <a:r>
              <a:t>This loss can be alleviated by restricting pivoting to specific columns. </a:t>
            </a:r>
          </a:p>
          <a:p>
            <a:r>
              <a:t>Alternately, we can use faster algorithms for broadcast. </a:t>
            </a:r>
          </a:p>
          <a:p>
            <a:pPr>
              <a:buNone/>
            </a:p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itle 57345"/>
          <p:cNvSpPr>
            <a:spLocks noGrp="1"/>
          </p:cNvSpPr>
          <p:nvPr>
            <p:ph type="title"/>
          </p:nvPr>
        </p:nvSpPr>
        <p:spPr/>
        <p:txBody>
          <a:bodyPr anchor="ctr" anchorCtr="0"/>
          <a:p>
            <a:r>
              <a:t>Solving a Triangular System: </a:t>
            </a:r>
            <a:br/>
            <a:r>
              <a:t>Back-Substitution</a:t>
            </a:r>
          </a:p>
        </p:txBody>
      </p:sp>
      <p:sp>
        <p:nvSpPr>
          <p:cNvPr id="57347" name="Text Placeholder 57346"/>
          <p:cNvSpPr>
            <a:spLocks noGrp="1"/>
          </p:cNvSpPr>
          <p:nvPr>
            <p:ph type="body" idx="1"/>
          </p:nvPr>
        </p:nvSpPr>
        <p:spPr>
          <a:xfrm>
            <a:off x="650240" y="2275840"/>
            <a:ext cx="11704320" cy="1300480"/>
          </a:xfrm>
        </p:spPr>
        <p:txBody>
          <a:bodyPr/>
          <a:p>
            <a:r>
              <a:t>The upper triangular matrix </a:t>
            </a:r>
            <a:r>
              <a:rPr i="1">
                <a:latin typeface="Times New Roman" panose="02020603050405020304" pitchFamily="18" charset="0"/>
              </a:rPr>
              <a:t>U</a:t>
            </a:r>
            <a:r>
              <a:t> undergoes back-substitution to determine the vector </a:t>
            </a:r>
            <a:r>
              <a:rPr i="1">
                <a:latin typeface="Times New Roman" panose="02020603050405020304" pitchFamily="18" charset="0"/>
              </a:rPr>
              <a:t>x</a:t>
            </a:r>
            <a:r>
              <a:t>.</a:t>
            </a:r>
          </a:p>
        </p:txBody>
      </p:sp>
      <p:sp>
        <p:nvSpPr>
          <p:cNvPr id="57349" name="Rectangles 57348"/>
          <p:cNvSpPr/>
          <p:nvPr/>
        </p:nvSpPr>
        <p:spPr>
          <a:xfrm>
            <a:off x="2926080" y="7802880"/>
            <a:ext cx="9401810" cy="529590"/>
          </a:xfrm>
          <a:prstGeom prst="rect">
            <a:avLst/>
          </a:prstGeom>
          <a:noFill/>
          <a:ln w="9525">
            <a:noFill/>
          </a:ln>
        </p:spPr>
        <p:txBody>
          <a:bodyPr wrap="none" anchor="t" anchorCtr="0">
            <a:spAutoFit/>
          </a:bodyPr>
          <a:p>
            <a:r>
              <a:rPr sz="2845" i="0"/>
              <a:t>A serial algorithm for back-substitution.</a:t>
            </a:r>
            <a:endParaRPr sz="2845" i="0"/>
          </a:p>
        </p:txBody>
      </p:sp>
      <p:pic>
        <p:nvPicPr>
          <p:cNvPr id="57350" name="Picture 57349"/>
          <p:cNvPicPr>
            <a:picLocks noChangeAspect="1"/>
          </p:cNvPicPr>
          <p:nvPr/>
        </p:nvPicPr>
        <p:blipFill>
          <a:blip r:embed="rId1"/>
          <a:stretch>
            <a:fillRect/>
          </a:stretch>
        </p:blipFill>
        <p:spPr>
          <a:xfrm>
            <a:off x="1625600" y="3684693"/>
            <a:ext cx="8191218" cy="3705014"/>
          </a:xfrm>
          <a:prstGeom prst="rect">
            <a:avLst/>
          </a:prstGeom>
          <a:noFill/>
          <a:ln w="9525">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Title 58369"/>
          <p:cNvSpPr>
            <a:spLocks noGrp="1"/>
          </p:cNvSpPr>
          <p:nvPr>
            <p:ph type="title"/>
          </p:nvPr>
        </p:nvSpPr>
        <p:spPr/>
        <p:txBody>
          <a:bodyPr anchor="ctr" anchorCtr="0"/>
          <a:p>
            <a:r>
              <a:t>Solving a Triangular System: </a:t>
            </a:r>
            <a:br/>
            <a:r>
              <a:t>Back-Substitution</a:t>
            </a:r>
          </a:p>
        </p:txBody>
      </p:sp>
      <p:sp>
        <p:nvSpPr>
          <p:cNvPr id="58371" name="Text Placeholder 58370"/>
          <p:cNvSpPr>
            <a:spLocks noGrp="1"/>
          </p:cNvSpPr>
          <p:nvPr>
            <p:ph type="body" idx="1"/>
          </p:nvPr>
        </p:nvSpPr>
        <p:spPr/>
        <p:txBody>
          <a:bodyPr/>
          <a:p>
            <a:r>
              <a:rPr sz="2845"/>
              <a:t>The algorithm performs approximately </a:t>
            </a:r>
            <a:r>
              <a:rPr sz="2845" i="1">
                <a:latin typeface="Times New Roman" panose="02020603050405020304" pitchFamily="18" charset="0"/>
              </a:rPr>
              <a:t>n</a:t>
            </a:r>
            <a:r>
              <a:rPr sz="2845" i="1" baseline="30000">
                <a:latin typeface="Times New Roman" panose="02020603050405020304" pitchFamily="18" charset="0"/>
              </a:rPr>
              <a:t>2</a:t>
            </a:r>
            <a:r>
              <a:rPr sz="2845" i="1">
                <a:latin typeface="Times New Roman" panose="02020603050405020304" pitchFamily="18" charset="0"/>
              </a:rPr>
              <a:t>/2</a:t>
            </a:r>
            <a:r>
              <a:rPr sz="2845"/>
              <a:t> multiplications and subtractions.</a:t>
            </a:r>
            <a:endParaRPr sz="2845"/>
          </a:p>
          <a:p>
            <a:r>
              <a:rPr sz="2845"/>
              <a:t>Since complexity of this part is asymptotically lower, we should optimize the data distribution for the factorization part.</a:t>
            </a:r>
            <a:endParaRPr sz="2845"/>
          </a:p>
          <a:p>
            <a:r>
              <a:rPr sz="2845"/>
              <a:t>Consider a </a:t>
            </a:r>
            <a:r>
              <a:rPr sz="2845" err="1"/>
              <a:t>rowwise</a:t>
            </a:r>
            <a:r>
              <a:rPr sz="2845"/>
              <a:t> block 1-D mapping of the </a:t>
            </a:r>
            <a:r>
              <a:rPr sz="2845" i="1">
                <a:latin typeface="Times New Roman" panose="02020603050405020304" pitchFamily="18" charset="0"/>
              </a:rPr>
              <a:t>n</a:t>
            </a:r>
            <a:r>
              <a:rPr sz="2845"/>
              <a:t> x </a:t>
            </a:r>
            <a:r>
              <a:rPr sz="2845" i="1">
                <a:latin typeface="Times New Roman" panose="02020603050405020304" pitchFamily="18" charset="0"/>
              </a:rPr>
              <a:t>n</a:t>
            </a:r>
            <a:r>
              <a:rPr sz="2845"/>
              <a:t> matrix U with vector </a:t>
            </a:r>
            <a:r>
              <a:rPr sz="2845" i="1">
                <a:latin typeface="Times New Roman" panose="02020603050405020304" pitchFamily="18" charset="0"/>
              </a:rPr>
              <a:t>y</a:t>
            </a:r>
            <a:r>
              <a:rPr sz="2845"/>
              <a:t> distributed uniformly.</a:t>
            </a:r>
            <a:endParaRPr sz="2845"/>
          </a:p>
          <a:p>
            <a:r>
              <a:rPr sz="2845"/>
              <a:t>The value of the variable solved at a step can be pipelined back.</a:t>
            </a:r>
            <a:endParaRPr sz="2845"/>
          </a:p>
          <a:p>
            <a:r>
              <a:rPr sz="2845"/>
              <a:t>Each step of a pipelined implementation requires a constant amount of time for communication and </a:t>
            </a:r>
            <a:r>
              <a:rPr lang="el-GR" altLang="x-none" sz="2845" dirty="0">
                <a:cs typeface="Arial" panose="020B0604020202020204" pitchFamily="34" charset="0"/>
              </a:rPr>
              <a:t>Θ</a:t>
            </a:r>
            <a:r>
              <a:rPr sz="2845"/>
              <a:t>(</a:t>
            </a:r>
            <a:r>
              <a:rPr sz="2845" i="1" err="1">
                <a:latin typeface="Times New Roman" panose="02020603050405020304" pitchFamily="18" charset="0"/>
              </a:rPr>
              <a:t>n/p</a:t>
            </a:r>
            <a:r>
              <a:rPr sz="2845"/>
              <a:t>) time for computation.</a:t>
            </a:r>
            <a:endParaRPr sz="2845"/>
          </a:p>
          <a:p>
            <a:r>
              <a:rPr sz="2845"/>
              <a:t>The parallel run time of the entire algorithm is </a:t>
            </a:r>
            <a:r>
              <a:rPr lang="el-GR" altLang="x-none" sz="2845" dirty="0">
                <a:cs typeface="Arial" panose="020B0604020202020204" pitchFamily="34" charset="0"/>
              </a:rPr>
              <a:t>Θ</a:t>
            </a:r>
            <a:r>
              <a:rPr sz="2845"/>
              <a:t>(</a:t>
            </a:r>
            <a:r>
              <a:rPr sz="2845" i="1">
                <a:latin typeface="Times New Roman" panose="02020603050405020304" pitchFamily="18" charset="0"/>
              </a:rPr>
              <a:t>n</a:t>
            </a:r>
            <a:r>
              <a:rPr sz="2845" i="1" baseline="30000">
                <a:latin typeface="Times New Roman" panose="02020603050405020304" pitchFamily="18" charset="0"/>
              </a:rPr>
              <a:t>2</a:t>
            </a:r>
            <a:r>
              <a:rPr sz="2845" i="1">
                <a:latin typeface="Times New Roman" panose="02020603050405020304" pitchFamily="18" charset="0"/>
              </a:rPr>
              <a:t>/p</a:t>
            </a:r>
            <a:r>
              <a:rPr sz="2845"/>
              <a:t>).</a:t>
            </a:r>
            <a:endParaRPr sz="2845"/>
          </a:p>
          <a:p>
            <a:endParaRPr sz="2845"/>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itle 59393"/>
          <p:cNvSpPr>
            <a:spLocks noGrp="1"/>
          </p:cNvSpPr>
          <p:nvPr>
            <p:ph type="title"/>
          </p:nvPr>
        </p:nvSpPr>
        <p:spPr/>
        <p:txBody>
          <a:bodyPr anchor="ctr" anchorCtr="0"/>
          <a:p>
            <a:r>
              <a:t>Solving a Triangular System: </a:t>
            </a:r>
            <a:br/>
            <a:r>
              <a:t>Back-Substitution</a:t>
            </a:r>
          </a:p>
        </p:txBody>
      </p:sp>
      <p:sp>
        <p:nvSpPr>
          <p:cNvPr id="59395" name="Text Placeholder 59394"/>
          <p:cNvSpPr>
            <a:spLocks noGrp="1"/>
          </p:cNvSpPr>
          <p:nvPr>
            <p:ph type="body" idx="1"/>
          </p:nvPr>
        </p:nvSpPr>
        <p:spPr/>
        <p:txBody>
          <a:bodyPr/>
          <a:p>
            <a:pPr>
              <a:lnSpc>
                <a:spcPct val="90000"/>
              </a:lnSpc>
            </a:pPr>
            <a:r>
              <a:t>If the matrix is partitioned by using 2-D partitioning on a   logical mesh of               processes, and the elements of the vector are distributed along one of the columns of the process mesh, then only the       processes containing the vector perform any computation. </a:t>
            </a:r>
          </a:p>
          <a:p>
            <a:pPr>
              <a:lnSpc>
                <a:spcPct val="90000"/>
              </a:lnSpc>
            </a:pPr>
            <a:r>
              <a:t>Using pipelining to communicate the appropriate elements of  </a:t>
            </a:r>
            <a:r>
              <a:rPr i="1">
                <a:latin typeface="Times New Roman" panose="02020603050405020304" pitchFamily="18" charset="0"/>
              </a:rPr>
              <a:t>U</a:t>
            </a:r>
            <a:r>
              <a:t> to the process containing the corresponding elements of  </a:t>
            </a:r>
            <a:r>
              <a:rPr i="1">
                <a:latin typeface="Times New Roman" panose="02020603050405020304" pitchFamily="18" charset="0"/>
              </a:rPr>
              <a:t>y</a:t>
            </a:r>
            <a:r>
              <a:t> for the substitution step (line 7), the algorithm can be executed in                 time. </a:t>
            </a:r>
          </a:p>
          <a:p>
            <a:pPr>
              <a:lnSpc>
                <a:spcPct val="90000"/>
              </a:lnSpc>
            </a:pPr>
            <a:r>
              <a:t>While this is not cost optimal, since this does not dominate the overall computation, the cost optimality is determined by the factorization. </a:t>
            </a:r>
          </a:p>
          <a:p>
            <a:pPr>
              <a:lnSpc>
                <a:spcPct val="90000"/>
              </a:lnSpc>
            </a:pPr>
          </a:p>
        </p:txBody>
      </p:sp>
      <p:pic>
        <p:nvPicPr>
          <p:cNvPr id="59397" name="Picture 59396" descr="$ \sqrt p\times \sqrt p$"/>
          <p:cNvPicPr>
            <a:picLocks noChangeAspect="1"/>
          </p:cNvPicPr>
          <p:nvPr/>
        </p:nvPicPr>
        <p:blipFill>
          <a:blip r:embed="rId1"/>
          <a:stretch>
            <a:fillRect/>
          </a:stretch>
        </p:blipFill>
        <p:spPr>
          <a:xfrm>
            <a:off x="4226560" y="2817707"/>
            <a:ext cx="1573672" cy="769903"/>
          </a:xfrm>
          <a:prstGeom prst="rect">
            <a:avLst/>
          </a:prstGeom>
          <a:noFill/>
          <a:ln w="9525">
            <a:noFill/>
          </a:ln>
        </p:spPr>
      </p:pic>
      <p:pic>
        <p:nvPicPr>
          <p:cNvPr id="59399" name="Picture 59398" descr="$ \sqrt p$"/>
          <p:cNvPicPr>
            <a:picLocks noChangeAspect="1"/>
          </p:cNvPicPr>
          <p:nvPr/>
        </p:nvPicPr>
        <p:blipFill>
          <a:blip r:embed="rId2"/>
          <a:stretch>
            <a:fillRect/>
          </a:stretch>
        </p:blipFill>
        <p:spPr>
          <a:xfrm>
            <a:off x="6827520" y="3684693"/>
            <a:ext cx="598312" cy="774418"/>
          </a:xfrm>
          <a:prstGeom prst="rect">
            <a:avLst/>
          </a:prstGeom>
          <a:noFill/>
          <a:ln w="9525">
            <a:noFill/>
          </a:ln>
        </p:spPr>
      </p:pic>
      <p:pic>
        <p:nvPicPr>
          <p:cNvPr id="59401" name="Picture 59400" descr="$ \Theta({n^2}/{\sqrt p})$"/>
          <p:cNvPicPr>
            <a:picLocks noChangeAspect="1"/>
          </p:cNvPicPr>
          <p:nvPr/>
        </p:nvPicPr>
        <p:blipFill>
          <a:blip r:embed="rId3"/>
          <a:stretch>
            <a:fillRect/>
          </a:stretch>
        </p:blipFill>
        <p:spPr>
          <a:xfrm>
            <a:off x="9211733" y="6177280"/>
            <a:ext cx="1767841" cy="767644"/>
          </a:xfrm>
          <a:prstGeom prst="rect">
            <a:avLst/>
          </a:prstGeom>
          <a:noFill/>
          <a:ln w="9525">
            <a:noFill/>
          </a:ln>
        </p:spPr>
      </p:pic>
    </p:spTree>
  </p:cSld>
  <p:clrMapOvr>
    <a:masterClrMapping/>
  </p:clrMapOvr>
</p:sld>
</file>

<file path=ppt/tags/tag1.xml><?xml version="1.0" encoding="utf-8"?>
<p:tagLst xmlns:p="http://schemas.openxmlformats.org/presentationml/2006/main">
  <p:tag name="commondata" val="eyJoZGlkIjoiNjJjNTFkOTdkODM4ZDJhZTE0NWNhZWEyMDljZmVjZjEifQ=="/>
</p:tagLst>
</file>

<file path=ppt/theme/theme1.xml><?xml version="1.0" encoding="utf-8"?>
<a:theme xmlns:a="http://schemas.openxmlformats.org/drawingml/2006/main" name="23_ClassicWhit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23_ClassicWhite">
      <a:majorFont>
        <a:latin typeface="Helvetica"/>
        <a:ea typeface="Helvetica"/>
        <a:cs typeface="Helvetica"/>
      </a:majorFont>
      <a:minorFont>
        <a:latin typeface="Helvetica"/>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noFill/>
        <a:ln w="38100" cap="flat" cmpd="sng" algn="ctr">
          <a:solidFill>
            <a:srgbClr val="FF0000"/>
          </a:solidFill>
          <a:prstDash val="solid"/>
          <a:miter lim="400000"/>
          <a:headEnd type="none" w="med" len="med"/>
          <a:tailEnd type="none" w="med" len="med"/>
        </a:ln>
      </a:spPr>
      <a:bodyPr vert="horz" wrap="square" lIns="50800" tIns="50800" rIns="50800" bIns="50800" numCol="1" rtlCol="0" anchor="ctr" anchorCtr="0" compatLnSpc="1">
        <a:noAutofit/>
      </a:bodyPr>
      <a:lstStyle>
        <a:defPPr marL="0" marR="0" indent="0" algn="ctr" defTabSz="1733550" rtl="0" eaLnBrk="1" fontAlgn="base" latinLnBrk="0" hangingPunct="0">
          <a:lnSpc>
            <a:spcPct val="90000"/>
          </a:lnSpc>
          <a:spcBef>
            <a:spcPct val="0"/>
          </a:spcBef>
          <a:spcAft>
            <a:spcPct val="0"/>
          </a:spcAft>
          <a:buClrTx/>
          <a:buSzTx/>
          <a:buFontTx/>
          <a:buNone/>
          <a:defRPr kumimoji="0"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spDef>
    <a:ln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19236</Words>
  <Application>WPS 演示</Application>
  <PresentationFormat>Custom</PresentationFormat>
  <Paragraphs>1688</Paragraphs>
  <Slides>66</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66</vt:i4>
      </vt:variant>
    </vt:vector>
  </HeadingPairs>
  <TitlesOfParts>
    <vt:vector size="80" baseType="lpstr">
      <vt:lpstr>Arial</vt:lpstr>
      <vt:lpstr>宋体</vt:lpstr>
      <vt:lpstr>Wingdings</vt:lpstr>
      <vt:lpstr>Canela Text Regular</vt:lpstr>
      <vt:lpstr>Segoe Print</vt:lpstr>
      <vt:lpstr>Helvetica</vt:lpstr>
      <vt:lpstr>Graphik</vt:lpstr>
      <vt:lpstr>Helvetica Neue</vt:lpstr>
      <vt:lpstr>Times New Roman</vt:lpstr>
      <vt:lpstr>微软雅黑</vt:lpstr>
      <vt:lpstr>Arial Unicode MS</vt:lpstr>
      <vt:lpstr>Segoe UI Web (West European)</vt:lpstr>
      <vt:lpstr>Segoe UI</vt:lpstr>
      <vt:lpstr>23_ClassicWhite</vt:lpstr>
      <vt:lpstr>DTS205TC High Performance Computing</vt:lpstr>
      <vt:lpstr>*cheatsheet for system design</vt:lpstr>
      <vt:lpstr>Section</vt:lpstr>
      <vt:lpstr>linear algebra</vt:lpstr>
      <vt:lpstr>A system of linear equations</vt:lpstr>
      <vt:lpstr>Matrix multiplication
</vt:lpstr>
      <vt:lpstr>Matrix multiplication
</vt:lpstr>
      <vt:lpstr>Matrix multiplication
</vt:lpstr>
      <vt:lpstr>Block matrix
</vt:lpstr>
      <vt:lpstr>Block matrix multiplication
</vt:lpstr>
      <vt:lpstr>Parallelization Models</vt:lpstr>
      <vt:lpstr>Simple Parallel Algorithm</vt:lpstr>
      <vt:lpstr>Simple Parallel Algorithm</vt:lpstr>
      <vt:lpstr>Simple Parallel Algorithm</vt:lpstr>
      <vt:lpstr>Simple Parallel Algorithm</vt:lpstr>
      <vt:lpstr>Simple Parallel Algorithm</vt:lpstr>
      <vt:lpstr>Simple Parallel Algorithm</vt:lpstr>
      <vt:lpstr>Simple Parallel Algorithm</vt:lpstr>
      <vt:lpstr>code
</vt:lpstr>
      <vt:lpstr>code
</vt:lpstr>
      <vt:lpstr>Process topology
</vt:lpstr>
      <vt:lpstr>Process topology
</vt:lpstr>
      <vt:lpstr>Process topology
</vt:lpstr>
      <vt:lpstr>Process topology
</vt:lpstr>
      <vt:lpstr>Cannon’s algorithm</vt:lpstr>
      <vt:lpstr>Rearrange</vt:lpstr>
      <vt:lpstr>Rearrange</vt:lpstr>
      <vt:lpstr>compute</vt:lpstr>
      <vt:lpstr>Rotate as a whole</vt:lpstr>
      <vt:lpstr>compute</vt:lpstr>
      <vt:lpstr>iterate
</vt:lpstr>
      <vt:lpstr>code</vt:lpstr>
      <vt:lpstr>Sample output
</vt:lpstr>
      <vt:lpstr>code</vt:lpstr>
      <vt:lpstr>DNS algorithm
</vt:lpstr>
      <vt:lpstr>Diffusion
</vt:lpstr>
      <vt:lpstr>Diffusion</vt:lpstr>
      <vt:lpstr>multiplication
</vt:lpstr>
      <vt:lpstr>Reduction</vt:lpstr>
      <vt:lpstr>Solving a System of Linear Equations</vt:lpstr>
      <vt:lpstr>Solving a System of Linear Equations</vt:lpstr>
      <vt:lpstr>Gaussian Elimination</vt:lpstr>
      <vt:lpstr>Gaussian Elimination</vt:lpstr>
      <vt:lpstr>Parallel Gaussian Elimination</vt:lpstr>
      <vt:lpstr>Parallel Gaussian Elimination</vt:lpstr>
      <vt:lpstr>Parallel Gaussian Elimination:  Pipelined Execution</vt:lpstr>
      <vt:lpstr>Parallel Gaussian Elimination:  Pipelined Execution</vt:lpstr>
      <vt:lpstr>Parallel Gaussian Elimination:  Pipelined Execution</vt:lpstr>
      <vt:lpstr>Parallel Gaussian Elimination:  Pipelined Execution</vt:lpstr>
      <vt:lpstr>Parallel Gaussian Elimination:  Block 1D with p &lt; n</vt:lpstr>
      <vt:lpstr>Parallel Gaussian Elimination:  Block 1D with p &lt; n</vt:lpstr>
      <vt:lpstr>Parallel Gaussian Elimination:  Block 1D with p &lt; n</vt:lpstr>
      <vt:lpstr>Parallel Gaussian Elimination:  2-D Mapping </vt:lpstr>
      <vt:lpstr>Parallel Gaussian Elimination:  2-D Mapping</vt:lpstr>
      <vt:lpstr>Parallel Gaussian Elimination:  2-D Mapping with Pipelining </vt:lpstr>
      <vt:lpstr>Parallel Gaussian Elimination:  2-D Mapping with Pipelining</vt:lpstr>
      <vt:lpstr>2-D Mapping with Pipelining</vt:lpstr>
      <vt:lpstr>Parallel Gaussian Elimination:  2-D Mapping with Pipelining and p &lt; n</vt:lpstr>
      <vt:lpstr>Parallel Gaussian Elimination:  2-D Mapping with Pipelining and p &lt; n</vt:lpstr>
      <vt:lpstr>Parallel Gaussian Elimination:  2-D Mapping with Pipelining and p &lt; n</vt:lpstr>
      <vt:lpstr>Parallel Gaussian Elimination:  2-D Cyclic Mapping </vt:lpstr>
      <vt:lpstr>Gaussian Elimination  with Partial Pivoting</vt:lpstr>
      <vt:lpstr>Gaussian Elimination with Partial Pivoting: 2-D Partitioning </vt:lpstr>
      <vt:lpstr>Solving a Triangular System:  Back-Substitution</vt:lpstr>
      <vt:lpstr>Solving a Triangular System:  Back-Substitution</vt:lpstr>
      <vt:lpstr>Solving a Triangular System:  Back-Substitution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DTS205TC High Performance Computing</dc:title>
  <dc:creator>andyz</dc:creator>
  <cp:lastModifiedBy>ZD</cp:lastModifiedBy>
  <cp:revision>1253</cp:revision>
  <dcterms:created xsi:type="dcterms:W3CDTF">2024-02-16T06:11:00Z</dcterms:created>
  <dcterms:modified xsi:type="dcterms:W3CDTF">2024-03-31T11:55:35Z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406432CF11EB45C2806C9E797E3436DE_12</vt:lpwstr>
  </property>
  <property fmtid="{D5CDD505-2E9C-101B-9397-08002B2CF9AE}" pid="3" name="KSOProductBuildVer">
    <vt:lpwstr>2052-12.1.0.16417</vt:lpwstr>
  </property>
</Properties>
</file>