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5"/>
  </p:notesMasterIdLst>
  <p:sldIdLst>
    <p:sldId id="256" r:id="rId3"/>
    <p:sldId id="345" r:id="rId4"/>
    <p:sldId id="346" r:id="rId6"/>
    <p:sldId id="347" r:id="rId7"/>
    <p:sldId id="348" r:id="rId8"/>
    <p:sldId id="349" r:id="rId9"/>
    <p:sldId id="350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</p:sldIdLst>
  <p:sldSz cx="13004800" cy="9753600"/>
  <p:notesSz cx="6858000" cy="9144000"/>
  <p:custDataLst>
    <p:tags r:id="rId49"/>
  </p:custDataLst>
  <p:defaultTextStyle>
    <a:defPPr>
      <a:defRPr lang="en-US"/>
    </a:defPPr>
    <a:lvl1pPr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4572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9144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13716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8288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f9d6861d-e2ff-430b-91ca-84d4686a7c05}">
          <p14:sldIdLst>
            <p14:sldId id="256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无标题节" id="{04caa961-99cf-4ade-b760-20166dfd4878}">
          <p14:sldIdLst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无标题节" id="{e57e4d49-f513-422e-af6d-f8bc8e3c238c}">
          <p14:sldIdLst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1722" y="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Linux Libertine"/>
              </a:rPr>
              <a:t>Divide-and-conquer algorithm</a:t>
            </a:r>
            <a:endParaRPr lang="en-US" b="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Linux Libertine"/>
              </a:rPr>
              <a:t>Divide-and-conquer algorithm</a:t>
            </a:r>
            <a:endParaRPr lang="en-US" b="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1987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1988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3011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3012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34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4035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4036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5059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5060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082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6083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6084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7107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7108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8131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8132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154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49155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49156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178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0179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0180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02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1203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1204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226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2227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2228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250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3251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3252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4275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4276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298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5299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5300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322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6323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6324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346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7347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7348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370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8371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8372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394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59395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59396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2211" tIns="46105" rIns="92211" bIns="46105" anchor="t" anchorCtr="0"/>
          <a:p>
            <a:pPr lvl="0">
              <a:spcBef>
                <a:spcPct val="0"/>
              </a:spcBef>
            </a:pPr>
            <a:endParaRPr lang="en-IN" altLang="x-none" dirty="0"/>
          </a:p>
        </p:txBody>
      </p:sp>
      <p:sp>
        <p:nvSpPr>
          <p:cNvPr id="604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None/>
            </a:pPr>
            <a:fld id="{9A0DB2DC-4C9A-4742-B13C-FB6460FD3503}" type="slidenum">
              <a:rPr lang="en-IN" altLang="x-none" sz="1100" baseline="0" dirty="0">
                <a:latin typeface="Times New Roman" panose="02020603050405020304" pitchFamily="18" charset="0"/>
              </a:rPr>
            </a:fld>
            <a:endParaRPr lang="en-IN" altLang="x-none" sz="11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42" name="Rectangle 12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1443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3177" tIns="46589" rIns="93177" bIns="46589" anchor="ctr" anchorCtr="0"/>
          <a:p>
            <a:pPr lvl="0"/>
            <a:endParaRPr lang="en-CA" altLang="x-none" dirty="0"/>
          </a:p>
        </p:txBody>
      </p:sp>
      <p:sp>
        <p:nvSpPr>
          <p:cNvPr id="61444" name="Rectangle 2"/>
          <p:cNvSpPr txBox="1"/>
          <p:nvPr>
            <p:ph type="body"/>
          </p:nvPr>
        </p:nvSpPr>
        <p:spPr>
          <a:xfrm>
            <a:off x="935038" y="4416425"/>
            <a:ext cx="5132387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None/>
            </a:pPr>
            <a:fld id="{9A0DB2DC-4C9A-4742-B13C-FB6460FD3503}" type="slidenum">
              <a:rPr lang="en-US" sz="1100" baseline="0" dirty="0">
                <a:latin typeface="Times New Roman" panose="02020603050405020304" pitchFamily="18" charset="0"/>
              </a:rPr>
            </a:fld>
            <a:endParaRPr lang="en-US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2211" tIns="46105" rIns="92211" bIns="46105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490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3491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63492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514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4515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64516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538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5539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65540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6562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6563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66564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7586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7587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67588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8610" name="Rectangle 9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lIns="92211" tIns="46105" rIns="92211" bIns="46105" anchor="b" anchorCtr="0"/>
          <a:p>
            <a:pPr lvl="0" algn="r" defTabSz="922655">
              <a:buFont typeface="Wingdings" panose="05000000000000000000" pitchFamily="2" charset="2"/>
              <a:buNone/>
            </a:pPr>
            <a:fld id="{9A0DB2DC-4C9A-4742-B13C-FB6460FD3503}" type="slidenum">
              <a:rPr lang="en-GB" altLang="x-none" sz="1100" baseline="0" dirty="0">
                <a:latin typeface="Times New Roman" panose="02020603050405020304" pitchFamily="18" charset="0"/>
              </a:rPr>
            </a:fld>
            <a:endParaRPr lang="en-GB" altLang="x-none" sz="1100" baseline="0" dirty="0">
              <a:latin typeface="Times New Roman" panose="02020603050405020304" pitchFamily="18" charset="0"/>
            </a:endParaRPr>
          </a:p>
        </p:txBody>
      </p:sp>
      <p:sp>
        <p:nvSpPr>
          <p:cNvPr id="68611" name="Text Box 1"/>
          <p:cNvSpPr txBox="1"/>
          <p:nvPr/>
        </p:nvSpPr>
        <p:spPr>
          <a:xfrm>
            <a:off x="1168400" y="696913"/>
            <a:ext cx="4673600" cy="3486150"/>
          </a:xfrm>
          <a:prstGeom prst="rect">
            <a:avLst/>
          </a:prstGeom>
          <a:solidFill>
            <a:srgbClr val="FFFF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/>
            <a:endParaRPr lang="en-CA" altLang="x-none" dirty="0">
              <a:ea typeface="DejaVu Sans"/>
            </a:endParaRPr>
          </a:p>
        </p:txBody>
      </p:sp>
      <p:sp>
        <p:nvSpPr>
          <p:cNvPr id="68612" name="Rectangle 2"/>
          <p:cNvSpPr/>
          <p:nvPr>
            <p:ph type="body"/>
          </p:nvPr>
        </p:nvSpPr>
        <p:spPr>
          <a:xfrm>
            <a:off x="701675" y="4416425"/>
            <a:ext cx="5603875" cy="4183063"/>
          </a:xfrm>
        </p:spPr>
        <p:txBody>
          <a:bodyPr wrap="none" lIns="92211" tIns="46105" rIns="92211" bIns="46105" anchor="ctr" anchorCtr="0"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EE485F7-8B3F-44D2-9483-7CCE0C28651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648EAD-E64D-4FD3-8246-9FFFEFBD41E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48F3BF-A057-4814-8124-0C9EF6BE8D5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363663"/>
            <a:ext cx="5929313" cy="767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7013" y="1363663"/>
            <a:ext cx="5930900" cy="767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78F811-5D7F-4DE3-82AD-88DBEF76ED8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FA3018A-FAA3-4632-BEEB-E4154ED6FB6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730C55-3F79-498A-B3E5-C85A13D9B0C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069C70-CB42-41A0-9588-82E668E8A0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552A1A-AEF3-4AEC-9F0C-570CAB59521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088E2A5-A343-417D-8CD2-AA05F3762C8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6A6D73-63EF-4B46-9FCB-97F4A3449F5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5950" y="176213"/>
            <a:ext cx="3001963" cy="8866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76213"/>
            <a:ext cx="8858250" cy="8866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9E688A-EC4A-4F69-B755-8FC8D0011BE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650240"/>
            <a:ext cx="11697547" cy="19484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50240" y="2817707"/>
            <a:ext cx="5739271" cy="55247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6258" y="2817707"/>
            <a:ext cx="5741530" cy="55247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ftr" idx="3"/>
          </p:nvPr>
        </p:nvSpPr>
        <p:spPr>
          <a:xfrm>
            <a:off x="4443307" y="8886613"/>
            <a:ext cx="4111414" cy="6434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sldNum" idx="4"/>
          </p:nvPr>
        </p:nvSpPr>
        <p:spPr>
          <a:xfrm>
            <a:off x="9320107" y="8886613"/>
            <a:ext cx="3027681" cy="643467"/>
          </a:xfrm>
          <a:prstGeom prst="rect">
            <a:avLst/>
          </a:prstGeom>
        </p:spPr>
        <p:txBody>
          <a:bodyPr/>
          <a:p>
            <a:pPr lvl="0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idx="12"/>
          </p:nvPr>
        </p:nvSpPr>
        <p:spPr>
          <a:xfrm>
            <a:off x="650240" y="8882098"/>
            <a:ext cx="3027681" cy="67056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495300" y="1363663"/>
            <a:ext cx="12012613" cy="767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Helvetica" charset="0"/>
              </a:rPr>
              <a:t>Click to edit Template text styles</a:t>
            </a:r>
            <a:endParaRPr lang="en-US" altLang="en-US">
              <a:sym typeface="Helvetica" charset="0"/>
            </a:endParaRPr>
          </a:p>
          <a:p>
            <a:pPr lvl="1"/>
            <a:r>
              <a:rPr lang="en-US" altLang="en-US">
                <a:sym typeface="Helvetica" charset="0"/>
              </a:rPr>
              <a:t>Second level</a:t>
            </a:r>
            <a:endParaRPr lang="en-US" altLang="en-US">
              <a:sym typeface="Helvetica" charset="0"/>
            </a:endParaRPr>
          </a:p>
          <a:p>
            <a:pPr lvl="2"/>
            <a:r>
              <a:rPr lang="en-US" altLang="en-US">
                <a:sym typeface="Helvetica" charset="0"/>
              </a:rPr>
              <a:t>Third level</a:t>
            </a:r>
            <a:endParaRPr lang="en-US" altLang="en-US">
              <a:sym typeface="Helvetica" charset="0"/>
            </a:endParaRPr>
          </a:p>
          <a:p>
            <a:pPr lvl="3"/>
            <a:r>
              <a:rPr lang="en-US" altLang="en-US">
                <a:sym typeface="Helvetica" charset="0"/>
              </a:rPr>
              <a:t>Fourth level</a:t>
            </a:r>
            <a:endParaRPr lang="en-US" altLang="en-US">
              <a:sym typeface="Helvetica" charset="0"/>
            </a:endParaRPr>
          </a:p>
          <a:p>
            <a:pPr lvl="4"/>
            <a:r>
              <a:rPr lang="en-US" altLang="en-US">
                <a:sym typeface="Helvetica" charset="0"/>
              </a:rPr>
              <a:t>Fifth level</a:t>
            </a:r>
            <a:endParaRPr lang="en-US" altLang="en-US">
              <a:sym typeface="Helvetica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711200" y="176213"/>
            <a:ext cx="11582400" cy="85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Helvetica" charset="0"/>
              </a:rPr>
              <a:t>Click to edit Template title style</a:t>
            </a:r>
            <a:endParaRPr lang="en-US" altLang="en-US">
              <a:sym typeface="Helvetica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150" y="131763"/>
            <a:ext cx="26320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485775" y="1116013"/>
            <a:ext cx="120316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6345238" y="9117013"/>
            <a:ext cx="306387" cy="328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50800" tIns="50800" rIns="50800" bIns="50800" numCol="1" anchor="b" anchorCtr="0" compatLnSpc="1"/>
          <a:lstStyle>
            <a:lvl1pPr algn="ctr" defTabSz="1739900" eaLnBrk="1">
              <a:defRPr sz="14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F799D05F-DECC-400F-A1ED-519A6F6EDC5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 kern="1200">
          <a:solidFill>
            <a:srgbClr val="AE0428"/>
          </a:solidFill>
          <a:latin typeface="+mj-lt"/>
          <a:ea typeface="+mj-ea"/>
          <a:cs typeface="+mj-cs"/>
          <a:sym typeface="Helvetica" charset="0"/>
        </a:defRPr>
      </a:lvl1pPr>
      <a:lvl2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2pPr>
      <a:lvl3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3pPr>
      <a:lvl4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4pPr>
      <a:lvl5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5pPr>
      <a:lvl6pPr marL="4572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6pPr>
      <a:lvl7pPr marL="9144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7pPr>
      <a:lvl8pPr marL="13716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8pPr>
      <a:lvl9pPr marL="18288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9pPr>
    </p:titleStyle>
    <p:bodyStyle>
      <a:lvl1pPr marL="421005" indent="-421005" algn="l" defTabSz="1739900" rtl="0" eaLnBrk="0" fontAlgn="base" hangingPunct="0">
        <a:spcBef>
          <a:spcPts val="2000"/>
        </a:spcBef>
        <a:spcAft>
          <a:spcPct val="0"/>
        </a:spcAft>
        <a:buSzPct val="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1pPr>
      <a:lvl2pPr marL="7874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2pPr>
      <a:lvl3pPr marL="11811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3pPr>
      <a:lvl4pPr marL="15748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4pPr>
      <a:lvl5pPr marL="19685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hyperlink" Target="https://en.wikipedia.org/wiki/Divide-and-conquer_algorith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hyperlink" Target="https://en.wikipedia.org/wiki/Fork%E2%80%93join_mode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ctrTitle"/>
          </p:nvPr>
        </p:nvSpPr>
        <p:spPr>
          <a:xfrm>
            <a:off x="711200" y="2197100"/>
            <a:ext cx="11582400" cy="1079500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4500"/>
              <a:t>DTS205TC High Performance Computing</a:t>
            </a:r>
            <a:endParaRPr lang="en-US" altLang="en-US" sz="4500"/>
          </a:p>
        </p:txBody>
      </p:sp>
      <p:sp>
        <p:nvSpPr>
          <p:cNvPr id="2051" name="Rectangle 2"/>
          <p:cNvSpPr>
            <a:spLocks noGrp="1"/>
          </p:cNvSpPr>
          <p:nvPr>
            <p:ph type="subTitle" sz="quarter" idx="1"/>
          </p:nvPr>
        </p:nvSpPr>
        <p:spPr>
          <a:xfrm>
            <a:off x="711200" y="4611688"/>
            <a:ext cx="11582400" cy="730250"/>
          </a:xfrm>
        </p:spPr>
        <p:txBody>
          <a:bodyPr/>
          <a:lstStyle/>
          <a:p>
            <a:pPr defTabSz="584200" eaLnBrk="1">
              <a:spcBef>
                <a:spcPct val="0"/>
              </a:spcBef>
              <a:buSzTx/>
            </a:pPr>
            <a:r>
              <a:rPr lang="en-US" altLang="en-US" sz="3400" b="1" dirty="0">
                <a:solidFill>
                  <a:srgbClr val="AE0428"/>
                </a:solidFill>
              </a:rPr>
              <a:t>Lecture 10 MapReduce</a:t>
            </a:r>
            <a:endParaRPr lang="en-US" altLang="en-US" sz="3400" b="1" dirty="0">
              <a:solidFill>
                <a:srgbClr val="AE0428"/>
              </a:solidFill>
            </a:endParaRPr>
          </a:p>
        </p:txBody>
      </p:sp>
      <p:sp>
        <p:nvSpPr>
          <p:cNvPr id="2052" name="Text Box 3"/>
          <p:cNvSpPr txBox="1"/>
          <p:nvPr/>
        </p:nvSpPr>
        <p:spPr bwMode="auto">
          <a:xfrm>
            <a:off x="711200" y="8410575"/>
            <a:ext cx="11582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/>
          <a:lstStyle>
            <a:lvl1pPr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2000">
                <a:latin typeface="Helvetica" charset="0"/>
                <a:ea typeface="宋体" panose="02010600030101010101" pitchFamily="2" charset="-122"/>
                <a:sym typeface="Helvetica" charset="0"/>
              </a:rPr>
              <a:t>Di Zhang</a:t>
            </a:r>
            <a:r>
              <a:rPr lang="en-US" altLang="en-US" sz="2000">
                <a:latin typeface="Helvetica" charset="0"/>
                <a:ea typeface="Helvetica" charset="0"/>
                <a:cs typeface="Helvetica" charset="0"/>
                <a:sym typeface="Helvetica" charset="0"/>
              </a:rPr>
              <a:t>, Spring 2024</a:t>
            </a:r>
            <a:endParaRPr lang="en-US" altLang="en-US" sz="200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Divide-and-conquer</a:t>
            </a:r>
            <a:br>
              <a:rPr lang="en-US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6677000"/>
            <a:ext cx="12012613" cy="2365400"/>
          </a:xfrm>
        </p:spPr>
        <p:txBody>
          <a:bodyPr/>
          <a:lstStyle/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hlinkClick r:id="rId1"/>
              </a:rPr>
              <a:t>divide-and-conquer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algorithm recursively breaks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down a problem into two or more sub-problems of the same or related type, until these become simple enough to be solved directly.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202122"/>
                </a:solidFill>
                <a:latin typeface="Arial" panose="020B0604020202020204" pitchFamily="34" charset="0"/>
              </a:rPr>
              <a:t>*Example: binary search, merge sort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8" name="Picture 4" descr="算法与数据结构基础- 分治法(Divide and Conquer) - bangerlee - 博客园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28" y="1797943"/>
            <a:ext cx="8164396" cy="350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simplest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5435" y="1829758"/>
            <a:ext cx="4853385" cy="7333952"/>
          </a:xfrm>
        </p:spPr>
        <p:txBody>
          <a:bodyPr/>
          <a:lstStyle/>
          <a:p>
            <a:r>
              <a:rPr lang="en-US" sz="2400" dirty="0"/>
              <a:t>Key elements of Divide-and-conquer:</a:t>
            </a:r>
            <a:endParaRPr lang="en-US" sz="2400" dirty="0"/>
          </a:p>
          <a:p>
            <a:pPr lvl="1"/>
            <a:r>
              <a:rPr lang="en-US" altLang="zh-CN" sz="2400" dirty="0"/>
              <a:t>Divisible problem:</a:t>
            </a:r>
            <a:endParaRPr lang="en-US" altLang="zh-CN" sz="2400" dirty="0"/>
          </a:p>
          <a:p>
            <a:pPr lvl="2"/>
            <a:r>
              <a:rPr lang="en-US" altLang="zh-CN" sz="2400" dirty="0"/>
              <a:t>Print the string</a:t>
            </a:r>
            <a:endParaRPr lang="en-US" altLang="zh-CN" sz="2400" dirty="0"/>
          </a:p>
          <a:p>
            <a:pPr lvl="1"/>
            <a:r>
              <a:rPr lang="en-US" altLang="zh-CN" sz="2400" dirty="0"/>
              <a:t>Split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2"/>
            <a:r>
              <a:rPr lang="en-US" altLang="zh-CN" sz="2400" dirty="0"/>
              <a:t>Divide the string in half</a:t>
            </a:r>
            <a:endParaRPr lang="en-US" altLang="zh-CN" sz="2400" dirty="0"/>
          </a:p>
          <a:p>
            <a:pPr lvl="1"/>
            <a:r>
              <a:rPr lang="en-US" altLang="zh-CN" sz="2400" dirty="0"/>
              <a:t>Conditions for Termination:</a:t>
            </a:r>
            <a:endParaRPr lang="en-US" altLang="zh-CN" sz="2400" dirty="0"/>
          </a:p>
          <a:p>
            <a:pPr lvl="2"/>
            <a:r>
              <a:rPr lang="en-US" altLang="zh-CN" sz="2400" dirty="0"/>
              <a:t>Whether the length is 1</a:t>
            </a:r>
            <a:endParaRPr lang="en-US" altLang="zh-CN" sz="2400" dirty="0"/>
          </a:p>
          <a:p>
            <a:pPr lvl="1"/>
            <a:r>
              <a:rPr lang="en-US" altLang="zh-CN" sz="2400" dirty="0"/>
              <a:t>Termination action:</a:t>
            </a:r>
            <a:endParaRPr lang="en-US" altLang="zh-CN" sz="2400" dirty="0"/>
          </a:p>
          <a:p>
            <a:pPr lvl="2"/>
            <a:r>
              <a:rPr lang="en-US" altLang="zh-CN" sz="2400" dirty="0"/>
              <a:t>print</a:t>
            </a:r>
            <a:endParaRPr lang="en-US" altLang="zh-C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84" y="1636440"/>
            <a:ext cx="6122714" cy="3080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2" y="5496734"/>
            <a:ext cx="3658111" cy="19052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Decision Tree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5300" y="5659400"/>
            <a:ext cx="12012613" cy="3681896"/>
          </a:xfrm>
        </p:spPr>
        <p:txBody>
          <a:bodyPr numCol="2">
            <a:normAutofit/>
          </a:bodyPr>
          <a:lstStyle/>
          <a:p>
            <a:r>
              <a:rPr lang="en-US" sz="2400" dirty="0"/>
              <a:t>Key elements:</a:t>
            </a:r>
            <a:endParaRPr lang="en-US" altLang="zh-CN" sz="2400" dirty="0"/>
          </a:p>
          <a:p>
            <a:pPr lvl="1"/>
            <a:r>
              <a:rPr lang="en-US" altLang="zh-CN" sz="2400" dirty="0"/>
              <a:t>Divisible problem:</a:t>
            </a:r>
            <a:endParaRPr lang="en-US" altLang="zh-CN" sz="2400" dirty="0"/>
          </a:p>
          <a:p>
            <a:pPr lvl="2"/>
            <a:r>
              <a:rPr lang="en-US" altLang="zh-CN" sz="2400" dirty="0"/>
              <a:t>Build decision boundaries to </a:t>
            </a:r>
            <a:r>
              <a:rPr lang="zh-CN" altLang="en-US" sz="2400" dirty="0"/>
              <a:t>‘</a:t>
            </a:r>
            <a:r>
              <a:rPr lang="en-US" altLang="zh-CN" sz="2400" dirty="0"/>
              <a:t>purify</a:t>
            </a:r>
            <a:r>
              <a:rPr lang="zh-CN" altLang="en-US" sz="2400" dirty="0"/>
              <a:t>’</a:t>
            </a:r>
            <a:r>
              <a:rPr lang="en-US" altLang="zh-CN" sz="2400" dirty="0"/>
              <a:t> data</a:t>
            </a:r>
            <a:endParaRPr lang="en-US" altLang="zh-CN" sz="2400" dirty="0"/>
          </a:p>
          <a:p>
            <a:pPr lvl="1"/>
            <a:r>
              <a:rPr lang="en-US" altLang="zh-CN" sz="2400" dirty="0"/>
              <a:t>Split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2"/>
            <a:r>
              <a:rPr lang="en-US" altLang="zh-CN" sz="2400" dirty="0"/>
              <a:t>By information gain, the sample is divided into two piles</a:t>
            </a:r>
            <a:endParaRPr lang="en-US" altLang="zh-CN" sz="2400" dirty="0"/>
          </a:p>
          <a:p>
            <a:pPr lvl="1"/>
            <a:r>
              <a:rPr lang="en-US" altLang="zh-CN" sz="2400" dirty="0"/>
              <a:t>Conditions for Termination:</a:t>
            </a:r>
            <a:endParaRPr lang="en-US" altLang="zh-CN" sz="2400" dirty="0"/>
          </a:p>
          <a:p>
            <a:pPr lvl="2"/>
            <a:r>
              <a:rPr lang="en-US" altLang="zh-CN" sz="2400" dirty="0"/>
              <a:t>Whether it contains only one class</a:t>
            </a:r>
            <a:endParaRPr lang="en-US" altLang="zh-CN" sz="2400" dirty="0"/>
          </a:p>
          <a:p>
            <a:pPr lvl="1"/>
            <a:r>
              <a:rPr lang="en-US" altLang="zh-CN" sz="2400" dirty="0"/>
              <a:t>Termination action:</a:t>
            </a:r>
            <a:endParaRPr lang="en-US" altLang="zh-CN" sz="2400" dirty="0"/>
          </a:p>
          <a:p>
            <a:pPr lvl="2"/>
            <a:r>
              <a:rPr lang="en-US" altLang="zh-CN" sz="2400" dirty="0"/>
              <a:t>Returns the current subtree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endParaRPr lang="en-US" sz="2400" dirty="0"/>
          </a:p>
        </p:txBody>
      </p:sp>
      <p:pic>
        <p:nvPicPr>
          <p:cNvPr id="2052" name="Picture 4" descr="Decision Tree Split Methods | Decision Tree Machine Learn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342" y="1265646"/>
            <a:ext cx="4752528" cy="415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Parallelization
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7109048"/>
            <a:ext cx="12012613" cy="1671334"/>
          </a:xfrm>
        </p:spPr>
        <p:txBody>
          <a:bodyPr/>
          <a:lstStyle/>
          <a:p>
            <a:r>
              <a:rPr lang="en-US" altLang="zh-CN" dirty="0"/>
              <a:t>Use </a:t>
            </a:r>
            <a:r>
              <a:rPr lang="en-US" altLang="zh-CN" dirty="0" err="1"/>
              <a:t>workpool</a:t>
            </a:r>
            <a:r>
              <a:rPr lang="en-US" altLang="zh-CN" dirty="0"/>
              <a:t> to implement dynamic assignment of tasks in Divide-and-conquer
Unlike before, this is that each work is not only a consumer of the task, but also a producer; i.e., the number of tasks can be increased and is not a fixed value (in </a:t>
            </a:r>
            <a:r>
              <a:rPr lang="en-US" altLang="zh-CN" dirty="0" err="1"/>
              <a:t>Lec</a:t>
            </a:r>
            <a:r>
              <a:rPr lang="en-US" altLang="zh-CN" dirty="0"/>
              <a:t>. 6)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 bwMode="auto">
          <a:xfrm>
            <a:off x="4774208" y="1420416"/>
            <a:ext cx="2880320" cy="288032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rPr>
              <a:t>Remote Shared Memory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3262040" y="4416611"/>
            <a:ext cx="1072257" cy="107225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worker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990232" y="5308848"/>
            <a:ext cx="1072257" cy="1072257"/>
          </a:xfrm>
          <a:prstGeom prst="ellipse">
            <a:avLst/>
          </a:prstGeom>
          <a:solidFill>
            <a:srgbClr val="FFC000"/>
          </a:solidFill>
          <a:ln w="381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worker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6942313" y="5229554"/>
            <a:ext cx="1072257" cy="107225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worker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8134376" y="3580656"/>
            <a:ext cx="1072257" cy="107225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worker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cxnSp>
        <p:nvCxnSpPr>
          <p:cNvPr id="11" name="Connector: Curved 10"/>
          <p:cNvCxnSpPr>
            <a:stCxn id="6" idx="6"/>
            <a:endCxn id="5" idx="3"/>
          </p:cNvCxnSpPr>
          <p:nvPr/>
        </p:nvCxnSpPr>
        <p:spPr bwMode="auto">
          <a:xfrm flipV="1">
            <a:off x="4334297" y="3878923"/>
            <a:ext cx="861724" cy="1073817"/>
          </a:xfrm>
          <a:prstGeom prst="curvedConnector2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Connector: Curved 12"/>
          <p:cNvCxnSpPr>
            <a:stCxn id="5" idx="5"/>
            <a:endCxn id="9" idx="2"/>
          </p:cNvCxnSpPr>
          <p:nvPr/>
        </p:nvCxnSpPr>
        <p:spPr bwMode="auto">
          <a:xfrm rot="16200000" flipH="1">
            <a:off x="7564614" y="3547023"/>
            <a:ext cx="237862" cy="901661"/>
          </a:xfrm>
          <a:prstGeom prst="curvedConnector4">
            <a:avLst>
              <a:gd name="adj1" fmla="val 96106"/>
              <a:gd name="adj2" fmla="val 73391"/>
            </a:avLst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7478441" y="4300736"/>
            <a:ext cx="522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933376" y="6398659"/>
            <a:ext cx="1280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computing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59817" y="4157268"/>
            <a:ext cx="1028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tasks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238902" y="6398659"/>
            <a:ext cx="487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92D050"/>
                </a:solidFill>
              </a:rPr>
              <a:t>idle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Fork-Join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6316960"/>
            <a:ext cx="12012613" cy="2221384"/>
          </a:xfrm>
        </p:spPr>
        <p:txBody>
          <a:bodyPr/>
          <a:lstStyle/>
          <a:p>
            <a:r>
              <a:rPr lang="en-US" altLang="zh-CN" sz="2800" dirty="0">
                <a:hlinkClick r:id="rId1"/>
              </a:rPr>
              <a:t>Fork-Join</a:t>
            </a:r>
            <a:r>
              <a:rPr lang="en-US" sz="2800" dirty="0"/>
              <a:t> 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execut</a:t>
            </a:r>
            <a:r>
              <a:rPr lang="en-US" altLang="zh-CN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es 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branches in parallel at </a:t>
            </a:r>
            <a:r>
              <a:rPr lang="en-US" altLang="zh-CN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Fork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points in the program, to "join" (merge) at a subsequent point and resume sequential execution</a:t>
            </a:r>
            <a:endParaRPr lang="en-US" sz="28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sz="2800" dirty="0"/>
              <a:t>It is a simplified and iterative version of Divide-and-conquer</a:t>
            </a:r>
            <a:endParaRPr lang="en-US" altLang="zh-CN" sz="2800" dirty="0"/>
          </a:p>
          <a:p>
            <a:r>
              <a:rPr lang="en-US" altLang="zh-CN" sz="2800" dirty="0"/>
              <a:t>Fork-Join is the main model of parallel execution in the OpenMP</a:t>
            </a:r>
            <a:endParaRPr lang="en-US" altLang="zh-CN" sz="2800" dirty="0"/>
          </a:p>
          <a:p>
            <a:endParaRPr lang="en-US" sz="2800" dirty="0"/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564432"/>
            <a:ext cx="10916568" cy="454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Compared to Embarrassingly Parallel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Embarrassingly Parallel</a:t>
            </a:r>
            <a:endParaRPr lang="en-US" dirty="0"/>
          </a:p>
          <a:p>
            <a:pPr lvl="1"/>
            <a:r>
              <a:rPr lang="en-US" dirty="0"/>
              <a:t>Only with Fork, no Join!</a:t>
            </a:r>
            <a:endParaRPr lang="en-US" dirty="0"/>
          </a:p>
          <a:p>
            <a:r>
              <a:rPr lang="en-US" altLang="zh-CN" dirty="0"/>
              <a:t>The expressive capabilities of the three models are compared as below. They are each other’s subsets and supersets.
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 bwMode="auto">
          <a:xfrm>
            <a:off x="5134248" y="6675831"/>
            <a:ext cx="1512168" cy="1512168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4270152" y="4444752"/>
            <a:ext cx="4176464" cy="4176464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775002" y="5636276"/>
            <a:ext cx="2743519" cy="2743519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58726" y="7253064"/>
            <a:ext cx="1488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rPr>
              <a:t>Embarrassingly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rPr>
              <a:t>Parallel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82765" y="6169796"/>
            <a:ext cx="941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rPr>
              <a:t>Fork-Join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58716" y="4960964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Divide-and-Conquer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"/>
          <p:cNvSpPr>
            <a:spLocks noGrp="1"/>
          </p:cNvSpPr>
          <p:nvPr>
            <p:ph type="title"/>
          </p:nvPr>
        </p:nvSpPr>
        <p:spPr>
          <a:xfrm>
            <a:off x="650240" y="936308"/>
            <a:ext cx="11704320" cy="137858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Functional Programming Review</a:t>
            </a:r>
            <a:endParaRPr lang="en-GB" altLang="x-none" dirty="0"/>
          </a:p>
        </p:txBody>
      </p:sp>
      <p:sp>
        <p:nvSpPr>
          <p:cNvPr id="6147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92557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Functional operations do not modify data structures: They always create new ones 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Original data still exists in unmodified form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Data flows are implicit in program design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Order of operations does not matter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Lists are primitive data types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1"/>
          <p:cNvSpPr>
            <a:spLocks noGrp="1"/>
          </p:cNvSpPr>
          <p:nvPr>
            <p:ph type="title"/>
          </p:nvPr>
        </p:nvSpPr>
        <p:spPr>
          <a:xfrm>
            <a:off x="650240" y="936308"/>
            <a:ext cx="11704320" cy="137858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Functional Programming Review</a:t>
            </a:r>
            <a:endParaRPr lang="en-GB" altLang="x-none" dirty="0"/>
          </a:p>
        </p:txBody>
      </p:sp>
      <p:sp>
        <p:nvSpPr>
          <p:cNvPr id="7171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92557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foo(l: int list) =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sum(l) + mul(l) + length(l)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 Order of sum() and mul(), etc does not matter – they do not modify l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"/>
          <p:cNvSpPr>
            <a:spLocks noGrp="1"/>
          </p:cNvSpPr>
          <p:nvPr>
            <p:ph type="title"/>
          </p:nvPr>
        </p:nvSpPr>
        <p:spPr>
          <a:xfrm>
            <a:off x="650240" y="936308"/>
            <a:ext cx="11704320" cy="137858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Functional Updates Do Not Modify Structures</a:t>
            </a:r>
            <a:endParaRPr lang="en-GB" altLang="x-none" dirty="0"/>
          </a:p>
        </p:txBody>
      </p:sp>
      <p:sp>
        <p:nvSpPr>
          <p:cNvPr id="8195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74510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append(x, lst) =  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let lst' = reverse lst in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  reverse ( x :: lst' )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  <p:sp>
        <p:nvSpPr>
          <p:cNvPr id="8196" name="Text Box 3"/>
          <p:cNvSpPr txBox="1"/>
          <p:nvPr/>
        </p:nvSpPr>
        <p:spPr>
          <a:xfrm>
            <a:off x="1083733" y="5527040"/>
            <a:ext cx="8453120" cy="3049270"/>
          </a:xfrm>
          <a:prstGeom prst="rect">
            <a:avLst/>
          </a:prstGeom>
          <a:noFill/>
          <a:ln w="9525">
            <a:noFill/>
          </a:ln>
        </p:spPr>
        <p:txBody>
          <a:bodyPr lIns="128000" tIns="66560" rIns="128000" bIns="66560">
            <a:spAutoFit/>
          </a:bodyPr>
          <a:p>
            <a:pPr defTabSz="914400">
              <a:spcBef>
                <a:spcPts val="112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4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append() function above reverses a list, adds a new element to the front, and returns all of that, reversed, which appends an item. </a:t>
            </a:r>
            <a:endParaRPr lang="en-GB" altLang="x-none" sz="341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ts val="112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x-none" sz="341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ts val="112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4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it </a:t>
            </a:r>
            <a:r>
              <a:rPr lang="en-GB" altLang="x-none" sz="3415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modifies lst</a:t>
            </a:r>
            <a:r>
              <a:rPr lang="en-GB" altLang="x-none" sz="34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GB" altLang="x-none" sz="3415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50240" y="936308"/>
            <a:ext cx="11704320" cy="137858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Functions Can Be Used As Arguments</a:t>
            </a:r>
            <a:endParaRPr lang="en-GB" altLang="x-none" dirty="0"/>
          </a:p>
        </p:txBody>
      </p:sp>
      <p:sp>
        <p:nvSpPr>
          <p:cNvPr id="9219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59118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DoDouble(f, x) = f (f x)</a:t>
            </a:r>
            <a:endParaRPr lang="en-GB" altLang="x-none" dirty="0"/>
          </a:p>
        </p:txBody>
      </p:sp>
      <p:sp>
        <p:nvSpPr>
          <p:cNvPr id="9220" name="Text Box 3"/>
          <p:cNvSpPr txBox="1"/>
          <p:nvPr/>
        </p:nvSpPr>
        <p:spPr>
          <a:xfrm>
            <a:off x="758613" y="3684693"/>
            <a:ext cx="10945707" cy="3239135"/>
          </a:xfrm>
          <a:prstGeom prst="rect">
            <a:avLst/>
          </a:prstGeom>
          <a:noFill/>
          <a:ln w="9525">
            <a:noFill/>
          </a:ln>
        </p:spPr>
        <p:txBody>
          <a:bodyPr lIns="128000" tIns="66560" rIns="128000" bIns="66560">
            <a:spAutoFit/>
          </a:bodyPr>
          <a:p>
            <a:pPr defTabSz="914400">
              <a:spcBef>
                <a:spcPts val="187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4265" dirty="0">
                <a:solidFill>
                  <a:srgbClr val="000000"/>
                </a:solidFill>
                <a:latin typeface="Helvetica" charset="0"/>
              </a:rPr>
              <a:t>It does not matter what f does to its argument; DoDouble() will do it twice.</a:t>
            </a:r>
            <a:endParaRPr lang="en-GB" altLang="x-none" sz="4265" dirty="0">
              <a:solidFill>
                <a:srgbClr val="000000"/>
              </a:solidFill>
              <a:latin typeface="Helvetica" charset="0"/>
            </a:endParaRPr>
          </a:p>
          <a:p>
            <a:pPr defTabSz="914400">
              <a:spcBef>
                <a:spcPts val="187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x-none" sz="4265" dirty="0">
              <a:solidFill>
                <a:srgbClr val="000000"/>
              </a:solidFill>
              <a:latin typeface="Helvetica" charset="0"/>
            </a:endParaRPr>
          </a:p>
          <a:p>
            <a:pPr defTabSz="914400">
              <a:spcBef>
                <a:spcPts val="187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4265" i="1" dirty="0">
                <a:solidFill>
                  <a:srgbClr val="000000"/>
                </a:solidFill>
                <a:latin typeface="Helvetica" charset="0"/>
              </a:rPr>
              <a:t>What is the type of this function?</a:t>
            </a:r>
            <a:endParaRPr lang="en-GB" altLang="x-none" sz="4265" i="1" dirty="0">
              <a:solidFill>
                <a:srgbClr val="000000"/>
              </a:solidFill>
              <a:latin typeface="Helvetica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Map</a:t>
            </a:r>
            <a:endParaRPr lang="en-GB" altLang="x-none" dirty="0"/>
          </a:p>
        </p:txBody>
      </p:sp>
      <p:sp>
        <p:nvSpPr>
          <p:cNvPr id="1028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595947" cy="160401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spcBef>
                <a:spcPts val="7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map f lst: (’a-&gt;’b) -&gt; (’a list) -&gt; (’b list)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 Creates a new list by applying f to each element of the input list; returns output in order.</a:t>
            </a:r>
            <a:endParaRPr lang="en-GB" altLang="x-none" dirty="0"/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3793067" y="5594773"/>
          <a:ext cx="4876800" cy="2208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32000" imgH="923925" progId="">
                  <p:embed/>
                </p:oleObj>
              </mc:Choice>
              <mc:Fallback>
                <p:oleObj name="" r:id="rId1" imgW="2032000" imgH="923925" progId="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3067" y="5594773"/>
                        <a:ext cx="4876800" cy="220810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Fold</a:t>
            </a:r>
            <a:endParaRPr lang="en-GB" altLang="x-none" dirty="0"/>
          </a:p>
        </p:txBody>
      </p:sp>
      <p:sp>
        <p:nvSpPr>
          <p:cNvPr id="2052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06565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spcBef>
                <a:spcPts val="7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fold f x</a:t>
            </a:r>
            <a:r>
              <a:rPr lang="en-GB" altLang="x-none" baseline="-25000" dirty="0"/>
              <a:t>0</a:t>
            </a:r>
            <a:r>
              <a:rPr lang="en-GB" altLang="x-none" dirty="0"/>
              <a:t> lst: ('a*'b-&gt;'b)-&gt;'b-&gt;('a list)-&gt;'b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 Moves across a list, applying </a:t>
            </a:r>
            <a:r>
              <a:rPr lang="en-GB" altLang="x-none" i="1" dirty="0"/>
              <a:t>f</a:t>
            </a:r>
            <a:r>
              <a:rPr lang="en-GB" altLang="x-none" dirty="0"/>
              <a:t> to each element plus an </a:t>
            </a:r>
            <a:r>
              <a:rPr lang="en-GB" altLang="x-none" i="1" dirty="0"/>
              <a:t>accumulator</a:t>
            </a:r>
            <a:r>
              <a:rPr lang="en-GB" altLang="x-none" dirty="0"/>
              <a:t>. f returns the next accumulator value, which is combined with the next element of the list</a:t>
            </a:r>
            <a:endParaRPr lang="en-GB" altLang="x-none" dirty="0"/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3251200" y="6394027"/>
          <a:ext cx="6177280" cy="2311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816860" imgH="1062355" progId="">
                  <p:embed/>
                </p:oleObj>
              </mc:Choice>
              <mc:Fallback>
                <p:oleObj name="" r:id="rId1" imgW="2816860" imgH="1062355" progId="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51200" y="6394027"/>
                        <a:ext cx="6177280" cy="231196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fold left vs. fold right</a:t>
            </a:r>
            <a:endParaRPr lang="en-GB" altLang="x-none" dirty="0"/>
          </a:p>
        </p:txBody>
      </p:sp>
      <p:sp>
        <p:nvSpPr>
          <p:cNvPr id="10243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79654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Order of list elements can be significant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Fold left moves left-to-right across the list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Fold right moves from right-to-left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spcBef>
                <a:spcPts val="7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  <p:sp>
        <p:nvSpPr>
          <p:cNvPr id="10244" name="Text Box 3"/>
          <p:cNvSpPr txBox="1"/>
          <p:nvPr/>
        </p:nvSpPr>
        <p:spPr>
          <a:xfrm>
            <a:off x="650240" y="5093547"/>
            <a:ext cx="11487573" cy="3502660"/>
          </a:xfrm>
          <a:prstGeom prst="rect">
            <a:avLst/>
          </a:prstGeom>
          <a:noFill/>
          <a:ln w="9525">
            <a:noFill/>
          </a:ln>
        </p:spPr>
        <p:txBody>
          <a:bodyPr lIns="128000" tIns="66560" rIns="128000" bIns="66560">
            <a:spAutoFit/>
          </a:bodyPr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130" dirty="0">
                <a:solidFill>
                  <a:srgbClr val="000000"/>
                </a:solidFill>
                <a:latin typeface="Helvetica" charset="0"/>
              </a:rPr>
              <a:t>SML Implementation:</a:t>
            </a:r>
            <a:endParaRPr lang="en-GB" altLang="x-none" sz="3130" dirty="0">
              <a:solidFill>
                <a:srgbClr val="000000"/>
              </a:solidFill>
              <a:latin typeface="Helvetica" charset="0"/>
            </a:endParaRPr>
          </a:p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x-none" sz="3130" dirty="0">
              <a:solidFill>
                <a:srgbClr val="000000"/>
              </a:solidFill>
              <a:latin typeface="Helvetica" charset="0"/>
            </a:endParaRPr>
          </a:p>
          <a:p>
            <a:pPr defTabSz="914400">
              <a:buFont typeface="Courier New" panose="02070309020205020404" pitchFamily="49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130" dirty="0">
                <a:solidFill>
                  <a:srgbClr val="000000"/>
                </a:solidFill>
                <a:latin typeface="Courier New" panose="02070309020205020404" pitchFamily="49" charset="0"/>
              </a:rPr>
              <a:t>fun foldl f a []      = a</a:t>
            </a:r>
            <a:endParaRPr lang="en-GB" altLang="x-none" sz="313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defTabSz="914400">
              <a:buFont typeface="Courier New" panose="02070309020205020404" pitchFamily="49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130" dirty="0">
                <a:solidFill>
                  <a:srgbClr val="000000"/>
                </a:solidFill>
                <a:latin typeface="Courier New" panose="02070309020205020404" pitchFamily="49" charset="0"/>
              </a:rPr>
              <a:t>  | foldl f a (x::xs) = foldl f (f(x, a)) xs</a:t>
            </a:r>
            <a:endParaRPr lang="en-GB" altLang="x-none" sz="313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defTabSz="914400">
              <a:buFont typeface="Courier New" panose="02070309020205020404" pitchFamily="49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x-none" sz="313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defTabSz="914400">
              <a:buFont typeface="Courier New" panose="02070309020205020404" pitchFamily="49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130" dirty="0">
                <a:solidFill>
                  <a:srgbClr val="000000"/>
                </a:solidFill>
                <a:latin typeface="Courier New" panose="02070309020205020404" pitchFamily="49" charset="0"/>
              </a:rPr>
              <a:t>fun foldr f a []      = a</a:t>
            </a:r>
            <a:endParaRPr lang="en-GB" altLang="x-none" sz="313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defTabSz="914400">
              <a:buFont typeface="Courier New" panose="02070309020205020404" pitchFamily="49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130" dirty="0">
                <a:solidFill>
                  <a:srgbClr val="000000"/>
                </a:solidFill>
                <a:latin typeface="Courier New" panose="02070309020205020404" pitchFamily="49" charset="0"/>
              </a:rPr>
              <a:t>  | foldr f a (x::xs) = f(x, (foldr f a xs))</a:t>
            </a:r>
            <a:endParaRPr lang="en-GB" altLang="x-none" sz="313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Example</a:t>
            </a:r>
            <a:endParaRPr lang="en-GB" altLang="x-none" dirty="0"/>
          </a:p>
        </p:txBody>
      </p:sp>
      <p:sp>
        <p:nvSpPr>
          <p:cNvPr id="11267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46329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foo(l: int list) =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sum(l) + mul(l) + length(l)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How can we implement this?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Example (Solved)</a:t>
            </a:r>
            <a:endParaRPr lang="en-GB" altLang="x-none" dirty="0"/>
          </a:p>
        </p:txBody>
      </p:sp>
      <p:sp>
        <p:nvSpPr>
          <p:cNvPr id="12291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561784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foo(l: int list) =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  sum(l) + mul(l) + length(l)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sum(lst) = foldl (fn (x,a)=&gt;x+a) 0 lst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mul(lst) = foldl (fn (x,a)=&gt;x*a) 1 lst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length(lst) = foldl (fn (x,a)=&gt;1+a) 0 lst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1"/>
          <p:cNvSpPr>
            <a:spLocks noGrp="1"/>
          </p:cNvSpPr>
          <p:nvPr>
            <p:ph type="title"/>
          </p:nvPr>
        </p:nvSpPr>
        <p:spPr>
          <a:xfrm>
            <a:off x="650240" y="936308"/>
            <a:ext cx="11704320" cy="137858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A More Complicated Fold Problem</a:t>
            </a:r>
            <a:endParaRPr lang="en-GB" altLang="x-none" dirty="0"/>
          </a:p>
        </p:txBody>
      </p:sp>
      <p:sp>
        <p:nvSpPr>
          <p:cNvPr id="13315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536130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Given a list of numbers, how can we generate a list of partial sums?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e.g.:  [1, 4, 8, 3, 7, 9] </a:t>
            </a:r>
            <a:r>
              <a:rPr lang="en-GB" altLang="x-none" dirty="0">
                <a:latin typeface="Wingdings" panose="05000000000000000000" pitchFamily="2" charset="2"/>
              </a:rPr>
              <a:t></a:t>
            </a:r>
            <a:r>
              <a:rPr lang="en-GB" altLang="x-none" dirty="0"/>
              <a:t> 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		[0, 1, 5, 13, 16, 23, 32] 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1"/>
          <p:cNvSpPr>
            <a:spLocks noGrp="1"/>
          </p:cNvSpPr>
          <p:nvPr>
            <p:ph type="title"/>
          </p:nvPr>
        </p:nvSpPr>
        <p:spPr>
          <a:xfrm>
            <a:off x="650240" y="936308"/>
            <a:ext cx="11704320" cy="137858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A More Complicated Map Problem</a:t>
            </a:r>
            <a:endParaRPr lang="en-GB" altLang="x-none" dirty="0"/>
          </a:p>
        </p:txBody>
      </p:sp>
      <p:sp>
        <p:nvSpPr>
          <p:cNvPr id="14339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48920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Given a list of words, can we: reverse the letters in each word, and reverse the whole list, so it all comes out backwards?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[“my”, “happy”, “cat”] -&gt; [“tac”, “yppah”, “ym”]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map Implementation</a:t>
            </a:r>
            <a:endParaRPr lang="en-GB" altLang="x-none" dirty="0"/>
          </a:p>
        </p:txBody>
      </p:sp>
      <p:sp>
        <p:nvSpPr>
          <p:cNvPr id="15363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4400410"/>
            <a:ext cx="11704320" cy="248920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This implementation moves left-to-right across the list, mapping elements one at a time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… But does it need to?</a:t>
            </a:r>
            <a:endParaRPr lang="en-GB" altLang="x-none" dirty="0"/>
          </a:p>
        </p:txBody>
      </p:sp>
      <p:sp>
        <p:nvSpPr>
          <p:cNvPr id="15364" name="Text Box 3"/>
          <p:cNvSpPr txBox="1"/>
          <p:nvPr/>
        </p:nvSpPr>
        <p:spPr>
          <a:xfrm>
            <a:off x="650240" y="2275840"/>
            <a:ext cx="11704320" cy="1183640"/>
          </a:xfrm>
          <a:prstGeom prst="rect">
            <a:avLst/>
          </a:prstGeom>
          <a:noFill/>
          <a:ln w="9525">
            <a:noFill/>
          </a:ln>
        </p:spPr>
        <p:txBody>
          <a:bodyPr lIns="128000" tIns="66560" rIns="128000" bIns="66560">
            <a:spAutoFit/>
          </a:bodyPr>
          <a:p>
            <a:pPr defTabSz="914400">
              <a:buFont typeface="Courier New" panose="02070309020205020404" pitchFamily="49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415" dirty="0">
                <a:solidFill>
                  <a:srgbClr val="000000"/>
                </a:solidFill>
                <a:latin typeface="Courier New" panose="02070309020205020404" pitchFamily="49" charset="0"/>
              </a:rPr>
              <a:t>fun map f []      = []</a:t>
            </a:r>
            <a:endParaRPr lang="en-GB" altLang="x-none" sz="3415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defTabSz="914400">
              <a:buFont typeface="Courier New" panose="02070309020205020404" pitchFamily="49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3415" dirty="0">
                <a:solidFill>
                  <a:srgbClr val="000000"/>
                </a:solidFill>
                <a:latin typeface="Courier New" panose="02070309020205020404" pitchFamily="49" charset="0"/>
              </a:rPr>
              <a:t>  | map f (x::xs) = (f x) :: (map f xs)</a:t>
            </a:r>
            <a:endParaRPr lang="en-GB" altLang="x-none" sz="3415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Implicit Parallelism In map</a:t>
            </a:r>
            <a:endParaRPr lang="en-GB" altLang="x-none" dirty="0"/>
          </a:p>
        </p:txBody>
      </p:sp>
      <p:sp>
        <p:nvSpPr>
          <p:cNvPr id="16387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07911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In a purely functional setting, elements of a list being computed by map cannot see the effects of the computations on other elements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If order of application of </a:t>
            </a:r>
            <a:r>
              <a:rPr lang="en-GB" altLang="x-none" i="1" dirty="0"/>
              <a:t>f </a:t>
            </a:r>
            <a:r>
              <a:rPr lang="en-GB" altLang="x-none" dirty="0"/>
              <a:t>to elements in list is </a:t>
            </a:r>
            <a:r>
              <a:rPr lang="en-GB" altLang="x-none" i="1" dirty="0"/>
              <a:t>commutative</a:t>
            </a:r>
            <a:r>
              <a:rPr lang="en-GB" altLang="x-none" dirty="0"/>
              <a:t>, we can reorder or parallelize execution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This is the “secret” that MapReduce exploits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lang="en-CA" altLang="x-none" dirty="0"/>
              <a:t>Why Look at Functional Programming?</a:t>
            </a:r>
            <a:endParaRPr lang="en-CA" altLang="x-none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130048" tIns="65024" rIns="130048" bIns="65024" anchor="t" anchorCtr="0"/>
          <a:p>
            <a:r>
              <a:rPr lang="en-GB" altLang="x-none" dirty="0"/>
              <a:t>Let’s assume a long list of records: imagine if...</a:t>
            </a:r>
            <a:endParaRPr lang="en-GB" altLang="x-none" dirty="0"/>
          </a:p>
          <a:p>
            <a:pPr lvl="1"/>
            <a:r>
              <a:rPr lang="en-GB" altLang="x-none" dirty="0"/>
              <a:t>We can parallelize map operations</a:t>
            </a:r>
            <a:endParaRPr lang="en-GB" altLang="x-none" dirty="0"/>
          </a:p>
          <a:p>
            <a:pPr lvl="1"/>
            <a:r>
              <a:rPr lang="en-GB" altLang="x-none" dirty="0"/>
              <a:t>We have a mechanism for bringing map results back together in the fold operation</a:t>
            </a:r>
            <a:endParaRPr lang="en-GB" altLang="x-none" dirty="0"/>
          </a:p>
          <a:p>
            <a:r>
              <a:rPr lang="en-GB" altLang="x-none" dirty="0"/>
              <a:t>That’s MapReduce!  </a:t>
            </a:r>
            <a:endParaRPr lang="en-GB" altLang="x-none" dirty="0"/>
          </a:p>
          <a:p>
            <a:r>
              <a:rPr lang="en-GB" altLang="x-none" dirty="0"/>
              <a:t>Observations:</a:t>
            </a:r>
            <a:endParaRPr lang="en-GB" altLang="x-none" dirty="0"/>
          </a:p>
          <a:p>
            <a:pPr lvl="1"/>
            <a:r>
              <a:rPr lang="en-GB" altLang="x-none" dirty="0"/>
              <a:t>No limit to map parallelization since maps are independent</a:t>
            </a:r>
            <a:endParaRPr lang="en-GB" altLang="x-none" dirty="0"/>
          </a:p>
          <a:p>
            <a:pPr lvl="1"/>
            <a:r>
              <a:rPr lang="en-GB" altLang="x-none" dirty="0"/>
              <a:t>We can reorder folding if the fold function is commutative and associative</a:t>
            </a:r>
            <a:endParaRPr lang="en-GB" altLang="x-none" dirty="0"/>
          </a:p>
          <a:p>
            <a:endParaRPr lang="en-CA" altLang="x-none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ctrTitle"/>
          </p:nvPr>
        </p:nvSpPr>
        <p:spPr/>
        <p:txBody>
          <a:bodyPr vert="horz" wrap="square" lIns="130048" tIns="65024" rIns="130048" bIns="65024" anchor="ctr" anchorCtr="0"/>
          <a:p>
            <a:pPr>
              <a:buClrTx/>
              <a:buSzTx/>
              <a:buFontTx/>
              <a:buNone/>
            </a:pPr>
            <a:r>
              <a:rPr lang="en-CA" altLang="x-none" dirty="0"/>
              <a:t>MapReduce</a:t>
            </a:r>
            <a:endParaRPr lang="en-CA" altLang="x-none" dirty="0"/>
          </a:p>
        </p:txBody>
      </p:sp>
      <p:sp>
        <p:nvSpPr>
          <p:cNvPr id="18435" name="Subtitle 2"/>
          <p:cNvSpPr>
            <a:spLocks noGrp="1"/>
          </p:cNvSpPr>
          <p:nvPr>
            <p:ph type="subTitle" idx="1"/>
          </p:nvPr>
        </p:nvSpPr>
        <p:spPr/>
        <p:txBody>
          <a:bodyPr vert="horz" wrap="square" lIns="130048" tIns="65024" rIns="130048" bIns="65024" anchor="t" anchorCtr="0"/>
          <a:p>
            <a:pPr>
              <a:buSzPct val="85000"/>
            </a:pPr>
            <a:endParaRPr lang="en-CA" altLang="x-none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1"/>
          <p:cNvSpPr>
            <a:spLocks noGrp="1"/>
          </p:cNvSpPr>
          <p:nvPr>
            <p:ph type="title"/>
          </p:nvPr>
        </p:nvSpPr>
        <p:spPr>
          <a:xfrm>
            <a:off x="650240" y="936308"/>
            <a:ext cx="11704320" cy="137858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Motivation: Large Scale Data Processing</a:t>
            </a:r>
            <a:endParaRPr lang="en-GB" altLang="x-none" dirty="0"/>
          </a:p>
        </p:txBody>
      </p:sp>
      <p:sp>
        <p:nvSpPr>
          <p:cNvPr id="19459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46329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Want to process lots of data ( &gt; 1 TB)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Want to parallelize across hundreds/thousands of CPUs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… Want to make this easy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3910330" y="6100445"/>
            <a:ext cx="4620895" cy="16440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MapReduce</a:t>
            </a:r>
            <a:endParaRPr lang="en-GB" altLang="x-none" dirty="0"/>
          </a:p>
        </p:txBody>
      </p:sp>
      <p:sp>
        <p:nvSpPr>
          <p:cNvPr id="20483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74510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Automatic parallelization &amp; distribution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Fault-tolerant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Provides status and monitoring tools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Clean abstraction for programmers</a:t>
            </a:r>
            <a:endParaRPr lang="en-GB" altLang="x-none" dirty="0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2685415" y="5668645"/>
            <a:ext cx="6504940" cy="3962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Programming Model</a:t>
            </a:r>
            <a:endParaRPr lang="en-GB" altLang="x-none" dirty="0"/>
          </a:p>
        </p:txBody>
      </p:sp>
      <p:sp>
        <p:nvSpPr>
          <p:cNvPr id="21507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482790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Borrows from functional programming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Users implement interface of two functions:</a:t>
            </a:r>
            <a:endParaRPr lang="en-GB" altLang="x-none" dirty="0"/>
          </a:p>
          <a:p>
            <a:pPr defTabSz="914400" eaLnBrk="1" hangingPunct="1">
              <a:spcBef>
                <a:spcPts val="5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sz="2845" dirty="0"/>
          </a:p>
          <a:p>
            <a:pPr lvl="1" defTabSz="914400" eaLnBrk="1" hangingPunct="1"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sz="2845" b="1" dirty="0">
                <a:solidFill>
                  <a:srgbClr val="FF0000"/>
                </a:solidFill>
                <a:latin typeface="Courier New" panose="02070309020205020404" pitchFamily="49" charset="0"/>
              </a:rPr>
              <a:t>map  (in_key, in_value) -&gt; </a:t>
            </a:r>
            <a:endParaRPr lang="en-GB" altLang="x-none" sz="2845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 defTabSz="914400" eaLnBrk="1" hangingPunct="1">
              <a:spcBef>
                <a:spcPts val="5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sz="2845" b="1" dirty="0">
                <a:solidFill>
                  <a:srgbClr val="FF0000"/>
                </a:solidFill>
                <a:latin typeface="Courier New" panose="02070309020205020404" pitchFamily="49" charset="0"/>
              </a:rPr>
              <a:t>		(out_key, intermediate_value) list</a:t>
            </a:r>
            <a:endParaRPr lang="en-GB" altLang="x-none" sz="2845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 defTabSz="914400" eaLnBrk="1" hangingPunct="1">
              <a:spcBef>
                <a:spcPts val="5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sz="2845" b="1" dirty="0">
              <a:latin typeface="Courier New" panose="02070309020205020404" pitchFamily="49" charset="0"/>
            </a:endParaRPr>
          </a:p>
          <a:p>
            <a:pPr lvl="1" defTabSz="914400" eaLnBrk="1" hangingPunct="1"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sz="2845" b="1" dirty="0">
                <a:solidFill>
                  <a:srgbClr val="FF0000"/>
                </a:solidFill>
                <a:latin typeface="Courier New" panose="02070309020205020404" pitchFamily="49" charset="0"/>
              </a:rPr>
              <a:t>reduce (out_key, intermediate_value list) -&gt;</a:t>
            </a:r>
            <a:endParaRPr lang="en-GB" altLang="x-none" sz="2845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 defTabSz="914400" eaLnBrk="1" hangingPunct="1">
              <a:spcBef>
                <a:spcPts val="5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sz="2845" b="1" dirty="0">
                <a:solidFill>
                  <a:srgbClr val="FF0000"/>
                </a:solidFill>
                <a:latin typeface="Courier New" panose="02070309020205020404" pitchFamily="49" charset="0"/>
              </a:rPr>
              <a:t>		out_value list</a:t>
            </a:r>
            <a:endParaRPr lang="en-GB" altLang="x-none" sz="2845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 defTabSz="914400" eaLnBrk="1" hangingPunct="1">
              <a:spcBef>
                <a:spcPts val="500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sz="2845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1"/>
          <p:cNvSpPr>
            <a:spLocks noGrp="1"/>
          </p:cNvSpPr>
          <p:nvPr>
            <p:ph type="title"/>
          </p:nvPr>
        </p:nvSpPr>
        <p:spPr>
          <a:xfrm>
            <a:off x="650240" y="776852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Map</a:t>
            </a:r>
            <a:endParaRPr lang="en-GB" altLang="x-none" dirty="0"/>
          </a:p>
        </p:txBody>
      </p:sp>
      <p:sp>
        <p:nvSpPr>
          <p:cNvPr id="22531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69430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Records from the data source (lines out of files, rows of a database, etc) are fed into the map function as (key,value) pairs: e.g., (filename, offset).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map() produces one or more </a:t>
            </a:r>
            <a:r>
              <a:rPr lang="en-GB" altLang="x-none" i="1" dirty="0"/>
              <a:t>intermediate</a:t>
            </a:r>
            <a:r>
              <a:rPr lang="en-GB" altLang="x-none" dirty="0"/>
              <a:t> values along with an output key from the input.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1"/>
          <p:cNvSpPr>
            <a:spLocks noGrp="1"/>
          </p:cNvSpPr>
          <p:nvPr>
            <p:ph type="title"/>
          </p:nvPr>
        </p:nvSpPr>
        <p:spPr>
          <a:xfrm>
            <a:off x="650240" y="776852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Reduce</a:t>
            </a:r>
            <a:endParaRPr lang="en-GB" altLang="x-none" dirty="0"/>
          </a:p>
        </p:txBody>
      </p:sp>
      <p:sp>
        <p:nvSpPr>
          <p:cNvPr id="23555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66903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After the map phase is over, all the intermediate values for a given output key are combined together into a list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reduce() combines those intermediate values into one or more </a:t>
            </a:r>
            <a:r>
              <a:rPr lang="en-GB" altLang="x-none" i="1" dirty="0"/>
              <a:t>final values</a:t>
            </a:r>
            <a:r>
              <a:rPr lang="en-GB" altLang="x-none" dirty="0"/>
              <a:t> for that same output key 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(in practice, usually only one final value per key)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dirty="0"/>
              <a:t>Distributed Word Count</a:t>
            </a:r>
            <a:endParaRPr dirty="0"/>
          </a:p>
        </p:txBody>
      </p:sp>
      <p:sp>
        <p:nvSpPr>
          <p:cNvPr id="24579" name="Rectangle 3"/>
          <p:cNvSpPr/>
          <p:nvPr/>
        </p:nvSpPr>
        <p:spPr>
          <a:xfrm>
            <a:off x="541867" y="3467947"/>
            <a:ext cx="1625600" cy="27093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CA" altLang="x-none" sz="2275" dirty="0">
              <a:latin typeface="Helvetica" charset="0"/>
            </a:endParaRPr>
          </a:p>
        </p:txBody>
      </p:sp>
      <p:sp>
        <p:nvSpPr>
          <p:cNvPr id="24580" name="Text Box 30"/>
          <p:cNvSpPr txBox="1"/>
          <p:nvPr/>
        </p:nvSpPr>
        <p:spPr>
          <a:xfrm>
            <a:off x="845468" y="4077547"/>
            <a:ext cx="1007110" cy="1407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sz="2845" dirty="0">
                <a:solidFill>
                  <a:srgbClr val="000000"/>
                </a:solidFill>
                <a:latin typeface="Helvetica" charset="0"/>
              </a:rPr>
              <a:t>Very </a:t>
            </a:r>
            <a:endParaRPr sz="2845" dirty="0">
              <a:solidFill>
                <a:srgbClr val="000000"/>
              </a:solidFill>
              <a:latin typeface="Helvetica" charset="0"/>
            </a:endParaRPr>
          </a:p>
          <a:p>
            <a:pPr algn="ctr"/>
            <a:r>
              <a:rPr sz="2845" dirty="0">
                <a:solidFill>
                  <a:srgbClr val="000000"/>
                </a:solidFill>
                <a:latin typeface="Helvetica" charset="0"/>
              </a:rPr>
              <a:t>big</a:t>
            </a:r>
            <a:endParaRPr sz="2845" dirty="0">
              <a:solidFill>
                <a:srgbClr val="000000"/>
              </a:solidFill>
              <a:latin typeface="Helvetica" charset="0"/>
            </a:endParaRPr>
          </a:p>
          <a:p>
            <a:pPr algn="ctr"/>
            <a:r>
              <a:rPr sz="2845" dirty="0">
                <a:solidFill>
                  <a:srgbClr val="000000"/>
                </a:solidFill>
                <a:latin typeface="Helvetica" charset="0"/>
              </a:rPr>
              <a:t>data</a:t>
            </a:r>
            <a:endParaRPr sz="2845" dirty="0">
              <a:solidFill>
                <a:srgbClr val="000000"/>
              </a:solidFill>
              <a:latin typeface="Helvetica" charset="0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2343573" y="3440853"/>
            <a:ext cx="2424853" cy="2736427"/>
            <a:chOff x="1038" y="1524"/>
            <a:chExt cx="1074" cy="1212"/>
          </a:xfrm>
        </p:grpSpPr>
        <p:sp>
          <p:nvSpPr>
            <p:cNvPr id="24610" name="Rectangle 4"/>
            <p:cNvSpPr/>
            <p:nvPr/>
          </p:nvSpPr>
          <p:spPr>
            <a:xfrm>
              <a:off x="1392" y="1536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611" name="Rectangle 5"/>
            <p:cNvSpPr/>
            <p:nvPr/>
          </p:nvSpPr>
          <p:spPr>
            <a:xfrm>
              <a:off x="1392" y="1776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612" name="Rectangle 6"/>
            <p:cNvSpPr/>
            <p:nvPr/>
          </p:nvSpPr>
          <p:spPr>
            <a:xfrm>
              <a:off x="1392" y="2016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613" name="Rectangle 7"/>
            <p:cNvSpPr/>
            <p:nvPr/>
          </p:nvSpPr>
          <p:spPr>
            <a:xfrm>
              <a:off x="1392" y="2544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614" name="Line 8"/>
            <p:cNvSpPr/>
            <p:nvPr/>
          </p:nvSpPr>
          <p:spPr>
            <a:xfrm>
              <a:off x="1749" y="2304"/>
              <a:ext cx="1" cy="144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4615" name="Line 19"/>
            <p:cNvSpPr/>
            <p:nvPr/>
          </p:nvSpPr>
          <p:spPr>
            <a:xfrm>
              <a:off x="1038" y="2064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16" name="Text Box 31"/>
            <p:cNvSpPr txBox="1"/>
            <p:nvPr/>
          </p:nvSpPr>
          <p:spPr>
            <a:xfrm>
              <a:off x="1392" y="1524"/>
              <a:ext cx="616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Split data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  <p:sp>
          <p:nvSpPr>
            <p:cNvPr id="24617" name="Text Box 32"/>
            <p:cNvSpPr txBox="1"/>
            <p:nvPr/>
          </p:nvSpPr>
          <p:spPr>
            <a:xfrm>
              <a:off x="1392" y="1764"/>
              <a:ext cx="616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Split data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  <p:sp>
          <p:nvSpPr>
            <p:cNvPr id="24618" name="Text Box 33"/>
            <p:cNvSpPr txBox="1"/>
            <p:nvPr/>
          </p:nvSpPr>
          <p:spPr>
            <a:xfrm>
              <a:off x="1396" y="1998"/>
              <a:ext cx="616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Split data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  <p:sp>
          <p:nvSpPr>
            <p:cNvPr id="24619" name="Text Box 34"/>
            <p:cNvSpPr txBox="1"/>
            <p:nvPr/>
          </p:nvSpPr>
          <p:spPr>
            <a:xfrm>
              <a:off x="1392" y="2523"/>
              <a:ext cx="616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Split data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</p:grpSp>
      <p:grpSp>
        <p:nvGrpSpPr>
          <p:cNvPr id="3" name="Group 42"/>
          <p:cNvGrpSpPr/>
          <p:nvPr/>
        </p:nvGrpSpPr>
        <p:grpSpPr>
          <a:xfrm>
            <a:off x="4876800" y="3336996"/>
            <a:ext cx="4009813" cy="2840285"/>
            <a:chOff x="2160" y="1478"/>
            <a:chExt cx="1776" cy="1258"/>
          </a:xfrm>
        </p:grpSpPr>
        <p:sp>
          <p:nvSpPr>
            <p:cNvPr id="24589" name="Text Box 9"/>
            <p:cNvSpPr txBox="1"/>
            <p:nvPr/>
          </p:nvSpPr>
          <p:spPr>
            <a:xfrm>
              <a:off x="2434" y="1478"/>
              <a:ext cx="473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845" dirty="0">
                  <a:latin typeface="Helvetica" charset="0"/>
                </a:rPr>
                <a:t>count</a:t>
              </a:r>
              <a:endParaRPr sz="2845" dirty="0">
                <a:latin typeface="Helvetica" charset="0"/>
              </a:endParaRPr>
            </a:p>
          </p:txBody>
        </p:sp>
        <p:sp>
          <p:nvSpPr>
            <p:cNvPr id="24590" name="Text Box 10"/>
            <p:cNvSpPr txBox="1"/>
            <p:nvPr/>
          </p:nvSpPr>
          <p:spPr>
            <a:xfrm>
              <a:off x="2444" y="1718"/>
              <a:ext cx="473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845" dirty="0">
                  <a:latin typeface="Helvetica" charset="0"/>
                </a:rPr>
                <a:t>count</a:t>
              </a:r>
              <a:endParaRPr sz="2845" dirty="0">
                <a:latin typeface="Helvetica" charset="0"/>
              </a:endParaRPr>
            </a:p>
          </p:txBody>
        </p:sp>
        <p:sp>
          <p:nvSpPr>
            <p:cNvPr id="24591" name="Text Box 11"/>
            <p:cNvSpPr txBox="1"/>
            <p:nvPr/>
          </p:nvSpPr>
          <p:spPr>
            <a:xfrm>
              <a:off x="2444" y="1958"/>
              <a:ext cx="473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845" dirty="0">
                  <a:latin typeface="Helvetica" charset="0"/>
                </a:rPr>
                <a:t>count</a:t>
              </a:r>
              <a:endParaRPr sz="2845" dirty="0">
                <a:latin typeface="Helvetica" charset="0"/>
              </a:endParaRPr>
            </a:p>
          </p:txBody>
        </p:sp>
        <p:sp>
          <p:nvSpPr>
            <p:cNvPr id="24592" name="Text Box 12"/>
            <p:cNvSpPr txBox="1"/>
            <p:nvPr/>
          </p:nvSpPr>
          <p:spPr>
            <a:xfrm>
              <a:off x="2444" y="2486"/>
              <a:ext cx="473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845" dirty="0">
                  <a:latin typeface="Helvetica" charset="0"/>
                </a:rPr>
                <a:t>count</a:t>
              </a:r>
              <a:endParaRPr sz="2845" dirty="0">
                <a:latin typeface="Helvetica" charset="0"/>
              </a:endParaRPr>
            </a:p>
          </p:txBody>
        </p:sp>
        <p:sp>
          <p:nvSpPr>
            <p:cNvPr id="24593" name="Rectangle 13"/>
            <p:cNvSpPr/>
            <p:nvPr/>
          </p:nvSpPr>
          <p:spPr>
            <a:xfrm>
              <a:off x="3216" y="1536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594" name="Rectangle 14"/>
            <p:cNvSpPr/>
            <p:nvPr/>
          </p:nvSpPr>
          <p:spPr>
            <a:xfrm>
              <a:off x="3216" y="1776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595" name="Rectangle 15"/>
            <p:cNvSpPr/>
            <p:nvPr/>
          </p:nvSpPr>
          <p:spPr>
            <a:xfrm>
              <a:off x="3216" y="2016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596" name="Rectangle 16"/>
            <p:cNvSpPr/>
            <p:nvPr/>
          </p:nvSpPr>
          <p:spPr>
            <a:xfrm>
              <a:off x="3216" y="2544"/>
              <a:ext cx="720" cy="1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597" name="Line 17"/>
            <p:cNvSpPr/>
            <p:nvPr/>
          </p:nvSpPr>
          <p:spPr>
            <a:xfrm>
              <a:off x="3573" y="2304"/>
              <a:ext cx="1" cy="144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4598" name="Line 20"/>
            <p:cNvSpPr/>
            <p:nvPr/>
          </p:nvSpPr>
          <p:spPr>
            <a:xfrm>
              <a:off x="2160" y="1632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99" name="Line 21"/>
            <p:cNvSpPr/>
            <p:nvPr/>
          </p:nvSpPr>
          <p:spPr>
            <a:xfrm>
              <a:off x="2160" y="1872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0" name="Line 22"/>
            <p:cNvSpPr/>
            <p:nvPr/>
          </p:nvSpPr>
          <p:spPr>
            <a:xfrm>
              <a:off x="2160" y="2112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1" name="Line 23"/>
            <p:cNvSpPr/>
            <p:nvPr/>
          </p:nvSpPr>
          <p:spPr>
            <a:xfrm>
              <a:off x="2160" y="2640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2" name="Line 24"/>
            <p:cNvSpPr/>
            <p:nvPr/>
          </p:nvSpPr>
          <p:spPr>
            <a:xfrm>
              <a:off x="2880" y="1629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3" name="Line 25"/>
            <p:cNvSpPr/>
            <p:nvPr/>
          </p:nvSpPr>
          <p:spPr>
            <a:xfrm>
              <a:off x="2880" y="1869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4" name="Line 26"/>
            <p:cNvSpPr/>
            <p:nvPr/>
          </p:nvSpPr>
          <p:spPr>
            <a:xfrm>
              <a:off x="2880" y="2109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5" name="Line 27"/>
            <p:cNvSpPr/>
            <p:nvPr/>
          </p:nvSpPr>
          <p:spPr>
            <a:xfrm>
              <a:off x="2880" y="2637"/>
              <a:ext cx="28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6" name="Text Box 35"/>
            <p:cNvSpPr txBox="1"/>
            <p:nvPr/>
          </p:nvSpPr>
          <p:spPr>
            <a:xfrm>
              <a:off x="3312" y="1518"/>
              <a:ext cx="395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count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  <p:sp>
          <p:nvSpPr>
            <p:cNvPr id="24607" name="Text Box 36"/>
            <p:cNvSpPr txBox="1"/>
            <p:nvPr/>
          </p:nvSpPr>
          <p:spPr>
            <a:xfrm>
              <a:off x="3312" y="1767"/>
              <a:ext cx="395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count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  <p:sp>
          <p:nvSpPr>
            <p:cNvPr id="24608" name="Text Box 37"/>
            <p:cNvSpPr txBox="1"/>
            <p:nvPr/>
          </p:nvSpPr>
          <p:spPr>
            <a:xfrm>
              <a:off x="3318" y="1998"/>
              <a:ext cx="395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count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  <p:sp>
          <p:nvSpPr>
            <p:cNvPr id="24609" name="Text Box 38"/>
            <p:cNvSpPr txBox="1"/>
            <p:nvPr/>
          </p:nvSpPr>
          <p:spPr>
            <a:xfrm>
              <a:off x="3336" y="2532"/>
              <a:ext cx="395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275" dirty="0">
                  <a:solidFill>
                    <a:srgbClr val="000000"/>
                  </a:solidFill>
                  <a:latin typeface="Helvetica" charset="0"/>
                </a:rPr>
                <a:t>count</a:t>
              </a:r>
              <a:endParaRPr sz="2275" dirty="0">
                <a:solidFill>
                  <a:srgbClr val="000000"/>
                </a:solidFill>
                <a:latin typeface="Helvetica" charset="0"/>
              </a:endParaRPr>
            </a:p>
          </p:txBody>
        </p:sp>
      </p:grpSp>
      <p:grpSp>
        <p:nvGrpSpPr>
          <p:cNvPr id="4" name="Group 43"/>
          <p:cNvGrpSpPr/>
          <p:nvPr/>
        </p:nvGrpSpPr>
        <p:grpSpPr>
          <a:xfrm>
            <a:off x="8994987" y="4226560"/>
            <a:ext cx="3495040" cy="975360"/>
            <a:chOff x="3984" y="1872"/>
            <a:chExt cx="1548" cy="432"/>
          </a:xfrm>
        </p:grpSpPr>
        <p:sp>
          <p:nvSpPr>
            <p:cNvPr id="24584" name="Text Box 18"/>
            <p:cNvSpPr txBox="1"/>
            <p:nvPr/>
          </p:nvSpPr>
          <p:spPr>
            <a:xfrm>
              <a:off x="4080" y="1958"/>
              <a:ext cx="536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845" dirty="0">
                  <a:latin typeface="Helvetica" charset="0"/>
                </a:rPr>
                <a:t>merge</a:t>
              </a:r>
              <a:endParaRPr sz="2845" dirty="0">
                <a:latin typeface="Helvetica" charset="0"/>
              </a:endParaRPr>
            </a:p>
          </p:txBody>
        </p:sp>
        <p:sp>
          <p:nvSpPr>
            <p:cNvPr id="24585" name="Line 28"/>
            <p:cNvSpPr/>
            <p:nvPr/>
          </p:nvSpPr>
          <p:spPr>
            <a:xfrm>
              <a:off x="3984" y="2082"/>
              <a:ext cx="14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6" name="Line 29"/>
            <p:cNvSpPr/>
            <p:nvPr/>
          </p:nvSpPr>
          <p:spPr>
            <a:xfrm>
              <a:off x="4608" y="2082"/>
              <a:ext cx="14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7" name="Rectangle 39"/>
            <p:cNvSpPr/>
            <p:nvPr/>
          </p:nvSpPr>
          <p:spPr>
            <a:xfrm>
              <a:off x="4812" y="1872"/>
              <a:ext cx="720" cy="43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CA" altLang="x-none" sz="2275" dirty="0">
                <a:latin typeface="Helvetica" charset="0"/>
              </a:endParaRPr>
            </a:p>
          </p:txBody>
        </p:sp>
        <p:sp>
          <p:nvSpPr>
            <p:cNvPr id="24588" name="Text Box 40"/>
            <p:cNvSpPr txBox="1"/>
            <p:nvPr/>
          </p:nvSpPr>
          <p:spPr>
            <a:xfrm>
              <a:off x="4896" y="1881"/>
              <a:ext cx="545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sz="2275" b="1" dirty="0">
                  <a:solidFill>
                    <a:srgbClr val="000000"/>
                  </a:solidFill>
                  <a:latin typeface="Helvetica" charset="0"/>
                </a:rPr>
                <a:t>merged</a:t>
              </a:r>
              <a:endParaRPr sz="2275" b="1" dirty="0">
                <a:solidFill>
                  <a:srgbClr val="000000"/>
                </a:solidFill>
                <a:latin typeface="Helvetica" charset="0"/>
              </a:endParaRPr>
            </a:p>
            <a:p>
              <a:pPr algn="ctr"/>
              <a:r>
                <a:rPr sz="2275" b="1" dirty="0">
                  <a:solidFill>
                    <a:srgbClr val="000000"/>
                  </a:solidFill>
                  <a:latin typeface="Helvetica" charset="0"/>
                </a:rPr>
                <a:t>count</a:t>
              </a:r>
              <a:endParaRPr sz="2275" b="1" dirty="0">
                <a:solidFill>
                  <a:srgbClr val="000000"/>
                </a:solidFill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dirty="0"/>
              <a:t>Partitioning Function</a:t>
            </a:r>
            <a:endParaRPr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130048" tIns="65024" rIns="130048" bIns="65024" anchor="t" anchorCtr="0"/>
          <a:p>
            <a:endParaRPr dirty="0"/>
          </a:p>
        </p:txBody>
      </p:sp>
      <p:pic>
        <p:nvPicPr>
          <p:cNvPr id="25604" name="Picture 4" descr="index-auto-0007-0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107" y="1950720"/>
            <a:ext cx="10607040" cy="7315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dirty="0"/>
              <a:t>Example Word Count  </a:t>
            </a:r>
            <a:endParaRPr dirty="0"/>
          </a:p>
        </p:txBody>
      </p:sp>
      <p:sp>
        <p:nvSpPr>
          <p:cNvPr id="26627" name="Rectangle 7"/>
          <p:cNvSpPr>
            <a:spLocks noGrp="1"/>
          </p:cNvSpPr>
          <p:nvPr>
            <p:ph idx="1"/>
          </p:nvPr>
        </p:nvSpPr>
        <p:spPr/>
        <p:txBody>
          <a:bodyPr vert="horz" wrap="square" lIns="130048" tIns="65024" rIns="130048" bIns="65024" anchor="t" anchorCtr="0"/>
          <a:p>
            <a:r>
              <a:rPr dirty="0"/>
              <a:t>Map</a:t>
            </a:r>
            <a:endParaRPr dirty="0"/>
          </a:p>
        </p:txBody>
      </p:sp>
      <p:sp>
        <p:nvSpPr>
          <p:cNvPr id="26628" name="Text Box 6"/>
          <p:cNvSpPr txBox="1"/>
          <p:nvPr/>
        </p:nvSpPr>
        <p:spPr>
          <a:xfrm>
            <a:off x="541867" y="3061547"/>
            <a:ext cx="10622280" cy="570293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2275" dirty="0">
                <a:latin typeface="Courier New" panose="02070309020205020404" pitchFamily="49" charset="0"/>
              </a:rPr>
              <a:t>public static class MapClass extends MapReduceBase </a:t>
            </a:r>
            <a:endParaRPr sz="2275" dirty="0">
              <a:latin typeface="Courier New" panose="02070309020205020404" pitchFamily="49" charset="0"/>
            </a:endParaRPr>
          </a:p>
          <a:p>
            <a:r>
              <a:rPr sz="2275" dirty="0">
                <a:latin typeface="Courier New" panose="02070309020205020404" pitchFamily="49" charset="0"/>
              </a:rPr>
              <a:t>implements Mapper {    </a:t>
            </a:r>
            <a:endParaRPr sz="2275" dirty="0">
              <a:latin typeface="Courier New" panose="02070309020205020404" pitchFamily="49" charset="0"/>
            </a:endParaRPr>
          </a:p>
          <a:p>
            <a:r>
              <a:rPr sz="2275" dirty="0">
                <a:latin typeface="Courier New" panose="02070309020205020404" pitchFamily="49" charset="0"/>
              </a:rPr>
              <a:t>  private final static IntWritable one = new IntWritable(1);</a:t>
            </a:r>
            <a:endParaRPr sz="2275" dirty="0">
              <a:latin typeface="Courier New" panose="02070309020205020404" pitchFamily="49" charset="0"/>
            </a:endParaRPr>
          </a:p>
          <a:p>
            <a:r>
              <a:rPr sz="2275" dirty="0">
                <a:latin typeface="Courier New" panose="02070309020205020404" pitchFamily="49" charset="0"/>
              </a:rPr>
              <a:t>  private Text word = new Text();</a:t>
            </a:r>
            <a:endParaRPr sz="2275" dirty="0">
              <a:latin typeface="Courier New" panose="02070309020205020404" pitchFamily="49" charset="0"/>
            </a:endParaRPr>
          </a:p>
          <a:p>
            <a:r>
              <a:rPr sz="2275" dirty="0">
                <a:latin typeface="Courier New" panose="02070309020205020404" pitchFamily="49" charset="0"/>
              </a:rPr>
              <a:t>  </a:t>
            </a:r>
            <a:endParaRPr sz="2275" dirty="0">
              <a:latin typeface="Courier New" panose="02070309020205020404" pitchFamily="49" charset="0"/>
            </a:endParaRPr>
          </a:p>
          <a:p>
            <a:r>
              <a:rPr sz="2275" dirty="0">
                <a:latin typeface="Courier New" panose="02070309020205020404" pitchFamily="49" charset="0"/>
              </a:rPr>
              <a:t>  </a:t>
            </a:r>
            <a:r>
              <a:rPr sz="2275" b="1" dirty="0">
                <a:latin typeface="Courier New" panose="02070309020205020404" pitchFamily="49" charset="0"/>
              </a:rPr>
              <a:t>public void map(WritableComparable key, Writable value, 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OutputCollector output, Reporter reporter) 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throws IOException {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  String line = ((Text)value).toString();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  StringTokenizer itr = new StringTokenizer(line);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  while (itr.hasMoreTokens()) {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    word.set(itr.nextToken());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    output.collect(word, one);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  }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b="1" dirty="0">
                <a:latin typeface="Courier New" panose="02070309020205020404" pitchFamily="49" charset="0"/>
              </a:rPr>
              <a:t>  }</a:t>
            </a:r>
            <a:endParaRPr sz="2275" b="1" dirty="0">
              <a:latin typeface="Courier New" panose="02070309020205020404" pitchFamily="49" charset="0"/>
            </a:endParaRPr>
          </a:p>
          <a:p>
            <a:r>
              <a:rPr sz="2275" dirty="0">
                <a:latin typeface="Courier New" panose="02070309020205020404" pitchFamily="49" charset="0"/>
              </a:rPr>
              <a:t>}</a:t>
            </a:r>
            <a:endParaRPr sz="2275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dirty="0"/>
              <a:t>Partitioning Function (2)</a:t>
            </a:r>
            <a:endParaRPr dirty="0"/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130048" tIns="65024" rIns="130048" bIns="65024" anchor="t" anchorCtr="0"/>
          <a:p>
            <a:pPr>
              <a:lnSpc>
                <a:spcPct val="90000"/>
              </a:lnSpc>
            </a:pPr>
            <a:r>
              <a:rPr dirty="0"/>
              <a:t>Default : </a:t>
            </a:r>
            <a:r>
              <a:rPr dirty="0">
                <a:latin typeface="Courier New" panose="02070309020205020404" pitchFamily="49" charset="0"/>
              </a:rPr>
              <a:t>hash(key) mod R</a:t>
            </a:r>
            <a:endParaRPr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dirty="0"/>
              <a:t>Guarantee: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Relatively well-balanced partitions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Ordering guarantee within partition</a:t>
            </a:r>
            <a:endParaRPr dirty="0"/>
          </a:p>
          <a:p>
            <a:pPr>
              <a:lnSpc>
                <a:spcPct val="90000"/>
              </a:lnSpc>
              <a:buNone/>
            </a:pPr>
            <a:endParaRPr sz="256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26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37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73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812800"/>
            <a:ext cx="11638845" cy="1494649"/>
          </a:xfrm>
        </p:spPr>
        <p:txBody>
          <a:bodyPr vert="horz" wrap="square" lIns="130048" tIns="65024" rIns="130048" bIns="65024" numCol="1" anchor="ctr" anchorCtr="0" compatLnSpc="1">
            <a:norm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569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MapReduce in Parallel: Example</a:t>
            </a:r>
            <a:endParaRPr kumimoji="0" lang="en-IN" sz="569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711201" y="2438400"/>
            <a:ext cx="11638844" cy="5849903"/>
          </a:xfrm>
        </p:spPr>
        <p:txBody>
          <a:bodyPr vert="horz" wrap="square" lIns="130048" tIns="65024" rIns="130048" bIns="65024" anchor="t" anchorCtr="0"/>
          <a:p>
            <a:pPr>
              <a:buFont typeface="Wingdings 2" panose="05020102010507070707" pitchFamily="18" charset="2"/>
              <a:buNone/>
            </a:pPr>
            <a:r>
              <a:rPr lang="en-IN" altLang="x-none" dirty="0"/>
              <a:t>  </a:t>
            </a:r>
            <a:endParaRPr lang="en-IN" altLang="x-none" dirty="0"/>
          </a:p>
          <a:p>
            <a:pPr>
              <a:buFont typeface="Wingdings 2" panose="05020102010507070707" pitchFamily="18" charset="2"/>
              <a:buNone/>
            </a:pPr>
            <a:endParaRPr dirty="0"/>
          </a:p>
          <a:p>
            <a:pPr>
              <a:buFont typeface="Wingdings 2" panose="05020102010507070707" pitchFamily="18" charset="2"/>
              <a:buNone/>
            </a:pPr>
            <a:endParaRPr dirty="0"/>
          </a:p>
          <a:p>
            <a:pPr>
              <a:buFont typeface="ZapfDingbats" pitchFamily="82" charset="2"/>
              <a:buChar char="r"/>
            </a:pPr>
            <a:endParaRPr dirty="0"/>
          </a:p>
          <a:p>
            <a:pPr>
              <a:buFont typeface="Wingdings 2" panose="05020102010507070707" pitchFamily="18" charset="2"/>
              <a:buNone/>
            </a:pPr>
            <a:endParaRPr lang="en-IN" altLang="x-none" dirty="0"/>
          </a:p>
          <a:p>
            <a:pPr>
              <a:buFont typeface="Wingdings 2" panose="05020102010507070707" pitchFamily="18" charset="2"/>
              <a:buNone/>
            </a:pPr>
            <a:endParaRPr lang="en-IN" altLang="x-none" dirty="0"/>
          </a:p>
          <a:p>
            <a:pPr>
              <a:buFont typeface="ZapfDingbats" pitchFamily="82" charset="2"/>
              <a:buChar char="r"/>
            </a:pPr>
            <a:endParaRPr dirty="0"/>
          </a:p>
        </p:txBody>
      </p:sp>
      <p:pic>
        <p:nvPicPr>
          <p:cNvPr id="28676" name="Picture 5" descr="mapred2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641600"/>
            <a:ext cx="10769600" cy="558122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dirty="0"/>
              <a:t>MapReduce</a:t>
            </a:r>
            <a:endParaRPr dirty="0"/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130048" tIns="65024" rIns="130048" bIns="65024" anchor="t" anchorCtr="0"/>
          <a:p>
            <a:r>
              <a:rPr dirty="0"/>
              <a:t>Distributed Grep</a:t>
            </a:r>
            <a:endParaRPr dirty="0"/>
          </a:p>
          <a:p>
            <a:pPr lvl="1"/>
            <a:r>
              <a:rPr dirty="0"/>
              <a:t>Map: </a:t>
            </a:r>
            <a:endParaRPr dirty="0"/>
          </a:p>
          <a:p>
            <a:pPr lvl="2">
              <a:buFont typeface="Wingdings" panose="05000000000000000000" pitchFamily="2" charset="2"/>
              <a:buNone/>
            </a:pPr>
            <a:r>
              <a:rPr sz="2560" dirty="0">
                <a:latin typeface="Courier New" panose="02070309020205020404" pitchFamily="49" charset="0"/>
              </a:rPr>
              <a:t>if match(value,pattern) emit(value,1)</a:t>
            </a:r>
            <a:endParaRPr sz="2560" dirty="0">
              <a:latin typeface="Courier New" panose="02070309020205020404" pitchFamily="49" charset="0"/>
            </a:endParaRPr>
          </a:p>
          <a:p>
            <a:pPr lvl="1"/>
            <a:r>
              <a:rPr dirty="0"/>
              <a:t>Reduce: </a:t>
            </a:r>
            <a:endParaRPr dirty="0"/>
          </a:p>
          <a:p>
            <a:pPr lvl="2">
              <a:buFont typeface="Wingdings" panose="05000000000000000000" pitchFamily="2" charset="2"/>
              <a:buNone/>
            </a:pPr>
            <a:r>
              <a:rPr sz="2560" dirty="0">
                <a:latin typeface="Courier New" panose="02070309020205020404" pitchFamily="49" charset="0"/>
              </a:rPr>
              <a:t>emit(key,sum(value*))</a:t>
            </a:r>
            <a:endParaRPr sz="2560" dirty="0">
              <a:latin typeface="Courier New" panose="02070309020205020404" pitchFamily="49" charset="0"/>
            </a:endParaRPr>
          </a:p>
          <a:p>
            <a:pPr lvl="1"/>
            <a:endParaRPr sz="2560" dirty="0">
              <a:latin typeface="Courier" pitchFamily="49" charset="0"/>
            </a:endParaRPr>
          </a:p>
          <a:p>
            <a:r>
              <a:rPr dirty="0"/>
              <a:t>Distributed Word Count</a:t>
            </a:r>
            <a:endParaRPr dirty="0"/>
          </a:p>
          <a:p>
            <a:pPr lvl="1"/>
            <a:r>
              <a:rPr dirty="0"/>
              <a:t>Map: </a:t>
            </a:r>
            <a:endParaRPr dirty="0"/>
          </a:p>
          <a:p>
            <a:pPr lvl="2">
              <a:buFont typeface="Wingdings" panose="05000000000000000000" pitchFamily="2" charset="2"/>
              <a:buNone/>
            </a:pPr>
            <a:r>
              <a:rPr sz="2560" dirty="0">
                <a:latin typeface="Courier New" panose="02070309020205020404" pitchFamily="49" charset="0"/>
              </a:rPr>
              <a:t>for all w in value do emit(w,1)</a:t>
            </a:r>
            <a:endParaRPr sz="2560" dirty="0">
              <a:latin typeface="Courier New" panose="02070309020205020404" pitchFamily="49" charset="0"/>
            </a:endParaRPr>
          </a:p>
          <a:p>
            <a:pPr lvl="1"/>
            <a:r>
              <a:rPr dirty="0"/>
              <a:t>Reduce: </a:t>
            </a:r>
            <a:endParaRPr dirty="0"/>
          </a:p>
          <a:p>
            <a:pPr lvl="2">
              <a:buFont typeface="Wingdings" panose="05000000000000000000" pitchFamily="2" charset="2"/>
              <a:buNone/>
            </a:pPr>
            <a:r>
              <a:rPr sz="2560" dirty="0">
                <a:latin typeface="Courier New" panose="02070309020205020404" pitchFamily="49" charset="0"/>
              </a:rPr>
              <a:t>emit(key,sum(value*))</a:t>
            </a:r>
            <a:endParaRPr sz="2560" dirty="0">
              <a:latin typeface="Courier New" panose="02070309020205020404" pitchFamily="49" charset="0"/>
            </a:endParaRPr>
          </a:p>
          <a:p>
            <a:pPr lvl="1"/>
            <a:endParaRPr sz="2560" dirty="0">
              <a:latin typeface="Courier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17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2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61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7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93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116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122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154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163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lang="en-CA" altLang="x-none" dirty="0"/>
              <a:t>Implementation Overview</a:t>
            </a:r>
            <a:endParaRPr lang="en-CA" altLang="x-none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130048" tIns="65024" rIns="130048" bIns="65024" anchor="t" anchorCtr="0"/>
          <a:p>
            <a:r>
              <a:rPr lang="en-CA" altLang="x-none" dirty="0"/>
              <a:t>Typical cluster</a:t>
            </a:r>
            <a:endParaRPr lang="en-CA" altLang="x-none" dirty="0"/>
          </a:p>
          <a:p>
            <a:pPr lvl="1"/>
            <a:r>
              <a:rPr lang="en-CA" altLang="x-none" dirty="0"/>
              <a:t>100’s/1000s of 2-CPU x86 machines, 2-4 GB of memory</a:t>
            </a:r>
            <a:endParaRPr lang="en-CA" altLang="x-none" dirty="0"/>
          </a:p>
          <a:p>
            <a:pPr lvl="1"/>
            <a:r>
              <a:rPr lang="en-CA" altLang="x-none" dirty="0"/>
              <a:t>Storage is on local disks</a:t>
            </a:r>
            <a:endParaRPr lang="en-CA" altLang="x-none" dirty="0"/>
          </a:p>
          <a:p>
            <a:pPr lvl="1"/>
            <a:r>
              <a:rPr lang="en-CA" altLang="x-none" dirty="0"/>
              <a:t>GFS:  distributed file system manages data</a:t>
            </a:r>
            <a:endParaRPr lang="en-CA" altLang="x-none" dirty="0"/>
          </a:p>
          <a:p>
            <a:pPr lvl="1"/>
            <a:r>
              <a:rPr lang="en-CA" altLang="x-none" dirty="0"/>
              <a:t>Job scheduling system: jobs made up of tasks, scheduler assigns tasks to machine</a:t>
            </a:r>
            <a:endParaRPr dirty="0"/>
          </a:p>
          <a:p>
            <a:pPr lvl="1"/>
            <a:endParaRPr lang="en-CA" altLang="x-none" dirty="0"/>
          </a:p>
          <a:p>
            <a:pPr lvl="1"/>
            <a:endParaRPr lang="en-CA" altLang="x-none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1"/>
          <p:cNvSpPr>
            <a:spLocks noGrp="1"/>
          </p:cNvSpPr>
          <p:nvPr>
            <p:ph type="title"/>
          </p:nvPr>
        </p:nvSpPr>
        <p:spPr>
          <a:xfrm>
            <a:off x="1517227" y="2364670"/>
            <a:ext cx="11054080" cy="808990"/>
          </a:xfrm>
        </p:spPr>
        <p:txBody>
          <a:bodyPr vert="horz" wrap="square" lIns="0" tIns="0" rIns="0" bIns="0" anchor="ctr" anchorCtr="0">
            <a:spAutoFit/>
          </a:bodyPr>
          <a:p>
            <a:pPr>
              <a:buNone/>
            </a:pPr>
            <a:endParaRPr dirty="0"/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7" y="745067"/>
            <a:ext cx="12571307" cy="82634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8" name="AutoShape 3"/>
          <p:cNvSpPr/>
          <p:nvPr/>
        </p:nvSpPr>
        <p:spPr>
          <a:xfrm>
            <a:off x="650240" y="4768427"/>
            <a:ext cx="108373" cy="2167467"/>
          </a:xfrm>
          <a:prstGeom prst="leftBrace">
            <a:avLst>
              <a:gd name="adj1" fmla="val 500000"/>
              <a:gd name="adj2" fmla="val 50000"/>
            </a:avLst>
          </a:prstGeom>
          <a:noFill/>
          <a:ln w="9360" cap="flat" cmpd="sng">
            <a:solidFill>
              <a:srgbClr val="5B524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28000" tIns="66560" rIns="128000" bIns="66560" anchor="ctr" anchorCtr="0"/>
          <a:p>
            <a:pPr algn="ctr" defTabSz="914400">
              <a:buClr>
                <a:srgbClr val="FF0000"/>
              </a:buCl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275" dirty="0">
                <a:solidFill>
                  <a:srgbClr val="FF0000"/>
                </a:solidFill>
                <a:latin typeface="Helvetica" charset="0"/>
              </a:rPr>
              <a:t>M</a:t>
            </a:r>
            <a:endParaRPr lang="en-GB" altLang="x-none" sz="2275" dirty="0">
              <a:solidFill>
                <a:srgbClr val="FF0000"/>
              </a:solidFill>
              <a:latin typeface="Helvetica" charset="0"/>
            </a:endParaRPr>
          </a:p>
        </p:txBody>
      </p:sp>
      <p:sp>
        <p:nvSpPr>
          <p:cNvPr id="31749" name="AutoShape 4"/>
          <p:cNvSpPr/>
          <p:nvPr/>
        </p:nvSpPr>
        <p:spPr>
          <a:xfrm rot="-5400000">
            <a:off x="6163733" y="8561493"/>
            <a:ext cx="433493" cy="866987"/>
          </a:xfrm>
          <a:prstGeom prst="leftBrace">
            <a:avLst>
              <a:gd name="adj1" fmla="val 44787"/>
              <a:gd name="adj2" fmla="val 49736"/>
            </a:avLst>
          </a:prstGeom>
          <a:noFill/>
          <a:ln w="9360" cap="flat" cmpd="sng">
            <a:solidFill>
              <a:srgbClr val="5B5249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lIns="128000" tIns="66560" rIns="128000" bIns="66560" anchor="ctr" anchorCtr="0"/>
          <a:p>
            <a:pPr algn="ctr" defTabSz="914400">
              <a:buClr>
                <a:srgbClr val="FF0000"/>
              </a:buCl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275" dirty="0">
                <a:solidFill>
                  <a:srgbClr val="FF0000"/>
                </a:solidFill>
                <a:latin typeface="Helvetica" charset="0"/>
              </a:rPr>
              <a:t>R</a:t>
            </a:r>
            <a:endParaRPr lang="en-GB" altLang="x-none" sz="2275" dirty="0">
              <a:solidFill>
                <a:srgbClr val="FF0000"/>
              </a:solidFill>
              <a:latin typeface="Helvetica" charset="0"/>
            </a:endParaRPr>
          </a:p>
        </p:txBody>
      </p:sp>
      <p:sp>
        <p:nvSpPr>
          <p:cNvPr id="31750" name="AutoShape 5"/>
          <p:cNvSpPr/>
          <p:nvPr/>
        </p:nvSpPr>
        <p:spPr>
          <a:xfrm>
            <a:off x="12137813" y="4876800"/>
            <a:ext cx="325120" cy="1733973"/>
          </a:xfrm>
          <a:prstGeom prst="rightBrace">
            <a:avLst>
              <a:gd name="adj1" fmla="val 44444"/>
              <a:gd name="adj2" fmla="val 48829"/>
            </a:avLst>
          </a:prstGeom>
          <a:noFill/>
          <a:ln w="9360" cap="flat" cmpd="sng">
            <a:solidFill>
              <a:srgbClr val="5B524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28000" tIns="66560" rIns="128000" bIns="66560" anchor="ctr" anchorCtr="0"/>
          <a:p>
            <a:pPr algn="ctr" defTabSz="914400">
              <a:buClr>
                <a:srgbClr val="FF0000"/>
              </a:buCl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275" dirty="0">
                <a:solidFill>
                  <a:srgbClr val="FF0000"/>
                </a:solidFill>
                <a:latin typeface="Helvetica" charset="0"/>
              </a:rPr>
              <a:t>R</a:t>
            </a:r>
            <a:endParaRPr lang="en-GB" altLang="x-none" sz="2275" dirty="0">
              <a:solidFill>
                <a:srgbClr val="FF0000"/>
              </a:solidFill>
              <a:latin typeface="Helvetica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30048" tIns="65024" rIns="130048" bIns="65024" anchor="ctr" anchorCtr="0"/>
          <a:p>
            <a:pPr>
              <a:buNone/>
            </a:pPr>
            <a:r>
              <a:rPr dirty="0"/>
              <a:t>Execution</a:t>
            </a:r>
            <a:endParaRPr dirty="0"/>
          </a:p>
        </p:txBody>
      </p:sp>
      <p:sp>
        <p:nvSpPr>
          <p:cNvPr id="1699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130048" tIns="65024" rIns="130048" bIns="65024" anchor="t" anchorCtr="0"/>
          <a:p>
            <a:pPr marL="609600" indent="-609600"/>
            <a:r>
              <a:rPr dirty="0"/>
              <a:t>How is this distributed?</a:t>
            </a:r>
            <a:endParaRPr dirty="0"/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dirty="0"/>
              <a:t>Partition input key/value pairs into chunks, run map() tasks in parallel</a:t>
            </a:r>
            <a:endParaRPr dirty="0"/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dirty="0"/>
              <a:t>After all map()s are complete, consolidate all emitted values for each unique emitted key</a:t>
            </a:r>
            <a:endParaRPr dirty="0"/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dirty="0"/>
              <a:t>Now partition space of output map keys, and run reduce() in parallel</a:t>
            </a:r>
            <a:endParaRPr dirty="0"/>
          </a:p>
          <a:p>
            <a:pPr marL="609600" indent="-609600"/>
            <a:r>
              <a:rPr dirty="0"/>
              <a:t>If map() or reduce() fails, reexecute!</a:t>
            </a:r>
            <a:endParaRPr dirty="0"/>
          </a:p>
          <a:p>
            <a:pPr marL="609600" indent="-609600"/>
            <a:r>
              <a:rPr lang="en-GB" altLang="x-none" dirty="0"/>
              <a:t>Bottleneck: reduce phase can’t start until map phase is completely finished.</a:t>
            </a:r>
            <a:endParaRPr lang="en-GB" altLang="x-none" dirty="0"/>
          </a:p>
          <a:p>
            <a:pPr marL="609600" indent="-609600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25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98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188" end="2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257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296" end="3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Locality</a:t>
            </a:r>
            <a:endParaRPr lang="en-GB" altLang="x-none" dirty="0"/>
          </a:p>
        </p:txBody>
      </p:sp>
      <p:sp>
        <p:nvSpPr>
          <p:cNvPr id="33795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41249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Master program divvies up tasks based on location of data: tries to have map() tasks on same machine as physical file data, or at least same rack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map() task inputs are divided into 64 MB blocks: same size as Google File System chunks</a:t>
            </a:r>
            <a:endParaRPr lang="en-GB" altLang="x-none" dirty="0"/>
          </a:p>
          <a:p>
            <a:pPr defTabSz="914400" eaLnBrk="1" hangingPunct="1"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Fault Tolerance</a:t>
            </a:r>
            <a:endParaRPr lang="en-GB" altLang="x-none" dirty="0"/>
          </a:p>
        </p:txBody>
      </p:sp>
      <p:sp>
        <p:nvSpPr>
          <p:cNvPr id="34819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364807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Master detects worker failures</a:t>
            </a:r>
            <a:endParaRPr lang="en-GB" altLang="x-none" dirty="0"/>
          </a:p>
          <a:p>
            <a:pPr lvl="1" defTabSz="914400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Re-executes completed &amp; in-progress map() tasks</a:t>
            </a:r>
            <a:endParaRPr lang="en-GB" altLang="x-none" dirty="0"/>
          </a:p>
          <a:p>
            <a:pPr lvl="1" defTabSz="914400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Re-executes in-progress reduce() tasks</a:t>
            </a:r>
            <a:endParaRPr lang="en-GB" altLang="x-none" dirty="0"/>
          </a:p>
          <a:p>
            <a:pPr defTabSz="914400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Master notices particular input key/values cause crashes in map(), and skips those values on re-execution.</a:t>
            </a:r>
            <a:endParaRPr lang="en-GB" altLang="x-none" dirty="0"/>
          </a:p>
          <a:p>
            <a:pPr lvl="1" defTabSz="914400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Effect: Can work around bugs in third-party libraries!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Optimizations</a:t>
            </a:r>
            <a:endParaRPr lang="en-GB" altLang="x-none" dirty="0"/>
          </a:p>
        </p:txBody>
      </p:sp>
      <p:sp>
        <p:nvSpPr>
          <p:cNvPr id="35843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489200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No reduce can start until map is complete:</a:t>
            </a:r>
            <a:endParaRPr lang="en-GB" altLang="x-none" dirty="0"/>
          </a:p>
          <a:p>
            <a:pPr lvl="1"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A single slow disk controller can rate-limit the whole process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Master redundantly executes “slow-moving” map tasks; uses results of first copy to finish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Optimizations</a:t>
            </a:r>
            <a:endParaRPr lang="en-GB" altLang="x-none" dirty="0"/>
          </a:p>
        </p:txBody>
      </p:sp>
      <p:sp>
        <p:nvSpPr>
          <p:cNvPr id="36867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177101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“Combiner” functions can run on same machine as a mapper</a:t>
            </a:r>
            <a:endParaRPr lang="en-GB" altLang="x-none" dirty="0"/>
          </a:p>
          <a:p>
            <a:pPr defTabSz="914400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Causes a mini-reduce phase to occur before the real reduce phase, to save bandwidth</a:t>
            </a:r>
            <a:endParaRPr lang="en-GB" altLang="x-none" dirty="0"/>
          </a:p>
        </p:txBody>
      </p:sp>
      <p:sp>
        <p:nvSpPr>
          <p:cNvPr id="36868" name="Text Box 3"/>
          <p:cNvSpPr txBox="1"/>
          <p:nvPr/>
        </p:nvSpPr>
        <p:spPr>
          <a:xfrm>
            <a:off x="1083733" y="7802880"/>
            <a:ext cx="11054080" cy="482600"/>
          </a:xfrm>
          <a:prstGeom prst="rect">
            <a:avLst/>
          </a:prstGeom>
          <a:noFill/>
          <a:ln w="9525">
            <a:noFill/>
          </a:ln>
        </p:spPr>
        <p:txBody>
          <a:bodyPr lIns="128000" tIns="66560" rIns="128000" bIns="66560">
            <a:spAutoFit/>
          </a:bodyPr>
          <a:p>
            <a:pPr defTabSz="914400">
              <a:spcBef>
                <a:spcPts val="112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275" i="1" dirty="0">
                <a:solidFill>
                  <a:srgbClr val="000000"/>
                </a:solidFill>
                <a:latin typeface="Helvetica" charset="0"/>
              </a:rPr>
              <a:t> </a:t>
            </a:r>
            <a:endParaRPr lang="en-GB" altLang="x-none" sz="2275" i="1" dirty="0">
              <a:solidFill>
                <a:srgbClr val="000000"/>
              </a:solidFill>
              <a:latin typeface="Helvetica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MapReduce Conclusions</a:t>
            </a:r>
            <a:endParaRPr lang="en-GB" altLang="x-none" dirty="0"/>
          </a:p>
        </p:txBody>
      </p:sp>
      <p:sp>
        <p:nvSpPr>
          <p:cNvPr id="37891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70700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MapReduce has proven to be a useful abstraction 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Greatly simplifies large-scale computations at Google 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Functional programming paradigm can be applied to large-scale applications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to use: focus on problem, let library deal w/ messy details 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1"/>
          <p:cNvSpPr>
            <a:spLocks noGrp="1"/>
          </p:cNvSpPr>
          <p:nvPr>
            <p:ph type="title"/>
          </p:nvPr>
        </p:nvSpPr>
        <p:spPr>
          <a:xfrm>
            <a:off x="650240" y="1248728"/>
            <a:ext cx="11704320" cy="753745"/>
          </a:xfrm>
        </p:spPr>
        <p:txBody>
          <a:bodyPr vert="horz" wrap="square" lIns="130048" tIns="65024" rIns="130048" bIns="65024" anchor="ctr" anchorCtr="0">
            <a:spAutoFit/>
          </a:bodyPr>
          <a:p>
            <a:pPr defTabSz="9144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MapReduce Conclusions</a:t>
            </a:r>
            <a:endParaRPr lang="en-GB" altLang="x-none" dirty="0"/>
          </a:p>
        </p:txBody>
      </p:sp>
      <p:sp>
        <p:nvSpPr>
          <p:cNvPr id="38915" name="Rectangle 2"/>
          <p:cNvSpPr>
            <a:spLocks noGrp="1"/>
          </p:cNvSpPr>
          <p:nvPr>
            <p:ph type="body" idx="4294967295"/>
          </p:nvPr>
        </p:nvSpPr>
        <p:spPr>
          <a:xfrm>
            <a:off x="650240" y="2817707"/>
            <a:ext cx="11704320" cy="2707005"/>
          </a:xfrm>
        </p:spPr>
        <p:txBody>
          <a:bodyPr vert="horz" wrap="square" lIns="130048" tIns="65024" rIns="130048" bIns="65024" anchor="t" anchorCtr="0">
            <a:spAutoFit/>
          </a:bodyPr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MapReduce has proven to be a useful abstraction 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Greatly simplifies large-scale computations at Google 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Functional programming paradigm can be applied to large-scale applications</a:t>
            </a:r>
            <a:endParaRPr lang="en-GB" altLang="x-none" dirty="0"/>
          </a:p>
          <a:p>
            <a:pPr defTabSz="914400" eaLnBrk="1" hangingPunct="1"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Fun to use: focus on problem, let library deal w/ messy details </a:t>
            </a:r>
            <a:endParaRPr lang="en-GB" altLang="x-non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jJjNTFkOTdkODM4ZDJhZTE0NWNhZWEyMDljZmVjZjEifQ==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38100" cap="flat" cmpd="sng" algn="ctr">
          <a:solidFill>
            <a:srgbClr val="FF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rtlCol="0" anchor="ctr" anchorCtr="0" compatLnSpc="1">
        <a:no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8706</Words>
  <Application>WPS 演示</Application>
  <PresentationFormat>Custom</PresentationFormat>
  <Paragraphs>415</Paragraphs>
  <Slides>42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42</vt:i4>
      </vt:variant>
    </vt:vector>
  </HeadingPairs>
  <TitlesOfParts>
    <vt:vector size="61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Times New Roman</vt:lpstr>
      <vt:lpstr>DejaVu Sans</vt:lpstr>
      <vt:lpstr>Courier New</vt:lpstr>
      <vt:lpstr>微软雅黑</vt:lpstr>
      <vt:lpstr>Arial Unicode MS</vt:lpstr>
      <vt:lpstr>Wingdings 2</vt:lpstr>
      <vt:lpstr>ZapfDingbats</vt:lpstr>
      <vt:lpstr>Courier</vt:lpstr>
      <vt:lpstr>Calibri</vt:lpstr>
      <vt:lpstr>Linux Libertine</vt:lpstr>
      <vt:lpstr>23_ClassicWhite</vt:lpstr>
      <vt:lpstr>DTS205TC High Performance Computing</vt:lpstr>
      <vt:lpstr>Divide-and-conquer </vt:lpstr>
      <vt:lpstr>A simplest example</vt:lpstr>
      <vt:lpstr>Example: Decision Tree</vt:lpstr>
      <vt:lpstr>Parallelization
</vt:lpstr>
      <vt:lpstr>Fork-Join</vt:lpstr>
      <vt:lpstr>Compared to Embarrassingly Parallel</vt:lpstr>
      <vt:lpstr>Functional Programming Review</vt:lpstr>
      <vt:lpstr>Functional Programming Review</vt:lpstr>
      <vt:lpstr>Functional Updates Do Not Modify Structures</vt:lpstr>
      <vt:lpstr>Functions Can Be Used As Arguments</vt:lpstr>
      <vt:lpstr>Map</vt:lpstr>
      <vt:lpstr>Fold</vt:lpstr>
      <vt:lpstr>fold left vs. fold right</vt:lpstr>
      <vt:lpstr>Example</vt:lpstr>
      <vt:lpstr>Example (Solved)</vt:lpstr>
      <vt:lpstr>A More Complicated Fold Problem</vt:lpstr>
      <vt:lpstr>A More Complicated Map Problem</vt:lpstr>
      <vt:lpstr>map Implementation</vt:lpstr>
      <vt:lpstr>Implicit Parallelism In map</vt:lpstr>
      <vt:lpstr>Why Look at Functional Programming?</vt:lpstr>
      <vt:lpstr>MapReduce</vt:lpstr>
      <vt:lpstr>Motivation: Large Scale Data Processing</vt:lpstr>
      <vt:lpstr>MapReduce</vt:lpstr>
      <vt:lpstr>Programming Model</vt:lpstr>
      <vt:lpstr>Map</vt:lpstr>
      <vt:lpstr>Reduce</vt:lpstr>
      <vt:lpstr>Distributed Word Count</vt:lpstr>
      <vt:lpstr>Partitioning Function</vt:lpstr>
      <vt:lpstr>Example Word Count  </vt:lpstr>
      <vt:lpstr>Partitioning Function (2)</vt:lpstr>
      <vt:lpstr>MapReduce in Parallel: Example</vt:lpstr>
      <vt:lpstr>MapReduce</vt:lpstr>
      <vt:lpstr>Implementation Overview</vt:lpstr>
      <vt:lpstr>PowerPoint 演示文稿</vt:lpstr>
      <vt:lpstr>Execution</vt:lpstr>
      <vt:lpstr>Locality</vt:lpstr>
      <vt:lpstr>Fault Tolerance</vt:lpstr>
      <vt:lpstr>Optimizations</vt:lpstr>
      <vt:lpstr>Optimizations</vt:lpstr>
      <vt:lpstr>MapReduce Conclusions</vt:lpstr>
      <vt:lpstr>MapReduce 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1259</cp:revision>
  <dcterms:created xsi:type="dcterms:W3CDTF">2024-02-16T06:11:00Z</dcterms:created>
  <dcterms:modified xsi:type="dcterms:W3CDTF">2024-04-01T12:08:35Z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43B3083F88484AF8AC95D84E2D16F2DD_13</vt:lpwstr>
  </property>
  <property fmtid="{D5CDD505-2E9C-101B-9397-08002B2CF9AE}" pid="3" name="KSOProductBuildVer">
    <vt:lpwstr>2052-12.1.0.16417</vt:lpwstr>
  </property>
</Properties>
</file>