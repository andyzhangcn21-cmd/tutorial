
<file path=[Content_Types].xml><?xml version="1.0" encoding="utf-8"?>
<Types xmlns="http://schemas.openxmlformats.org/package/2006/content-types">
  <Default Extension="png" ContentType="image/png"/>
  <Default Extension="wmf" ContentType="image/x-wmf"/>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erverZoom="100000" strictFirstAndLastChars="0">
  <p:sldMasterIdLst>
    <p:sldMasterId id="2147483648" r:id="rId1"/>
  </p:sldMasterIdLst>
  <p:notesMasterIdLst>
    <p:notesMasterId r:id="rId56"/>
  </p:notesMasterIdLst>
  <p:sldIdLst>
    <p:sldId id="373" r:id="rId3"/>
    <p:sldId id="1503" r:id="rId4"/>
    <p:sldId id="1326" r:id="rId5"/>
    <p:sldId id="1332" r:id="rId6"/>
    <p:sldId id="1333" r:id="rId7"/>
    <p:sldId id="1335" r:id="rId8"/>
    <p:sldId id="1336" r:id="rId9"/>
    <p:sldId id="1422" r:id="rId10"/>
    <p:sldId id="1458" r:id="rId11"/>
    <p:sldId id="1459" r:id="rId12"/>
    <p:sldId id="1460" r:id="rId13"/>
    <p:sldId id="1461" r:id="rId14"/>
    <p:sldId id="1462" r:id="rId15"/>
    <p:sldId id="1463" r:id="rId16"/>
    <p:sldId id="1464" r:id="rId17"/>
    <p:sldId id="1465" r:id="rId18"/>
    <p:sldId id="1466" r:id="rId19"/>
    <p:sldId id="1467" r:id="rId20"/>
    <p:sldId id="1468" r:id="rId21"/>
    <p:sldId id="1469" r:id="rId22"/>
    <p:sldId id="1470" r:id="rId23"/>
    <p:sldId id="1471" r:id="rId24"/>
    <p:sldId id="1472" r:id="rId25"/>
    <p:sldId id="1473" r:id="rId26"/>
    <p:sldId id="1474" r:id="rId27"/>
    <p:sldId id="1555" r:id="rId28"/>
    <p:sldId id="1475" r:id="rId29"/>
    <p:sldId id="1476" r:id="rId30"/>
    <p:sldId id="1477" r:id="rId31"/>
    <p:sldId id="1478" r:id="rId32"/>
    <p:sldId id="1479" r:id="rId33"/>
    <p:sldId id="1480" r:id="rId34"/>
    <p:sldId id="1481" r:id="rId35"/>
    <p:sldId id="1482" r:id="rId36"/>
    <p:sldId id="1483" r:id="rId37"/>
    <p:sldId id="1484" r:id="rId38"/>
    <p:sldId id="1485" r:id="rId39"/>
    <p:sldId id="1486" r:id="rId40"/>
    <p:sldId id="1487" r:id="rId41"/>
    <p:sldId id="1488" r:id="rId42"/>
    <p:sldId id="1489" r:id="rId43"/>
    <p:sldId id="1490" r:id="rId44"/>
    <p:sldId id="1491" r:id="rId45"/>
    <p:sldId id="1492" r:id="rId46"/>
    <p:sldId id="1493" r:id="rId47"/>
    <p:sldId id="1494" r:id="rId48"/>
    <p:sldId id="1495" r:id="rId49"/>
    <p:sldId id="1496" r:id="rId50"/>
    <p:sldId id="1497" r:id="rId51"/>
    <p:sldId id="1498" r:id="rId52"/>
    <p:sldId id="1499" r:id="rId53"/>
    <p:sldId id="1500" r:id="rId54"/>
    <p:sldId id="1501" r:id="rId55"/>
  </p:sldIdLst>
  <p:sldSz cx="13004800" cy="9753600"/>
  <p:notesSz cx="6858000" cy="9144000"/>
  <p:custDataLst>
    <p:tags r:id="rId60"/>
  </p:custDataLst>
  <p:defaultTextStyle>
    <a:defPPr>
      <a:defRPr lang="en-US"/>
    </a:defPPr>
    <a:lvl1pPr algn="l" defTabSz="1733550" rtl="0" eaLnBrk="0" fontAlgn="base" hangingPunct="0">
      <a:spcBef>
        <a:spcPct val="0"/>
      </a:spcBef>
      <a:spcAft>
        <a:spcPct val="0"/>
      </a:spcAft>
      <a:defRPr sz="1600" kern="1200">
        <a:solidFill>
          <a:srgbClr val="000000"/>
        </a:solidFill>
        <a:latin typeface="Canela Text Regular" charset="0"/>
        <a:ea typeface="Canela Text Regular" charset="0"/>
        <a:cs typeface="Canela Text Regular" charset="0"/>
        <a:sym typeface="Canela Text Regular" charset="0"/>
      </a:defRPr>
    </a:lvl1pPr>
    <a:lvl2pPr marL="457200" algn="l" defTabSz="1733550" rtl="0" eaLnBrk="0" fontAlgn="base" hangingPunct="0">
      <a:spcBef>
        <a:spcPct val="0"/>
      </a:spcBef>
      <a:spcAft>
        <a:spcPct val="0"/>
      </a:spcAft>
      <a:defRPr sz="1600" kern="1200">
        <a:solidFill>
          <a:srgbClr val="000000"/>
        </a:solidFill>
        <a:latin typeface="Canela Text Regular" charset="0"/>
        <a:ea typeface="Canela Text Regular" charset="0"/>
        <a:cs typeface="Canela Text Regular" charset="0"/>
        <a:sym typeface="Canela Text Regular" charset="0"/>
      </a:defRPr>
    </a:lvl2pPr>
    <a:lvl3pPr marL="914400" algn="l" defTabSz="1733550" rtl="0" eaLnBrk="0" fontAlgn="base" hangingPunct="0">
      <a:spcBef>
        <a:spcPct val="0"/>
      </a:spcBef>
      <a:spcAft>
        <a:spcPct val="0"/>
      </a:spcAft>
      <a:defRPr sz="1600" kern="1200">
        <a:solidFill>
          <a:srgbClr val="000000"/>
        </a:solidFill>
        <a:latin typeface="Canela Text Regular" charset="0"/>
        <a:ea typeface="Canela Text Regular" charset="0"/>
        <a:cs typeface="Canela Text Regular" charset="0"/>
        <a:sym typeface="Canela Text Regular" charset="0"/>
      </a:defRPr>
    </a:lvl3pPr>
    <a:lvl4pPr marL="1371600" algn="l" defTabSz="1733550" rtl="0" eaLnBrk="0" fontAlgn="base" hangingPunct="0">
      <a:spcBef>
        <a:spcPct val="0"/>
      </a:spcBef>
      <a:spcAft>
        <a:spcPct val="0"/>
      </a:spcAft>
      <a:defRPr sz="1600" kern="1200">
        <a:solidFill>
          <a:srgbClr val="000000"/>
        </a:solidFill>
        <a:latin typeface="Canela Text Regular" charset="0"/>
        <a:ea typeface="Canela Text Regular" charset="0"/>
        <a:cs typeface="Canela Text Regular" charset="0"/>
        <a:sym typeface="Canela Text Regular" charset="0"/>
      </a:defRPr>
    </a:lvl4pPr>
    <a:lvl5pPr marL="1828800" algn="l" defTabSz="1733550" rtl="0" eaLnBrk="0" fontAlgn="base" hangingPunct="0">
      <a:spcBef>
        <a:spcPct val="0"/>
      </a:spcBef>
      <a:spcAft>
        <a:spcPct val="0"/>
      </a:spcAft>
      <a:defRPr sz="1600" kern="1200">
        <a:solidFill>
          <a:srgbClr val="000000"/>
        </a:solidFill>
        <a:latin typeface="Canela Text Regular" charset="0"/>
        <a:ea typeface="Canela Text Regular" charset="0"/>
        <a:cs typeface="Canela Text Regular" charset="0"/>
        <a:sym typeface="Canela Text Regular" charset="0"/>
      </a:defRPr>
    </a:lvl5pPr>
    <a:lvl6pPr marL="2286000" algn="l" defTabSz="914400" rtl="0" eaLnBrk="1" latinLnBrk="0" hangingPunct="1">
      <a:defRPr sz="1600" kern="1200">
        <a:solidFill>
          <a:srgbClr val="000000"/>
        </a:solidFill>
        <a:latin typeface="Canela Text Regular" charset="0"/>
        <a:ea typeface="Canela Text Regular" charset="0"/>
        <a:cs typeface="Canela Text Regular" charset="0"/>
        <a:sym typeface="Canela Text Regular" charset="0"/>
      </a:defRPr>
    </a:lvl6pPr>
    <a:lvl7pPr marL="2743200" algn="l" defTabSz="914400" rtl="0" eaLnBrk="1" latinLnBrk="0" hangingPunct="1">
      <a:defRPr sz="1600" kern="1200">
        <a:solidFill>
          <a:srgbClr val="000000"/>
        </a:solidFill>
        <a:latin typeface="Canela Text Regular" charset="0"/>
        <a:ea typeface="Canela Text Regular" charset="0"/>
        <a:cs typeface="Canela Text Regular" charset="0"/>
        <a:sym typeface="Canela Text Regular" charset="0"/>
      </a:defRPr>
    </a:lvl7pPr>
    <a:lvl8pPr marL="3200400" algn="l" defTabSz="914400" rtl="0" eaLnBrk="1" latinLnBrk="0" hangingPunct="1">
      <a:defRPr sz="1600" kern="1200">
        <a:solidFill>
          <a:srgbClr val="000000"/>
        </a:solidFill>
        <a:latin typeface="Canela Text Regular" charset="0"/>
        <a:ea typeface="Canela Text Regular" charset="0"/>
        <a:cs typeface="Canela Text Regular" charset="0"/>
        <a:sym typeface="Canela Text Regular" charset="0"/>
      </a:defRPr>
    </a:lvl8pPr>
    <a:lvl9pPr marL="3657600" algn="l" defTabSz="914400" rtl="0" eaLnBrk="1" latinLnBrk="0" hangingPunct="1">
      <a:defRPr sz="1600" kern="1200">
        <a:solidFill>
          <a:srgbClr val="000000"/>
        </a:solidFill>
        <a:latin typeface="Canela Text Regular" charset="0"/>
        <a:ea typeface="Canela Text Regular" charset="0"/>
        <a:cs typeface="Canela Text Regular" charset="0"/>
        <a:sym typeface="Canela Text Regular" charset="0"/>
      </a:defRPr>
    </a:lvl9pPr>
  </p:defaultTextStyle>
  <p:extLst>
    <p:ext uri="{521415D9-36F7-43E2-AB2F-B90AF26B5E84}">
      <p14:sectionLst xmlns:p14="http://schemas.microsoft.com/office/powerpoint/2010/main">
        <p14:section name="Default Section" id="{ed2a4a82-1372-4faa-a1b1-a35e39e9e707}">
          <p14:sldIdLst>
            <p14:sldId id="373"/>
          </p14:sldIdLst>
        </p14:section>
        <p14:section name="Difficulty" id="{79bb2683-442a-4b1b-a6ee-419f7119e11f}">
          <p14:sldIdLst>
            <p14:sldId id="1503"/>
            <p14:sldId id="1326"/>
            <p14:sldId id="1332"/>
            <p14:sldId id="1333"/>
            <p14:sldId id="1335"/>
            <p14:sldId id="1336"/>
          </p14:sldIdLst>
        </p14:section>
        <p14:section name="Overview" id="{82888836-432c-4f2a-87f8-9e28c803cde5}">
          <p14:sldIdLst>
            <p14:sldId id="1422"/>
            <p14:sldId id="1458"/>
            <p14:sldId id="1459"/>
            <p14:sldId id="1460"/>
            <p14:sldId id="1461"/>
            <p14:sldId id="1462"/>
            <p14:sldId id="1463"/>
            <p14:sldId id="1464"/>
            <p14:sldId id="1465"/>
            <p14:sldId id="1466"/>
            <p14:sldId id="1467"/>
            <p14:sldId id="1468"/>
            <p14:sldId id="1469"/>
            <p14:sldId id="1470"/>
            <p14:sldId id="1471"/>
            <p14:sldId id="1472"/>
            <p14:sldId id="1473"/>
            <p14:sldId id="1474"/>
          </p14:sldIdLst>
        </p14:section>
        <p14:section name="Decomposition" id="{d313e415-6600-4dda-9616-94d0c59557a5}">
          <p14:sldIdLst>
            <p14:sldId id="1555"/>
            <p14:sldId id="1475"/>
            <p14:sldId id="1476"/>
            <p14:sldId id="1477"/>
            <p14:sldId id="1478"/>
            <p14:sldId id="1479"/>
            <p14:sldId id="1480"/>
            <p14:sldId id="1481"/>
            <p14:sldId id="1482"/>
            <p14:sldId id="1483"/>
            <p14:sldId id="1484"/>
            <p14:sldId id="1485"/>
            <p14:sldId id="1486"/>
            <p14:sldId id="1487"/>
            <p14:sldId id="1488"/>
            <p14:sldId id="1489"/>
            <p14:sldId id="1490"/>
            <p14:sldId id="1491"/>
            <p14:sldId id="1492"/>
            <p14:sldId id="1493"/>
            <p14:sldId id="1494"/>
            <p14:sldId id="1495"/>
            <p14:sldId id="1496"/>
            <p14:sldId id="1497"/>
            <p14:sldId id="1498"/>
            <p14:sldId id="1499"/>
            <p14:sldId id="1500"/>
            <p14:sldId id="1501"/>
          </p14:sldIdLst>
        </p14:section>
      </p14:sectionLst>
    </p:ext>
    <p:ext uri="{EFAFB233-063F-42B5-8137-9DF3F51BA10A}">
      <p15:sldGuideLst xmlns:p15="http://schemas.microsoft.com/office/powerpoint/2012/main">
        <p15:guide id="1" orient="horz" pos="3072" userDrawn="1">
          <p15:clr>
            <a:srgbClr val="A4A3A4"/>
          </p15:clr>
        </p15:guide>
        <p15:guide id="2" pos="409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6283" autoAdjust="0"/>
  </p:normalViewPr>
  <p:slideViewPr>
    <p:cSldViewPr showGuides="1">
      <p:cViewPr varScale="1">
        <p:scale>
          <a:sx n="76" d="100"/>
          <a:sy n="76" d="100"/>
        </p:scale>
        <p:origin x="1704" y="156"/>
      </p:cViewPr>
      <p:guideLst>
        <p:guide orient="horz" pos="3072"/>
        <p:guide pos="4096"/>
      </p:guideLst>
    </p:cSldViewPr>
  </p:slideViewPr>
  <p:notesTextViewPr>
    <p:cViewPr>
      <p:scale>
        <a:sx n="1" d="1"/>
        <a:sy n="1" d="1"/>
      </p:scale>
      <p:origin x="0" y="0"/>
    </p:cViewPr>
  </p:notesTextViewPr>
  <p:sorterViewPr>
    <p:cViewPr>
      <p:scale>
        <a:sx n="50" d="100"/>
        <a:sy n="50" d="100"/>
      </p:scale>
      <p:origin x="0" y="-2736"/>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0" Type="http://schemas.openxmlformats.org/officeDocument/2006/relationships/tags" Target="tags/tag1.xml"/><Relationship Id="rId6" Type="http://schemas.openxmlformats.org/officeDocument/2006/relationships/slide" Target="slides/slide4.xml"/><Relationship Id="rId59" Type="http://schemas.openxmlformats.org/officeDocument/2006/relationships/tableStyles" Target="tableStyles.xml"/><Relationship Id="rId58" Type="http://schemas.openxmlformats.org/officeDocument/2006/relationships/viewProps" Target="viewProps.xml"/><Relationship Id="rId57" Type="http://schemas.openxmlformats.org/officeDocument/2006/relationships/presProps" Target="presProps.xml"/><Relationship Id="rId56" Type="http://schemas.openxmlformats.org/officeDocument/2006/relationships/notesMaster" Target="notesMasters/notesMaster1.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8" name="Rectangle 1"/>
          <p:cNvSpPr>
            <a:spLocks noGrp="1" noRot="1" noChangeAspect="1"/>
          </p:cNvSpPr>
          <p:nvPr>
            <p:ph type="sldImg"/>
          </p:nvPr>
        </p:nvSpPr>
        <p:spPr bwMode="auto">
          <a:xfrm>
            <a:off x="1143000" y="685800"/>
            <a:ext cx="4572000" cy="342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 name="Rectangle 2"/>
          <p:cNvSpPr>
            <a:spLocks noGrp="1"/>
          </p:cNvSpPr>
          <p:nvPr>
            <p:ph type="body" sz="quarter" idx="1"/>
          </p:nvPr>
        </p:nvSpPr>
        <p:spPr bwMode="auto">
          <a:xfrm>
            <a:off x="914400" y="4343400"/>
            <a:ext cx="5029200" cy="4114800"/>
          </a:xfrm>
          <a:prstGeom prst="rect">
            <a:avLst/>
          </a:prstGeom>
          <a:noFill/>
          <a:ln>
            <a:noFill/>
          </a:ln>
          <a:effectLst/>
        </p:spPr>
        <p:txBody>
          <a:bodyPr vert="horz" wrap="square" lIns="91440" tIns="45720" rIns="91440" bIns="45720" numCol="1" anchor="t" anchorCtr="0" compatLnSpc="1"/>
          <a:lstStyle/>
          <a:p>
            <a:pPr lvl="0"/>
            <a:r>
              <a:rPr lang="en-US" altLang="en-US" noProof="0">
                <a:sym typeface="Helvetica Neue" charset="0"/>
              </a:rPr>
              <a:t>Click to edit Template text styles</a:t>
            </a:r>
            <a:endParaRPr lang="en-US" altLang="en-US" noProof="0">
              <a:sym typeface="Helvetica Neue" charset="0"/>
            </a:endParaRPr>
          </a:p>
          <a:p>
            <a:pPr lvl="1"/>
            <a:r>
              <a:rPr lang="en-US" altLang="en-US" noProof="0">
                <a:sym typeface="Helvetica Neue" charset="0"/>
              </a:rPr>
              <a:t>Second level</a:t>
            </a:r>
            <a:endParaRPr lang="en-US" altLang="en-US" noProof="0">
              <a:sym typeface="Helvetica Neue" charset="0"/>
            </a:endParaRPr>
          </a:p>
          <a:p>
            <a:pPr lvl="2"/>
            <a:r>
              <a:rPr lang="en-US" altLang="en-US" noProof="0">
                <a:sym typeface="Helvetica Neue" charset="0"/>
              </a:rPr>
              <a:t>Third level</a:t>
            </a:r>
            <a:endParaRPr lang="en-US" altLang="en-US" noProof="0">
              <a:sym typeface="Helvetica Neue" charset="0"/>
            </a:endParaRPr>
          </a:p>
          <a:p>
            <a:pPr lvl="3"/>
            <a:r>
              <a:rPr lang="en-US" altLang="en-US" noProof="0">
                <a:sym typeface="Helvetica Neue" charset="0"/>
              </a:rPr>
              <a:t>Fourth level</a:t>
            </a:r>
            <a:endParaRPr lang="en-US" altLang="en-US" noProof="0">
              <a:sym typeface="Helvetica Neue" charset="0"/>
            </a:endParaRPr>
          </a:p>
          <a:p>
            <a:pPr lvl="4"/>
            <a:r>
              <a:rPr lang="en-US" altLang="en-US" noProof="0">
                <a:sym typeface="Helvetica Neue" charset="0"/>
              </a:rPr>
              <a:t>Fifth level</a:t>
            </a:r>
            <a:endParaRPr lang="en-US" altLang="en-US" noProof="0">
              <a:sym typeface="Helvetica Neue" charset="0"/>
            </a:endParaRPr>
          </a:p>
        </p:txBody>
      </p:sp>
    </p:spTree>
  </p:cSld>
  <p:clrMap bg1="lt1" tx1="dk1" bg2="lt2" tx2="dk2" accent1="accent1" accent2="accent2" accent3="accent3" accent4="accent4" accent5="accent5" accent6="accent6" hlink="hlink" folHlink="folHlink"/>
  <p:notesStyle>
    <a:lvl1pPr algn="l" defTabSz="457200" rtl="0" eaLnBrk="0" fontAlgn="base" hangingPunct="0">
      <a:lnSpc>
        <a:spcPct val="117000"/>
      </a:lnSpc>
      <a:spcBef>
        <a:spcPct val="0"/>
      </a:spcBef>
      <a:spcAft>
        <a:spcPct val="0"/>
      </a:spcAft>
      <a:defRPr sz="2200" kern="1200">
        <a:solidFill>
          <a:srgbClr val="000000"/>
        </a:solidFill>
        <a:latin typeface="Helvetica Neue" charset="0"/>
        <a:ea typeface="Helvetica Neue" charset="0"/>
        <a:cs typeface="Helvetica Neue" charset="0"/>
        <a:sym typeface="Helvetica Neue" charset="0"/>
      </a:defRPr>
    </a:lvl1pPr>
    <a:lvl2pPr indent="228600" algn="l" defTabSz="457200" rtl="0" eaLnBrk="0" fontAlgn="base" hangingPunct="0">
      <a:lnSpc>
        <a:spcPct val="117000"/>
      </a:lnSpc>
      <a:spcBef>
        <a:spcPct val="0"/>
      </a:spcBef>
      <a:spcAft>
        <a:spcPct val="0"/>
      </a:spcAft>
      <a:defRPr sz="2200" kern="1200">
        <a:solidFill>
          <a:srgbClr val="000000"/>
        </a:solidFill>
        <a:latin typeface="Helvetica Neue" charset="0"/>
        <a:ea typeface="Helvetica Neue" charset="0"/>
        <a:cs typeface="Helvetica Neue" charset="0"/>
        <a:sym typeface="Helvetica Neue" charset="0"/>
      </a:defRPr>
    </a:lvl2pPr>
    <a:lvl3pPr indent="457200" algn="l" defTabSz="457200" rtl="0" eaLnBrk="0" fontAlgn="base" hangingPunct="0">
      <a:lnSpc>
        <a:spcPct val="117000"/>
      </a:lnSpc>
      <a:spcBef>
        <a:spcPct val="0"/>
      </a:spcBef>
      <a:spcAft>
        <a:spcPct val="0"/>
      </a:spcAft>
      <a:defRPr sz="2200" kern="1200">
        <a:solidFill>
          <a:srgbClr val="000000"/>
        </a:solidFill>
        <a:latin typeface="Helvetica Neue" charset="0"/>
        <a:ea typeface="Helvetica Neue" charset="0"/>
        <a:cs typeface="Helvetica Neue" charset="0"/>
        <a:sym typeface="Helvetica Neue" charset="0"/>
      </a:defRPr>
    </a:lvl3pPr>
    <a:lvl4pPr indent="685800" algn="l" defTabSz="457200" rtl="0" eaLnBrk="0" fontAlgn="base" hangingPunct="0">
      <a:lnSpc>
        <a:spcPct val="117000"/>
      </a:lnSpc>
      <a:spcBef>
        <a:spcPct val="0"/>
      </a:spcBef>
      <a:spcAft>
        <a:spcPct val="0"/>
      </a:spcAft>
      <a:defRPr sz="2200" kern="1200">
        <a:solidFill>
          <a:srgbClr val="000000"/>
        </a:solidFill>
        <a:latin typeface="Helvetica Neue" charset="0"/>
        <a:ea typeface="Helvetica Neue" charset="0"/>
        <a:cs typeface="Helvetica Neue" charset="0"/>
        <a:sym typeface="Helvetica Neue" charset="0"/>
      </a:defRPr>
    </a:lvl4pPr>
    <a:lvl5pPr indent="914400" algn="l" defTabSz="457200" rtl="0" eaLnBrk="0" fontAlgn="base" hangingPunct="0">
      <a:lnSpc>
        <a:spcPct val="117000"/>
      </a:lnSpc>
      <a:spcBef>
        <a:spcPct val="0"/>
      </a:spcBef>
      <a:spcAft>
        <a:spcPct val="0"/>
      </a:spcAft>
      <a:defRPr sz="2200" kern="1200">
        <a:solidFill>
          <a:srgbClr val="000000"/>
        </a:solidFill>
        <a:latin typeface="Helvetica Neue" charset="0"/>
        <a:ea typeface="Helvetica Neue" charset="0"/>
        <a:cs typeface="Helvetica Neue" charset="0"/>
        <a:sym typeface="Helvetica Neue"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25600" y="1597025"/>
            <a:ext cx="9753600" cy="3395663"/>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625600" y="5122863"/>
            <a:ext cx="9753600" cy="23542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Rectangle 5"/>
          <p:cNvSpPr>
            <a:spLocks noGrp="1"/>
          </p:cNvSpPr>
          <p:nvPr>
            <p:ph type="sldNum" sz="quarter" idx="10"/>
          </p:nvPr>
        </p:nvSpPr>
        <p:spPr/>
        <p:txBody>
          <a:bodyPr/>
          <a:lstStyle>
            <a:lvl1pPr>
              <a:defRPr/>
            </a:lvl1pPr>
          </a:lstStyle>
          <a:p>
            <a:fld id="{E77C7262-FF55-4610-9A25-667B2652BA58}" type="slidenum">
              <a:rPr lang="en-US" altLang="en-US"/>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5"/>
          <p:cNvSpPr>
            <a:spLocks noGrp="1"/>
          </p:cNvSpPr>
          <p:nvPr>
            <p:ph type="sldNum" sz="quarter" idx="10"/>
          </p:nvPr>
        </p:nvSpPr>
        <p:spPr/>
        <p:txBody>
          <a:bodyPr/>
          <a:lstStyle>
            <a:lvl1pPr>
              <a:defRPr/>
            </a:lvl1pPr>
          </a:lstStyle>
          <a:p>
            <a:fld id="{337783A1-42D6-4213-9BA0-F0CAED590AFA}" type="slidenum">
              <a:rPr lang="en-US" altLang="en-US"/>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87413" y="2432050"/>
            <a:ext cx="11217275" cy="4056063"/>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87413" y="6527800"/>
            <a:ext cx="11217275" cy="2133600"/>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endParaRPr lang="en-US"/>
          </a:p>
        </p:txBody>
      </p:sp>
      <p:sp>
        <p:nvSpPr>
          <p:cNvPr id="4" name="Rectangle 5"/>
          <p:cNvSpPr>
            <a:spLocks noGrp="1"/>
          </p:cNvSpPr>
          <p:nvPr>
            <p:ph type="sldNum" sz="quarter" idx="10"/>
          </p:nvPr>
        </p:nvSpPr>
        <p:spPr/>
        <p:txBody>
          <a:bodyPr/>
          <a:lstStyle>
            <a:lvl1pPr>
              <a:defRPr/>
            </a:lvl1pPr>
          </a:lstStyle>
          <a:p>
            <a:fld id="{AF9C8FD0-AE1F-4279-961C-85B30E8EF356}" type="slidenum">
              <a:rPr lang="en-US" altLang="en-US"/>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95300" y="1363663"/>
            <a:ext cx="5929313" cy="767873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577013" y="1363663"/>
            <a:ext cx="5930900" cy="767873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Rectangle 5"/>
          <p:cNvSpPr>
            <a:spLocks noGrp="1"/>
          </p:cNvSpPr>
          <p:nvPr>
            <p:ph type="sldNum" sz="quarter" idx="10"/>
          </p:nvPr>
        </p:nvSpPr>
        <p:spPr/>
        <p:txBody>
          <a:bodyPr/>
          <a:lstStyle>
            <a:lvl1pPr>
              <a:defRPr/>
            </a:lvl1pPr>
          </a:lstStyle>
          <a:p>
            <a:fld id="{EBB24CF5-79F1-4B9F-ADBC-FD8468321F55}" type="slidenum">
              <a:rPr lang="en-US" altLang="en-US"/>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95350" y="519113"/>
            <a:ext cx="11217275" cy="1885950"/>
          </a:xfrm>
        </p:spPr>
        <p:txBody>
          <a:bodyPr/>
          <a:lstStyle/>
          <a:p>
            <a:r>
              <a:rPr lang="en-US"/>
              <a:t>Click to edit Master title style</a:t>
            </a:r>
            <a:endParaRPr lang="en-US"/>
          </a:p>
        </p:txBody>
      </p:sp>
      <p:sp>
        <p:nvSpPr>
          <p:cNvPr id="3" name="Text Placeholder 2"/>
          <p:cNvSpPr>
            <a:spLocks noGrp="1"/>
          </p:cNvSpPr>
          <p:nvPr>
            <p:ph type="body" idx="1"/>
          </p:nvPr>
        </p:nvSpPr>
        <p:spPr>
          <a:xfrm>
            <a:off x="895350" y="2390775"/>
            <a:ext cx="5502275" cy="11715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95350" y="3562350"/>
            <a:ext cx="5502275" cy="5240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583363" y="2390775"/>
            <a:ext cx="5529262" cy="11715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583363" y="3562350"/>
            <a:ext cx="5529262" cy="5240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Rectangle 5"/>
          <p:cNvSpPr>
            <a:spLocks noGrp="1"/>
          </p:cNvSpPr>
          <p:nvPr>
            <p:ph type="sldNum" sz="quarter" idx="10"/>
          </p:nvPr>
        </p:nvSpPr>
        <p:spPr/>
        <p:txBody>
          <a:bodyPr/>
          <a:lstStyle>
            <a:lvl1pPr>
              <a:defRPr/>
            </a:lvl1pPr>
          </a:lstStyle>
          <a:p>
            <a:fld id="{771E3AAB-E94C-4BB3-991F-266A816450E1}" type="slidenum">
              <a:rPr lang="en-US" altLang="en-US"/>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Rectangle 5"/>
          <p:cNvSpPr>
            <a:spLocks noGrp="1"/>
          </p:cNvSpPr>
          <p:nvPr>
            <p:ph type="sldNum" sz="quarter" idx="10"/>
          </p:nvPr>
        </p:nvSpPr>
        <p:spPr/>
        <p:txBody>
          <a:bodyPr/>
          <a:lstStyle>
            <a:lvl1pPr>
              <a:defRPr/>
            </a:lvl1pPr>
          </a:lstStyle>
          <a:p>
            <a:fld id="{3E0B96DA-CC31-46CB-8F99-1CC45EAF4012}" type="slidenum">
              <a:rPr lang="en-US" altLang="en-US"/>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p:cNvSpPr>
          <p:nvPr>
            <p:ph type="sldNum" sz="quarter" idx="10"/>
          </p:nvPr>
        </p:nvSpPr>
        <p:spPr/>
        <p:txBody>
          <a:bodyPr/>
          <a:lstStyle>
            <a:lvl1pPr>
              <a:defRPr/>
            </a:lvl1pPr>
          </a:lstStyle>
          <a:p>
            <a:fld id="{7CC0F4C5-4F58-496F-81D1-185E39074ED6}" type="slidenum">
              <a:rPr lang="en-US" altLang="en-US"/>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95350" y="650875"/>
            <a:ext cx="4194175" cy="2274888"/>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529263" y="1404938"/>
            <a:ext cx="6583362" cy="69310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95350" y="2925763"/>
            <a:ext cx="4194175" cy="542131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Rectangle 5"/>
          <p:cNvSpPr>
            <a:spLocks noGrp="1"/>
          </p:cNvSpPr>
          <p:nvPr>
            <p:ph type="sldNum" sz="quarter" idx="10"/>
          </p:nvPr>
        </p:nvSpPr>
        <p:spPr/>
        <p:txBody>
          <a:bodyPr/>
          <a:lstStyle>
            <a:lvl1pPr>
              <a:defRPr/>
            </a:lvl1pPr>
          </a:lstStyle>
          <a:p>
            <a:fld id="{C87A5C2D-4DF0-4E9D-A3B4-66E7EA2348F0}" type="slidenum">
              <a:rPr lang="en-US" altLang="en-US"/>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95350" y="650875"/>
            <a:ext cx="4194175" cy="2274888"/>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529263" y="1404938"/>
            <a:ext cx="6583362" cy="69310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sym typeface="Helvetica" charset="0"/>
            </a:endParaRPr>
          </a:p>
        </p:txBody>
      </p:sp>
      <p:sp>
        <p:nvSpPr>
          <p:cNvPr id="4" name="Text Placeholder 3"/>
          <p:cNvSpPr>
            <a:spLocks noGrp="1"/>
          </p:cNvSpPr>
          <p:nvPr>
            <p:ph type="body" sz="half" idx="2"/>
          </p:nvPr>
        </p:nvSpPr>
        <p:spPr>
          <a:xfrm>
            <a:off x="895350" y="2925763"/>
            <a:ext cx="4194175" cy="542131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Rectangle 5"/>
          <p:cNvSpPr>
            <a:spLocks noGrp="1"/>
          </p:cNvSpPr>
          <p:nvPr>
            <p:ph type="sldNum" sz="quarter" idx="10"/>
          </p:nvPr>
        </p:nvSpPr>
        <p:spPr/>
        <p:txBody>
          <a:bodyPr/>
          <a:lstStyle>
            <a:lvl1pPr>
              <a:defRPr/>
            </a:lvl1pPr>
          </a:lstStyle>
          <a:p>
            <a:fld id="{BD4E2809-2EBC-494C-80AA-8548A1F41DF3}" type="slidenum">
              <a:rPr lang="en-US" altLang="en-US"/>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5"/>
          <p:cNvSpPr>
            <a:spLocks noGrp="1"/>
          </p:cNvSpPr>
          <p:nvPr>
            <p:ph type="sldNum" sz="quarter" idx="10"/>
          </p:nvPr>
        </p:nvSpPr>
        <p:spPr/>
        <p:txBody>
          <a:bodyPr/>
          <a:lstStyle>
            <a:lvl1pPr>
              <a:defRPr/>
            </a:lvl1pPr>
          </a:lstStyle>
          <a:p>
            <a:fld id="{82CD714D-5A77-4A31-BC9B-06D645F830C3}" type="slidenum">
              <a:rPr lang="en-US" altLang="en-US"/>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05950" y="176213"/>
            <a:ext cx="3001963" cy="8866187"/>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95300" y="176213"/>
            <a:ext cx="8858250" cy="8866187"/>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5"/>
          <p:cNvSpPr>
            <a:spLocks noGrp="1"/>
          </p:cNvSpPr>
          <p:nvPr>
            <p:ph type="sldNum" sz="quarter" idx="10"/>
          </p:nvPr>
        </p:nvSpPr>
        <p:spPr/>
        <p:txBody>
          <a:bodyPr/>
          <a:lstStyle>
            <a:lvl1pPr>
              <a:defRPr/>
            </a:lvl1pPr>
          </a:lstStyle>
          <a:p>
            <a:fld id="{353B9464-FA1B-47DD-AA1A-F451366C10A9}" type="slidenum">
              <a:rPr lang="en-US" altLang="en-US"/>
            </a:fld>
            <a:endParaRPr lang="en-US"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894080" y="2596444"/>
            <a:ext cx="5527040" cy="618857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583680" y="2596444"/>
            <a:ext cx="5527040" cy="618857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a:xfrm>
            <a:off x="650240" y="8882098"/>
            <a:ext cx="3034453" cy="677333"/>
          </a:xfrm>
        </p:spPr>
        <p:txBody>
          <a:bodyPr/>
          <a:lstStyle/>
          <a:p>
            <a:pPr lvl="0"/>
            <a:endParaRPr lang="en-US"/>
          </a:p>
        </p:txBody>
      </p:sp>
      <p:sp>
        <p:nvSpPr>
          <p:cNvPr id="6" name="Footer Placeholder 5"/>
          <p:cNvSpPr>
            <a:spLocks noGrp="1"/>
          </p:cNvSpPr>
          <p:nvPr>
            <p:ph type="ftr" sz="quarter" idx="11"/>
          </p:nvPr>
        </p:nvSpPr>
        <p:spPr>
          <a:xfrm>
            <a:off x="4443307" y="8882098"/>
            <a:ext cx="4118187" cy="677333"/>
          </a:xfrm>
        </p:spPr>
        <p:txBody>
          <a:bodyPr/>
          <a:lstStyle/>
          <a:p>
            <a:pPr lvl="0"/>
            <a:endParaRPr lang="en-US"/>
          </a:p>
        </p:txBody>
      </p:sp>
      <p:sp>
        <p:nvSpPr>
          <p:cNvPr id="7" name="Slide Number Placeholder 6"/>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894080" y="2596444"/>
            <a:ext cx="11216640" cy="2984782"/>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894080" y="5797973"/>
            <a:ext cx="11216640" cy="2987041"/>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a:xfrm>
            <a:off x="650240" y="8882098"/>
            <a:ext cx="3034453" cy="677333"/>
          </a:xfrm>
        </p:spPr>
        <p:txBody>
          <a:bodyPr/>
          <a:lstStyle/>
          <a:p>
            <a:pPr lvl="0"/>
            <a:endParaRPr lang="en-US"/>
          </a:p>
        </p:txBody>
      </p:sp>
      <p:sp>
        <p:nvSpPr>
          <p:cNvPr id="6" name="Footer Placeholder 5"/>
          <p:cNvSpPr>
            <a:spLocks noGrp="1"/>
          </p:cNvSpPr>
          <p:nvPr>
            <p:ph type="ftr" sz="quarter" idx="11"/>
          </p:nvPr>
        </p:nvSpPr>
        <p:spPr>
          <a:xfrm>
            <a:off x="4443307" y="8882098"/>
            <a:ext cx="4118187" cy="677333"/>
          </a:xfrm>
        </p:spPr>
        <p:txBody>
          <a:bodyPr/>
          <a:lstStyle/>
          <a:p>
            <a:pPr lvl="0"/>
            <a:endParaRPr lang="en-US"/>
          </a:p>
        </p:txBody>
      </p:sp>
      <p:sp>
        <p:nvSpPr>
          <p:cNvPr id="7" name="Slide Number Placeholder 6"/>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OverTx" preserve="1">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94080" y="2596444"/>
            <a:ext cx="11216640" cy="2984782"/>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94080" y="5797973"/>
            <a:ext cx="11216640" cy="2987041"/>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a:xfrm>
            <a:off x="650240" y="8882098"/>
            <a:ext cx="3034453" cy="677333"/>
          </a:xfrm>
        </p:spPr>
        <p:txBody>
          <a:bodyPr/>
          <a:lstStyle/>
          <a:p>
            <a:pPr lvl="0"/>
            <a:fld id="{BB962C8B-B14F-4D97-AF65-F5344CB8AC3E}" type="datetime1">
              <a:rPr lang="en-US"/>
            </a:fld>
            <a:endParaRPr lang="en-US"/>
          </a:p>
        </p:txBody>
      </p:sp>
      <p:sp>
        <p:nvSpPr>
          <p:cNvPr id="6" name="Footer Placeholder 5"/>
          <p:cNvSpPr>
            <a:spLocks noGrp="1"/>
          </p:cNvSpPr>
          <p:nvPr>
            <p:ph type="ftr" sz="quarter" idx="11"/>
          </p:nvPr>
        </p:nvSpPr>
        <p:spPr>
          <a:xfrm>
            <a:off x="4443307" y="8882098"/>
            <a:ext cx="4118187" cy="677333"/>
          </a:xfrm>
        </p:spPr>
        <p:txBody>
          <a:bodyPr/>
          <a:lstStyle/>
          <a:p>
            <a:pPr lvl="0"/>
            <a:endParaRPr lang="en-US"/>
          </a:p>
        </p:txBody>
      </p:sp>
      <p:sp>
        <p:nvSpPr>
          <p:cNvPr id="7" name="Slide Number Placeholder 6"/>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OverTx" preserve="1">
  <p:cSld name="Title and 2 Content ov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quarter" idx="1"/>
          </p:nvPr>
        </p:nvSpPr>
        <p:spPr>
          <a:xfrm>
            <a:off x="894080" y="2596444"/>
            <a:ext cx="5527040" cy="2984782"/>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quarter" idx="2"/>
          </p:nvPr>
        </p:nvSpPr>
        <p:spPr>
          <a:xfrm>
            <a:off x="6583680" y="2596444"/>
            <a:ext cx="5527040" cy="2984782"/>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half" idx="3"/>
          </p:nvPr>
        </p:nvSpPr>
        <p:spPr>
          <a:xfrm>
            <a:off x="894080" y="5797973"/>
            <a:ext cx="11216640" cy="2987041"/>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Date Placeholder 5"/>
          <p:cNvSpPr>
            <a:spLocks noGrp="1"/>
          </p:cNvSpPr>
          <p:nvPr>
            <p:ph type="dt" sz="half" idx="10"/>
          </p:nvPr>
        </p:nvSpPr>
        <p:spPr>
          <a:xfrm>
            <a:off x="650240" y="8882098"/>
            <a:ext cx="3034453" cy="677333"/>
          </a:xfrm>
        </p:spPr>
        <p:txBody>
          <a:bodyPr/>
          <a:lstStyle/>
          <a:p>
            <a:pPr lvl="0"/>
            <a:fld id="{BB962C8B-B14F-4D97-AF65-F5344CB8AC3E}" type="datetime1">
              <a:rPr lang="en-US"/>
            </a:fld>
            <a:endParaRPr lang="en-US"/>
          </a:p>
        </p:txBody>
      </p:sp>
      <p:sp>
        <p:nvSpPr>
          <p:cNvPr id="7" name="Footer Placeholder 6"/>
          <p:cNvSpPr>
            <a:spLocks noGrp="1"/>
          </p:cNvSpPr>
          <p:nvPr>
            <p:ph type="ftr" sz="quarter" idx="11"/>
          </p:nvPr>
        </p:nvSpPr>
        <p:spPr>
          <a:xfrm>
            <a:off x="4443307" y="8882098"/>
            <a:ext cx="4118187" cy="677333"/>
          </a:xfrm>
        </p:spPr>
        <p:txBody>
          <a:bodyPr/>
          <a:lstStyle/>
          <a:p>
            <a:pPr lvl="0"/>
            <a:endParaRPr lang="en-US"/>
          </a:p>
        </p:txBody>
      </p:sp>
      <p:sp>
        <p:nvSpPr>
          <p:cNvPr id="8" name="Slide Number Placeholder 7"/>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894080" y="2596444"/>
            <a:ext cx="5527040" cy="618857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quarter" idx="2"/>
          </p:nvPr>
        </p:nvSpPr>
        <p:spPr>
          <a:xfrm>
            <a:off x="6583680" y="2596444"/>
            <a:ext cx="5527040" cy="2984782"/>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Content Placeholder 4"/>
          <p:cNvSpPr>
            <a:spLocks noGrp="1"/>
          </p:cNvSpPr>
          <p:nvPr>
            <p:ph sz="quarter" idx="3"/>
          </p:nvPr>
        </p:nvSpPr>
        <p:spPr>
          <a:xfrm>
            <a:off x="6583680" y="5797973"/>
            <a:ext cx="5527040" cy="2987041"/>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Date Placeholder 5"/>
          <p:cNvSpPr>
            <a:spLocks noGrp="1"/>
          </p:cNvSpPr>
          <p:nvPr>
            <p:ph type="dt" sz="half" idx="10"/>
          </p:nvPr>
        </p:nvSpPr>
        <p:spPr>
          <a:xfrm>
            <a:off x="650240" y="8882098"/>
            <a:ext cx="3034453" cy="677333"/>
          </a:xfrm>
        </p:spPr>
        <p:txBody>
          <a:bodyPr/>
          <a:lstStyle/>
          <a:p>
            <a:pPr lvl="0"/>
            <a:fld id="{BB962C8B-B14F-4D97-AF65-F5344CB8AC3E}" type="datetime1">
              <a:rPr lang="en-US"/>
            </a:fld>
            <a:endParaRPr lang="en-US"/>
          </a:p>
        </p:txBody>
      </p:sp>
      <p:sp>
        <p:nvSpPr>
          <p:cNvPr id="7" name="Footer Placeholder 6"/>
          <p:cNvSpPr>
            <a:spLocks noGrp="1"/>
          </p:cNvSpPr>
          <p:nvPr>
            <p:ph type="ftr" sz="quarter" idx="11"/>
          </p:nvPr>
        </p:nvSpPr>
        <p:spPr>
          <a:xfrm>
            <a:off x="4443307" y="8882098"/>
            <a:ext cx="4118187" cy="677333"/>
          </a:xfrm>
        </p:spPr>
        <p:txBody>
          <a:bodyPr/>
          <a:lstStyle/>
          <a:p>
            <a:pPr lvl="0"/>
            <a:endParaRPr lang="en-US"/>
          </a:p>
        </p:txBody>
      </p:sp>
      <p:sp>
        <p:nvSpPr>
          <p:cNvPr id="8" name="Slide Number Placeholder 7"/>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image" Target="../media/image1.png"/><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rgbClr val="FFFFFF"/>
        </a:solidFill>
        <a:effectLst/>
      </p:bgPr>
    </p:bg>
    <p:spTree>
      <p:nvGrpSpPr>
        <p:cNvPr id="1" name=""/>
        <p:cNvGrpSpPr/>
        <p:nvPr/>
      </p:nvGrpSpPr>
      <p:grpSpPr>
        <a:xfrm>
          <a:off x="0" y="0"/>
          <a:ext cx="0" cy="0"/>
          <a:chOff x="0" y="0"/>
          <a:chExt cx="0" cy="0"/>
        </a:xfrm>
      </p:grpSpPr>
      <p:sp>
        <p:nvSpPr>
          <p:cNvPr id="1026" name="Rectangle 1"/>
          <p:cNvSpPr>
            <a:spLocks noGrp="1"/>
          </p:cNvSpPr>
          <p:nvPr>
            <p:ph type="body" idx="1"/>
          </p:nvPr>
        </p:nvSpPr>
        <p:spPr bwMode="auto">
          <a:xfrm>
            <a:off x="495300" y="1363663"/>
            <a:ext cx="12012613" cy="7678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50800" tIns="50800" rIns="50800" bIns="50800" numCol="1" anchor="t" anchorCtr="0" compatLnSpc="1"/>
          <a:lstStyle/>
          <a:p>
            <a:pPr lvl="0"/>
            <a:r>
              <a:rPr lang="en-US" altLang="en-US">
                <a:sym typeface="Helvetica" charset="0"/>
              </a:rPr>
              <a:t>Click to edit Template text styles</a:t>
            </a:r>
            <a:endParaRPr lang="en-US" altLang="en-US">
              <a:sym typeface="Helvetica" charset="0"/>
            </a:endParaRPr>
          </a:p>
          <a:p>
            <a:pPr lvl="1"/>
            <a:r>
              <a:rPr lang="en-US" altLang="en-US">
                <a:sym typeface="Helvetica" charset="0"/>
              </a:rPr>
              <a:t>Second level</a:t>
            </a:r>
            <a:endParaRPr lang="en-US" altLang="en-US">
              <a:sym typeface="Helvetica" charset="0"/>
            </a:endParaRPr>
          </a:p>
          <a:p>
            <a:pPr lvl="2"/>
            <a:r>
              <a:rPr lang="en-US" altLang="en-US">
                <a:sym typeface="Helvetica" charset="0"/>
              </a:rPr>
              <a:t>Third level</a:t>
            </a:r>
            <a:endParaRPr lang="en-US" altLang="en-US">
              <a:sym typeface="Helvetica" charset="0"/>
            </a:endParaRPr>
          </a:p>
          <a:p>
            <a:pPr lvl="3"/>
            <a:r>
              <a:rPr lang="en-US" altLang="en-US">
                <a:sym typeface="Helvetica" charset="0"/>
              </a:rPr>
              <a:t>Fourth level</a:t>
            </a:r>
            <a:endParaRPr lang="en-US" altLang="en-US">
              <a:sym typeface="Helvetica" charset="0"/>
            </a:endParaRPr>
          </a:p>
          <a:p>
            <a:pPr lvl="4"/>
            <a:r>
              <a:rPr lang="en-US" altLang="en-US">
                <a:sym typeface="Helvetica" charset="0"/>
              </a:rPr>
              <a:t>Fifth level</a:t>
            </a:r>
            <a:endParaRPr lang="en-US" altLang="en-US">
              <a:sym typeface="Helvetica" charset="0"/>
            </a:endParaRPr>
          </a:p>
        </p:txBody>
      </p:sp>
      <p:sp>
        <p:nvSpPr>
          <p:cNvPr id="1027" name="Rectangle 2"/>
          <p:cNvSpPr>
            <a:spLocks noGrp="1"/>
          </p:cNvSpPr>
          <p:nvPr>
            <p:ph type="title"/>
          </p:nvPr>
        </p:nvSpPr>
        <p:spPr bwMode="auto">
          <a:xfrm>
            <a:off x="711200" y="176213"/>
            <a:ext cx="11582400" cy="852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50800" tIns="50800" rIns="50800" bIns="50800" numCol="1" anchor="t" anchorCtr="0" compatLnSpc="1"/>
          <a:lstStyle/>
          <a:p>
            <a:pPr lvl="0"/>
            <a:r>
              <a:rPr lang="en-US" altLang="en-US">
                <a:sym typeface="Helvetica" charset="0"/>
              </a:rPr>
              <a:t>Click to edit Template title style</a:t>
            </a:r>
            <a:endParaRPr lang="en-US" altLang="en-US">
              <a:sym typeface="Helvetica" charset="0"/>
            </a:endParaRPr>
          </a:p>
        </p:txBody>
      </p:sp>
      <p:pic>
        <p:nvPicPr>
          <p:cNvPr id="1028" name="Picture 3"/>
          <p:cNvPicPr>
            <a:picLocks noChangeAspect="1"/>
          </p:cNvPicPr>
          <p:nvPr/>
        </p:nvPicPr>
        <p:blipFill>
          <a:blip r:embed="rId17">
            <a:extLst>
              <a:ext uri="{28A0092B-C50C-407E-A947-70E740481C1C}">
                <a14:useLocalDpi xmlns:a14="http://schemas.microsoft.com/office/drawing/2010/main" val="0"/>
              </a:ext>
            </a:extLst>
          </a:blip>
          <a:srcRect/>
          <a:stretch>
            <a:fillRect/>
          </a:stretch>
        </p:blipFill>
        <p:spPr bwMode="auto">
          <a:xfrm>
            <a:off x="9963150" y="131763"/>
            <a:ext cx="2632075" cy="730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029" name="Line 4"/>
          <p:cNvSpPr>
            <a:spLocks noChangeShapeType="1"/>
          </p:cNvSpPr>
          <p:nvPr/>
        </p:nvSpPr>
        <p:spPr bwMode="auto">
          <a:xfrm>
            <a:off x="485775" y="1116013"/>
            <a:ext cx="12031663"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0800" tIns="50800" rIns="50800" bIns="50800" anchor="ctr"/>
          <a:lstStyle/>
          <a:p>
            <a:endParaRPr lang="en-US"/>
          </a:p>
        </p:txBody>
      </p:sp>
      <p:sp>
        <p:nvSpPr>
          <p:cNvPr id="2" name="Rectangle 5"/>
          <p:cNvSpPr>
            <a:spLocks noGrp="1"/>
          </p:cNvSpPr>
          <p:nvPr>
            <p:ph type="sldNum" sz="quarter" idx="2"/>
          </p:nvPr>
        </p:nvSpPr>
        <p:spPr bwMode="auto">
          <a:xfrm>
            <a:off x="6345238" y="9117013"/>
            <a:ext cx="306387" cy="328612"/>
          </a:xfrm>
          <a:prstGeom prst="rect">
            <a:avLst/>
          </a:prstGeom>
          <a:noFill/>
          <a:ln>
            <a:noFill/>
          </a:ln>
          <a:effectLst/>
        </p:spPr>
        <p:txBody>
          <a:bodyPr vert="horz" wrap="none" lIns="50800" tIns="50800" rIns="50800" bIns="50800" numCol="1" anchor="b" anchorCtr="0" compatLnSpc="1"/>
          <a:lstStyle>
            <a:lvl1pPr algn="ctr" defTabSz="1739900" eaLnBrk="1">
              <a:defRPr sz="1400">
                <a:solidFill>
                  <a:srgbClr val="5E5E5E"/>
                </a:solidFill>
                <a:latin typeface="Graphik" charset="0"/>
                <a:ea typeface="Graphik" charset="0"/>
                <a:cs typeface="Graphik" charset="0"/>
                <a:sym typeface="Graphik" charset="0"/>
              </a:defRPr>
            </a:lvl1pPr>
          </a:lstStyle>
          <a:p>
            <a:fld id="{0EF41DDE-95AD-41CE-B516-81F91E998433}" type="slidenum">
              <a:rPr lang="en-US" altLang="en-US"/>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1739900" rtl="0" eaLnBrk="0" fontAlgn="base" hangingPunct="0">
        <a:lnSpc>
          <a:spcPct val="70000"/>
        </a:lnSpc>
        <a:spcBef>
          <a:spcPct val="0"/>
        </a:spcBef>
        <a:spcAft>
          <a:spcPct val="0"/>
        </a:spcAft>
        <a:defRPr sz="5800" b="1" kern="1200">
          <a:solidFill>
            <a:srgbClr val="AE0428"/>
          </a:solidFill>
          <a:latin typeface="+mj-lt"/>
          <a:ea typeface="+mj-ea"/>
          <a:cs typeface="+mj-cs"/>
          <a:sym typeface="Helvetica" charset="0"/>
        </a:defRPr>
      </a:lvl1pPr>
      <a:lvl2pPr algn="l" defTabSz="1739900" rtl="0" eaLnBrk="0" fontAlgn="base" hangingPunct="0">
        <a:lnSpc>
          <a:spcPct val="70000"/>
        </a:lnSpc>
        <a:spcBef>
          <a:spcPct val="0"/>
        </a:spcBef>
        <a:spcAft>
          <a:spcPct val="0"/>
        </a:spcAft>
        <a:defRPr sz="5800" b="1">
          <a:solidFill>
            <a:srgbClr val="AE0428"/>
          </a:solidFill>
          <a:latin typeface="Helvetica" charset="0"/>
          <a:ea typeface="Helvetica" charset="0"/>
          <a:cs typeface="Helvetica" charset="0"/>
          <a:sym typeface="Helvetica" charset="0"/>
        </a:defRPr>
      </a:lvl2pPr>
      <a:lvl3pPr algn="l" defTabSz="1739900" rtl="0" eaLnBrk="0" fontAlgn="base" hangingPunct="0">
        <a:lnSpc>
          <a:spcPct val="70000"/>
        </a:lnSpc>
        <a:spcBef>
          <a:spcPct val="0"/>
        </a:spcBef>
        <a:spcAft>
          <a:spcPct val="0"/>
        </a:spcAft>
        <a:defRPr sz="5800" b="1">
          <a:solidFill>
            <a:srgbClr val="AE0428"/>
          </a:solidFill>
          <a:latin typeface="Helvetica" charset="0"/>
          <a:ea typeface="Helvetica" charset="0"/>
          <a:cs typeface="Helvetica" charset="0"/>
          <a:sym typeface="Helvetica" charset="0"/>
        </a:defRPr>
      </a:lvl3pPr>
      <a:lvl4pPr algn="l" defTabSz="1739900" rtl="0" eaLnBrk="0" fontAlgn="base" hangingPunct="0">
        <a:lnSpc>
          <a:spcPct val="70000"/>
        </a:lnSpc>
        <a:spcBef>
          <a:spcPct val="0"/>
        </a:spcBef>
        <a:spcAft>
          <a:spcPct val="0"/>
        </a:spcAft>
        <a:defRPr sz="5800" b="1">
          <a:solidFill>
            <a:srgbClr val="AE0428"/>
          </a:solidFill>
          <a:latin typeface="Helvetica" charset="0"/>
          <a:ea typeface="Helvetica" charset="0"/>
          <a:cs typeface="Helvetica" charset="0"/>
          <a:sym typeface="Helvetica" charset="0"/>
        </a:defRPr>
      </a:lvl4pPr>
      <a:lvl5pPr algn="l" defTabSz="1739900" rtl="0" eaLnBrk="0" fontAlgn="base" hangingPunct="0">
        <a:lnSpc>
          <a:spcPct val="70000"/>
        </a:lnSpc>
        <a:spcBef>
          <a:spcPct val="0"/>
        </a:spcBef>
        <a:spcAft>
          <a:spcPct val="0"/>
        </a:spcAft>
        <a:defRPr sz="5800" b="1">
          <a:solidFill>
            <a:srgbClr val="AE0428"/>
          </a:solidFill>
          <a:latin typeface="Helvetica" charset="0"/>
          <a:ea typeface="Helvetica" charset="0"/>
          <a:cs typeface="Helvetica" charset="0"/>
          <a:sym typeface="Helvetica" charset="0"/>
        </a:defRPr>
      </a:lvl5pPr>
      <a:lvl6pPr marL="457200" algn="l" defTabSz="1739900" rtl="0" fontAlgn="base" hangingPunct="0">
        <a:lnSpc>
          <a:spcPct val="70000"/>
        </a:lnSpc>
        <a:spcBef>
          <a:spcPct val="0"/>
        </a:spcBef>
        <a:spcAft>
          <a:spcPct val="0"/>
        </a:spcAft>
        <a:defRPr sz="5800" b="1">
          <a:solidFill>
            <a:srgbClr val="AE0428"/>
          </a:solidFill>
          <a:latin typeface="Helvetica" charset="0"/>
          <a:ea typeface="Helvetica" charset="0"/>
          <a:cs typeface="Helvetica" charset="0"/>
          <a:sym typeface="Helvetica" charset="0"/>
        </a:defRPr>
      </a:lvl6pPr>
      <a:lvl7pPr marL="914400" algn="l" defTabSz="1739900" rtl="0" fontAlgn="base" hangingPunct="0">
        <a:lnSpc>
          <a:spcPct val="70000"/>
        </a:lnSpc>
        <a:spcBef>
          <a:spcPct val="0"/>
        </a:spcBef>
        <a:spcAft>
          <a:spcPct val="0"/>
        </a:spcAft>
        <a:defRPr sz="5800" b="1">
          <a:solidFill>
            <a:srgbClr val="AE0428"/>
          </a:solidFill>
          <a:latin typeface="Helvetica" charset="0"/>
          <a:ea typeface="Helvetica" charset="0"/>
          <a:cs typeface="Helvetica" charset="0"/>
          <a:sym typeface="Helvetica" charset="0"/>
        </a:defRPr>
      </a:lvl7pPr>
      <a:lvl8pPr marL="1371600" algn="l" defTabSz="1739900" rtl="0" fontAlgn="base" hangingPunct="0">
        <a:lnSpc>
          <a:spcPct val="70000"/>
        </a:lnSpc>
        <a:spcBef>
          <a:spcPct val="0"/>
        </a:spcBef>
        <a:spcAft>
          <a:spcPct val="0"/>
        </a:spcAft>
        <a:defRPr sz="5800" b="1">
          <a:solidFill>
            <a:srgbClr val="AE0428"/>
          </a:solidFill>
          <a:latin typeface="Helvetica" charset="0"/>
          <a:ea typeface="Helvetica" charset="0"/>
          <a:cs typeface="Helvetica" charset="0"/>
          <a:sym typeface="Helvetica" charset="0"/>
        </a:defRPr>
      </a:lvl8pPr>
      <a:lvl9pPr marL="1828800" algn="l" defTabSz="1739900" rtl="0" fontAlgn="base" hangingPunct="0">
        <a:lnSpc>
          <a:spcPct val="70000"/>
        </a:lnSpc>
        <a:spcBef>
          <a:spcPct val="0"/>
        </a:spcBef>
        <a:spcAft>
          <a:spcPct val="0"/>
        </a:spcAft>
        <a:defRPr sz="5800" b="1">
          <a:solidFill>
            <a:srgbClr val="AE0428"/>
          </a:solidFill>
          <a:latin typeface="Helvetica" charset="0"/>
          <a:ea typeface="Helvetica" charset="0"/>
          <a:cs typeface="Helvetica" charset="0"/>
          <a:sym typeface="Helvetica" charset="0"/>
        </a:defRPr>
      </a:lvl9pPr>
    </p:titleStyle>
    <p:bodyStyle>
      <a:lvl1pPr marL="421005" indent="-421005" algn="l" defTabSz="1739900" rtl="0" eaLnBrk="0" fontAlgn="base" hangingPunct="0">
        <a:spcBef>
          <a:spcPts val="2000"/>
        </a:spcBef>
        <a:spcAft>
          <a:spcPct val="0"/>
        </a:spcAft>
        <a:buSzPct val="75000"/>
        <a:buChar char="•"/>
        <a:defRPr sz="3000" kern="1200">
          <a:solidFill>
            <a:srgbClr val="000000"/>
          </a:solidFill>
          <a:latin typeface="+mn-lt"/>
          <a:ea typeface="+mn-ea"/>
          <a:cs typeface="+mn-cs"/>
          <a:sym typeface="Helvetica" charset="0"/>
        </a:defRPr>
      </a:lvl1pPr>
      <a:lvl2pPr marL="787400" indent="-393700" algn="l" defTabSz="1739900" rtl="0" eaLnBrk="0" fontAlgn="base" hangingPunct="0">
        <a:spcBef>
          <a:spcPts val="2000"/>
        </a:spcBef>
        <a:spcAft>
          <a:spcPct val="0"/>
        </a:spcAft>
        <a:buSzPct val="175000"/>
        <a:buChar char="•"/>
        <a:defRPr sz="3000" kern="1200">
          <a:solidFill>
            <a:srgbClr val="000000"/>
          </a:solidFill>
          <a:latin typeface="+mn-lt"/>
          <a:ea typeface="+mn-ea"/>
          <a:cs typeface="+mn-cs"/>
          <a:sym typeface="Helvetica" charset="0"/>
        </a:defRPr>
      </a:lvl2pPr>
      <a:lvl3pPr marL="1181100" indent="-393700" algn="l" defTabSz="1739900" rtl="0" eaLnBrk="0" fontAlgn="base" hangingPunct="0">
        <a:spcBef>
          <a:spcPts val="2000"/>
        </a:spcBef>
        <a:spcAft>
          <a:spcPct val="0"/>
        </a:spcAft>
        <a:buSzPct val="175000"/>
        <a:buChar char="•"/>
        <a:defRPr sz="3000" kern="1200">
          <a:solidFill>
            <a:srgbClr val="000000"/>
          </a:solidFill>
          <a:latin typeface="+mn-lt"/>
          <a:ea typeface="+mn-ea"/>
          <a:cs typeface="+mn-cs"/>
          <a:sym typeface="Helvetica" charset="0"/>
        </a:defRPr>
      </a:lvl3pPr>
      <a:lvl4pPr marL="1574800" indent="-393700" algn="l" defTabSz="1739900" rtl="0" eaLnBrk="0" fontAlgn="base" hangingPunct="0">
        <a:spcBef>
          <a:spcPts val="2000"/>
        </a:spcBef>
        <a:spcAft>
          <a:spcPct val="0"/>
        </a:spcAft>
        <a:buSzPct val="175000"/>
        <a:buChar char="•"/>
        <a:defRPr sz="3000" kern="1200">
          <a:solidFill>
            <a:srgbClr val="000000"/>
          </a:solidFill>
          <a:latin typeface="+mn-lt"/>
          <a:ea typeface="+mn-ea"/>
          <a:cs typeface="+mn-cs"/>
          <a:sym typeface="Helvetica" charset="0"/>
        </a:defRPr>
      </a:lvl4pPr>
      <a:lvl5pPr marL="1968500" indent="-393700" algn="l" defTabSz="1739900" rtl="0" eaLnBrk="0" fontAlgn="base" hangingPunct="0">
        <a:spcBef>
          <a:spcPts val="2000"/>
        </a:spcBef>
        <a:spcAft>
          <a:spcPct val="0"/>
        </a:spcAft>
        <a:buSzPct val="175000"/>
        <a:buChar char="•"/>
        <a:defRPr sz="3000" kern="1200">
          <a:solidFill>
            <a:srgbClr val="000000"/>
          </a:solidFill>
          <a:latin typeface="+mn-lt"/>
          <a:ea typeface="+mn-ea"/>
          <a:cs typeface="+mn-cs"/>
          <a:sym typeface="Helvetica"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w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7.wmf"/></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8.wmf"/></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9.w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0.w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1.w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12.wmf"/></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13.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14.w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5.w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6" Type="http://schemas.openxmlformats.org/officeDocument/2006/relationships/slideLayout" Target="../slideLayouts/slideLayout16.xml"/><Relationship Id="rId5" Type="http://schemas.openxmlformats.org/officeDocument/2006/relationships/image" Target="../media/image20.png"/><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1.wm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2.wmf"/></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3.w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4.wmf"/></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image" Target="../media/image26.png"/><Relationship Id="rId1" Type="http://schemas.openxmlformats.org/officeDocument/2006/relationships/image" Target="../media/image25.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image" Target="../media/image27.wmf"/></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8.wmf"/></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9.wmf"/></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30.wmf"/></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31.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1"/>
          <p:cNvSpPr>
            <a:spLocks noGrp="1"/>
          </p:cNvSpPr>
          <p:nvPr>
            <p:ph type="ctrTitle"/>
          </p:nvPr>
        </p:nvSpPr>
        <p:spPr>
          <a:xfrm>
            <a:off x="711200" y="2197100"/>
            <a:ext cx="11582400" cy="1079500"/>
          </a:xfrm>
        </p:spPr>
        <p:txBody>
          <a:bodyPr/>
          <a:lstStyle/>
          <a:p>
            <a:pPr eaLnBrk="1">
              <a:lnSpc>
                <a:spcPct val="80000"/>
              </a:lnSpc>
            </a:pPr>
            <a:r>
              <a:rPr lang="en-US" altLang="en-US" sz="4500"/>
              <a:t>DTS205TC High Performance Computing</a:t>
            </a:r>
            <a:endParaRPr lang="en-US" altLang="en-US" sz="4500"/>
          </a:p>
        </p:txBody>
      </p:sp>
      <p:sp>
        <p:nvSpPr>
          <p:cNvPr id="88067" name="Rectangle 2"/>
          <p:cNvSpPr>
            <a:spLocks noGrp="1"/>
          </p:cNvSpPr>
          <p:nvPr>
            <p:ph type="subTitle" sz="quarter" idx="1"/>
          </p:nvPr>
        </p:nvSpPr>
        <p:spPr>
          <a:xfrm>
            <a:off x="711200" y="4611688"/>
            <a:ext cx="11582400" cy="730250"/>
          </a:xfrm>
        </p:spPr>
        <p:txBody>
          <a:bodyPr/>
          <a:lstStyle/>
          <a:p>
            <a:pPr defTabSz="584200" eaLnBrk="1">
              <a:spcBef>
                <a:spcPct val="0"/>
              </a:spcBef>
              <a:buSzTx/>
            </a:pPr>
            <a:r>
              <a:rPr lang="en-US" altLang="en-US" sz="3400" b="1" dirty="0">
                <a:solidFill>
                  <a:srgbClr val="AE0428"/>
                </a:solidFill>
              </a:rPr>
              <a:t>Lecture 6 Methodology 1</a:t>
            </a:r>
            <a:endParaRPr lang="en-US" altLang="en-US" sz="3400" b="1" dirty="0">
              <a:solidFill>
                <a:srgbClr val="AE0428"/>
              </a:solidFill>
            </a:endParaRPr>
          </a:p>
        </p:txBody>
      </p:sp>
      <p:sp>
        <p:nvSpPr>
          <p:cNvPr id="88068" name="Text Box 3"/>
          <p:cNvSpPr txBox="1"/>
          <p:nvPr/>
        </p:nvSpPr>
        <p:spPr bwMode="auto">
          <a:xfrm>
            <a:off x="711200" y="8410575"/>
            <a:ext cx="11582400" cy="428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0800" tIns="50800" rIns="50800" bIns="50800"/>
          <a:lstStyle>
            <a:lvl1pPr defTabSz="586105">
              <a:defRPr sz="1600">
                <a:solidFill>
                  <a:srgbClr val="000000"/>
                </a:solidFill>
                <a:latin typeface="Canela Text Regular" charset="0"/>
                <a:ea typeface="Canela Text Regular" charset="0"/>
                <a:cs typeface="Canela Text Regular" charset="0"/>
                <a:sym typeface="Canela Text Regular" charset="0"/>
              </a:defRPr>
            </a:lvl1pPr>
            <a:lvl2pPr marL="742950" indent="-285750" defTabSz="586105">
              <a:defRPr sz="1600">
                <a:solidFill>
                  <a:srgbClr val="000000"/>
                </a:solidFill>
                <a:latin typeface="Canela Text Regular" charset="0"/>
                <a:ea typeface="Canela Text Regular" charset="0"/>
                <a:cs typeface="Canela Text Regular" charset="0"/>
                <a:sym typeface="Canela Text Regular" charset="0"/>
              </a:defRPr>
            </a:lvl2pPr>
            <a:lvl3pPr marL="1143000" indent="-228600" defTabSz="586105">
              <a:defRPr sz="1600">
                <a:solidFill>
                  <a:srgbClr val="000000"/>
                </a:solidFill>
                <a:latin typeface="Canela Text Regular" charset="0"/>
                <a:ea typeface="Canela Text Regular" charset="0"/>
                <a:cs typeface="Canela Text Regular" charset="0"/>
                <a:sym typeface="Canela Text Regular" charset="0"/>
              </a:defRPr>
            </a:lvl3pPr>
            <a:lvl4pPr marL="1600200" indent="-228600" defTabSz="586105">
              <a:defRPr sz="1600">
                <a:solidFill>
                  <a:srgbClr val="000000"/>
                </a:solidFill>
                <a:latin typeface="Canela Text Regular" charset="0"/>
                <a:ea typeface="Canela Text Regular" charset="0"/>
                <a:cs typeface="Canela Text Regular" charset="0"/>
                <a:sym typeface="Canela Text Regular" charset="0"/>
              </a:defRPr>
            </a:lvl4pPr>
            <a:lvl5pPr marL="2057400" indent="-228600" defTabSz="586105">
              <a:defRPr sz="1600">
                <a:solidFill>
                  <a:srgbClr val="000000"/>
                </a:solidFill>
                <a:latin typeface="Canela Text Regular" charset="0"/>
                <a:ea typeface="Canela Text Regular" charset="0"/>
                <a:cs typeface="Canela Text Regular" charset="0"/>
                <a:sym typeface="Canela Text Regular" charset="0"/>
              </a:defRPr>
            </a:lvl5pPr>
            <a:lvl6pPr marL="2514600" indent="-228600" defTabSz="586105" eaLnBrk="0" fontAlgn="base" hangingPunct="0">
              <a:spcBef>
                <a:spcPct val="0"/>
              </a:spcBef>
              <a:spcAft>
                <a:spcPct val="0"/>
              </a:spcAft>
              <a:defRPr sz="1600">
                <a:solidFill>
                  <a:srgbClr val="000000"/>
                </a:solidFill>
                <a:latin typeface="Canela Text Regular" charset="0"/>
                <a:ea typeface="Canela Text Regular" charset="0"/>
                <a:cs typeface="Canela Text Regular" charset="0"/>
                <a:sym typeface="Canela Text Regular" charset="0"/>
              </a:defRPr>
            </a:lvl6pPr>
            <a:lvl7pPr marL="2971800" indent="-228600" defTabSz="586105" eaLnBrk="0" fontAlgn="base" hangingPunct="0">
              <a:spcBef>
                <a:spcPct val="0"/>
              </a:spcBef>
              <a:spcAft>
                <a:spcPct val="0"/>
              </a:spcAft>
              <a:defRPr sz="1600">
                <a:solidFill>
                  <a:srgbClr val="000000"/>
                </a:solidFill>
                <a:latin typeface="Canela Text Regular" charset="0"/>
                <a:ea typeface="Canela Text Regular" charset="0"/>
                <a:cs typeface="Canela Text Regular" charset="0"/>
                <a:sym typeface="Canela Text Regular" charset="0"/>
              </a:defRPr>
            </a:lvl7pPr>
            <a:lvl8pPr marL="3429000" indent="-228600" defTabSz="586105" eaLnBrk="0" fontAlgn="base" hangingPunct="0">
              <a:spcBef>
                <a:spcPct val="0"/>
              </a:spcBef>
              <a:spcAft>
                <a:spcPct val="0"/>
              </a:spcAft>
              <a:defRPr sz="1600">
                <a:solidFill>
                  <a:srgbClr val="000000"/>
                </a:solidFill>
                <a:latin typeface="Canela Text Regular" charset="0"/>
                <a:ea typeface="Canela Text Regular" charset="0"/>
                <a:cs typeface="Canela Text Regular" charset="0"/>
                <a:sym typeface="Canela Text Regular" charset="0"/>
              </a:defRPr>
            </a:lvl8pPr>
            <a:lvl9pPr marL="3886200" indent="-228600" defTabSz="586105" eaLnBrk="0" fontAlgn="base" hangingPunct="0">
              <a:spcBef>
                <a:spcPct val="0"/>
              </a:spcBef>
              <a:spcAft>
                <a:spcPct val="0"/>
              </a:spcAft>
              <a:defRPr sz="1600">
                <a:solidFill>
                  <a:srgbClr val="000000"/>
                </a:solidFill>
                <a:latin typeface="Canela Text Regular" charset="0"/>
                <a:ea typeface="Canela Text Regular" charset="0"/>
                <a:cs typeface="Canela Text Regular" charset="0"/>
                <a:sym typeface="Canela Text Regular" charset="0"/>
              </a:defRPr>
            </a:lvl9pPr>
          </a:lstStyle>
          <a:p>
            <a:pPr algn="ctr" eaLnBrk="1"/>
            <a:r>
              <a:rPr lang="en-US" altLang="zh-CN" sz="2000">
                <a:latin typeface="Helvetica" charset="0"/>
                <a:ea typeface="宋体" panose="02010600030101010101" pitchFamily="2" charset="-122"/>
                <a:sym typeface="Helvetica" charset="0"/>
              </a:rPr>
              <a:t>Di Zhang</a:t>
            </a:r>
            <a:r>
              <a:rPr lang="en-US" altLang="en-US" sz="2000">
                <a:latin typeface="Helvetica" charset="0"/>
                <a:ea typeface="Helvetica" charset="0"/>
                <a:cs typeface="Helvetica" charset="0"/>
                <a:sym typeface="Helvetica" charset="0"/>
              </a:rPr>
              <a:t>, Spring 2024</a:t>
            </a:r>
            <a:endParaRPr lang="en-US" altLang="en-US" sz="2000">
              <a:latin typeface="Helvetica" charset="0"/>
              <a:ea typeface="Helvetica" charset="0"/>
              <a:cs typeface="Helvetica" charset="0"/>
              <a:sym typeface="Helvetica" charset="0"/>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1"/>
          <p:cNvSpPr>
            <a:spLocks noGrp="1"/>
          </p:cNvSpPr>
          <p:nvPr>
            <p:ph idx="1"/>
          </p:nvPr>
        </p:nvSpPr>
        <p:spPr>
          <a:xfrm>
            <a:off x="495300" y="1370013"/>
            <a:ext cx="12012613" cy="7678737"/>
          </a:xfrm>
        </p:spPr>
        <p:txBody>
          <a:bodyPr vert="horz" wrap="square" lIns="50800" tIns="50800" rIns="50800" bIns="50800" anchor="t" anchorCtr="0"/>
          <a:p>
            <a:pPr eaLnBrk="1"/>
            <a:r>
              <a:rPr lang="zh-CN" altLang="en-US" dirty="0">
                <a:ea typeface="宋体" panose="02010600030101010101" pitchFamily="2" charset="-122"/>
              </a:rPr>
              <a:t>More emphasis on design methods rather than specific libraries</a:t>
            </a:r>
            <a:endParaRPr lang="zh-CN" altLang="en-US" dirty="0">
              <a:ea typeface="宋体" panose="02010600030101010101" pitchFamily="2" charset="-122"/>
            </a:endParaRPr>
          </a:p>
          <a:p>
            <a:pPr lvl="1" eaLnBrk="1"/>
            <a:r>
              <a:rPr lang="en-US" altLang="zh-CN" dirty="0">
                <a:ea typeface="宋体" panose="02010600030101010101" pitchFamily="2" charset="-122"/>
              </a:rPr>
              <a:t>Know why,</a:t>
            </a:r>
            <a:r>
              <a:rPr lang="zh-CN" altLang="en-US" dirty="0">
                <a:ea typeface="宋体" panose="02010600030101010101" pitchFamily="2" charset="-122"/>
              </a:rPr>
              <a:t> </a:t>
            </a:r>
            <a:r>
              <a:rPr lang="en-US" altLang="zh-CN" dirty="0">
                <a:ea typeface="宋体" panose="02010600030101010101" pitchFamily="2" charset="-122"/>
              </a:rPr>
              <a:t>not</a:t>
            </a:r>
            <a:r>
              <a:rPr lang="zh-CN" altLang="en-US" dirty="0">
                <a:ea typeface="宋体" panose="02010600030101010101" pitchFamily="2" charset="-122"/>
              </a:rPr>
              <a:t> </a:t>
            </a:r>
            <a:r>
              <a:rPr lang="en-US" altLang="zh-CN" dirty="0">
                <a:ea typeface="宋体" panose="02010600030101010101" pitchFamily="2" charset="-122"/>
              </a:rPr>
              <a:t>just</a:t>
            </a:r>
            <a:r>
              <a:rPr lang="zh-CN" altLang="en-US" dirty="0">
                <a:ea typeface="宋体" panose="02010600030101010101" pitchFamily="2" charset="-122"/>
              </a:rPr>
              <a:t> </a:t>
            </a:r>
            <a:r>
              <a:rPr lang="en-US" altLang="zh-CN" dirty="0">
                <a:ea typeface="宋体" panose="02010600030101010101" pitchFamily="2" charset="-122"/>
              </a:rPr>
              <a:t>what</a:t>
            </a:r>
            <a:endParaRPr lang="en-US" altLang="zh-CN" dirty="0">
              <a:ea typeface="宋体" panose="02010600030101010101" pitchFamily="2" charset="-122"/>
            </a:endParaRPr>
          </a:p>
          <a:p>
            <a:pPr eaLnBrk="1"/>
            <a:endParaRPr lang="en-US" altLang="zh-CN" dirty="0">
              <a:ea typeface="宋体" panose="02010600030101010101" pitchFamily="2" charset="-122"/>
            </a:endParaRPr>
          </a:p>
          <a:p>
            <a:pPr eaLnBrk="1"/>
            <a:endParaRPr lang="en-US" altLang="zh-CN" dirty="0">
              <a:ea typeface="宋体" panose="02010600030101010101" pitchFamily="2" charset="-122"/>
            </a:endParaRPr>
          </a:p>
          <a:p>
            <a:pPr eaLnBrk="1"/>
            <a:endParaRPr lang="en-US" altLang="zh-CN" dirty="0">
              <a:ea typeface="宋体" panose="02010600030101010101" pitchFamily="2" charset="-122"/>
            </a:endParaRPr>
          </a:p>
          <a:p>
            <a:pPr algn="ctr" eaLnBrk="1">
              <a:buNone/>
            </a:pPr>
            <a:r>
              <a:rPr lang="en-US" altLang="zh-CN" sz="2400" dirty="0">
                <a:ea typeface="宋体" panose="02010600030101010101" pitchFamily="2" charset="-122"/>
              </a:rPr>
              <a:t>Architect vs. Bricklayer</a:t>
            </a:r>
            <a:endParaRPr lang="en-US" altLang="zh-CN" sz="2400" dirty="0">
              <a:ea typeface="宋体" panose="02010600030101010101" pitchFamily="2" charset="-122"/>
            </a:endParaRPr>
          </a:p>
          <a:p>
            <a:pPr eaLnBrk="1"/>
            <a:r>
              <a:rPr lang="zh-CN" altLang="en-US" dirty="0">
                <a:ea typeface="宋体" panose="02010600030101010101" pitchFamily="2" charset="-122"/>
              </a:rPr>
              <a:t>The ability to deduce possible scenarios on paper</a:t>
            </a:r>
            <a:endParaRPr lang="zh-CN" altLang="en-US" dirty="0">
              <a:ea typeface="宋体" panose="02010600030101010101" pitchFamily="2" charset="-122"/>
            </a:endParaRPr>
          </a:p>
          <a:p>
            <a:pPr lvl="1" eaLnBrk="1"/>
            <a:r>
              <a:rPr lang="zh-CN" altLang="en-US" dirty="0">
                <a:ea typeface="宋体" panose="02010600030101010101" pitchFamily="2" charset="-122"/>
              </a:rPr>
              <a:t>Modeling</a:t>
            </a:r>
            <a:endParaRPr lang="zh-CN" altLang="en-US" dirty="0">
              <a:ea typeface="宋体" panose="02010600030101010101" pitchFamily="2" charset="-122"/>
            </a:endParaRPr>
          </a:p>
          <a:p>
            <a:pPr lvl="1" eaLnBrk="1"/>
            <a:r>
              <a:rPr lang="en-US" altLang="zh-CN" dirty="0">
                <a:ea typeface="宋体" panose="02010600030101010101" pitchFamily="2" charset="-122"/>
              </a:rPr>
              <a:t>M</a:t>
            </a:r>
            <a:r>
              <a:rPr lang="zh-CN" altLang="en-US" dirty="0">
                <a:ea typeface="宋体" panose="02010600030101010101" pitchFamily="2" charset="-122"/>
              </a:rPr>
              <a:t>easure</a:t>
            </a:r>
            <a:endParaRPr lang="zh-CN" altLang="en-US" dirty="0">
              <a:ea typeface="宋体" panose="02010600030101010101" pitchFamily="2" charset="-122"/>
            </a:endParaRPr>
          </a:p>
          <a:p>
            <a:pPr lvl="1" eaLnBrk="1"/>
            <a:r>
              <a:rPr lang="en-US" altLang="zh-CN" dirty="0">
                <a:ea typeface="宋体" panose="02010600030101010101" pitchFamily="2" charset="-122"/>
              </a:rPr>
              <a:t>Design</a:t>
            </a:r>
            <a:endParaRPr lang="en-US" altLang="zh-CN" dirty="0">
              <a:ea typeface="宋体" panose="02010600030101010101" pitchFamily="2" charset="-122"/>
            </a:endParaRPr>
          </a:p>
          <a:p>
            <a:pPr lvl="1" eaLnBrk="1"/>
            <a:r>
              <a:rPr lang="zh-CN" altLang="en-US" dirty="0">
                <a:ea typeface="宋体" panose="02010600030101010101" pitchFamily="2" charset="-122"/>
              </a:rPr>
              <a:t>Compare with the actual effect and then iterate</a:t>
            </a:r>
            <a:endParaRPr lang="zh-CN" altLang="en-US" dirty="0">
              <a:ea typeface="宋体" panose="02010600030101010101" pitchFamily="2" charset="-122"/>
            </a:endParaRPr>
          </a:p>
          <a:p>
            <a:pPr lvl="1" eaLnBrk="1">
              <a:buNone/>
            </a:pPr>
            <a:endParaRPr lang="en-US" altLang="zh-CN" dirty="0">
              <a:ea typeface="宋体" panose="02010600030101010101" pitchFamily="2" charset="-122"/>
            </a:endParaRPr>
          </a:p>
          <a:p>
            <a:pPr lvl="1" eaLnBrk="1"/>
            <a:endParaRPr lang="en-US" altLang="en-US" dirty="0"/>
          </a:p>
        </p:txBody>
      </p:sp>
      <p:sp>
        <p:nvSpPr>
          <p:cNvPr id="38915" name="Rectangle 2"/>
          <p:cNvSpPr>
            <a:spLocks noGrp="1"/>
          </p:cNvSpPr>
          <p:nvPr>
            <p:ph type="title"/>
          </p:nvPr>
        </p:nvSpPr>
        <p:spPr/>
        <p:txBody>
          <a:bodyPr vert="horz" wrap="square" lIns="50800" tIns="50800" rIns="50800" bIns="50800" anchor="t" anchorCtr="0"/>
          <a:p>
            <a:pPr defTabSz="1495425" eaLnBrk="1"/>
            <a:r>
              <a:rPr lang="en-US" altLang="en-US" sz="4900" dirty="0"/>
              <a:t>What is difference from 202? </a:t>
            </a:r>
            <a:endParaRPr lang="en-US" altLang="en-US" sz="4900" dirty="0"/>
          </a:p>
        </p:txBody>
      </p:sp>
      <p:pic>
        <p:nvPicPr>
          <p:cNvPr id="38916" name="Picture 1" descr="The Architect&quot; vs. &quot;The Bricklayer&quot; - The Generalist vs. The Specialist.  What are you?"/>
          <p:cNvPicPr>
            <a:picLocks noChangeAspect="1"/>
          </p:cNvPicPr>
          <p:nvPr/>
        </p:nvPicPr>
        <p:blipFill>
          <a:blip r:embed="rId1"/>
          <a:srcRect t="19521" b="25874"/>
          <a:stretch>
            <a:fillRect/>
          </a:stretch>
        </p:blipFill>
        <p:spPr>
          <a:xfrm>
            <a:off x="3694113" y="2860675"/>
            <a:ext cx="5273675" cy="1728788"/>
          </a:xfrm>
          <a:prstGeom prst="rect">
            <a:avLst/>
          </a:prstGeom>
          <a:noFill/>
          <a:ln w="9525">
            <a:noFill/>
          </a:ln>
        </p:spPr>
      </p:pic>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Start with a simple example
</a:t>
            </a:r>
            <a:endParaRPr lang="en-US" dirty="0"/>
          </a:p>
        </p:txBody>
      </p:sp>
      <p:sp>
        <p:nvSpPr>
          <p:cNvPr id="3" name="Content Placeholder 2"/>
          <p:cNvSpPr>
            <a:spLocks noGrp="1"/>
          </p:cNvSpPr>
          <p:nvPr>
            <p:ph idx="1"/>
          </p:nvPr>
        </p:nvSpPr>
        <p:spPr/>
        <p:txBody>
          <a:bodyPr/>
          <a:lstStyle/>
          <a:p>
            <a:r>
              <a:rPr lang="en-US" altLang="zh-CN" dirty="0"/>
              <a:t>A serial program that sums arrays
</a:t>
            </a:r>
            <a:endParaRPr lang="en-US" dirty="0"/>
          </a:p>
          <a:p>
            <a:endParaRPr lang="en-US" dirty="0"/>
          </a:p>
          <a:p>
            <a:endParaRPr lang="en-US" dirty="0"/>
          </a:p>
          <a:p>
            <a:endParaRPr lang="en-US" dirty="0"/>
          </a:p>
          <a:p>
            <a:endParaRPr lang="en-US" dirty="0"/>
          </a:p>
          <a:p>
            <a:endParaRPr lang="en-US" dirty="0"/>
          </a:p>
          <a:p>
            <a:r>
              <a:rPr lang="en-US" dirty="0"/>
              <a:t>How to parallelize </a:t>
            </a:r>
            <a:r>
              <a:rPr lang="en-US" altLang="zh-CN" dirty="0"/>
              <a:t>it?</a:t>
            </a:r>
            <a:endParaRPr lang="en-US" dirty="0"/>
          </a:p>
        </p:txBody>
      </p:sp>
      <p:pic>
        <p:nvPicPr>
          <p:cNvPr id="8" name="Picture 7"/>
          <p:cNvPicPr>
            <a:picLocks noChangeAspect="1"/>
          </p:cNvPicPr>
          <p:nvPr/>
        </p:nvPicPr>
        <p:blipFill>
          <a:blip r:embed="rId1"/>
          <a:stretch>
            <a:fillRect/>
          </a:stretch>
        </p:blipFill>
        <p:spPr>
          <a:xfrm>
            <a:off x="3982120" y="2572544"/>
            <a:ext cx="4295506" cy="309634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Serial Version</a:t>
            </a:r>
            <a:endParaRPr lang="en-US" dirty="0"/>
          </a:p>
        </p:txBody>
      </p:sp>
      <p:sp>
        <p:nvSpPr>
          <p:cNvPr id="3" name="内容占位符 2"/>
          <p:cNvSpPr>
            <a:spLocks noGrp="1"/>
          </p:cNvSpPr>
          <p:nvPr>
            <p:ph idx="1"/>
          </p:nvPr>
        </p:nvSpPr>
        <p:spPr>
          <a:xfrm>
            <a:off x="495300" y="6749008"/>
            <a:ext cx="12012613" cy="2293392"/>
          </a:xfrm>
        </p:spPr>
        <p:txBody>
          <a:bodyPr/>
          <a:lstStyle/>
          <a:p>
            <a:r>
              <a:rPr lang="en-US" altLang="zh-CN" dirty="0"/>
              <a:t>Just unfolding the loop, we don't see any opportunities for parallelization, but...
</a:t>
            </a:r>
            <a:endParaRPr lang="en-US" dirty="0"/>
          </a:p>
        </p:txBody>
      </p:sp>
      <p:sp>
        <p:nvSpPr>
          <p:cNvPr id="4" name="椭圆 3"/>
          <p:cNvSpPr/>
          <p:nvPr/>
        </p:nvSpPr>
        <p:spPr bwMode="auto">
          <a:xfrm>
            <a:off x="2123986" y="5232257"/>
            <a:ext cx="633998" cy="585229"/>
          </a:xfrm>
          <a:prstGeom prst="ellipse">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50800" tIns="50800" rIns="50800" bIns="50800" numCol="1" rtlCol="0" anchor="ctr" anchorCtr="0" compatLnSpc="1">
            <a:noAutofit/>
          </a:bodyPr>
          <a:lstStyle/>
          <a:p>
            <a:pPr marL="0" marR="0" indent="0" algn="ctr" defTabSz="1733550" rtl="0" eaLnBrk="1" fontAlgn="base" latinLnBrk="0" hangingPunct="0">
              <a:lnSpc>
                <a:spcPct val="90000"/>
              </a:lnSpc>
              <a:spcBef>
                <a:spcPct val="0"/>
              </a:spcBef>
              <a:spcAft>
                <a:spcPct val="0"/>
              </a:spcAft>
              <a:buClrTx/>
              <a:buSzTx/>
              <a:buFontTx/>
              <a:buNone/>
            </a:pPr>
            <a:r>
              <a:rPr kumimoji="0" lang="en-US" sz="3200" b="0" i="0" u="none" strike="noStrike" cap="none" normalizeH="0" baseline="0" dirty="0">
                <a:ln>
                  <a:noFill/>
                </a:ln>
                <a:solidFill>
                  <a:srgbClr val="000000"/>
                </a:solidFill>
                <a:effectLst/>
                <a:latin typeface="Canela Text Regular" charset="0"/>
                <a:ea typeface="Canela Text Regular" charset="0"/>
                <a:cs typeface="Canela Text Regular" charset="0"/>
                <a:sym typeface="Canela Text Regular" charset="0"/>
              </a:rPr>
              <a:t>1</a:t>
            </a:r>
            <a:endParaRPr kumimoji="0" lang="en-US" sz="3200" b="0" i="0" u="none" strike="noStrike" cap="none" normalizeH="0" baseline="0" dirty="0">
              <a:ln>
                <a:noFill/>
              </a:ln>
              <a:solidFill>
                <a:srgbClr val="000000"/>
              </a:solidFill>
              <a:effectLst/>
              <a:latin typeface="Canela Text Regular" charset="0"/>
              <a:ea typeface="Canela Text Regular" charset="0"/>
              <a:cs typeface="Canela Text Regular" charset="0"/>
              <a:sym typeface="Canela Text Regular" charset="0"/>
            </a:endParaRPr>
          </a:p>
        </p:txBody>
      </p:sp>
      <p:sp>
        <p:nvSpPr>
          <p:cNvPr id="9" name="椭圆 8"/>
          <p:cNvSpPr/>
          <p:nvPr/>
        </p:nvSpPr>
        <p:spPr bwMode="auto">
          <a:xfrm>
            <a:off x="4100687" y="5232257"/>
            <a:ext cx="633998" cy="585229"/>
          </a:xfrm>
          <a:prstGeom prst="ellipse">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50800" tIns="50800" rIns="50800" bIns="50800" numCol="1" rtlCol="0" anchor="ctr" anchorCtr="0" compatLnSpc="1">
            <a:noAutofit/>
          </a:bodyPr>
          <a:lstStyle/>
          <a:p>
            <a:pPr marL="0" marR="0" indent="0" algn="ctr" defTabSz="1733550" rtl="0" eaLnBrk="1" fontAlgn="base" latinLnBrk="0" hangingPunct="0">
              <a:lnSpc>
                <a:spcPct val="90000"/>
              </a:lnSpc>
              <a:spcBef>
                <a:spcPct val="0"/>
              </a:spcBef>
              <a:spcAft>
                <a:spcPct val="0"/>
              </a:spcAft>
              <a:buClrTx/>
              <a:buSzTx/>
              <a:buFontTx/>
              <a:buNone/>
            </a:pPr>
            <a:r>
              <a:rPr lang="en-US" sz="3200" dirty="0">
                <a:solidFill>
                  <a:srgbClr val="000000"/>
                </a:solidFill>
                <a:latin typeface="Canela Text Regular" charset="0"/>
                <a:ea typeface="Canela Text Regular" charset="0"/>
                <a:cs typeface="Canela Text Regular" charset="0"/>
              </a:rPr>
              <a:t>2</a:t>
            </a:r>
            <a:endParaRPr kumimoji="0" lang="en-US" sz="3200" b="0" i="0" u="none" strike="noStrike" cap="none" normalizeH="0" baseline="0" dirty="0">
              <a:ln>
                <a:noFill/>
              </a:ln>
              <a:solidFill>
                <a:srgbClr val="000000"/>
              </a:solidFill>
              <a:effectLst/>
              <a:latin typeface="Canela Text Regular" charset="0"/>
              <a:ea typeface="Canela Text Regular" charset="0"/>
              <a:cs typeface="Canela Text Regular" charset="0"/>
              <a:sym typeface="Canela Text Regular" charset="0"/>
            </a:endParaRPr>
          </a:p>
        </p:txBody>
      </p:sp>
      <p:sp>
        <p:nvSpPr>
          <p:cNvPr id="10" name="椭圆 9"/>
          <p:cNvSpPr/>
          <p:nvPr/>
        </p:nvSpPr>
        <p:spPr bwMode="auto">
          <a:xfrm>
            <a:off x="6077388" y="5232257"/>
            <a:ext cx="633998" cy="585229"/>
          </a:xfrm>
          <a:prstGeom prst="ellipse">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50800" tIns="50800" rIns="50800" bIns="50800" numCol="1" rtlCol="0" anchor="ctr" anchorCtr="0" compatLnSpc="1">
            <a:noAutofit/>
          </a:bodyPr>
          <a:lstStyle/>
          <a:p>
            <a:pPr marL="0" marR="0" indent="0" algn="ctr" defTabSz="1733550" rtl="0" eaLnBrk="1" fontAlgn="base" latinLnBrk="0" hangingPunct="0">
              <a:lnSpc>
                <a:spcPct val="90000"/>
              </a:lnSpc>
              <a:spcBef>
                <a:spcPct val="0"/>
              </a:spcBef>
              <a:spcAft>
                <a:spcPct val="0"/>
              </a:spcAft>
              <a:buClrTx/>
              <a:buSzTx/>
              <a:buFontTx/>
              <a:buNone/>
            </a:pPr>
            <a:r>
              <a:rPr lang="en-US" sz="3200" dirty="0">
                <a:solidFill>
                  <a:srgbClr val="000000"/>
                </a:solidFill>
                <a:latin typeface="Canela Text Regular" charset="0"/>
                <a:ea typeface="Canela Text Regular" charset="0"/>
                <a:cs typeface="Canela Text Regular" charset="0"/>
              </a:rPr>
              <a:t>3</a:t>
            </a:r>
            <a:endParaRPr kumimoji="0" lang="en-US" sz="3200" b="0" i="0" u="none" strike="noStrike" cap="none" normalizeH="0" baseline="0" dirty="0">
              <a:ln>
                <a:noFill/>
              </a:ln>
              <a:solidFill>
                <a:srgbClr val="000000"/>
              </a:solidFill>
              <a:effectLst/>
              <a:latin typeface="Canela Text Regular" charset="0"/>
              <a:ea typeface="Canela Text Regular" charset="0"/>
              <a:cs typeface="Canela Text Regular" charset="0"/>
              <a:sym typeface="Canela Text Regular" charset="0"/>
            </a:endParaRPr>
          </a:p>
        </p:txBody>
      </p:sp>
      <p:sp>
        <p:nvSpPr>
          <p:cNvPr id="11" name="椭圆 10"/>
          <p:cNvSpPr/>
          <p:nvPr/>
        </p:nvSpPr>
        <p:spPr bwMode="auto">
          <a:xfrm>
            <a:off x="8054089" y="5232257"/>
            <a:ext cx="633998" cy="585229"/>
          </a:xfrm>
          <a:prstGeom prst="ellipse">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50800" tIns="50800" rIns="50800" bIns="50800" numCol="1" rtlCol="0" anchor="ctr" anchorCtr="0" compatLnSpc="1">
            <a:noAutofit/>
          </a:bodyPr>
          <a:lstStyle/>
          <a:p>
            <a:pPr marL="0" marR="0" indent="0" algn="ctr" defTabSz="1733550" rtl="0" eaLnBrk="1" fontAlgn="base" latinLnBrk="0" hangingPunct="0">
              <a:lnSpc>
                <a:spcPct val="90000"/>
              </a:lnSpc>
              <a:spcBef>
                <a:spcPct val="0"/>
              </a:spcBef>
              <a:spcAft>
                <a:spcPct val="0"/>
              </a:spcAft>
              <a:buClrTx/>
              <a:buSzTx/>
              <a:buFontTx/>
              <a:buNone/>
            </a:pPr>
            <a:r>
              <a:rPr lang="en-US" sz="3200" dirty="0">
                <a:solidFill>
                  <a:srgbClr val="000000"/>
                </a:solidFill>
                <a:latin typeface="Canela Text Regular" charset="0"/>
                <a:ea typeface="Canela Text Regular" charset="0"/>
                <a:cs typeface="Canela Text Regular" charset="0"/>
              </a:rPr>
              <a:t>4</a:t>
            </a:r>
            <a:endParaRPr kumimoji="0" lang="en-US" sz="3200" b="0" i="0" u="none" strike="noStrike" cap="none" normalizeH="0" baseline="0" dirty="0">
              <a:ln>
                <a:noFill/>
              </a:ln>
              <a:solidFill>
                <a:srgbClr val="000000"/>
              </a:solidFill>
              <a:effectLst/>
              <a:latin typeface="Canela Text Regular" charset="0"/>
              <a:ea typeface="Canela Text Regular" charset="0"/>
              <a:cs typeface="Canela Text Regular" charset="0"/>
              <a:sym typeface="Canela Text Regular" charset="0"/>
            </a:endParaRPr>
          </a:p>
        </p:txBody>
      </p:sp>
      <p:sp>
        <p:nvSpPr>
          <p:cNvPr id="12" name="椭圆 11"/>
          <p:cNvSpPr/>
          <p:nvPr/>
        </p:nvSpPr>
        <p:spPr bwMode="auto">
          <a:xfrm>
            <a:off x="10030792" y="5232257"/>
            <a:ext cx="633998" cy="585229"/>
          </a:xfrm>
          <a:prstGeom prst="ellipse">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50800" tIns="50800" rIns="50800" bIns="50800" numCol="1" rtlCol="0" anchor="ctr" anchorCtr="0" compatLnSpc="1">
            <a:noAutofit/>
          </a:bodyPr>
          <a:lstStyle/>
          <a:p>
            <a:pPr marL="0" marR="0" indent="0" algn="ctr" defTabSz="1733550" rtl="0" eaLnBrk="1" fontAlgn="base" latinLnBrk="0" hangingPunct="0">
              <a:lnSpc>
                <a:spcPct val="90000"/>
              </a:lnSpc>
              <a:spcBef>
                <a:spcPct val="0"/>
              </a:spcBef>
              <a:spcAft>
                <a:spcPct val="0"/>
              </a:spcAft>
              <a:buClrTx/>
              <a:buSzTx/>
              <a:buFontTx/>
              <a:buNone/>
            </a:pPr>
            <a:r>
              <a:rPr kumimoji="0" lang="en-US" sz="3200" b="0" i="0" u="none" strike="noStrike" cap="none" normalizeH="0" baseline="0" dirty="0">
                <a:ln>
                  <a:noFill/>
                </a:ln>
                <a:solidFill>
                  <a:srgbClr val="000000"/>
                </a:solidFill>
                <a:effectLst/>
                <a:latin typeface="Canela Text Regular" charset="0"/>
                <a:ea typeface="Canela Text Regular" charset="0"/>
                <a:cs typeface="Canela Text Regular" charset="0"/>
                <a:sym typeface="Canela Text Regular" charset="0"/>
              </a:rPr>
              <a:t>5</a:t>
            </a:r>
            <a:endParaRPr kumimoji="0" lang="en-US" sz="3200" b="0" i="0" u="none" strike="noStrike" cap="none" normalizeH="0" baseline="0" dirty="0">
              <a:ln>
                <a:noFill/>
              </a:ln>
              <a:solidFill>
                <a:srgbClr val="000000"/>
              </a:solidFill>
              <a:effectLst/>
              <a:latin typeface="Canela Text Regular" charset="0"/>
              <a:ea typeface="Canela Text Regular" charset="0"/>
              <a:cs typeface="Canela Text Regular" charset="0"/>
              <a:sym typeface="Canela Text Regular" charset="0"/>
            </a:endParaRPr>
          </a:p>
        </p:txBody>
      </p:sp>
      <p:sp>
        <p:nvSpPr>
          <p:cNvPr id="13" name="椭圆 12"/>
          <p:cNvSpPr/>
          <p:nvPr/>
        </p:nvSpPr>
        <p:spPr bwMode="auto">
          <a:xfrm>
            <a:off x="4100688" y="4261294"/>
            <a:ext cx="633998" cy="585229"/>
          </a:xfrm>
          <a:prstGeom prst="ellipse">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50800" tIns="50800" rIns="50800" bIns="50800" numCol="1" rtlCol="0" anchor="ctr" anchorCtr="0" compatLnSpc="1">
            <a:noAutofit/>
          </a:bodyPr>
          <a:lstStyle/>
          <a:p>
            <a:pPr marL="0" marR="0" indent="0" algn="ctr" defTabSz="1733550" rtl="0" eaLnBrk="1" fontAlgn="base" latinLnBrk="0" hangingPunct="0">
              <a:lnSpc>
                <a:spcPct val="90000"/>
              </a:lnSpc>
              <a:spcBef>
                <a:spcPct val="0"/>
              </a:spcBef>
              <a:spcAft>
                <a:spcPct val="0"/>
              </a:spcAft>
              <a:buClrTx/>
              <a:buSzTx/>
              <a:buFontTx/>
              <a:buNone/>
            </a:pPr>
            <a:endParaRPr kumimoji="0" lang="en-US" sz="3200" b="0" i="0" u="none" strike="noStrike" cap="none" normalizeH="0" baseline="0" dirty="0">
              <a:ln>
                <a:noFill/>
              </a:ln>
              <a:solidFill>
                <a:srgbClr val="000000"/>
              </a:solidFill>
              <a:effectLst/>
              <a:latin typeface="Canela Text Regular" charset="0"/>
              <a:ea typeface="Canela Text Regular" charset="0"/>
              <a:cs typeface="Canela Text Regular" charset="0"/>
              <a:sym typeface="Canela Text Regular" charset="0"/>
            </a:endParaRPr>
          </a:p>
        </p:txBody>
      </p:sp>
      <p:sp>
        <p:nvSpPr>
          <p:cNvPr id="14" name="椭圆 13"/>
          <p:cNvSpPr/>
          <p:nvPr/>
        </p:nvSpPr>
        <p:spPr bwMode="auto">
          <a:xfrm>
            <a:off x="6077390" y="3290332"/>
            <a:ext cx="633998" cy="585229"/>
          </a:xfrm>
          <a:prstGeom prst="ellipse">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50800" tIns="50800" rIns="50800" bIns="50800" numCol="1" rtlCol="0" anchor="ctr" anchorCtr="0" compatLnSpc="1">
            <a:noAutofit/>
          </a:bodyPr>
          <a:lstStyle/>
          <a:p>
            <a:pPr marL="0" marR="0" indent="0" algn="ctr" defTabSz="1733550" rtl="0" eaLnBrk="1" fontAlgn="base" latinLnBrk="0" hangingPunct="0">
              <a:lnSpc>
                <a:spcPct val="90000"/>
              </a:lnSpc>
              <a:spcBef>
                <a:spcPct val="0"/>
              </a:spcBef>
              <a:spcAft>
                <a:spcPct val="0"/>
              </a:spcAft>
              <a:buClrTx/>
              <a:buSzTx/>
              <a:buFontTx/>
              <a:buNone/>
            </a:pPr>
            <a:endParaRPr kumimoji="0" lang="en-US" sz="3200" b="0" i="0" u="none" strike="noStrike" cap="none" normalizeH="0" baseline="0" dirty="0">
              <a:ln>
                <a:noFill/>
              </a:ln>
              <a:solidFill>
                <a:srgbClr val="000000"/>
              </a:solidFill>
              <a:effectLst/>
              <a:latin typeface="Canela Text Regular" charset="0"/>
              <a:ea typeface="Canela Text Regular" charset="0"/>
              <a:cs typeface="Canela Text Regular" charset="0"/>
              <a:sym typeface="Canela Text Regular" charset="0"/>
            </a:endParaRPr>
          </a:p>
        </p:txBody>
      </p:sp>
      <p:sp>
        <p:nvSpPr>
          <p:cNvPr id="15" name="椭圆 14"/>
          <p:cNvSpPr/>
          <p:nvPr/>
        </p:nvSpPr>
        <p:spPr bwMode="auto">
          <a:xfrm>
            <a:off x="8054092" y="2319370"/>
            <a:ext cx="633998" cy="585229"/>
          </a:xfrm>
          <a:prstGeom prst="ellipse">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50800" tIns="50800" rIns="50800" bIns="50800" numCol="1" rtlCol="0" anchor="ctr" anchorCtr="0" compatLnSpc="1">
            <a:noAutofit/>
          </a:bodyPr>
          <a:lstStyle/>
          <a:p>
            <a:pPr marL="0" marR="0" indent="0" algn="ctr" defTabSz="1733550" rtl="0" eaLnBrk="1" fontAlgn="base" latinLnBrk="0" hangingPunct="0">
              <a:lnSpc>
                <a:spcPct val="90000"/>
              </a:lnSpc>
              <a:spcBef>
                <a:spcPct val="0"/>
              </a:spcBef>
              <a:spcAft>
                <a:spcPct val="0"/>
              </a:spcAft>
              <a:buClrTx/>
              <a:buSzTx/>
              <a:buFontTx/>
              <a:buNone/>
            </a:pPr>
            <a:endParaRPr kumimoji="0" lang="en-US" sz="3200" b="0" i="0" u="none" strike="noStrike" cap="none" normalizeH="0" baseline="0" dirty="0">
              <a:ln>
                <a:noFill/>
              </a:ln>
              <a:solidFill>
                <a:srgbClr val="000000"/>
              </a:solidFill>
              <a:effectLst/>
              <a:latin typeface="Canela Text Regular" charset="0"/>
              <a:ea typeface="Canela Text Regular" charset="0"/>
              <a:cs typeface="Canela Text Regular" charset="0"/>
              <a:sym typeface="Canela Text Regular" charset="0"/>
            </a:endParaRPr>
          </a:p>
        </p:txBody>
      </p:sp>
      <p:sp>
        <p:nvSpPr>
          <p:cNvPr id="16" name="椭圆 15"/>
          <p:cNvSpPr/>
          <p:nvPr/>
        </p:nvSpPr>
        <p:spPr bwMode="auto">
          <a:xfrm>
            <a:off x="10030792" y="1348408"/>
            <a:ext cx="633998" cy="585229"/>
          </a:xfrm>
          <a:prstGeom prst="ellipse">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50800" tIns="50800" rIns="50800" bIns="50800" numCol="1" rtlCol="0" anchor="ctr" anchorCtr="0" compatLnSpc="1">
            <a:noAutofit/>
          </a:bodyPr>
          <a:lstStyle/>
          <a:p>
            <a:pPr marL="0" marR="0" indent="0" algn="ctr" defTabSz="1733550" rtl="0" eaLnBrk="1" fontAlgn="base" latinLnBrk="0" hangingPunct="0">
              <a:lnSpc>
                <a:spcPct val="90000"/>
              </a:lnSpc>
              <a:spcBef>
                <a:spcPct val="0"/>
              </a:spcBef>
              <a:spcAft>
                <a:spcPct val="0"/>
              </a:spcAft>
              <a:buClrTx/>
              <a:buSzTx/>
              <a:buFontTx/>
              <a:buNone/>
            </a:pPr>
            <a:endParaRPr kumimoji="0" lang="en-US" sz="3200" b="0" i="0" u="none" strike="noStrike" cap="none" normalizeH="0" baseline="0" dirty="0">
              <a:ln>
                <a:noFill/>
              </a:ln>
              <a:solidFill>
                <a:srgbClr val="000000"/>
              </a:solidFill>
              <a:effectLst/>
              <a:latin typeface="Canela Text Regular" charset="0"/>
              <a:ea typeface="Canela Text Regular" charset="0"/>
              <a:cs typeface="Canela Text Regular" charset="0"/>
              <a:sym typeface="Canela Text Regular" charset="0"/>
            </a:endParaRPr>
          </a:p>
        </p:txBody>
      </p:sp>
      <p:cxnSp>
        <p:nvCxnSpPr>
          <p:cNvPr id="38" name="直接箭头连接符 37"/>
          <p:cNvCxnSpPr>
            <a:stCxn id="4" idx="7"/>
            <a:endCxn id="13" idx="3"/>
          </p:cNvCxnSpPr>
          <p:nvPr/>
        </p:nvCxnSpPr>
        <p:spPr bwMode="auto">
          <a:xfrm flipV="1">
            <a:off x="2665137" y="4760818"/>
            <a:ext cx="1528398" cy="557144"/>
          </a:xfrm>
          <a:prstGeom prst="straightConnector1">
            <a:avLst/>
          </a:prstGeom>
          <a:solidFill>
            <a:srgbClr val="000000"/>
          </a:solidFill>
          <a:ln w="25400" cap="flat" cmpd="sng" algn="ctr">
            <a:solidFill>
              <a:srgbClr val="000000"/>
            </a:solidFill>
            <a:prstDash val="solid"/>
            <a:miter lim="4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直接箭头连接符 39"/>
          <p:cNvCxnSpPr>
            <a:stCxn id="13" idx="7"/>
            <a:endCxn id="14" idx="3"/>
          </p:cNvCxnSpPr>
          <p:nvPr/>
        </p:nvCxnSpPr>
        <p:spPr bwMode="auto">
          <a:xfrm flipV="1">
            <a:off x="4641839" y="3789856"/>
            <a:ext cx="1528398" cy="557143"/>
          </a:xfrm>
          <a:prstGeom prst="straightConnector1">
            <a:avLst/>
          </a:prstGeom>
          <a:solidFill>
            <a:srgbClr val="000000"/>
          </a:solidFill>
          <a:ln w="25400" cap="flat" cmpd="sng" algn="ctr">
            <a:solidFill>
              <a:srgbClr val="000000"/>
            </a:solidFill>
            <a:prstDash val="solid"/>
            <a:miter lim="4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 name="直接箭头连接符 43"/>
          <p:cNvCxnSpPr>
            <a:stCxn id="14" idx="7"/>
            <a:endCxn id="15" idx="3"/>
          </p:cNvCxnSpPr>
          <p:nvPr/>
        </p:nvCxnSpPr>
        <p:spPr bwMode="auto">
          <a:xfrm flipV="1">
            <a:off x="6618541" y="2818894"/>
            <a:ext cx="1528398" cy="557143"/>
          </a:xfrm>
          <a:prstGeom prst="straightConnector1">
            <a:avLst/>
          </a:prstGeom>
          <a:solidFill>
            <a:srgbClr val="000000"/>
          </a:solidFill>
          <a:ln w="25400" cap="flat" cmpd="sng" algn="ctr">
            <a:solidFill>
              <a:srgbClr val="000000"/>
            </a:solidFill>
            <a:prstDash val="solid"/>
            <a:miter lim="4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6" name="直接箭头连接符 45"/>
          <p:cNvCxnSpPr>
            <a:stCxn id="15" idx="7"/>
            <a:endCxn id="16" idx="3"/>
          </p:cNvCxnSpPr>
          <p:nvPr/>
        </p:nvCxnSpPr>
        <p:spPr bwMode="auto">
          <a:xfrm flipV="1">
            <a:off x="8595243" y="1847932"/>
            <a:ext cx="1528396" cy="557143"/>
          </a:xfrm>
          <a:prstGeom prst="straightConnector1">
            <a:avLst/>
          </a:prstGeom>
          <a:solidFill>
            <a:srgbClr val="000000"/>
          </a:solidFill>
          <a:ln w="25400" cap="flat" cmpd="sng" algn="ctr">
            <a:solidFill>
              <a:srgbClr val="000000"/>
            </a:solidFill>
            <a:prstDash val="solid"/>
            <a:miter lim="4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8" name="直接箭头连接符 47"/>
          <p:cNvCxnSpPr>
            <a:stCxn id="9" idx="0"/>
            <a:endCxn id="13" idx="4"/>
          </p:cNvCxnSpPr>
          <p:nvPr/>
        </p:nvCxnSpPr>
        <p:spPr bwMode="auto">
          <a:xfrm flipV="1">
            <a:off x="4417686" y="4846523"/>
            <a:ext cx="1" cy="385734"/>
          </a:xfrm>
          <a:prstGeom prst="straightConnector1">
            <a:avLst/>
          </a:prstGeom>
          <a:solidFill>
            <a:srgbClr val="000000"/>
          </a:solidFill>
          <a:ln w="25400" cap="flat" cmpd="sng" algn="ctr">
            <a:solidFill>
              <a:srgbClr val="000000"/>
            </a:solidFill>
            <a:prstDash val="solid"/>
            <a:miter lim="4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直接箭头连接符 49"/>
          <p:cNvCxnSpPr>
            <a:endCxn id="14" idx="4"/>
          </p:cNvCxnSpPr>
          <p:nvPr/>
        </p:nvCxnSpPr>
        <p:spPr bwMode="auto">
          <a:xfrm flipV="1">
            <a:off x="6394387" y="3875561"/>
            <a:ext cx="2" cy="1356696"/>
          </a:xfrm>
          <a:prstGeom prst="straightConnector1">
            <a:avLst/>
          </a:prstGeom>
          <a:solidFill>
            <a:srgbClr val="000000"/>
          </a:solidFill>
          <a:ln w="25400" cap="flat" cmpd="sng" algn="ctr">
            <a:solidFill>
              <a:srgbClr val="000000"/>
            </a:solidFill>
            <a:prstDash val="solid"/>
            <a:miter lim="4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直接箭头连接符 51"/>
          <p:cNvCxnSpPr>
            <a:stCxn id="11" idx="0"/>
          </p:cNvCxnSpPr>
          <p:nvPr/>
        </p:nvCxnSpPr>
        <p:spPr bwMode="auto">
          <a:xfrm flipV="1">
            <a:off x="8371088" y="2818894"/>
            <a:ext cx="3" cy="2413363"/>
          </a:xfrm>
          <a:prstGeom prst="straightConnector1">
            <a:avLst/>
          </a:prstGeom>
          <a:solidFill>
            <a:srgbClr val="000000"/>
          </a:solidFill>
          <a:ln w="25400" cap="flat" cmpd="sng" algn="ctr">
            <a:solidFill>
              <a:srgbClr val="000000"/>
            </a:solidFill>
            <a:prstDash val="solid"/>
            <a:miter lim="4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直接箭头连接符 53"/>
          <p:cNvCxnSpPr>
            <a:stCxn id="12" idx="0"/>
          </p:cNvCxnSpPr>
          <p:nvPr/>
        </p:nvCxnSpPr>
        <p:spPr bwMode="auto">
          <a:xfrm flipV="1">
            <a:off x="10347791" y="1847932"/>
            <a:ext cx="0" cy="3384325"/>
          </a:xfrm>
          <a:prstGeom prst="straightConnector1">
            <a:avLst/>
          </a:prstGeom>
          <a:solidFill>
            <a:srgbClr val="000000"/>
          </a:solidFill>
          <a:ln w="25400" cap="flat" cmpd="sng" algn="ctr">
            <a:solidFill>
              <a:srgbClr val="000000"/>
            </a:solidFill>
            <a:prstDash val="solid"/>
            <a:miter lim="4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1"/>
          <a:stretch>
            <a:fillRect/>
          </a:stretch>
        </p:blipFill>
        <p:spPr>
          <a:xfrm>
            <a:off x="3982120" y="2572544"/>
            <a:ext cx="4295506" cy="3096344"/>
          </a:xfrm>
          <a:prstGeom prst="rect">
            <a:avLst/>
          </a:prstGeom>
        </p:spPr>
      </p:pic>
      <p:sp>
        <p:nvSpPr>
          <p:cNvPr id="2" name="Title 1"/>
          <p:cNvSpPr>
            <a:spLocks noGrp="1"/>
          </p:cNvSpPr>
          <p:nvPr>
            <p:ph type="title"/>
          </p:nvPr>
        </p:nvSpPr>
        <p:spPr/>
        <p:txBody>
          <a:bodyPr/>
          <a:lstStyle/>
          <a:p>
            <a:r>
              <a:rPr lang="en-US" dirty="0"/>
              <a:t>Chance</a:t>
            </a:r>
            <a:endParaRPr lang="en-US" dirty="0"/>
          </a:p>
        </p:txBody>
      </p:sp>
      <p:sp>
        <p:nvSpPr>
          <p:cNvPr id="3" name="Content Placeholder 2"/>
          <p:cNvSpPr>
            <a:spLocks noGrp="1"/>
          </p:cNvSpPr>
          <p:nvPr>
            <p:ph idx="1"/>
          </p:nvPr>
        </p:nvSpPr>
        <p:spPr/>
        <p:txBody>
          <a:bodyPr/>
          <a:lstStyle/>
          <a:p>
            <a:r>
              <a:rPr lang="en-US" altLang="zh-CN" dirty="0"/>
              <a:t>The calculations inside the loop are associative</a:t>
            </a:r>
            <a:endParaRPr lang="en-US" dirty="0"/>
          </a:p>
          <a:p>
            <a:endParaRPr lang="en-US" dirty="0"/>
          </a:p>
          <a:p>
            <a:endParaRPr lang="en-US" dirty="0"/>
          </a:p>
          <a:p>
            <a:endParaRPr lang="en-US" dirty="0"/>
          </a:p>
          <a:p>
            <a:endParaRPr lang="en-US" dirty="0"/>
          </a:p>
          <a:p>
            <a:endParaRPr lang="en-US" dirty="0"/>
          </a:p>
          <a:p>
            <a:endParaRPr lang="en-US" dirty="0"/>
          </a:p>
        </p:txBody>
      </p:sp>
      <p:sp>
        <p:nvSpPr>
          <p:cNvPr id="5" name="Rectangle 4"/>
          <p:cNvSpPr/>
          <p:nvPr/>
        </p:nvSpPr>
        <p:spPr bwMode="auto">
          <a:xfrm>
            <a:off x="1461840" y="3724672"/>
            <a:ext cx="9577064" cy="720080"/>
          </a:xfrm>
          <a:prstGeom prst="rect">
            <a:avLst/>
          </a:prstGeom>
          <a:noFill/>
          <a:ln w="28575">
            <a:solidFill>
              <a:srgbClr val="FF000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50800" tIns="50800" rIns="50800" bIns="50800" numCol="1" rtlCol="0" anchor="ctr" anchorCtr="0" compatLnSpc="1">
            <a:noAutofit/>
          </a:bodyPr>
          <a:lstStyle/>
          <a:p>
            <a:pPr marL="0" marR="0" indent="0" algn="ctr" defTabSz="1733550" rtl="0" eaLnBrk="1" fontAlgn="base" latinLnBrk="0" hangingPunct="0">
              <a:lnSpc>
                <a:spcPct val="90000"/>
              </a:lnSpc>
              <a:spcBef>
                <a:spcPct val="0"/>
              </a:spcBef>
              <a:spcAft>
                <a:spcPct val="0"/>
              </a:spcAft>
              <a:buClrTx/>
              <a:buSzTx/>
              <a:buFontTx/>
              <a:buNone/>
            </a:pPr>
            <a:endParaRPr kumimoji="0" lang="en-US" sz="1600" b="0" i="0" u="none" strike="noStrike" cap="none" normalizeH="0" baseline="0" dirty="0">
              <a:ln>
                <a:noFill/>
              </a:ln>
              <a:solidFill>
                <a:srgbClr val="000000"/>
              </a:solidFill>
              <a:effectLst/>
              <a:latin typeface="Canela Text Regular" charset="0"/>
              <a:ea typeface="Canela Text Regular" charset="0"/>
              <a:cs typeface="Canela Text Regular" charset="0"/>
              <a:sym typeface="Canela Text Regular" charset="0"/>
            </a:endParaRPr>
          </a:p>
        </p:txBody>
      </p:sp>
      <p:pic>
        <p:nvPicPr>
          <p:cNvPr id="6" name="Picture 5"/>
          <p:cNvPicPr>
            <a:picLocks noChangeAspect="1"/>
          </p:cNvPicPr>
          <p:nvPr/>
        </p:nvPicPr>
        <p:blipFill>
          <a:blip r:embed="rId2"/>
          <a:stretch>
            <a:fillRect/>
          </a:stretch>
        </p:blipFill>
        <p:spPr>
          <a:xfrm>
            <a:off x="950873" y="5925111"/>
            <a:ext cx="11342727" cy="346619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There is more than one possible solution
</a:t>
            </a:r>
            <a:endParaRPr lang="en-US" dirty="0"/>
          </a:p>
        </p:txBody>
      </p:sp>
      <p:sp>
        <p:nvSpPr>
          <p:cNvPr id="3" name="内容占位符 2"/>
          <p:cNvSpPr>
            <a:spLocks noGrp="1"/>
          </p:cNvSpPr>
          <p:nvPr>
            <p:ph idx="1"/>
          </p:nvPr>
        </p:nvSpPr>
        <p:spPr>
          <a:xfrm>
            <a:off x="495300" y="6316960"/>
            <a:ext cx="12012613" cy="2725440"/>
          </a:xfrm>
        </p:spPr>
        <p:txBody>
          <a:bodyPr/>
          <a:lstStyle/>
          <a:p>
            <a:r>
              <a:rPr lang="en-US" altLang="zh-CN" sz="2000" dirty="0"/>
              <a:t>Suppose there are 2 processors, then there are 4 possible divisions
Suppose there are 3 processors, 3+2+1=6
Suppose there are 4 processors, 4
Suppose there are 5 processors, 1</a:t>
            </a:r>
            <a:endParaRPr lang="en-US" altLang="zh-CN" sz="2000" dirty="0"/>
          </a:p>
          <a:p>
            <a:r>
              <a:rPr lang="en-US" altLang="zh-CN" sz="2000" dirty="0"/>
              <a:t>--&gt; The number of possible combinations grows exponentially with array length
</a:t>
            </a:r>
            <a:endParaRPr lang="en-US" sz="2000" dirty="0"/>
          </a:p>
        </p:txBody>
      </p:sp>
      <p:sp>
        <p:nvSpPr>
          <p:cNvPr id="4" name="椭圆 3"/>
          <p:cNvSpPr/>
          <p:nvPr/>
        </p:nvSpPr>
        <p:spPr bwMode="auto">
          <a:xfrm>
            <a:off x="2123986" y="5232257"/>
            <a:ext cx="633998" cy="585229"/>
          </a:xfrm>
          <a:prstGeom prst="ellipse">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50800" tIns="50800" rIns="50800" bIns="50800" numCol="1" rtlCol="0" anchor="ctr" anchorCtr="0" compatLnSpc="1">
            <a:noAutofit/>
          </a:bodyPr>
          <a:lstStyle/>
          <a:p>
            <a:pPr marL="0" marR="0" indent="0" algn="ctr" defTabSz="1733550" rtl="0" eaLnBrk="1" fontAlgn="base" latinLnBrk="0" hangingPunct="0">
              <a:lnSpc>
                <a:spcPct val="90000"/>
              </a:lnSpc>
              <a:spcBef>
                <a:spcPct val="0"/>
              </a:spcBef>
              <a:spcAft>
                <a:spcPct val="0"/>
              </a:spcAft>
              <a:buClrTx/>
              <a:buSzTx/>
              <a:buFontTx/>
              <a:buNone/>
            </a:pPr>
            <a:r>
              <a:rPr kumimoji="0" lang="en-US" sz="3200" b="0" i="0" u="none" strike="noStrike" cap="none" normalizeH="0" baseline="0" dirty="0">
                <a:ln>
                  <a:noFill/>
                </a:ln>
                <a:solidFill>
                  <a:srgbClr val="000000"/>
                </a:solidFill>
                <a:effectLst/>
                <a:latin typeface="Canela Text Regular" charset="0"/>
                <a:ea typeface="Canela Text Regular" charset="0"/>
                <a:cs typeface="Canela Text Regular" charset="0"/>
                <a:sym typeface="Canela Text Regular" charset="0"/>
              </a:rPr>
              <a:t>1</a:t>
            </a:r>
            <a:endParaRPr kumimoji="0" lang="en-US" sz="3200" b="0" i="0" u="none" strike="noStrike" cap="none" normalizeH="0" baseline="0" dirty="0">
              <a:ln>
                <a:noFill/>
              </a:ln>
              <a:solidFill>
                <a:srgbClr val="000000"/>
              </a:solidFill>
              <a:effectLst/>
              <a:latin typeface="Canela Text Regular" charset="0"/>
              <a:ea typeface="Canela Text Regular" charset="0"/>
              <a:cs typeface="Canela Text Regular" charset="0"/>
              <a:sym typeface="Canela Text Regular" charset="0"/>
            </a:endParaRPr>
          </a:p>
        </p:txBody>
      </p:sp>
      <p:sp>
        <p:nvSpPr>
          <p:cNvPr id="5" name="椭圆 4"/>
          <p:cNvSpPr/>
          <p:nvPr/>
        </p:nvSpPr>
        <p:spPr bwMode="auto">
          <a:xfrm>
            <a:off x="4100687" y="5232257"/>
            <a:ext cx="633998" cy="585229"/>
          </a:xfrm>
          <a:prstGeom prst="ellipse">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50800" tIns="50800" rIns="50800" bIns="50800" numCol="1" rtlCol="0" anchor="ctr" anchorCtr="0" compatLnSpc="1">
            <a:noAutofit/>
          </a:bodyPr>
          <a:lstStyle/>
          <a:p>
            <a:pPr marL="0" marR="0" indent="0" algn="ctr" defTabSz="1733550" rtl="0" eaLnBrk="1" fontAlgn="base" latinLnBrk="0" hangingPunct="0">
              <a:lnSpc>
                <a:spcPct val="90000"/>
              </a:lnSpc>
              <a:spcBef>
                <a:spcPct val="0"/>
              </a:spcBef>
              <a:spcAft>
                <a:spcPct val="0"/>
              </a:spcAft>
              <a:buClrTx/>
              <a:buSzTx/>
              <a:buFontTx/>
              <a:buNone/>
            </a:pPr>
            <a:r>
              <a:rPr lang="en-US" sz="3200" dirty="0">
                <a:solidFill>
                  <a:srgbClr val="000000"/>
                </a:solidFill>
                <a:latin typeface="Canela Text Regular" charset="0"/>
                <a:ea typeface="Canela Text Regular" charset="0"/>
                <a:cs typeface="Canela Text Regular" charset="0"/>
              </a:rPr>
              <a:t>2</a:t>
            </a:r>
            <a:endParaRPr kumimoji="0" lang="en-US" sz="3200" b="0" i="0" u="none" strike="noStrike" cap="none" normalizeH="0" baseline="0" dirty="0">
              <a:ln>
                <a:noFill/>
              </a:ln>
              <a:solidFill>
                <a:srgbClr val="000000"/>
              </a:solidFill>
              <a:effectLst/>
              <a:latin typeface="Canela Text Regular" charset="0"/>
              <a:ea typeface="Canela Text Regular" charset="0"/>
              <a:cs typeface="Canela Text Regular" charset="0"/>
              <a:sym typeface="Canela Text Regular" charset="0"/>
            </a:endParaRPr>
          </a:p>
        </p:txBody>
      </p:sp>
      <p:sp>
        <p:nvSpPr>
          <p:cNvPr id="6" name="椭圆 5"/>
          <p:cNvSpPr/>
          <p:nvPr/>
        </p:nvSpPr>
        <p:spPr bwMode="auto">
          <a:xfrm>
            <a:off x="6077388" y="5232257"/>
            <a:ext cx="633998" cy="585229"/>
          </a:xfrm>
          <a:prstGeom prst="ellipse">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50800" tIns="50800" rIns="50800" bIns="50800" numCol="1" rtlCol="0" anchor="ctr" anchorCtr="0" compatLnSpc="1">
            <a:noAutofit/>
          </a:bodyPr>
          <a:lstStyle/>
          <a:p>
            <a:pPr marL="0" marR="0" indent="0" algn="ctr" defTabSz="1733550" rtl="0" eaLnBrk="1" fontAlgn="base" latinLnBrk="0" hangingPunct="0">
              <a:lnSpc>
                <a:spcPct val="90000"/>
              </a:lnSpc>
              <a:spcBef>
                <a:spcPct val="0"/>
              </a:spcBef>
              <a:spcAft>
                <a:spcPct val="0"/>
              </a:spcAft>
              <a:buClrTx/>
              <a:buSzTx/>
              <a:buFontTx/>
              <a:buNone/>
            </a:pPr>
            <a:r>
              <a:rPr lang="en-US" sz="3200" dirty="0">
                <a:solidFill>
                  <a:srgbClr val="000000"/>
                </a:solidFill>
                <a:latin typeface="Canela Text Regular" charset="0"/>
                <a:ea typeface="Canela Text Regular" charset="0"/>
                <a:cs typeface="Canela Text Regular" charset="0"/>
              </a:rPr>
              <a:t>3</a:t>
            </a:r>
            <a:endParaRPr kumimoji="0" lang="en-US" sz="3200" b="0" i="0" u="none" strike="noStrike" cap="none" normalizeH="0" baseline="0" dirty="0">
              <a:ln>
                <a:noFill/>
              </a:ln>
              <a:solidFill>
                <a:srgbClr val="000000"/>
              </a:solidFill>
              <a:effectLst/>
              <a:latin typeface="Canela Text Regular" charset="0"/>
              <a:ea typeface="Canela Text Regular" charset="0"/>
              <a:cs typeface="Canela Text Regular" charset="0"/>
              <a:sym typeface="Canela Text Regular" charset="0"/>
            </a:endParaRPr>
          </a:p>
        </p:txBody>
      </p:sp>
      <p:sp>
        <p:nvSpPr>
          <p:cNvPr id="7" name="椭圆 6"/>
          <p:cNvSpPr/>
          <p:nvPr/>
        </p:nvSpPr>
        <p:spPr bwMode="auto">
          <a:xfrm>
            <a:off x="8054089" y="5232257"/>
            <a:ext cx="633998" cy="585229"/>
          </a:xfrm>
          <a:prstGeom prst="ellipse">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50800" tIns="50800" rIns="50800" bIns="50800" numCol="1" rtlCol="0" anchor="ctr" anchorCtr="0" compatLnSpc="1">
            <a:noAutofit/>
          </a:bodyPr>
          <a:lstStyle/>
          <a:p>
            <a:pPr marL="0" marR="0" indent="0" algn="ctr" defTabSz="1733550" rtl="0" eaLnBrk="1" fontAlgn="base" latinLnBrk="0" hangingPunct="0">
              <a:lnSpc>
                <a:spcPct val="90000"/>
              </a:lnSpc>
              <a:spcBef>
                <a:spcPct val="0"/>
              </a:spcBef>
              <a:spcAft>
                <a:spcPct val="0"/>
              </a:spcAft>
              <a:buClrTx/>
              <a:buSzTx/>
              <a:buFontTx/>
              <a:buNone/>
            </a:pPr>
            <a:r>
              <a:rPr lang="en-US" sz="3200" dirty="0">
                <a:solidFill>
                  <a:srgbClr val="000000"/>
                </a:solidFill>
                <a:latin typeface="Canela Text Regular" charset="0"/>
                <a:ea typeface="Canela Text Regular" charset="0"/>
                <a:cs typeface="Canela Text Regular" charset="0"/>
              </a:rPr>
              <a:t>4</a:t>
            </a:r>
            <a:endParaRPr kumimoji="0" lang="en-US" sz="3200" b="0" i="0" u="none" strike="noStrike" cap="none" normalizeH="0" baseline="0" dirty="0">
              <a:ln>
                <a:noFill/>
              </a:ln>
              <a:solidFill>
                <a:srgbClr val="000000"/>
              </a:solidFill>
              <a:effectLst/>
              <a:latin typeface="Canela Text Regular" charset="0"/>
              <a:ea typeface="Canela Text Regular" charset="0"/>
              <a:cs typeface="Canela Text Regular" charset="0"/>
              <a:sym typeface="Canela Text Regular" charset="0"/>
            </a:endParaRPr>
          </a:p>
        </p:txBody>
      </p:sp>
      <p:sp>
        <p:nvSpPr>
          <p:cNvPr id="8" name="椭圆 7"/>
          <p:cNvSpPr/>
          <p:nvPr/>
        </p:nvSpPr>
        <p:spPr bwMode="auto">
          <a:xfrm>
            <a:off x="10030792" y="5232257"/>
            <a:ext cx="633998" cy="585229"/>
          </a:xfrm>
          <a:prstGeom prst="ellipse">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50800" tIns="50800" rIns="50800" bIns="50800" numCol="1" rtlCol="0" anchor="ctr" anchorCtr="0" compatLnSpc="1">
            <a:noAutofit/>
          </a:bodyPr>
          <a:lstStyle/>
          <a:p>
            <a:pPr marL="0" marR="0" indent="0" algn="ctr" defTabSz="1733550" rtl="0" eaLnBrk="1" fontAlgn="base" latinLnBrk="0" hangingPunct="0">
              <a:lnSpc>
                <a:spcPct val="90000"/>
              </a:lnSpc>
              <a:spcBef>
                <a:spcPct val="0"/>
              </a:spcBef>
              <a:spcAft>
                <a:spcPct val="0"/>
              </a:spcAft>
              <a:buClrTx/>
              <a:buSzTx/>
              <a:buFontTx/>
              <a:buNone/>
            </a:pPr>
            <a:r>
              <a:rPr kumimoji="0" lang="en-US" sz="3200" b="0" i="0" u="none" strike="noStrike" cap="none" normalizeH="0" baseline="0" dirty="0">
                <a:ln>
                  <a:noFill/>
                </a:ln>
                <a:solidFill>
                  <a:srgbClr val="000000"/>
                </a:solidFill>
                <a:effectLst/>
                <a:latin typeface="Canela Text Regular" charset="0"/>
                <a:ea typeface="Canela Text Regular" charset="0"/>
                <a:cs typeface="Canela Text Regular" charset="0"/>
                <a:sym typeface="Canela Text Regular" charset="0"/>
              </a:rPr>
              <a:t>5</a:t>
            </a:r>
            <a:endParaRPr kumimoji="0" lang="en-US" sz="3200" b="0" i="0" u="none" strike="noStrike" cap="none" normalizeH="0" baseline="0" dirty="0">
              <a:ln>
                <a:noFill/>
              </a:ln>
              <a:solidFill>
                <a:srgbClr val="000000"/>
              </a:solidFill>
              <a:effectLst/>
              <a:latin typeface="Canela Text Regular" charset="0"/>
              <a:ea typeface="Canela Text Regular" charset="0"/>
              <a:cs typeface="Canela Text Regular" charset="0"/>
              <a:sym typeface="Canela Text Regular" charset="0"/>
            </a:endParaRPr>
          </a:p>
        </p:txBody>
      </p:sp>
      <p:sp>
        <p:nvSpPr>
          <p:cNvPr id="9" name="椭圆 8"/>
          <p:cNvSpPr/>
          <p:nvPr/>
        </p:nvSpPr>
        <p:spPr bwMode="auto">
          <a:xfrm>
            <a:off x="4100688" y="4261294"/>
            <a:ext cx="633998" cy="585229"/>
          </a:xfrm>
          <a:prstGeom prst="ellipse">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50800" tIns="50800" rIns="50800" bIns="50800" numCol="1" rtlCol="0" anchor="ctr" anchorCtr="0" compatLnSpc="1">
            <a:noAutofit/>
          </a:bodyPr>
          <a:lstStyle/>
          <a:p>
            <a:pPr marL="0" marR="0" indent="0" algn="ctr" defTabSz="1733550" rtl="0" eaLnBrk="1" fontAlgn="base" latinLnBrk="0" hangingPunct="0">
              <a:lnSpc>
                <a:spcPct val="90000"/>
              </a:lnSpc>
              <a:spcBef>
                <a:spcPct val="0"/>
              </a:spcBef>
              <a:spcAft>
                <a:spcPct val="0"/>
              </a:spcAft>
              <a:buClrTx/>
              <a:buSzTx/>
              <a:buFontTx/>
              <a:buNone/>
            </a:pPr>
            <a:endParaRPr kumimoji="0" lang="en-US" sz="3200" b="0" i="0" u="none" strike="noStrike" cap="none" normalizeH="0" baseline="0" dirty="0">
              <a:ln>
                <a:noFill/>
              </a:ln>
              <a:solidFill>
                <a:srgbClr val="000000"/>
              </a:solidFill>
              <a:effectLst/>
              <a:latin typeface="Canela Text Regular" charset="0"/>
              <a:ea typeface="Canela Text Regular" charset="0"/>
              <a:cs typeface="Canela Text Regular" charset="0"/>
              <a:sym typeface="Canela Text Regular" charset="0"/>
            </a:endParaRPr>
          </a:p>
        </p:txBody>
      </p:sp>
      <p:sp>
        <p:nvSpPr>
          <p:cNvPr id="10" name="椭圆 9"/>
          <p:cNvSpPr/>
          <p:nvPr/>
        </p:nvSpPr>
        <p:spPr bwMode="auto">
          <a:xfrm>
            <a:off x="10030792" y="3211451"/>
            <a:ext cx="633998" cy="585229"/>
          </a:xfrm>
          <a:prstGeom prst="ellipse">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50800" tIns="50800" rIns="50800" bIns="50800" numCol="1" rtlCol="0" anchor="ctr" anchorCtr="0" compatLnSpc="1">
            <a:noAutofit/>
          </a:bodyPr>
          <a:lstStyle/>
          <a:p>
            <a:pPr marL="0" marR="0" indent="0" algn="ctr" defTabSz="1733550" rtl="0" eaLnBrk="1" fontAlgn="base" latinLnBrk="0" hangingPunct="0">
              <a:lnSpc>
                <a:spcPct val="90000"/>
              </a:lnSpc>
              <a:spcBef>
                <a:spcPct val="0"/>
              </a:spcBef>
              <a:spcAft>
                <a:spcPct val="0"/>
              </a:spcAft>
              <a:buClrTx/>
              <a:buSzTx/>
              <a:buFontTx/>
              <a:buNone/>
            </a:pPr>
            <a:endParaRPr kumimoji="0" lang="en-US" sz="3200" b="0" i="0" u="none" strike="noStrike" cap="none" normalizeH="0" baseline="0" dirty="0">
              <a:ln>
                <a:noFill/>
              </a:ln>
              <a:solidFill>
                <a:srgbClr val="000000"/>
              </a:solidFill>
              <a:effectLst/>
              <a:latin typeface="Canela Text Regular" charset="0"/>
              <a:ea typeface="Canela Text Regular" charset="0"/>
              <a:cs typeface="Canela Text Regular" charset="0"/>
              <a:sym typeface="Canela Text Regular" charset="0"/>
            </a:endParaRPr>
          </a:p>
        </p:txBody>
      </p:sp>
      <p:sp>
        <p:nvSpPr>
          <p:cNvPr id="12" name="椭圆 11"/>
          <p:cNvSpPr/>
          <p:nvPr/>
        </p:nvSpPr>
        <p:spPr bwMode="auto">
          <a:xfrm>
            <a:off x="10030792" y="4240428"/>
            <a:ext cx="633998" cy="585229"/>
          </a:xfrm>
          <a:prstGeom prst="ellipse">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50800" tIns="50800" rIns="50800" bIns="50800" numCol="1" rtlCol="0" anchor="ctr" anchorCtr="0" compatLnSpc="1">
            <a:noAutofit/>
          </a:bodyPr>
          <a:lstStyle/>
          <a:p>
            <a:pPr marL="0" marR="0" indent="0" algn="ctr" defTabSz="1733550" rtl="0" eaLnBrk="1" fontAlgn="base" latinLnBrk="0" hangingPunct="0">
              <a:lnSpc>
                <a:spcPct val="90000"/>
              </a:lnSpc>
              <a:spcBef>
                <a:spcPct val="0"/>
              </a:spcBef>
              <a:spcAft>
                <a:spcPct val="0"/>
              </a:spcAft>
              <a:buClrTx/>
              <a:buSzTx/>
              <a:buFontTx/>
              <a:buNone/>
            </a:pPr>
            <a:endParaRPr kumimoji="0" lang="en-US" sz="3200" b="0" i="0" u="none" strike="noStrike" cap="none" normalizeH="0" baseline="0" dirty="0">
              <a:ln>
                <a:noFill/>
              </a:ln>
              <a:solidFill>
                <a:srgbClr val="000000"/>
              </a:solidFill>
              <a:effectLst/>
              <a:latin typeface="Canela Text Regular" charset="0"/>
              <a:ea typeface="Canela Text Regular" charset="0"/>
              <a:cs typeface="Canela Text Regular" charset="0"/>
              <a:sym typeface="Canela Text Regular" charset="0"/>
            </a:endParaRPr>
          </a:p>
        </p:txBody>
      </p:sp>
      <p:cxnSp>
        <p:nvCxnSpPr>
          <p:cNvPr id="13" name="直接箭头连接符 12"/>
          <p:cNvCxnSpPr>
            <a:stCxn id="4" idx="7"/>
            <a:endCxn id="9" idx="3"/>
          </p:cNvCxnSpPr>
          <p:nvPr/>
        </p:nvCxnSpPr>
        <p:spPr bwMode="auto">
          <a:xfrm flipV="1">
            <a:off x="2665137" y="4760818"/>
            <a:ext cx="1528398" cy="557144"/>
          </a:xfrm>
          <a:prstGeom prst="straightConnector1">
            <a:avLst/>
          </a:prstGeom>
          <a:solidFill>
            <a:srgbClr val="000000"/>
          </a:solidFill>
          <a:ln w="25400" cap="flat" cmpd="sng" algn="ctr">
            <a:solidFill>
              <a:srgbClr val="000000"/>
            </a:solidFill>
            <a:prstDash val="solid"/>
            <a:miter lim="4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直接箭头连接符 15"/>
          <p:cNvCxnSpPr>
            <a:endCxn id="12" idx="3"/>
          </p:cNvCxnSpPr>
          <p:nvPr/>
        </p:nvCxnSpPr>
        <p:spPr bwMode="auto">
          <a:xfrm flipV="1">
            <a:off x="8595243" y="4739952"/>
            <a:ext cx="1528396" cy="557143"/>
          </a:xfrm>
          <a:prstGeom prst="straightConnector1">
            <a:avLst/>
          </a:prstGeom>
          <a:solidFill>
            <a:srgbClr val="000000"/>
          </a:solidFill>
          <a:ln w="25400" cap="flat" cmpd="sng" algn="ctr">
            <a:solidFill>
              <a:srgbClr val="000000"/>
            </a:solidFill>
            <a:prstDash val="solid"/>
            <a:miter lim="4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直接箭头连接符 16"/>
          <p:cNvCxnSpPr>
            <a:stCxn id="5" idx="0"/>
            <a:endCxn id="9" idx="4"/>
          </p:cNvCxnSpPr>
          <p:nvPr/>
        </p:nvCxnSpPr>
        <p:spPr bwMode="auto">
          <a:xfrm flipV="1">
            <a:off x="4417686" y="4846523"/>
            <a:ext cx="1" cy="385734"/>
          </a:xfrm>
          <a:prstGeom prst="straightConnector1">
            <a:avLst/>
          </a:prstGeom>
          <a:solidFill>
            <a:srgbClr val="000000"/>
          </a:solidFill>
          <a:ln w="25400" cap="flat" cmpd="sng" algn="ctr">
            <a:solidFill>
              <a:srgbClr val="000000"/>
            </a:solidFill>
            <a:prstDash val="solid"/>
            <a:miter lim="4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直接箭头连接符 17"/>
          <p:cNvCxnSpPr>
            <a:stCxn id="12" idx="0"/>
            <a:endCxn id="10" idx="4"/>
          </p:cNvCxnSpPr>
          <p:nvPr/>
        </p:nvCxnSpPr>
        <p:spPr bwMode="auto">
          <a:xfrm flipV="1">
            <a:off x="10347791" y="3796680"/>
            <a:ext cx="0" cy="443748"/>
          </a:xfrm>
          <a:prstGeom prst="straightConnector1">
            <a:avLst/>
          </a:prstGeom>
          <a:solidFill>
            <a:srgbClr val="000000"/>
          </a:solidFill>
          <a:ln w="25400" cap="flat" cmpd="sng" algn="ctr">
            <a:solidFill>
              <a:srgbClr val="000000"/>
            </a:solidFill>
            <a:prstDash val="solid"/>
            <a:miter lim="4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接箭头连接符 19"/>
          <p:cNvCxnSpPr>
            <a:stCxn id="8" idx="0"/>
            <a:endCxn id="12" idx="4"/>
          </p:cNvCxnSpPr>
          <p:nvPr/>
        </p:nvCxnSpPr>
        <p:spPr bwMode="auto">
          <a:xfrm flipV="1">
            <a:off x="10347791" y="4825657"/>
            <a:ext cx="0" cy="406600"/>
          </a:xfrm>
          <a:prstGeom prst="straightConnector1">
            <a:avLst/>
          </a:prstGeom>
          <a:solidFill>
            <a:srgbClr val="000000"/>
          </a:solidFill>
          <a:ln w="25400" cap="flat" cmpd="sng" algn="ctr">
            <a:solidFill>
              <a:srgbClr val="000000"/>
            </a:solidFill>
            <a:prstDash val="solid"/>
            <a:miter lim="4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直接箭头连接符 25"/>
          <p:cNvCxnSpPr>
            <a:stCxn id="6" idx="0"/>
            <a:endCxn id="10" idx="3"/>
          </p:cNvCxnSpPr>
          <p:nvPr/>
        </p:nvCxnSpPr>
        <p:spPr bwMode="auto">
          <a:xfrm flipV="1">
            <a:off x="6394387" y="3710975"/>
            <a:ext cx="3729252" cy="1521282"/>
          </a:xfrm>
          <a:prstGeom prst="straightConnector1">
            <a:avLst/>
          </a:prstGeom>
          <a:solidFill>
            <a:srgbClr val="000000"/>
          </a:solidFill>
          <a:ln w="25400" cap="flat" cmpd="sng" algn="ctr">
            <a:solidFill>
              <a:srgbClr val="000000"/>
            </a:solidFill>
            <a:prstDash val="solid"/>
            <a:miter lim="4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 name="椭圆 27"/>
          <p:cNvSpPr/>
          <p:nvPr/>
        </p:nvSpPr>
        <p:spPr bwMode="auto">
          <a:xfrm>
            <a:off x="10044866" y="2203339"/>
            <a:ext cx="633998" cy="585229"/>
          </a:xfrm>
          <a:prstGeom prst="ellipse">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50800" tIns="50800" rIns="50800" bIns="50800" numCol="1" rtlCol="0" anchor="ctr" anchorCtr="0" compatLnSpc="1">
            <a:noAutofit/>
          </a:bodyPr>
          <a:lstStyle/>
          <a:p>
            <a:pPr marL="0" marR="0" indent="0" algn="ctr" defTabSz="1733550" rtl="0" eaLnBrk="1" fontAlgn="base" latinLnBrk="0" hangingPunct="0">
              <a:lnSpc>
                <a:spcPct val="90000"/>
              </a:lnSpc>
              <a:spcBef>
                <a:spcPct val="0"/>
              </a:spcBef>
              <a:spcAft>
                <a:spcPct val="0"/>
              </a:spcAft>
              <a:buClrTx/>
              <a:buSzTx/>
              <a:buFontTx/>
              <a:buNone/>
            </a:pPr>
            <a:endParaRPr kumimoji="0" lang="en-US" sz="3200" b="0" i="0" u="none" strike="noStrike" cap="none" normalizeH="0" baseline="0" dirty="0">
              <a:ln>
                <a:noFill/>
              </a:ln>
              <a:solidFill>
                <a:srgbClr val="000000"/>
              </a:solidFill>
              <a:effectLst/>
              <a:latin typeface="Canela Text Regular" charset="0"/>
              <a:ea typeface="Canela Text Regular" charset="0"/>
              <a:cs typeface="Canela Text Regular" charset="0"/>
              <a:sym typeface="Canela Text Regular" charset="0"/>
            </a:endParaRPr>
          </a:p>
        </p:txBody>
      </p:sp>
      <p:cxnSp>
        <p:nvCxnSpPr>
          <p:cNvPr id="30" name="直接箭头连接符 29"/>
          <p:cNvCxnSpPr>
            <a:stCxn id="10" idx="0"/>
            <a:endCxn id="28" idx="4"/>
          </p:cNvCxnSpPr>
          <p:nvPr/>
        </p:nvCxnSpPr>
        <p:spPr bwMode="auto">
          <a:xfrm flipV="1">
            <a:off x="10347791" y="2788568"/>
            <a:ext cx="14074" cy="422883"/>
          </a:xfrm>
          <a:prstGeom prst="straightConnector1">
            <a:avLst/>
          </a:prstGeom>
          <a:solidFill>
            <a:srgbClr val="000000"/>
          </a:solidFill>
          <a:ln w="25400" cap="flat" cmpd="sng" algn="ctr">
            <a:solidFill>
              <a:srgbClr val="000000"/>
            </a:solidFill>
            <a:prstDash val="solid"/>
            <a:miter lim="4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 name="直接箭头连接符 31"/>
          <p:cNvCxnSpPr>
            <a:stCxn id="9" idx="7"/>
            <a:endCxn id="28" idx="2"/>
          </p:cNvCxnSpPr>
          <p:nvPr/>
        </p:nvCxnSpPr>
        <p:spPr bwMode="auto">
          <a:xfrm flipV="1">
            <a:off x="4641839" y="2495954"/>
            <a:ext cx="5403027" cy="1851045"/>
          </a:xfrm>
          <a:prstGeom prst="straightConnector1">
            <a:avLst/>
          </a:prstGeom>
          <a:solidFill>
            <a:srgbClr val="000000"/>
          </a:solidFill>
          <a:ln w="25400" cap="flat" cmpd="sng" algn="ctr">
            <a:solidFill>
              <a:srgbClr val="000000"/>
            </a:solidFill>
            <a:prstDash val="solid"/>
            <a:miter lim="4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直接连接符 34"/>
          <p:cNvCxnSpPr/>
          <p:nvPr/>
        </p:nvCxnSpPr>
        <p:spPr bwMode="auto">
          <a:xfrm>
            <a:off x="5566296" y="1924472"/>
            <a:ext cx="0" cy="3965023"/>
          </a:xfrm>
          <a:prstGeom prst="line">
            <a:avLst/>
          </a:prstGeom>
          <a:solidFill>
            <a:srgbClr val="000000"/>
          </a:solidFill>
          <a:ln w="76200" cap="flat" cmpd="sng" algn="ctr">
            <a:solidFill>
              <a:srgbClr val="C00000"/>
            </a:solidFill>
            <a:prstDash val="sysDash"/>
            <a:miter lim="4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6" name="TextBox 35"/>
          <p:cNvSpPr txBox="1"/>
          <p:nvPr/>
        </p:nvSpPr>
        <p:spPr>
          <a:xfrm>
            <a:off x="4342160" y="2068488"/>
            <a:ext cx="1210588" cy="369332"/>
          </a:xfrm>
          <a:prstGeom prst="rect">
            <a:avLst/>
          </a:prstGeom>
          <a:noFill/>
        </p:spPr>
        <p:txBody>
          <a:bodyPr wrap="none" rtlCol="0">
            <a:spAutoFit/>
          </a:bodyPr>
          <a:lstStyle/>
          <a:p>
            <a:r>
              <a:rPr lang="en-US" sz="1800" dirty="0">
                <a:solidFill>
                  <a:srgbClr val="FF0000"/>
                </a:solidFill>
              </a:rPr>
              <a:t>Process 1</a:t>
            </a:r>
            <a:endParaRPr lang="en-US" sz="1800" dirty="0">
              <a:solidFill>
                <a:srgbClr val="FF0000"/>
              </a:solidFill>
            </a:endParaRPr>
          </a:p>
        </p:txBody>
      </p:sp>
      <p:sp>
        <p:nvSpPr>
          <p:cNvPr id="37" name="TextBox 36"/>
          <p:cNvSpPr txBox="1"/>
          <p:nvPr/>
        </p:nvSpPr>
        <p:spPr>
          <a:xfrm>
            <a:off x="5614611" y="2068488"/>
            <a:ext cx="1210588" cy="369332"/>
          </a:xfrm>
          <a:prstGeom prst="rect">
            <a:avLst/>
          </a:prstGeom>
          <a:noFill/>
        </p:spPr>
        <p:txBody>
          <a:bodyPr wrap="none" rtlCol="0">
            <a:spAutoFit/>
          </a:bodyPr>
          <a:lstStyle/>
          <a:p>
            <a:r>
              <a:rPr lang="en-US" sz="1800" dirty="0">
                <a:solidFill>
                  <a:srgbClr val="FF0000"/>
                </a:solidFill>
              </a:rPr>
              <a:t>Process 2</a:t>
            </a:r>
            <a:endParaRPr lang="en-US" sz="1800" dirty="0">
              <a:solidFill>
                <a:srgbClr val="FF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This is a planning issue
</a:t>
            </a:r>
            <a:endParaRPr lang="en-US" dirty="0"/>
          </a:p>
        </p:txBody>
      </p:sp>
      <p:sp>
        <p:nvSpPr>
          <p:cNvPr id="3" name="内容占位符 2"/>
          <p:cNvSpPr>
            <a:spLocks noGrp="1"/>
          </p:cNvSpPr>
          <p:nvPr>
            <p:ph idx="1"/>
          </p:nvPr>
        </p:nvSpPr>
        <p:spPr/>
        <p:txBody>
          <a:bodyPr/>
          <a:lstStyle/>
          <a:p>
            <a:r>
              <a:rPr lang="en-US" altLang="zh-CN" sz="2400" dirty="0"/>
              <a:t>From an intuitive point of view, it should be evenly divided
But what if the computing power of the CPUs is not equal? Or if there is a CPU running other tasks at the same time?</a:t>
            </a:r>
            <a:endParaRPr lang="en-US" altLang="zh-CN" sz="2400" dirty="0"/>
          </a:p>
          <a:p>
            <a:pPr lvl="1"/>
            <a:r>
              <a:rPr lang="en-US" altLang="zh-CN" sz="2400" dirty="0"/>
              <a:t>It should be divided unevenly, or dynamically distributed</a:t>
            </a:r>
            <a:endParaRPr lang="en-US" altLang="zh-CN" sz="2400" dirty="0"/>
          </a:p>
          <a:p>
            <a:r>
              <a:rPr lang="en-US" altLang="zh-CN" sz="2400" dirty="0"/>
              <a:t>What if network communication is slow?</a:t>
            </a:r>
            <a:endParaRPr lang="en-US" altLang="zh-CN" sz="2400" dirty="0"/>
          </a:p>
          <a:p>
            <a:pPr lvl="2"/>
            <a:r>
              <a:rPr lang="en-US" altLang="zh-CN" sz="2400" dirty="0"/>
              <a:t>It's better to calculate it directly locally</a:t>
            </a:r>
            <a:endParaRPr lang="en-US" altLang="zh-CN" sz="2400" dirty="0"/>
          </a:p>
          <a:p>
            <a:r>
              <a:rPr lang="en-US" altLang="zh-CN" sz="2400" dirty="0"/>
              <a:t>If for large programs, automation is almost impossible (until today)...</a:t>
            </a:r>
            <a:endParaRPr lang="en-US" altLang="zh-CN" sz="2400" dirty="0"/>
          </a:p>
        </p:txBody>
      </p:sp>
      <p:pic>
        <p:nvPicPr>
          <p:cNvPr id="7170" name="Picture 2" descr="Most Code Is an Ugly Mess. Here's How to Make It Beautiful | WIRED"/>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406056" y="5668888"/>
            <a:ext cx="5472608" cy="306797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3321534" y="8780660"/>
            <a:ext cx="5989178" cy="646331"/>
          </a:xfrm>
          <a:prstGeom prst="rect">
            <a:avLst/>
          </a:prstGeom>
          <a:noFill/>
        </p:spPr>
        <p:txBody>
          <a:bodyPr wrap="square" rtlCol="0">
            <a:spAutoFit/>
          </a:bodyPr>
          <a:lstStyle/>
          <a:p>
            <a:r>
              <a:rPr lang="en-US" sz="1800" dirty="0"/>
              <a:t> interdependence or coupling (the black lines) between </a:t>
            </a:r>
            <a:r>
              <a:rPr lang="en-US" altLang="zh-CN" sz="1800" dirty="0"/>
              <a:t>computing tasks </a:t>
            </a:r>
            <a:r>
              <a:rPr lang="en-US" sz="1800" dirty="0"/>
              <a:t>(the grey dots) within a program</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Title 1"/>
          <p:cNvSpPr>
            <a:spLocks noGrp="1"/>
          </p:cNvSpPr>
          <p:nvPr>
            <p:ph type="title"/>
          </p:nvPr>
        </p:nvSpPr>
        <p:spPr/>
        <p:txBody>
          <a:bodyPr vert="horz" wrap="square" lIns="130048" tIns="65024" rIns="130048" bIns="65024" anchor="ctr" anchorCtr="0"/>
          <a:p>
            <a:pPr eaLnBrk="1" hangingPunct="1"/>
            <a:r>
              <a:rPr dirty="0"/>
              <a:t>Parallel Algorithm Design</a:t>
            </a:r>
            <a:endParaRPr dirty="0"/>
          </a:p>
        </p:txBody>
      </p:sp>
      <p:sp>
        <p:nvSpPr>
          <p:cNvPr id="14338" name="Content Placeholder 2"/>
          <p:cNvSpPr>
            <a:spLocks noGrp="1"/>
          </p:cNvSpPr>
          <p:nvPr>
            <p:ph idx="1"/>
          </p:nvPr>
        </p:nvSpPr>
        <p:spPr/>
        <p:txBody>
          <a:bodyPr vert="horz" wrap="square" lIns="130048" tIns="65024" rIns="130048" bIns="65024" anchor="t" anchorCtr="0"/>
          <a:p>
            <a:pPr eaLnBrk="1" hangingPunct="1">
              <a:lnSpc>
                <a:spcPct val="80000"/>
              </a:lnSpc>
            </a:pPr>
            <a:r>
              <a:rPr sz="3555" dirty="0"/>
              <a:t>Look at Ian Foster</a:t>
            </a:r>
            <a:r>
              <a:rPr lang="ja-JP" altLang="en-US" sz="3555" dirty="0"/>
              <a:t>’</a:t>
            </a:r>
            <a:r>
              <a:rPr lang="en-US" altLang="ja-JP" sz="3555" dirty="0"/>
              <a:t>s Methodology (PCAM)</a:t>
            </a:r>
            <a:endParaRPr lang="en-US" altLang="ja-JP" sz="3555" dirty="0"/>
          </a:p>
          <a:p>
            <a:pPr eaLnBrk="1" hangingPunct="1">
              <a:lnSpc>
                <a:spcPct val="80000"/>
              </a:lnSpc>
            </a:pPr>
            <a:r>
              <a:rPr sz="3555" dirty="0"/>
              <a:t>Partition</a:t>
            </a:r>
            <a:endParaRPr sz="3555" dirty="0"/>
          </a:p>
          <a:p>
            <a:pPr lvl="1" eaLnBrk="1" hangingPunct="1">
              <a:lnSpc>
                <a:spcPct val="80000"/>
              </a:lnSpc>
            </a:pPr>
            <a:r>
              <a:rPr sz="3130" dirty="0"/>
              <a:t>Decompose the problem</a:t>
            </a:r>
            <a:endParaRPr sz="3130" dirty="0"/>
          </a:p>
          <a:p>
            <a:pPr lvl="1" eaLnBrk="1" hangingPunct="1">
              <a:lnSpc>
                <a:spcPct val="80000"/>
              </a:lnSpc>
            </a:pPr>
            <a:r>
              <a:rPr sz="3130" dirty="0"/>
              <a:t>Identify the concurrent tasks</a:t>
            </a:r>
            <a:endParaRPr sz="3130" dirty="0"/>
          </a:p>
          <a:p>
            <a:pPr lvl="1" eaLnBrk="1" hangingPunct="1">
              <a:lnSpc>
                <a:spcPct val="80000"/>
              </a:lnSpc>
            </a:pPr>
            <a:r>
              <a:rPr sz="3130" dirty="0"/>
              <a:t>Often the most difficult step</a:t>
            </a:r>
            <a:endParaRPr sz="3130" dirty="0"/>
          </a:p>
          <a:p>
            <a:pPr eaLnBrk="1" hangingPunct="1">
              <a:lnSpc>
                <a:spcPct val="80000"/>
              </a:lnSpc>
            </a:pPr>
            <a:r>
              <a:rPr sz="3555" dirty="0"/>
              <a:t>Communication</a:t>
            </a:r>
            <a:endParaRPr sz="3555" dirty="0"/>
          </a:p>
          <a:p>
            <a:pPr lvl="1" eaLnBrk="1" hangingPunct="1">
              <a:lnSpc>
                <a:spcPct val="80000"/>
              </a:lnSpc>
            </a:pPr>
            <a:r>
              <a:rPr sz="3130" dirty="0"/>
              <a:t>Often dictated by partition</a:t>
            </a:r>
            <a:endParaRPr sz="3130" dirty="0"/>
          </a:p>
          <a:p>
            <a:pPr eaLnBrk="1" hangingPunct="1">
              <a:lnSpc>
                <a:spcPct val="80000"/>
              </a:lnSpc>
            </a:pPr>
            <a:r>
              <a:rPr sz="3555" dirty="0"/>
              <a:t>Agglomeration</a:t>
            </a:r>
            <a:endParaRPr sz="3555" dirty="0"/>
          </a:p>
          <a:p>
            <a:pPr lvl="1" eaLnBrk="1" hangingPunct="1">
              <a:lnSpc>
                <a:spcPct val="80000"/>
              </a:lnSpc>
            </a:pPr>
            <a:r>
              <a:rPr sz="3130" dirty="0"/>
              <a:t>Often not much you can do here</a:t>
            </a:r>
            <a:endParaRPr sz="3130" dirty="0"/>
          </a:p>
          <a:p>
            <a:pPr eaLnBrk="1" hangingPunct="1">
              <a:lnSpc>
                <a:spcPct val="80000"/>
              </a:lnSpc>
            </a:pPr>
            <a:r>
              <a:rPr sz="3555" dirty="0"/>
              <a:t>Mapping</a:t>
            </a:r>
            <a:endParaRPr sz="3555" dirty="0"/>
          </a:p>
          <a:p>
            <a:pPr lvl="1" eaLnBrk="1" hangingPunct="1">
              <a:lnSpc>
                <a:spcPct val="80000"/>
              </a:lnSpc>
            </a:pPr>
            <a:r>
              <a:rPr sz="3130" dirty="0"/>
              <a:t>Difficult problem</a:t>
            </a:r>
            <a:endParaRPr sz="3130" dirty="0"/>
          </a:p>
          <a:p>
            <a:pPr lvl="1" eaLnBrk="1" hangingPunct="1">
              <a:lnSpc>
                <a:spcPct val="80000"/>
              </a:lnSpc>
            </a:pPr>
            <a:r>
              <a:rPr sz="3130" dirty="0"/>
              <a:t>Load Balancing</a:t>
            </a:r>
            <a:endParaRPr sz="3130" dirty="0"/>
          </a:p>
          <a:p>
            <a:pPr lvl="1" eaLnBrk="1" hangingPunct="1">
              <a:lnSpc>
                <a:spcPct val="80000"/>
              </a:lnSpc>
            </a:pPr>
            <a:endParaRPr sz="3130" dirty="0"/>
          </a:p>
          <a:p>
            <a:pPr eaLnBrk="1" hangingPunct="1">
              <a:lnSpc>
                <a:spcPct val="80000"/>
              </a:lnSpc>
            </a:pPr>
            <a:endParaRPr sz="3555" dirty="0"/>
          </a:p>
        </p:txBody>
      </p:sp>
      <p:sp>
        <p:nvSpPr>
          <p:cNvPr id="14339" name="TextBox 4"/>
          <p:cNvSpPr txBox="1"/>
          <p:nvPr/>
        </p:nvSpPr>
        <p:spPr>
          <a:xfrm>
            <a:off x="8708250" y="5093547"/>
            <a:ext cx="3174365" cy="792480"/>
          </a:xfrm>
          <a:prstGeom prst="rect">
            <a:avLst/>
          </a:prstGeom>
          <a:gradFill rotWithShape="1">
            <a:gsLst>
              <a:gs pos="0">
                <a:srgbClr val="E5EEFF">
                  <a:alpha val="100000"/>
                </a:srgbClr>
              </a:gs>
              <a:gs pos="64999">
                <a:srgbClr val="BFD5FF">
                  <a:alpha val="100000"/>
                </a:srgbClr>
              </a:gs>
              <a:gs pos="100000">
                <a:srgbClr val="A3C4FF">
                  <a:alpha val="100000"/>
                </a:srgbClr>
              </a:gs>
            </a:gsLst>
            <a:lin ang="5400000" scaled="1"/>
            <a:tileRect/>
          </a:gradFill>
          <a:ln w="9525" cap="flat" cmpd="sng">
            <a:solidFill>
              <a:srgbClr val="4A7EBB"/>
            </a:solidFill>
            <a:prstDash val="solid"/>
            <a:miter/>
            <a:headEnd type="none" w="med" len="med"/>
            <a:tailEnd type="none" w="med" len="med"/>
          </a:ln>
          <a:effectLst>
            <a:outerShdw dist="20000" dir="5400000" rotWithShape="0">
              <a:srgbClr val="808080">
                <a:alpha val="37999"/>
              </a:srgbClr>
            </a:outerShdw>
          </a:effectLst>
        </p:spPr>
        <p:txBody>
          <a:bodyPr wrap="none">
            <a:spAutoFit/>
          </a:bodyPr>
          <a:p>
            <a:r>
              <a:rPr sz="2275" dirty="0">
                <a:solidFill>
                  <a:srgbClr val="000000"/>
                </a:solidFill>
                <a:latin typeface="Calibri" panose="020F0502020204030204" charset="0"/>
              </a:rPr>
              <a:t>We will focus on </a:t>
            </a:r>
            <a:endParaRPr sz="2275" dirty="0">
              <a:solidFill>
                <a:srgbClr val="000000"/>
              </a:solidFill>
              <a:latin typeface="Calibri" panose="020F0502020204030204" charset="0"/>
            </a:endParaRPr>
          </a:p>
          <a:p>
            <a:r>
              <a:rPr sz="2275" dirty="0">
                <a:solidFill>
                  <a:srgbClr val="000000"/>
                </a:solidFill>
                <a:latin typeface="Calibri" panose="020F0502020204030204" charset="0"/>
              </a:rPr>
              <a:t>Partitioning and Mapping</a:t>
            </a:r>
            <a:endParaRPr sz="2275" dirty="0">
              <a:solidFill>
                <a:srgbClr val="000000"/>
              </a:solidFill>
              <a:latin typeface="Calibri" panose="020F05020202040302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Title 6145"/>
          <p:cNvSpPr>
            <a:spLocks noGrp="1"/>
          </p:cNvSpPr>
          <p:nvPr>
            <p:ph type="title"/>
          </p:nvPr>
        </p:nvSpPr>
        <p:spPr/>
        <p:txBody>
          <a:bodyPr anchor="ctr" anchorCtr="0"/>
          <a:p>
            <a:r>
              <a:rPr sz="3200"/>
              <a:t>Preliminaries: Decomposition, Tasks, and </a:t>
            </a:r>
            <a:br>
              <a:rPr sz="3200"/>
            </a:br>
            <a:r>
              <a:rPr sz="3200"/>
              <a:t>Dependency Graphs</a:t>
            </a:r>
            <a:endParaRPr sz="3200"/>
          </a:p>
        </p:txBody>
      </p:sp>
      <p:sp>
        <p:nvSpPr>
          <p:cNvPr id="6147" name="Text Placeholder 6146"/>
          <p:cNvSpPr>
            <a:spLocks noGrp="1"/>
          </p:cNvSpPr>
          <p:nvPr>
            <p:ph type="body" idx="1"/>
          </p:nvPr>
        </p:nvSpPr>
        <p:spPr/>
        <p:txBody>
          <a:bodyPr/>
          <a:p>
            <a:r>
              <a:t>The first step in developing a parallel algorithm is to decompose the problem into tasks that can be executed concurrently </a:t>
            </a:r>
          </a:p>
          <a:p>
            <a:r>
              <a:t>A given problem may be </a:t>
            </a:r>
            <a:r>
              <a:rPr dirty="0" err="1"/>
              <a:t>docomposed</a:t>
            </a:r>
            <a:r>
              <a:t> into tasks in many different ways. </a:t>
            </a:r>
          </a:p>
          <a:p>
            <a:r>
              <a:t>Tasks may be of same, different, or even </a:t>
            </a:r>
            <a:r>
              <a:rPr dirty="0" err="1"/>
              <a:t>interminate</a:t>
            </a:r>
            <a:r>
              <a:t> sizes. </a:t>
            </a:r>
          </a:p>
          <a:p>
            <a:r>
              <a:t>A decomposition can be illustrated in the form of a directed graph with nodes corresponding to tasks and edges indicating that the result of one task is required for processing the next. Such a graph is called a </a:t>
            </a:r>
            <a:r>
              <a:rPr i="1"/>
              <a:t>task dependency graph</a:t>
            </a:r>
            <a:r>
              <a:t>.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7169"/>
          <p:cNvSpPr>
            <a:spLocks noGrp="1"/>
          </p:cNvSpPr>
          <p:nvPr>
            <p:ph type="title"/>
          </p:nvPr>
        </p:nvSpPr>
        <p:spPr/>
        <p:txBody>
          <a:bodyPr anchor="ctr" anchorCtr="0"/>
          <a:p>
            <a:r>
              <a:rPr sz="3200"/>
              <a:t>Example: Multiplying a Dense Matrix with a Vector</a:t>
            </a:r>
            <a:endParaRPr sz="3200"/>
          </a:p>
        </p:txBody>
      </p:sp>
      <p:pic>
        <p:nvPicPr>
          <p:cNvPr id="7171" name="Content Placeholder 7170" descr="dmv1"/>
          <p:cNvPicPr>
            <a:picLocks noChangeAspect="1"/>
          </p:cNvPicPr>
          <p:nvPr>
            <p:ph idx="1"/>
          </p:nvPr>
        </p:nvPicPr>
        <p:blipFill>
          <a:blip r:embed="rId1"/>
          <a:stretch>
            <a:fillRect/>
          </a:stretch>
        </p:blipFill>
        <p:spPr>
          <a:xfrm>
            <a:off x="3901440" y="1300480"/>
            <a:ext cx="5418667" cy="3718561"/>
          </a:xfrm>
        </p:spPr>
      </p:pic>
      <p:sp>
        <p:nvSpPr>
          <p:cNvPr id="7172" name="Text Box 7171"/>
          <p:cNvSpPr txBox="1"/>
          <p:nvPr/>
        </p:nvSpPr>
        <p:spPr>
          <a:xfrm>
            <a:off x="650240" y="5093547"/>
            <a:ext cx="11812693" cy="5266055"/>
          </a:xfrm>
          <a:prstGeom prst="rect">
            <a:avLst/>
          </a:prstGeom>
          <a:noFill/>
          <a:ln w="9525">
            <a:noFill/>
          </a:ln>
        </p:spPr>
        <p:txBody>
          <a:bodyPr>
            <a:spAutoFit/>
          </a:bodyPr>
          <a:p>
            <a:pPr algn="ctr"/>
            <a:r>
              <a:rPr sz="2275"/>
              <a:t>Computation of each element of output vector </a:t>
            </a:r>
            <a:r>
              <a:rPr sz="2275" b="1" i="1"/>
              <a:t>y</a:t>
            </a:r>
            <a:r>
              <a:rPr sz="2275"/>
              <a:t> is independent of other elements. Based on this, a dense matrix-vector product can be decomposed into </a:t>
            </a:r>
            <a:r>
              <a:rPr sz="2275" b="1" i="1"/>
              <a:t>n</a:t>
            </a:r>
            <a:r>
              <a:rPr sz="2275"/>
              <a:t> tasks. The figure highlights the portion of the matrix and vector accessed by Task 1. </a:t>
            </a:r>
            <a:endParaRPr sz="2275"/>
          </a:p>
          <a:p>
            <a:pPr algn="ctr"/>
            <a:endParaRPr sz="2275" b="1"/>
          </a:p>
          <a:p>
            <a:r>
              <a:rPr sz="2845" b="1"/>
              <a:t>Observations:</a:t>
            </a:r>
            <a:r>
              <a:rPr sz="2845"/>
              <a:t> While tasks share data (namely, the vector </a:t>
            </a:r>
            <a:r>
              <a:rPr sz="2845" b="1" i="1"/>
              <a:t>b</a:t>
            </a:r>
            <a:r>
              <a:rPr sz="2845"/>
              <a:t> ), they do not have any control dependencies - i.e., no task needs to wait for the (partial) completion of any other. All tasks are of the same size in terms of number of operations. </a:t>
            </a:r>
            <a:r>
              <a:rPr sz="2845" i="1"/>
              <a:t>Is this the maximum number of tasks we could decompose this problem into?</a:t>
            </a:r>
            <a:r>
              <a:rPr sz="2275"/>
              <a:t> </a:t>
            </a:r>
            <a:endParaRPr sz="22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Title 8193"/>
          <p:cNvSpPr>
            <a:spLocks noGrp="1"/>
          </p:cNvSpPr>
          <p:nvPr>
            <p:ph type="title"/>
          </p:nvPr>
        </p:nvSpPr>
        <p:spPr/>
        <p:txBody>
          <a:bodyPr anchor="ctr" anchorCtr="0"/>
          <a:p>
            <a:r>
              <a:rPr sz="4000"/>
              <a:t>Example: Database Query Processing </a:t>
            </a:r>
            <a:endParaRPr sz="4000"/>
          </a:p>
        </p:txBody>
      </p:sp>
      <p:sp>
        <p:nvSpPr>
          <p:cNvPr id="8195" name="Text Placeholder 8194"/>
          <p:cNvSpPr>
            <a:spLocks noGrp="1"/>
          </p:cNvSpPr>
          <p:nvPr>
            <p:ph type="body" sz="half" idx="1"/>
          </p:nvPr>
        </p:nvSpPr>
        <p:spPr>
          <a:xfrm>
            <a:off x="650240" y="1083733"/>
            <a:ext cx="11704320" cy="2492587"/>
          </a:xfrm>
        </p:spPr>
        <p:txBody>
          <a:bodyPr/>
          <a:p>
            <a:pPr>
              <a:lnSpc>
                <a:spcPct val="140000"/>
              </a:lnSpc>
              <a:spcBef>
                <a:spcPts val="500"/>
              </a:spcBef>
              <a:spcAft>
                <a:spcPts val="500"/>
              </a:spcAft>
              <a:buClrTx/>
              <a:buSzTx/>
              <a:buFontTx/>
              <a:buNone/>
            </a:pPr>
            <a:r>
              <a:t>Consider the execution of the query:</a:t>
            </a:r>
          </a:p>
          <a:p>
            <a:pPr>
              <a:lnSpc>
                <a:spcPct val="100000"/>
              </a:lnSpc>
              <a:spcBef>
                <a:spcPts val="500"/>
              </a:spcBef>
              <a:spcAft>
                <a:spcPts val="500"/>
              </a:spcAft>
              <a:buClrTx/>
              <a:buSzTx/>
              <a:buFontTx/>
              <a:buNone/>
            </a:pPr>
            <a:r>
              <a:rPr sz="2560">
                <a:latin typeface="Times New Roman" panose="02020603050405020304" charset="0"/>
              </a:rPr>
              <a:t>MODEL = ``CIVIC'' AND YEAR = 2001 AND</a:t>
            </a:r>
            <a:endParaRPr sz="2560">
              <a:latin typeface="Times New Roman" panose="02020603050405020304" charset="0"/>
            </a:endParaRPr>
          </a:p>
          <a:p>
            <a:pPr>
              <a:lnSpc>
                <a:spcPct val="40000"/>
              </a:lnSpc>
              <a:spcBef>
                <a:spcPts val="500"/>
              </a:spcBef>
              <a:spcAft>
                <a:spcPts val="500"/>
              </a:spcAft>
              <a:buClrTx/>
              <a:buSzTx/>
              <a:buFontTx/>
              <a:buNone/>
            </a:pPr>
            <a:r>
              <a:rPr sz="2560">
                <a:latin typeface="Times New Roman" panose="02020603050405020304" charset="0"/>
              </a:rPr>
              <a:t>	(COLOR = ``GREEN'' OR COLOR = ``WHITE)</a:t>
            </a:r>
            <a:r>
              <a:t> </a:t>
            </a:r>
          </a:p>
          <a:p>
            <a:pPr>
              <a:spcBef>
                <a:spcPts val="500"/>
              </a:spcBef>
              <a:spcAft>
                <a:spcPts val="500"/>
              </a:spcAft>
              <a:buClrTx/>
              <a:buSzTx/>
              <a:buFontTx/>
              <a:buNone/>
            </a:pPr>
            <a:r>
              <a:t>on the following database: </a:t>
            </a:r>
          </a:p>
        </p:txBody>
      </p:sp>
      <p:graphicFrame>
        <p:nvGraphicFramePr>
          <p:cNvPr id="8566" name="Content Placeholder 8565"/>
          <p:cNvGraphicFramePr/>
          <p:nvPr>
            <p:ph sz="half" idx="2"/>
          </p:nvPr>
        </p:nvGraphicFramePr>
        <p:xfrm>
          <a:off x="2059093" y="3750170"/>
          <a:ext cx="9536430" cy="4518025"/>
        </p:xfrm>
        <a:graphic>
          <a:graphicData uri="http://schemas.openxmlformats.org/drawingml/2006/table">
            <a:tbl>
              <a:tblPr/>
              <a:tblGrid>
                <a:gridCol w="915035"/>
                <a:gridCol w="1722120"/>
                <a:gridCol w="1727200"/>
                <a:gridCol w="1725295"/>
                <a:gridCol w="1722120"/>
                <a:gridCol w="1724660"/>
              </a:tblGrid>
              <a:tr h="389890">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00000"/>
                        </a:lnSpc>
                        <a:buNone/>
                      </a:pPr>
                      <a:r>
                        <a:rPr sz="2560"/>
                        <a:t>ID# </a:t>
                      </a:r>
                      <a:endParaRPr lang="en-US" sz="2560"/>
                    </a:p>
                  </a:txBody>
                  <a:tcPr marL="0" marR="0" marT="0" marB="0" anchor="ctr" anchorCtr="0">
                    <a:lnL cap="flat">
                      <a:noFill/>
                    </a:lnL>
                    <a:lnR>
                      <a:noFill/>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00000"/>
                        </a:lnSpc>
                        <a:buNone/>
                      </a:pPr>
                      <a:r>
                        <a:rPr sz="2560"/>
                        <a:t>Model </a:t>
                      </a:r>
                      <a:endParaRPr lang="en-US" sz="2560"/>
                    </a:p>
                  </a:txBody>
                  <a:tcPr marL="0" marR="0" marT="0" marB="0" anchor="ctr" anchorCtr="0">
                    <a:lnL>
                      <a:noFill/>
                    </a:lnL>
                    <a:lnR>
                      <a:noFill/>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00000"/>
                        </a:lnSpc>
                        <a:buNone/>
                      </a:pPr>
                      <a:r>
                        <a:rPr sz="2560"/>
                        <a:t>Year </a:t>
                      </a:r>
                      <a:endParaRPr lang="en-US" sz="2560"/>
                    </a:p>
                  </a:txBody>
                  <a:tcPr marL="0" marR="0" marT="0" marB="0" anchor="ctr" anchorCtr="0">
                    <a:lnL>
                      <a:noFill/>
                    </a:lnL>
                    <a:lnR>
                      <a:noFill/>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00000"/>
                        </a:lnSpc>
                        <a:buNone/>
                      </a:pPr>
                      <a:r>
                        <a:rPr sz="2560"/>
                        <a:t>Color </a:t>
                      </a:r>
                      <a:endParaRPr lang="en-US" sz="2560"/>
                    </a:p>
                  </a:txBody>
                  <a:tcPr marL="0" marR="0" marT="0" marB="0" anchor="ctr" anchorCtr="0">
                    <a:lnL>
                      <a:noFill/>
                    </a:lnL>
                    <a:lnR>
                      <a:noFill/>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00000"/>
                        </a:lnSpc>
                        <a:buNone/>
                      </a:pPr>
                      <a:r>
                        <a:rPr sz="2560"/>
                        <a:t>Dealer </a:t>
                      </a:r>
                      <a:endParaRPr lang="en-US" sz="2560"/>
                    </a:p>
                  </a:txBody>
                  <a:tcPr marL="0" marR="0" marT="0" marB="0" anchor="ctr" anchorCtr="0">
                    <a:lnL>
                      <a:noFill/>
                    </a:lnL>
                    <a:lnR>
                      <a:noFill/>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00000"/>
                        </a:lnSpc>
                        <a:buNone/>
                      </a:pPr>
                      <a:r>
                        <a:rPr sz="2560"/>
                        <a:t>Price </a:t>
                      </a:r>
                      <a:endParaRPr lang="en-US" sz="2560"/>
                    </a:p>
                  </a:txBody>
                  <a:tcPr marL="0" marR="0" marT="0" marB="0" anchor="ctr" anchorCtr="0">
                    <a:lnL>
                      <a:noFill/>
                    </a:lnL>
                    <a:lnR cap="flat">
                      <a:noFill/>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12750">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00000"/>
                        </a:lnSpc>
                        <a:buNone/>
                      </a:pPr>
                      <a:r>
                        <a:rPr sz="2560"/>
                        <a:t>4523 </a:t>
                      </a:r>
                      <a:endParaRPr lang="en-US" sz="2560"/>
                    </a:p>
                  </a:txBody>
                  <a:tcPr marL="0" marR="0" marT="0" marB="0" anchor="ctr" anchorCtr="0">
                    <a:lnL cap="flat">
                      <a:noFill/>
                    </a:lnL>
                    <a:lnR>
                      <a:noFill/>
                    </a:lnR>
                    <a:lnT w="12700" cap="flat" cmpd="sng">
                      <a:solidFill>
                        <a:schemeClr val="tx1"/>
                      </a:solidFill>
                      <a:prstDash val="solid"/>
                      <a:headEnd type="none" w="med" len="med"/>
                      <a:tailEnd type="none" w="med" len="med"/>
                    </a:lnT>
                    <a:lnB>
                      <a:noFill/>
                    </a:lnB>
                    <a:lnTlToBr>
                      <a:noFill/>
                    </a:lnTlToBr>
                    <a:lnBlToTr>
                      <a:noFill/>
                    </a:lnBlToTr>
                    <a:noFill/>
                  </a:tcPr>
                </a:tc>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00000"/>
                        </a:lnSpc>
                        <a:buNone/>
                      </a:pPr>
                      <a:r>
                        <a:rPr sz="2560"/>
                        <a:t>Civic </a:t>
                      </a:r>
                      <a:endParaRPr lang="en-US" sz="2560"/>
                    </a:p>
                  </a:txBody>
                  <a:tcPr marL="0" marR="0" marT="0" marB="0" anchor="ctr" anchorCtr="0">
                    <a:lnL>
                      <a:noFill/>
                    </a:lnL>
                    <a:lnR>
                      <a:noFill/>
                    </a:lnR>
                    <a:lnT w="12700" cap="flat" cmpd="sng">
                      <a:solidFill>
                        <a:schemeClr val="tx1"/>
                      </a:solidFill>
                      <a:prstDash val="solid"/>
                      <a:headEnd type="none" w="med" len="med"/>
                      <a:tailEnd type="none" w="med" len="med"/>
                    </a:lnT>
                    <a:lnB>
                      <a:noFill/>
                    </a:lnB>
                    <a:lnTlToBr>
                      <a:noFill/>
                    </a:lnTlToBr>
                    <a:lnBlToTr>
                      <a:noFill/>
                    </a:lnBlToTr>
                    <a:noFill/>
                  </a:tcPr>
                </a:tc>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00000"/>
                        </a:lnSpc>
                        <a:buNone/>
                      </a:pPr>
                      <a:r>
                        <a:rPr sz="2560"/>
                        <a:t>2002 </a:t>
                      </a:r>
                      <a:endParaRPr lang="en-US" sz="2560"/>
                    </a:p>
                  </a:txBody>
                  <a:tcPr marL="0" marR="0" marT="0" marB="0" anchor="ctr" anchorCtr="0">
                    <a:lnL>
                      <a:noFill/>
                    </a:lnL>
                    <a:lnR>
                      <a:noFill/>
                    </a:lnR>
                    <a:lnT w="12700" cap="flat" cmpd="sng">
                      <a:solidFill>
                        <a:schemeClr val="tx1"/>
                      </a:solidFill>
                      <a:prstDash val="solid"/>
                      <a:headEnd type="none" w="med" len="med"/>
                      <a:tailEnd type="none" w="med" len="med"/>
                    </a:lnT>
                    <a:lnB>
                      <a:noFill/>
                    </a:lnB>
                    <a:lnTlToBr>
                      <a:noFill/>
                    </a:lnTlToBr>
                    <a:lnBlToTr>
                      <a:noFill/>
                    </a:lnBlToTr>
                    <a:noFill/>
                  </a:tcPr>
                </a:tc>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00000"/>
                        </a:lnSpc>
                        <a:buNone/>
                      </a:pPr>
                      <a:r>
                        <a:rPr sz="2560"/>
                        <a:t>Blue </a:t>
                      </a:r>
                      <a:endParaRPr lang="en-US" sz="2560"/>
                    </a:p>
                  </a:txBody>
                  <a:tcPr marL="0" marR="0" marT="0" marB="0" anchor="ctr" anchorCtr="0">
                    <a:lnL>
                      <a:noFill/>
                    </a:lnL>
                    <a:lnR>
                      <a:noFill/>
                    </a:lnR>
                    <a:lnT w="12700" cap="flat" cmpd="sng">
                      <a:solidFill>
                        <a:schemeClr val="tx1"/>
                      </a:solidFill>
                      <a:prstDash val="solid"/>
                      <a:headEnd type="none" w="med" len="med"/>
                      <a:tailEnd type="none" w="med" len="med"/>
                    </a:lnT>
                    <a:lnB>
                      <a:noFill/>
                    </a:lnB>
                    <a:lnTlToBr>
                      <a:noFill/>
                    </a:lnTlToBr>
                    <a:lnBlToTr>
                      <a:noFill/>
                    </a:lnBlToTr>
                    <a:noFill/>
                  </a:tcPr>
                </a:tc>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00000"/>
                        </a:lnSpc>
                        <a:buNone/>
                      </a:pPr>
                      <a:r>
                        <a:rPr sz="2560"/>
                        <a:t>MN </a:t>
                      </a:r>
                      <a:endParaRPr lang="en-US" sz="2560"/>
                    </a:p>
                  </a:txBody>
                  <a:tcPr marL="0" marR="0" marT="0" marB="0" anchor="ctr" anchorCtr="0">
                    <a:lnL>
                      <a:noFill/>
                    </a:lnL>
                    <a:lnR>
                      <a:noFill/>
                    </a:lnR>
                    <a:lnT w="12700" cap="flat" cmpd="sng">
                      <a:solidFill>
                        <a:schemeClr val="tx1"/>
                      </a:solidFill>
                      <a:prstDash val="solid"/>
                      <a:headEnd type="none" w="med" len="med"/>
                      <a:tailEnd type="none" w="med" len="med"/>
                    </a:lnT>
                    <a:lnB>
                      <a:noFill/>
                    </a:lnB>
                    <a:lnTlToBr>
                      <a:noFill/>
                    </a:lnTlToBr>
                    <a:lnBlToTr>
                      <a:noFill/>
                    </a:lnBlToTr>
                    <a:noFill/>
                  </a:tcPr>
                </a:tc>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00000"/>
                        </a:lnSpc>
                        <a:buNone/>
                      </a:pPr>
                      <a:r>
                        <a:rPr sz="2560"/>
                        <a:t>$18,000 </a:t>
                      </a:r>
                      <a:endParaRPr lang="en-US" sz="2560"/>
                    </a:p>
                  </a:txBody>
                  <a:tcPr marL="0" marR="0" marT="0" marB="0" anchor="ctr" anchorCtr="0">
                    <a:lnL>
                      <a:noFill/>
                    </a:lnL>
                    <a:lnR cap="flat">
                      <a:noFill/>
                    </a:lnR>
                    <a:lnT w="12700" cap="flat" cmpd="sng">
                      <a:solidFill>
                        <a:schemeClr val="tx1"/>
                      </a:solidFill>
                      <a:prstDash val="solid"/>
                      <a:headEnd type="none" w="med" len="med"/>
                      <a:tailEnd type="none" w="med" len="med"/>
                    </a:lnT>
                    <a:lnB>
                      <a:noFill/>
                    </a:lnB>
                    <a:lnTlToBr>
                      <a:noFill/>
                    </a:lnTlToBr>
                    <a:lnBlToTr>
                      <a:noFill/>
                    </a:lnBlToTr>
                    <a:noFill/>
                  </a:tcPr>
                </a:tc>
              </a:tr>
              <a:tr h="412750">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00000"/>
                        </a:lnSpc>
                        <a:buNone/>
                      </a:pPr>
                      <a:r>
                        <a:rPr sz="2560"/>
                        <a:t>3476 </a:t>
                      </a:r>
                      <a:endParaRPr lang="en-US" sz="2560"/>
                    </a:p>
                  </a:txBody>
                  <a:tcPr marL="0" marR="0" marT="0" marB="0" anchor="ctr" anchorCtr="0">
                    <a:lnL cap="flat">
                      <a:noFill/>
                    </a:lnL>
                    <a:lnR>
                      <a:noFill/>
                    </a:lnR>
                    <a:lnT>
                      <a:noFill/>
                    </a:lnT>
                    <a:lnB>
                      <a:noFill/>
                    </a:lnB>
                    <a:lnTlToBr>
                      <a:noFill/>
                    </a:lnTlToBr>
                    <a:lnBlToTr>
                      <a:noFill/>
                    </a:lnBlToTr>
                    <a:noFill/>
                  </a:tcPr>
                </a:tc>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00000"/>
                        </a:lnSpc>
                        <a:buNone/>
                      </a:pPr>
                      <a:r>
                        <a:rPr sz="2560"/>
                        <a:t>Corolla </a:t>
                      </a:r>
                      <a:endParaRPr lang="en-US" sz="2560"/>
                    </a:p>
                  </a:txBody>
                  <a:tcPr marL="0" marR="0" marT="0" marB="0" anchor="ctr" anchorCtr="0">
                    <a:lnL>
                      <a:noFill/>
                    </a:lnL>
                    <a:lnR>
                      <a:noFill/>
                    </a:lnR>
                    <a:lnT>
                      <a:noFill/>
                    </a:lnT>
                    <a:lnB>
                      <a:noFill/>
                    </a:lnB>
                    <a:lnTlToBr>
                      <a:noFill/>
                    </a:lnTlToBr>
                    <a:lnBlToTr>
                      <a:noFill/>
                    </a:lnBlToTr>
                    <a:noFill/>
                  </a:tcPr>
                </a:tc>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00000"/>
                        </a:lnSpc>
                        <a:buNone/>
                      </a:pPr>
                      <a:r>
                        <a:rPr sz="2560"/>
                        <a:t>1999 </a:t>
                      </a:r>
                      <a:endParaRPr lang="en-US" sz="2560"/>
                    </a:p>
                  </a:txBody>
                  <a:tcPr marL="0" marR="0" marT="0" marB="0" anchor="ctr" anchorCtr="0">
                    <a:lnL>
                      <a:noFill/>
                    </a:lnL>
                    <a:lnR>
                      <a:noFill/>
                    </a:lnR>
                    <a:lnT>
                      <a:noFill/>
                    </a:lnT>
                    <a:lnB>
                      <a:noFill/>
                    </a:lnB>
                    <a:lnTlToBr>
                      <a:noFill/>
                    </a:lnTlToBr>
                    <a:lnBlToTr>
                      <a:noFill/>
                    </a:lnBlToTr>
                    <a:noFill/>
                  </a:tcPr>
                </a:tc>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00000"/>
                        </a:lnSpc>
                        <a:buNone/>
                      </a:pPr>
                      <a:r>
                        <a:rPr sz="2560"/>
                        <a:t>White </a:t>
                      </a:r>
                      <a:endParaRPr lang="en-US" sz="2560"/>
                    </a:p>
                  </a:txBody>
                  <a:tcPr marL="0" marR="0" marT="0" marB="0" anchor="ctr" anchorCtr="0">
                    <a:lnL>
                      <a:noFill/>
                    </a:lnL>
                    <a:lnR>
                      <a:noFill/>
                    </a:lnR>
                    <a:lnT>
                      <a:noFill/>
                    </a:lnT>
                    <a:lnB>
                      <a:noFill/>
                    </a:lnB>
                    <a:lnTlToBr>
                      <a:noFill/>
                    </a:lnTlToBr>
                    <a:lnBlToTr>
                      <a:noFill/>
                    </a:lnBlToTr>
                    <a:noFill/>
                  </a:tcPr>
                </a:tc>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00000"/>
                        </a:lnSpc>
                        <a:buNone/>
                      </a:pPr>
                      <a:r>
                        <a:rPr sz="2560"/>
                        <a:t>IL </a:t>
                      </a:r>
                      <a:endParaRPr lang="en-US" sz="2560"/>
                    </a:p>
                  </a:txBody>
                  <a:tcPr marL="0" marR="0" marT="0" marB="0" anchor="ctr" anchorCtr="0">
                    <a:lnL>
                      <a:noFill/>
                    </a:lnL>
                    <a:lnR>
                      <a:noFill/>
                    </a:lnR>
                    <a:lnT>
                      <a:noFill/>
                    </a:lnT>
                    <a:lnB>
                      <a:noFill/>
                    </a:lnB>
                    <a:lnTlToBr>
                      <a:noFill/>
                    </a:lnTlToBr>
                    <a:lnBlToTr>
                      <a:noFill/>
                    </a:lnBlToTr>
                    <a:noFill/>
                  </a:tcPr>
                </a:tc>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00000"/>
                        </a:lnSpc>
                        <a:buNone/>
                      </a:pPr>
                      <a:r>
                        <a:rPr sz="2560"/>
                        <a:t>$15,000 </a:t>
                      </a:r>
                      <a:endParaRPr lang="en-US" sz="2560"/>
                    </a:p>
                  </a:txBody>
                  <a:tcPr marL="0" marR="0" marT="0" marB="0" anchor="ctr" anchorCtr="0">
                    <a:lnL>
                      <a:noFill/>
                    </a:lnL>
                    <a:lnR cap="flat">
                      <a:noFill/>
                    </a:lnR>
                    <a:lnT>
                      <a:noFill/>
                    </a:lnT>
                    <a:lnB>
                      <a:noFill/>
                    </a:lnB>
                    <a:lnTlToBr>
                      <a:noFill/>
                    </a:lnTlToBr>
                    <a:lnBlToTr>
                      <a:noFill/>
                    </a:lnBlToTr>
                    <a:noFill/>
                  </a:tcPr>
                </a:tc>
              </a:tr>
              <a:tr h="412750">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00000"/>
                        </a:lnSpc>
                        <a:buNone/>
                      </a:pPr>
                      <a:r>
                        <a:rPr sz="2560"/>
                        <a:t>7623 </a:t>
                      </a:r>
                      <a:endParaRPr lang="en-US" sz="2560"/>
                    </a:p>
                  </a:txBody>
                  <a:tcPr marL="0" marR="0" marT="0" marB="0" anchor="ctr" anchorCtr="0">
                    <a:lnL cap="flat">
                      <a:noFill/>
                    </a:lnL>
                    <a:lnR>
                      <a:noFill/>
                    </a:lnR>
                    <a:lnT>
                      <a:noFill/>
                    </a:lnT>
                    <a:lnB>
                      <a:noFill/>
                    </a:lnB>
                    <a:lnTlToBr>
                      <a:noFill/>
                    </a:lnTlToBr>
                    <a:lnBlToTr>
                      <a:noFill/>
                    </a:lnBlToTr>
                    <a:noFill/>
                  </a:tcPr>
                </a:tc>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00000"/>
                        </a:lnSpc>
                        <a:buNone/>
                      </a:pPr>
                      <a:r>
                        <a:rPr sz="2560"/>
                        <a:t>Camry </a:t>
                      </a:r>
                      <a:endParaRPr lang="en-US" sz="2560"/>
                    </a:p>
                  </a:txBody>
                  <a:tcPr marL="0" marR="0" marT="0" marB="0" anchor="ctr" anchorCtr="0">
                    <a:lnL>
                      <a:noFill/>
                    </a:lnL>
                    <a:lnR>
                      <a:noFill/>
                    </a:lnR>
                    <a:lnT>
                      <a:noFill/>
                    </a:lnT>
                    <a:lnB>
                      <a:noFill/>
                    </a:lnB>
                    <a:lnTlToBr>
                      <a:noFill/>
                    </a:lnTlToBr>
                    <a:lnBlToTr>
                      <a:noFill/>
                    </a:lnBlToTr>
                    <a:noFill/>
                  </a:tcPr>
                </a:tc>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00000"/>
                        </a:lnSpc>
                        <a:buNone/>
                      </a:pPr>
                      <a:r>
                        <a:rPr sz="2560"/>
                        <a:t>2001 </a:t>
                      </a:r>
                      <a:endParaRPr lang="en-US" sz="2560"/>
                    </a:p>
                  </a:txBody>
                  <a:tcPr marL="0" marR="0" marT="0" marB="0" anchor="ctr" anchorCtr="0">
                    <a:lnL>
                      <a:noFill/>
                    </a:lnL>
                    <a:lnR>
                      <a:noFill/>
                    </a:lnR>
                    <a:lnT>
                      <a:noFill/>
                    </a:lnT>
                    <a:lnB>
                      <a:noFill/>
                    </a:lnB>
                    <a:lnTlToBr>
                      <a:noFill/>
                    </a:lnTlToBr>
                    <a:lnBlToTr>
                      <a:noFill/>
                    </a:lnBlToTr>
                    <a:noFill/>
                  </a:tcPr>
                </a:tc>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00000"/>
                        </a:lnSpc>
                        <a:buNone/>
                      </a:pPr>
                      <a:r>
                        <a:rPr sz="2560"/>
                        <a:t>Green </a:t>
                      </a:r>
                      <a:endParaRPr lang="en-US" sz="2560"/>
                    </a:p>
                  </a:txBody>
                  <a:tcPr marL="0" marR="0" marT="0" marB="0" anchor="ctr" anchorCtr="0">
                    <a:lnL>
                      <a:noFill/>
                    </a:lnL>
                    <a:lnR>
                      <a:noFill/>
                    </a:lnR>
                    <a:lnT>
                      <a:noFill/>
                    </a:lnT>
                    <a:lnB>
                      <a:noFill/>
                    </a:lnB>
                    <a:lnTlToBr>
                      <a:noFill/>
                    </a:lnTlToBr>
                    <a:lnBlToTr>
                      <a:noFill/>
                    </a:lnBlToTr>
                    <a:noFill/>
                  </a:tcPr>
                </a:tc>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00000"/>
                        </a:lnSpc>
                        <a:buNone/>
                      </a:pPr>
                      <a:r>
                        <a:rPr sz="2560"/>
                        <a:t>NY </a:t>
                      </a:r>
                      <a:endParaRPr lang="en-US" sz="2560"/>
                    </a:p>
                  </a:txBody>
                  <a:tcPr marL="0" marR="0" marT="0" marB="0" anchor="ctr" anchorCtr="0">
                    <a:lnL>
                      <a:noFill/>
                    </a:lnL>
                    <a:lnR>
                      <a:noFill/>
                    </a:lnR>
                    <a:lnT>
                      <a:noFill/>
                    </a:lnT>
                    <a:lnB>
                      <a:noFill/>
                    </a:lnB>
                    <a:lnTlToBr>
                      <a:noFill/>
                    </a:lnTlToBr>
                    <a:lnBlToTr>
                      <a:noFill/>
                    </a:lnBlToTr>
                    <a:noFill/>
                  </a:tcPr>
                </a:tc>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00000"/>
                        </a:lnSpc>
                        <a:buNone/>
                      </a:pPr>
                      <a:r>
                        <a:rPr sz="2560"/>
                        <a:t>$21,000 </a:t>
                      </a:r>
                      <a:endParaRPr lang="en-US" sz="2560"/>
                    </a:p>
                  </a:txBody>
                  <a:tcPr marL="0" marR="0" marT="0" marB="0" anchor="ctr" anchorCtr="0">
                    <a:lnL>
                      <a:noFill/>
                    </a:lnL>
                    <a:lnR cap="flat">
                      <a:noFill/>
                    </a:lnR>
                    <a:lnT>
                      <a:noFill/>
                    </a:lnT>
                    <a:lnB>
                      <a:noFill/>
                    </a:lnB>
                    <a:lnTlToBr>
                      <a:noFill/>
                    </a:lnTlToBr>
                    <a:lnBlToTr>
                      <a:noFill/>
                    </a:lnBlToTr>
                    <a:noFill/>
                  </a:tcPr>
                </a:tc>
              </a:tr>
              <a:tr h="412750">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00000"/>
                        </a:lnSpc>
                        <a:buNone/>
                      </a:pPr>
                      <a:r>
                        <a:rPr sz="2560"/>
                        <a:t>9834 </a:t>
                      </a:r>
                      <a:endParaRPr lang="en-US" sz="2560"/>
                    </a:p>
                  </a:txBody>
                  <a:tcPr marL="0" marR="0" marT="0" marB="0" anchor="ctr" anchorCtr="0">
                    <a:lnL cap="flat">
                      <a:noFill/>
                    </a:lnL>
                    <a:lnR>
                      <a:noFill/>
                    </a:lnR>
                    <a:lnT>
                      <a:noFill/>
                    </a:lnT>
                    <a:lnB>
                      <a:noFill/>
                    </a:lnB>
                    <a:lnTlToBr>
                      <a:noFill/>
                    </a:lnTlToBr>
                    <a:lnBlToTr>
                      <a:noFill/>
                    </a:lnBlToTr>
                    <a:noFill/>
                  </a:tcPr>
                </a:tc>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00000"/>
                        </a:lnSpc>
                        <a:buNone/>
                      </a:pPr>
                      <a:r>
                        <a:rPr sz="2560" err="1"/>
                        <a:t>Prius</a:t>
                      </a:r>
                      <a:r>
                        <a:rPr sz="2560"/>
                        <a:t> </a:t>
                      </a:r>
                      <a:endParaRPr lang="en-US" sz="2560"/>
                    </a:p>
                  </a:txBody>
                  <a:tcPr marL="0" marR="0" marT="0" marB="0" anchor="ctr" anchorCtr="0">
                    <a:lnL>
                      <a:noFill/>
                    </a:lnL>
                    <a:lnR>
                      <a:noFill/>
                    </a:lnR>
                    <a:lnT>
                      <a:noFill/>
                    </a:lnT>
                    <a:lnB>
                      <a:noFill/>
                    </a:lnB>
                    <a:lnTlToBr>
                      <a:noFill/>
                    </a:lnTlToBr>
                    <a:lnBlToTr>
                      <a:noFill/>
                    </a:lnBlToTr>
                    <a:noFill/>
                  </a:tcPr>
                </a:tc>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00000"/>
                        </a:lnSpc>
                        <a:buNone/>
                      </a:pPr>
                      <a:r>
                        <a:rPr sz="2560"/>
                        <a:t>2001 </a:t>
                      </a:r>
                      <a:endParaRPr lang="en-US" sz="2560"/>
                    </a:p>
                  </a:txBody>
                  <a:tcPr marL="0" marR="0" marT="0" marB="0" anchor="ctr" anchorCtr="0">
                    <a:lnL>
                      <a:noFill/>
                    </a:lnL>
                    <a:lnR>
                      <a:noFill/>
                    </a:lnR>
                    <a:lnT>
                      <a:noFill/>
                    </a:lnT>
                    <a:lnB>
                      <a:noFill/>
                    </a:lnB>
                    <a:lnTlToBr>
                      <a:noFill/>
                    </a:lnTlToBr>
                    <a:lnBlToTr>
                      <a:noFill/>
                    </a:lnBlToTr>
                    <a:noFill/>
                  </a:tcPr>
                </a:tc>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00000"/>
                        </a:lnSpc>
                        <a:buNone/>
                      </a:pPr>
                      <a:r>
                        <a:rPr sz="2560"/>
                        <a:t>Green </a:t>
                      </a:r>
                      <a:endParaRPr lang="en-US" sz="2560"/>
                    </a:p>
                  </a:txBody>
                  <a:tcPr marL="0" marR="0" marT="0" marB="0" anchor="ctr" anchorCtr="0">
                    <a:lnL>
                      <a:noFill/>
                    </a:lnL>
                    <a:lnR>
                      <a:noFill/>
                    </a:lnR>
                    <a:lnT>
                      <a:noFill/>
                    </a:lnT>
                    <a:lnB>
                      <a:noFill/>
                    </a:lnB>
                    <a:lnTlToBr>
                      <a:noFill/>
                    </a:lnTlToBr>
                    <a:lnBlToTr>
                      <a:noFill/>
                    </a:lnBlToTr>
                    <a:noFill/>
                  </a:tcPr>
                </a:tc>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00000"/>
                        </a:lnSpc>
                        <a:buNone/>
                      </a:pPr>
                      <a:r>
                        <a:rPr sz="2560"/>
                        <a:t>CA </a:t>
                      </a:r>
                      <a:endParaRPr lang="en-US" sz="2560"/>
                    </a:p>
                  </a:txBody>
                  <a:tcPr marL="0" marR="0" marT="0" marB="0" anchor="ctr" anchorCtr="0">
                    <a:lnL>
                      <a:noFill/>
                    </a:lnL>
                    <a:lnR>
                      <a:noFill/>
                    </a:lnR>
                    <a:lnT>
                      <a:noFill/>
                    </a:lnT>
                    <a:lnB>
                      <a:noFill/>
                    </a:lnB>
                    <a:lnTlToBr>
                      <a:noFill/>
                    </a:lnTlToBr>
                    <a:lnBlToTr>
                      <a:noFill/>
                    </a:lnBlToTr>
                    <a:noFill/>
                  </a:tcPr>
                </a:tc>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00000"/>
                        </a:lnSpc>
                        <a:buNone/>
                      </a:pPr>
                      <a:r>
                        <a:rPr sz="2560"/>
                        <a:t>$18,000 </a:t>
                      </a:r>
                      <a:endParaRPr lang="en-US" sz="2560"/>
                    </a:p>
                  </a:txBody>
                  <a:tcPr marL="0" marR="0" marT="0" marB="0" anchor="ctr" anchorCtr="0">
                    <a:lnL>
                      <a:noFill/>
                    </a:lnL>
                    <a:lnR cap="flat">
                      <a:noFill/>
                    </a:lnR>
                    <a:lnT>
                      <a:noFill/>
                    </a:lnT>
                    <a:lnB>
                      <a:noFill/>
                    </a:lnB>
                    <a:lnTlToBr>
                      <a:noFill/>
                    </a:lnTlToBr>
                    <a:lnBlToTr>
                      <a:noFill/>
                    </a:lnBlToTr>
                    <a:noFill/>
                  </a:tcPr>
                </a:tc>
              </a:tr>
              <a:tr h="413385">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00000"/>
                        </a:lnSpc>
                        <a:buNone/>
                      </a:pPr>
                      <a:r>
                        <a:rPr sz="2560"/>
                        <a:t>6734 </a:t>
                      </a:r>
                      <a:endParaRPr lang="en-US" sz="2560"/>
                    </a:p>
                  </a:txBody>
                  <a:tcPr marL="0" marR="0" marT="0" marB="0" anchor="ctr" anchorCtr="0">
                    <a:lnL cap="flat">
                      <a:noFill/>
                    </a:lnL>
                    <a:lnR>
                      <a:noFill/>
                    </a:lnR>
                    <a:lnT>
                      <a:noFill/>
                    </a:lnT>
                    <a:lnB>
                      <a:noFill/>
                    </a:lnB>
                    <a:lnTlToBr>
                      <a:noFill/>
                    </a:lnTlToBr>
                    <a:lnBlToTr>
                      <a:noFill/>
                    </a:lnBlToTr>
                    <a:noFill/>
                  </a:tcPr>
                </a:tc>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00000"/>
                        </a:lnSpc>
                        <a:buNone/>
                      </a:pPr>
                      <a:r>
                        <a:rPr sz="2560"/>
                        <a:t>Civic </a:t>
                      </a:r>
                      <a:endParaRPr lang="en-US" sz="2560"/>
                    </a:p>
                  </a:txBody>
                  <a:tcPr marL="0" marR="0" marT="0" marB="0" anchor="ctr" anchorCtr="0">
                    <a:lnL>
                      <a:noFill/>
                    </a:lnL>
                    <a:lnR>
                      <a:noFill/>
                    </a:lnR>
                    <a:lnT>
                      <a:noFill/>
                    </a:lnT>
                    <a:lnB>
                      <a:noFill/>
                    </a:lnB>
                    <a:lnTlToBr>
                      <a:noFill/>
                    </a:lnTlToBr>
                    <a:lnBlToTr>
                      <a:noFill/>
                    </a:lnBlToTr>
                    <a:noFill/>
                  </a:tcPr>
                </a:tc>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00000"/>
                        </a:lnSpc>
                        <a:buNone/>
                      </a:pPr>
                      <a:r>
                        <a:rPr sz="2560"/>
                        <a:t>2001 </a:t>
                      </a:r>
                      <a:endParaRPr lang="en-US" sz="2560"/>
                    </a:p>
                  </a:txBody>
                  <a:tcPr marL="0" marR="0" marT="0" marB="0" anchor="ctr" anchorCtr="0">
                    <a:lnL>
                      <a:noFill/>
                    </a:lnL>
                    <a:lnR>
                      <a:noFill/>
                    </a:lnR>
                    <a:lnT>
                      <a:noFill/>
                    </a:lnT>
                    <a:lnB>
                      <a:noFill/>
                    </a:lnB>
                    <a:lnTlToBr>
                      <a:noFill/>
                    </a:lnTlToBr>
                    <a:lnBlToTr>
                      <a:noFill/>
                    </a:lnBlToTr>
                    <a:noFill/>
                  </a:tcPr>
                </a:tc>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00000"/>
                        </a:lnSpc>
                        <a:buNone/>
                      </a:pPr>
                      <a:r>
                        <a:rPr sz="2560"/>
                        <a:t>White </a:t>
                      </a:r>
                      <a:endParaRPr lang="en-US" sz="2560"/>
                    </a:p>
                  </a:txBody>
                  <a:tcPr marL="0" marR="0" marT="0" marB="0" anchor="ctr" anchorCtr="0">
                    <a:lnL>
                      <a:noFill/>
                    </a:lnL>
                    <a:lnR>
                      <a:noFill/>
                    </a:lnR>
                    <a:lnT>
                      <a:noFill/>
                    </a:lnT>
                    <a:lnB>
                      <a:noFill/>
                    </a:lnB>
                    <a:lnTlToBr>
                      <a:noFill/>
                    </a:lnTlToBr>
                    <a:lnBlToTr>
                      <a:noFill/>
                    </a:lnBlToTr>
                    <a:noFill/>
                  </a:tcPr>
                </a:tc>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00000"/>
                        </a:lnSpc>
                        <a:buNone/>
                      </a:pPr>
                      <a:r>
                        <a:rPr sz="2560"/>
                        <a:t>OR </a:t>
                      </a:r>
                      <a:endParaRPr lang="en-US" sz="2560"/>
                    </a:p>
                  </a:txBody>
                  <a:tcPr marL="0" marR="0" marT="0" marB="0" anchor="ctr" anchorCtr="0">
                    <a:lnL>
                      <a:noFill/>
                    </a:lnL>
                    <a:lnR>
                      <a:noFill/>
                    </a:lnR>
                    <a:lnT>
                      <a:noFill/>
                    </a:lnT>
                    <a:lnB>
                      <a:noFill/>
                    </a:lnB>
                    <a:lnTlToBr>
                      <a:noFill/>
                    </a:lnTlToBr>
                    <a:lnBlToTr>
                      <a:noFill/>
                    </a:lnBlToTr>
                    <a:noFill/>
                  </a:tcPr>
                </a:tc>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00000"/>
                        </a:lnSpc>
                        <a:buNone/>
                      </a:pPr>
                      <a:r>
                        <a:rPr sz="2560"/>
                        <a:t>$17,000 </a:t>
                      </a:r>
                      <a:endParaRPr lang="en-US" sz="2560"/>
                    </a:p>
                  </a:txBody>
                  <a:tcPr marL="0" marR="0" marT="0" marB="0" anchor="ctr" anchorCtr="0">
                    <a:lnL>
                      <a:noFill/>
                    </a:lnL>
                    <a:lnR cap="flat">
                      <a:noFill/>
                    </a:lnR>
                    <a:lnT>
                      <a:noFill/>
                    </a:lnT>
                    <a:lnB>
                      <a:noFill/>
                    </a:lnB>
                    <a:lnTlToBr>
                      <a:noFill/>
                    </a:lnTlToBr>
                    <a:lnBlToTr>
                      <a:noFill/>
                    </a:lnBlToTr>
                    <a:noFill/>
                  </a:tcPr>
                </a:tc>
              </a:tr>
              <a:tr h="412750">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00000"/>
                        </a:lnSpc>
                        <a:buNone/>
                      </a:pPr>
                      <a:r>
                        <a:rPr sz="2560"/>
                        <a:t>5342 </a:t>
                      </a:r>
                      <a:endParaRPr lang="en-US" sz="2560"/>
                    </a:p>
                  </a:txBody>
                  <a:tcPr marL="0" marR="0" marT="0" marB="0" anchor="ctr" anchorCtr="0">
                    <a:lnL cap="flat">
                      <a:noFill/>
                    </a:lnL>
                    <a:lnR>
                      <a:noFill/>
                    </a:lnR>
                    <a:lnT>
                      <a:noFill/>
                    </a:lnT>
                    <a:lnB>
                      <a:noFill/>
                    </a:lnB>
                    <a:lnTlToBr>
                      <a:noFill/>
                    </a:lnTlToBr>
                    <a:lnBlToTr>
                      <a:noFill/>
                    </a:lnBlToTr>
                    <a:noFill/>
                  </a:tcPr>
                </a:tc>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00000"/>
                        </a:lnSpc>
                        <a:buNone/>
                      </a:pPr>
                      <a:r>
                        <a:rPr sz="2560" err="1"/>
                        <a:t>Altima</a:t>
                      </a:r>
                      <a:r>
                        <a:rPr sz="2560"/>
                        <a:t> </a:t>
                      </a:r>
                      <a:endParaRPr lang="en-US" sz="2560"/>
                    </a:p>
                  </a:txBody>
                  <a:tcPr marL="0" marR="0" marT="0" marB="0" anchor="ctr" anchorCtr="0">
                    <a:lnL>
                      <a:noFill/>
                    </a:lnL>
                    <a:lnR>
                      <a:noFill/>
                    </a:lnR>
                    <a:lnT>
                      <a:noFill/>
                    </a:lnT>
                    <a:lnB>
                      <a:noFill/>
                    </a:lnB>
                    <a:lnTlToBr>
                      <a:noFill/>
                    </a:lnTlToBr>
                    <a:lnBlToTr>
                      <a:noFill/>
                    </a:lnBlToTr>
                    <a:noFill/>
                  </a:tcPr>
                </a:tc>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00000"/>
                        </a:lnSpc>
                        <a:buNone/>
                      </a:pPr>
                      <a:r>
                        <a:rPr sz="2560"/>
                        <a:t>2001 </a:t>
                      </a:r>
                      <a:endParaRPr lang="en-US" sz="2560"/>
                    </a:p>
                  </a:txBody>
                  <a:tcPr marL="0" marR="0" marT="0" marB="0" anchor="ctr" anchorCtr="0">
                    <a:lnL>
                      <a:noFill/>
                    </a:lnL>
                    <a:lnR>
                      <a:noFill/>
                    </a:lnR>
                    <a:lnT>
                      <a:noFill/>
                    </a:lnT>
                    <a:lnB>
                      <a:noFill/>
                    </a:lnB>
                    <a:lnTlToBr>
                      <a:noFill/>
                    </a:lnTlToBr>
                    <a:lnBlToTr>
                      <a:noFill/>
                    </a:lnBlToTr>
                    <a:noFill/>
                  </a:tcPr>
                </a:tc>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00000"/>
                        </a:lnSpc>
                        <a:buNone/>
                      </a:pPr>
                      <a:r>
                        <a:rPr sz="2560"/>
                        <a:t>Green </a:t>
                      </a:r>
                      <a:endParaRPr lang="en-US" sz="2560"/>
                    </a:p>
                  </a:txBody>
                  <a:tcPr marL="0" marR="0" marT="0" marB="0" anchor="ctr" anchorCtr="0">
                    <a:lnL>
                      <a:noFill/>
                    </a:lnL>
                    <a:lnR>
                      <a:noFill/>
                    </a:lnR>
                    <a:lnT>
                      <a:noFill/>
                    </a:lnT>
                    <a:lnB>
                      <a:noFill/>
                    </a:lnB>
                    <a:lnTlToBr>
                      <a:noFill/>
                    </a:lnTlToBr>
                    <a:lnBlToTr>
                      <a:noFill/>
                    </a:lnBlToTr>
                    <a:noFill/>
                  </a:tcPr>
                </a:tc>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00000"/>
                        </a:lnSpc>
                        <a:buNone/>
                      </a:pPr>
                      <a:r>
                        <a:rPr sz="2560"/>
                        <a:t>FL </a:t>
                      </a:r>
                      <a:endParaRPr lang="en-US" sz="2560"/>
                    </a:p>
                  </a:txBody>
                  <a:tcPr marL="0" marR="0" marT="0" marB="0" anchor="ctr" anchorCtr="0">
                    <a:lnL>
                      <a:noFill/>
                    </a:lnL>
                    <a:lnR>
                      <a:noFill/>
                    </a:lnR>
                    <a:lnT>
                      <a:noFill/>
                    </a:lnT>
                    <a:lnB>
                      <a:noFill/>
                    </a:lnB>
                    <a:lnTlToBr>
                      <a:noFill/>
                    </a:lnTlToBr>
                    <a:lnBlToTr>
                      <a:noFill/>
                    </a:lnBlToTr>
                    <a:noFill/>
                  </a:tcPr>
                </a:tc>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00000"/>
                        </a:lnSpc>
                        <a:buNone/>
                      </a:pPr>
                      <a:r>
                        <a:rPr sz="2560"/>
                        <a:t>$19,000 </a:t>
                      </a:r>
                      <a:endParaRPr lang="en-US" sz="2560"/>
                    </a:p>
                  </a:txBody>
                  <a:tcPr marL="0" marR="0" marT="0" marB="0" anchor="ctr" anchorCtr="0">
                    <a:lnL>
                      <a:noFill/>
                    </a:lnL>
                    <a:lnR cap="flat">
                      <a:noFill/>
                    </a:lnR>
                    <a:lnT>
                      <a:noFill/>
                    </a:lnT>
                    <a:lnB>
                      <a:noFill/>
                    </a:lnB>
                    <a:lnTlToBr>
                      <a:noFill/>
                    </a:lnTlToBr>
                    <a:lnBlToTr>
                      <a:noFill/>
                    </a:lnBlToTr>
                    <a:noFill/>
                  </a:tcPr>
                </a:tc>
              </a:tr>
              <a:tr h="412750">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00000"/>
                        </a:lnSpc>
                        <a:buNone/>
                      </a:pPr>
                      <a:r>
                        <a:rPr sz="2560"/>
                        <a:t>3845 </a:t>
                      </a:r>
                      <a:endParaRPr lang="en-US" sz="2560"/>
                    </a:p>
                  </a:txBody>
                  <a:tcPr marL="0" marR="0" marT="0" marB="0" anchor="ctr" anchorCtr="0">
                    <a:lnL cap="flat">
                      <a:noFill/>
                    </a:lnL>
                    <a:lnR>
                      <a:noFill/>
                    </a:lnR>
                    <a:lnT>
                      <a:noFill/>
                    </a:lnT>
                    <a:lnB>
                      <a:noFill/>
                    </a:lnB>
                    <a:lnTlToBr>
                      <a:noFill/>
                    </a:lnTlToBr>
                    <a:lnBlToTr>
                      <a:noFill/>
                    </a:lnBlToTr>
                    <a:noFill/>
                  </a:tcPr>
                </a:tc>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00000"/>
                        </a:lnSpc>
                        <a:buNone/>
                      </a:pPr>
                      <a:r>
                        <a:rPr sz="2560"/>
                        <a:t>Maxima </a:t>
                      </a:r>
                      <a:endParaRPr lang="en-US" sz="2560"/>
                    </a:p>
                  </a:txBody>
                  <a:tcPr marL="0" marR="0" marT="0" marB="0" anchor="ctr" anchorCtr="0">
                    <a:lnL>
                      <a:noFill/>
                    </a:lnL>
                    <a:lnR>
                      <a:noFill/>
                    </a:lnR>
                    <a:lnT>
                      <a:noFill/>
                    </a:lnT>
                    <a:lnB>
                      <a:noFill/>
                    </a:lnB>
                    <a:lnTlToBr>
                      <a:noFill/>
                    </a:lnTlToBr>
                    <a:lnBlToTr>
                      <a:noFill/>
                    </a:lnBlToTr>
                    <a:noFill/>
                  </a:tcPr>
                </a:tc>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00000"/>
                        </a:lnSpc>
                        <a:buNone/>
                      </a:pPr>
                      <a:r>
                        <a:rPr sz="2560"/>
                        <a:t>2001 </a:t>
                      </a:r>
                      <a:endParaRPr lang="en-US" sz="2560"/>
                    </a:p>
                  </a:txBody>
                  <a:tcPr marL="0" marR="0" marT="0" marB="0" anchor="ctr" anchorCtr="0">
                    <a:lnL>
                      <a:noFill/>
                    </a:lnL>
                    <a:lnR>
                      <a:noFill/>
                    </a:lnR>
                    <a:lnT>
                      <a:noFill/>
                    </a:lnT>
                    <a:lnB>
                      <a:noFill/>
                    </a:lnB>
                    <a:lnTlToBr>
                      <a:noFill/>
                    </a:lnTlToBr>
                    <a:lnBlToTr>
                      <a:noFill/>
                    </a:lnBlToTr>
                    <a:noFill/>
                  </a:tcPr>
                </a:tc>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00000"/>
                        </a:lnSpc>
                        <a:buNone/>
                      </a:pPr>
                      <a:r>
                        <a:rPr sz="2560"/>
                        <a:t>Blue </a:t>
                      </a:r>
                      <a:endParaRPr lang="en-US" sz="2560"/>
                    </a:p>
                  </a:txBody>
                  <a:tcPr marL="0" marR="0" marT="0" marB="0" anchor="ctr" anchorCtr="0">
                    <a:lnL>
                      <a:noFill/>
                    </a:lnL>
                    <a:lnR>
                      <a:noFill/>
                    </a:lnR>
                    <a:lnT>
                      <a:noFill/>
                    </a:lnT>
                    <a:lnB>
                      <a:noFill/>
                    </a:lnB>
                    <a:lnTlToBr>
                      <a:noFill/>
                    </a:lnTlToBr>
                    <a:lnBlToTr>
                      <a:noFill/>
                    </a:lnBlToTr>
                    <a:noFill/>
                  </a:tcPr>
                </a:tc>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00000"/>
                        </a:lnSpc>
                        <a:buNone/>
                      </a:pPr>
                      <a:r>
                        <a:rPr sz="2560"/>
                        <a:t>NY </a:t>
                      </a:r>
                      <a:endParaRPr lang="en-US" sz="2560"/>
                    </a:p>
                  </a:txBody>
                  <a:tcPr marL="0" marR="0" marT="0" marB="0" anchor="ctr" anchorCtr="0">
                    <a:lnL>
                      <a:noFill/>
                    </a:lnL>
                    <a:lnR>
                      <a:noFill/>
                    </a:lnR>
                    <a:lnT>
                      <a:noFill/>
                    </a:lnT>
                    <a:lnB>
                      <a:noFill/>
                    </a:lnB>
                    <a:lnTlToBr>
                      <a:noFill/>
                    </a:lnTlToBr>
                    <a:lnBlToTr>
                      <a:noFill/>
                    </a:lnBlToTr>
                    <a:noFill/>
                  </a:tcPr>
                </a:tc>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00000"/>
                        </a:lnSpc>
                        <a:buNone/>
                      </a:pPr>
                      <a:r>
                        <a:rPr sz="2560"/>
                        <a:t>$22,000 </a:t>
                      </a:r>
                      <a:endParaRPr lang="en-US" sz="2560"/>
                    </a:p>
                  </a:txBody>
                  <a:tcPr marL="0" marR="0" marT="0" marB="0" anchor="ctr" anchorCtr="0">
                    <a:lnL>
                      <a:noFill/>
                    </a:lnL>
                    <a:lnR cap="flat">
                      <a:noFill/>
                    </a:lnR>
                    <a:lnT>
                      <a:noFill/>
                    </a:lnT>
                    <a:lnB>
                      <a:noFill/>
                    </a:lnB>
                    <a:lnTlToBr>
                      <a:noFill/>
                    </a:lnTlToBr>
                    <a:lnBlToTr>
                      <a:noFill/>
                    </a:lnBlToTr>
                    <a:noFill/>
                  </a:tcPr>
                </a:tc>
              </a:tr>
              <a:tr h="412750">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00000"/>
                        </a:lnSpc>
                        <a:buNone/>
                      </a:pPr>
                      <a:r>
                        <a:rPr sz="2560"/>
                        <a:t>8354 </a:t>
                      </a:r>
                      <a:endParaRPr lang="en-US" sz="2560"/>
                    </a:p>
                  </a:txBody>
                  <a:tcPr marL="0" marR="0" marT="0" marB="0" anchor="ctr" anchorCtr="0">
                    <a:lnL cap="flat">
                      <a:noFill/>
                    </a:lnL>
                    <a:lnR>
                      <a:noFill/>
                    </a:lnR>
                    <a:lnT>
                      <a:noFill/>
                    </a:lnT>
                    <a:lnB>
                      <a:noFill/>
                    </a:lnB>
                    <a:lnTlToBr>
                      <a:noFill/>
                    </a:lnTlToBr>
                    <a:lnBlToTr>
                      <a:noFill/>
                    </a:lnBlToTr>
                    <a:noFill/>
                  </a:tcPr>
                </a:tc>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00000"/>
                        </a:lnSpc>
                        <a:buNone/>
                      </a:pPr>
                      <a:r>
                        <a:rPr sz="2560"/>
                        <a:t>Accord </a:t>
                      </a:r>
                      <a:endParaRPr lang="en-US" sz="2560"/>
                    </a:p>
                  </a:txBody>
                  <a:tcPr marL="0" marR="0" marT="0" marB="0" anchor="ctr" anchorCtr="0">
                    <a:lnL>
                      <a:noFill/>
                    </a:lnL>
                    <a:lnR>
                      <a:noFill/>
                    </a:lnR>
                    <a:lnT>
                      <a:noFill/>
                    </a:lnT>
                    <a:lnB>
                      <a:noFill/>
                    </a:lnB>
                    <a:lnTlToBr>
                      <a:noFill/>
                    </a:lnTlToBr>
                    <a:lnBlToTr>
                      <a:noFill/>
                    </a:lnBlToTr>
                    <a:noFill/>
                  </a:tcPr>
                </a:tc>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00000"/>
                        </a:lnSpc>
                        <a:buNone/>
                      </a:pPr>
                      <a:r>
                        <a:rPr sz="2560"/>
                        <a:t>2000 </a:t>
                      </a:r>
                      <a:endParaRPr lang="en-US" sz="2560"/>
                    </a:p>
                  </a:txBody>
                  <a:tcPr marL="0" marR="0" marT="0" marB="0" anchor="ctr" anchorCtr="0">
                    <a:lnL>
                      <a:noFill/>
                    </a:lnL>
                    <a:lnR>
                      <a:noFill/>
                    </a:lnR>
                    <a:lnT>
                      <a:noFill/>
                    </a:lnT>
                    <a:lnB>
                      <a:noFill/>
                    </a:lnB>
                    <a:lnTlToBr>
                      <a:noFill/>
                    </a:lnTlToBr>
                    <a:lnBlToTr>
                      <a:noFill/>
                    </a:lnBlToTr>
                    <a:noFill/>
                  </a:tcPr>
                </a:tc>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00000"/>
                        </a:lnSpc>
                        <a:buNone/>
                      </a:pPr>
                      <a:r>
                        <a:rPr sz="2560"/>
                        <a:t>Green </a:t>
                      </a:r>
                      <a:endParaRPr lang="en-US" sz="2560"/>
                    </a:p>
                  </a:txBody>
                  <a:tcPr marL="0" marR="0" marT="0" marB="0" anchor="ctr" anchorCtr="0">
                    <a:lnL>
                      <a:noFill/>
                    </a:lnL>
                    <a:lnR>
                      <a:noFill/>
                    </a:lnR>
                    <a:lnT>
                      <a:noFill/>
                    </a:lnT>
                    <a:lnB>
                      <a:noFill/>
                    </a:lnB>
                    <a:lnTlToBr>
                      <a:noFill/>
                    </a:lnTlToBr>
                    <a:lnBlToTr>
                      <a:noFill/>
                    </a:lnBlToTr>
                    <a:noFill/>
                  </a:tcPr>
                </a:tc>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00000"/>
                        </a:lnSpc>
                        <a:buNone/>
                      </a:pPr>
                      <a:r>
                        <a:rPr sz="2560"/>
                        <a:t>VT </a:t>
                      </a:r>
                      <a:endParaRPr lang="en-US" sz="2560"/>
                    </a:p>
                  </a:txBody>
                  <a:tcPr marL="0" marR="0" marT="0" marB="0" anchor="ctr" anchorCtr="0">
                    <a:lnL>
                      <a:noFill/>
                    </a:lnL>
                    <a:lnR>
                      <a:noFill/>
                    </a:lnR>
                    <a:lnT>
                      <a:noFill/>
                    </a:lnT>
                    <a:lnB>
                      <a:noFill/>
                    </a:lnB>
                    <a:lnTlToBr>
                      <a:noFill/>
                    </a:lnTlToBr>
                    <a:lnBlToTr>
                      <a:noFill/>
                    </a:lnBlToTr>
                    <a:noFill/>
                  </a:tcPr>
                </a:tc>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00000"/>
                        </a:lnSpc>
                        <a:buNone/>
                      </a:pPr>
                      <a:r>
                        <a:rPr sz="2560"/>
                        <a:t>$18,000 </a:t>
                      </a:r>
                      <a:endParaRPr lang="en-US" sz="2560"/>
                    </a:p>
                  </a:txBody>
                  <a:tcPr marL="0" marR="0" marT="0" marB="0" anchor="ctr" anchorCtr="0">
                    <a:lnL>
                      <a:noFill/>
                    </a:lnL>
                    <a:lnR cap="flat">
                      <a:noFill/>
                    </a:lnR>
                    <a:lnT>
                      <a:noFill/>
                    </a:lnT>
                    <a:lnB>
                      <a:noFill/>
                    </a:lnB>
                    <a:lnTlToBr>
                      <a:noFill/>
                    </a:lnTlToBr>
                    <a:lnBlToTr>
                      <a:noFill/>
                    </a:lnBlToTr>
                    <a:noFill/>
                  </a:tcPr>
                </a:tc>
              </a:tr>
              <a:tr h="412750">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00000"/>
                        </a:lnSpc>
                        <a:buNone/>
                      </a:pPr>
                      <a:r>
                        <a:rPr sz="2560"/>
                        <a:t>4395 </a:t>
                      </a:r>
                      <a:endParaRPr lang="en-US" sz="2560"/>
                    </a:p>
                  </a:txBody>
                  <a:tcPr marL="0" marR="0" marT="0" marB="0" anchor="ctr" anchorCtr="0">
                    <a:lnL cap="flat">
                      <a:noFill/>
                    </a:lnL>
                    <a:lnR>
                      <a:noFill/>
                    </a:lnR>
                    <a:lnT>
                      <a:noFill/>
                    </a:lnT>
                    <a:lnB>
                      <a:noFill/>
                    </a:lnB>
                    <a:lnTlToBr>
                      <a:noFill/>
                    </a:lnTlToBr>
                    <a:lnBlToTr>
                      <a:noFill/>
                    </a:lnBlToTr>
                    <a:noFill/>
                  </a:tcPr>
                </a:tc>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00000"/>
                        </a:lnSpc>
                        <a:buNone/>
                      </a:pPr>
                      <a:r>
                        <a:rPr sz="2560"/>
                        <a:t>Civic </a:t>
                      </a:r>
                      <a:endParaRPr lang="en-US" sz="2560"/>
                    </a:p>
                  </a:txBody>
                  <a:tcPr marL="0" marR="0" marT="0" marB="0" anchor="ctr" anchorCtr="0">
                    <a:lnL>
                      <a:noFill/>
                    </a:lnL>
                    <a:lnR>
                      <a:noFill/>
                    </a:lnR>
                    <a:lnT>
                      <a:noFill/>
                    </a:lnT>
                    <a:lnB>
                      <a:noFill/>
                    </a:lnB>
                    <a:lnTlToBr>
                      <a:noFill/>
                    </a:lnTlToBr>
                    <a:lnBlToTr>
                      <a:noFill/>
                    </a:lnBlToTr>
                    <a:noFill/>
                  </a:tcPr>
                </a:tc>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00000"/>
                        </a:lnSpc>
                        <a:buNone/>
                      </a:pPr>
                      <a:r>
                        <a:rPr sz="2560"/>
                        <a:t>2001 </a:t>
                      </a:r>
                      <a:endParaRPr lang="en-US" sz="2560"/>
                    </a:p>
                  </a:txBody>
                  <a:tcPr marL="0" marR="0" marT="0" marB="0" anchor="ctr" anchorCtr="0">
                    <a:lnL>
                      <a:noFill/>
                    </a:lnL>
                    <a:lnR>
                      <a:noFill/>
                    </a:lnR>
                    <a:lnT>
                      <a:noFill/>
                    </a:lnT>
                    <a:lnB>
                      <a:noFill/>
                    </a:lnB>
                    <a:lnTlToBr>
                      <a:noFill/>
                    </a:lnTlToBr>
                    <a:lnBlToTr>
                      <a:noFill/>
                    </a:lnBlToTr>
                    <a:noFill/>
                  </a:tcPr>
                </a:tc>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00000"/>
                        </a:lnSpc>
                        <a:buNone/>
                      </a:pPr>
                      <a:r>
                        <a:rPr sz="2560"/>
                        <a:t>Red </a:t>
                      </a:r>
                      <a:endParaRPr lang="en-US" sz="2560"/>
                    </a:p>
                  </a:txBody>
                  <a:tcPr marL="0" marR="0" marT="0" marB="0" anchor="ctr" anchorCtr="0">
                    <a:lnL>
                      <a:noFill/>
                    </a:lnL>
                    <a:lnR>
                      <a:noFill/>
                    </a:lnR>
                    <a:lnT>
                      <a:noFill/>
                    </a:lnT>
                    <a:lnB>
                      <a:noFill/>
                    </a:lnB>
                    <a:lnTlToBr>
                      <a:noFill/>
                    </a:lnTlToBr>
                    <a:lnBlToTr>
                      <a:noFill/>
                    </a:lnBlToTr>
                    <a:noFill/>
                  </a:tcPr>
                </a:tc>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00000"/>
                        </a:lnSpc>
                        <a:buNone/>
                      </a:pPr>
                      <a:r>
                        <a:rPr sz="2560"/>
                        <a:t>CA </a:t>
                      </a:r>
                      <a:endParaRPr lang="en-US" sz="2560"/>
                    </a:p>
                  </a:txBody>
                  <a:tcPr marL="0" marR="0" marT="0" marB="0" anchor="ctr" anchorCtr="0">
                    <a:lnL>
                      <a:noFill/>
                    </a:lnL>
                    <a:lnR>
                      <a:noFill/>
                    </a:lnR>
                    <a:lnT>
                      <a:noFill/>
                    </a:lnT>
                    <a:lnB>
                      <a:noFill/>
                    </a:lnB>
                    <a:lnTlToBr>
                      <a:noFill/>
                    </a:lnTlToBr>
                    <a:lnBlToTr>
                      <a:noFill/>
                    </a:lnBlToTr>
                    <a:noFill/>
                  </a:tcPr>
                </a:tc>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00000"/>
                        </a:lnSpc>
                        <a:buNone/>
                      </a:pPr>
                      <a:r>
                        <a:rPr sz="2560"/>
                        <a:t>$17,000 </a:t>
                      </a:r>
                      <a:endParaRPr lang="en-US" sz="2560"/>
                    </a:p>
                  </a:txBody>
                  <a:tcPr marL="0" marR="0" marT="0" marB="0" anchor="ctr" anchorCtr="0">
                    <a:lnL>
                      <a:noFill/>
                    </a:lnL>
                    <a:lnR cap="flat">
                      <a:noFill/>
                    </a:lnR>
                    <a:lnT>
                      <a:noFill/>
                    </a:lnT>
                    <a:lnB>
                      <a:noFill/>
                    </a:lnB>
                    <a:lnTlToBr>
                      <a:noFill/>
                    </a:lnTlToBr>
                    <a:lnBlToTr>
                      <a:noFill/>
                    </a:lnBlToTr>
                    <a:noFill/>
                  </a:tcPr>
                </a:tc>
              </a:tr>
              <a:tr h="412750">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00000"/>
                        </a:lnSpc>
                        <a:buNone/>
                      </a:pPr>
                      <a:r>
                        <a:rPr sz="2560"/>
                        <a:t>7352 </a:t>
                      </a:r>
                      <a:endParaRPr lang="en-US" sz="2560"/>
                    </a:p>
                  </a:txBody>
                  <a:tcPr marL="0" marR="0" marT="0" marB="0" anchor="ctr" anchorCtr="0">
                    <a:lnL cap="flat">
                      <a:noFill/>
                    </a:lnL>
                    <a:lnR>
                      <a:noFill/>
                    </a:lnR>
                    <a:lnT>
                      <a:noFill/>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00000"/>
                        </a:lnSpc>
                        <a:buNone/>
                      </a:pPr>
                      <a:r>
                        <a:rPr sz="2560"/>
                        <a:t>Civic </a:t>
                      </a:r>
                      <a:endParaRPr lang="en-US" sz="2560"/>
                    </a:p>
                  </a:txBody>
                  <a:tcPr marL="0" marR="0" marT="0" marB="0" anchor="ctr" anchorCtr="0">
                    <a:lnL>
                      <a:noFill/>
                    </a:lnL>
                    <a:lnR>
                      <a:noFill/>
                    </a:lnR>
                    <a:lnT>
                      <a:noFill/>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00000"/>
                        </a:lnSpc>
                        <a:buNone/>
                      </a:pPr>
                      <a:r>
                        <a:rPr sz="2560"/>
                        <a:t>2002 </a:t>
                      </a:r>
                      <a:endParaRPr lang="en-US" sz="2560"/>
                    </a:p>
                  </a:txBody>
                  <a:tcPr marL="0" marR="0" marT="0" marB="0" anchor="ctr" anchorCtr="0">
                    <a:lnL>
                      <a:noFill/>
                    </a:lnL>
                    <a:lnR>
                      <a:noFill/>
                    </a:lnR>
                    <a:lnT>
                      <a:noFill/>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00000"/>
                        </a:lnSpc>
                        <a:buNone/>
                      </a:pPr>
                      <a:r>
                        <a:rPr sz="2560"/>
                        <a:t>Red </a:t>
                      </a:r>
                      <a:endParaRPr lang="en-US" sz="2560"/>
                    </a:p>
                  </a:txBody>
                  <a:tcPr marL="0" marR="0" marT="0" marB="0" anchor="ctr" anchorCtr="0">
                    <a:lnL>
                      <a:noFill/>
                    </a:lnL>
                    <a:lnR>
                      <a:noFill/>
                    </a:lnR>
                    <a:lnT>
                      <a:noFill/>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00000"/>
                        </a:lnSpc>
                        <a:buNone/>
                      </a:pPr>
                      <a:r>
                        <a:rPr sz="2560"/>
                        <a:t>WA </a:t>
                      </a:r>
                      <a:endParaRPr lang="en-US" sz="2560"/>
                    </a:p>
                  </a:txBody>
                  <a:tcPr marL="0" marR="0" marT="0" marB="0" anchor="ctr" anchorCtr="0">
                    <a:lnL>
                      <a:noFill/>
                    </a:lnL>
                    <a:lnR>
                      <a:noFill/>
                    </a:lnR>
                    <a:lnT>
                      <a:noFill/>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00000"/>
                        </a:lnSpc>
                        <a:buNone/>
                      </a:pPr>
                      <a:r>
                        <a:rPr sz="2560"/>
                        <a:t>$18,000 </a:t>
                      </a:r>
                      <a:endParaRPr lang="en-US" sz="2560"/>
                    </a:p>
                  </a:txBody>
                  <a:tcPr marL="0" marR="0" marT="0" marB="0" anchor="ctr" anchorCtr="0">
                    <a:lnL>
                      <a:noFill/>
                    </a:lnL>
                    <a:lnR cap="flat">
                      <a:noFill/>
                    </a:lnR>
                    <a:lnT>
                      <a:noFill/>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Title 9217"/>
          <p:cNvSpPr>
            <a:spLocks noGrp="1"/>
          </p:cNvSpPr>
          <p:nvPr>
            <p:ph type="title"/>
          </p:nvPr>
        </p:nvSpPr>
        <p:spPr/>
        <p:txBody>
          <a:bodyPr anchor="ctr" anchorCtr="0"/>
          <a:p>
            <a:r>
              <a:rPr sz="4000"/>
              <a:t>Example: Database Query Processing</a:t>
            </a:r>
            <a:endParaRPr sz="4000"/>
          </a:p>
        </p:txBody>
      </p:sp>
      <p:sp>
        <p:nvSpPr>
          <p:cNvPr id="9219" name="Text Placeholder 9218"/>
          <p:cNvSpPr>
            <a:spLocks noGrp="1"/>
          </p:cNvSpPr>
          <p:nvPr>
            <p:ph type="body" sz="half" idx="1"/>
          </p:nvPr>
        </p:nvSpPr>
        <p:spPr>
          <a:xfrm>
            <a:off x="650240" y="1474330"/>
            <a:ext cx="11487573" cy="1668497"/>
          </a:xfrm>
        </p:spPr>
        <p:txBody>
          <a:bodyPr/>
          <a:p>
            <a:pPr algn="just">
              <a:buClrTx/>
              <a:buSzTx/>
              <a:buFontTx/>
              <a:buNone/>
            </a:pPr>
            <a:r>
              <a:t>The execution of the query can be divided into subtasks in various</a:t>
            </a:r>
          </a:p>
          <a:p>
            <a:pPr algn="just">
              <a:buClrTx/>
              <a:buSzTx/>
              <a:buFontTx/>
              <a:buNone/>
            </a:pPr>
            <a:r>
              <a:t>ways. Each task can be thought of as generating an intermediate</a:t>
            </a:r>
          </a:p>
          <a:p>
            <a:pPr algn="just">
              <a:buClrTx/>
              <a:buSzTx/>
              <a:buFontTx/>
              <a:buNone/>
            </a:pPr>
            <a:r>
              <a:t>table of entries that satisfy a particular clause. </a:t>
            </a:r>
            <a:endParaRPr sz="1705"/>
          </a:p>
        </p:txBody>
      </p:sp>
      <p:sp>
        <p:nvSpPr>
          <p:cNvPr id="9220" name="Text Box 9219"/>
          <p:cNvSpPr txBox="1"/>
          <p:nvPr/>
        </p:nvSpPr>
        <p:spPr>
          <a:xfrm>
            <a:off x="975360" y="8019627"/>
            <a:ext cx="11162453" cy="2284095"/>
          </a:xfrm>
          <a:prstGeom prst="rect">
            <a:avLst/>
          </a:prstGeom>
          <a:noFill/>
          <a:ln w="9525">
            <a:noFill/>
          </a:ln>
        </p:spPr>
        <p:txBody>
          <a:bodyPr>
            <a:spAutoFit/>
          </a:bodyPr>
          <a:p>
            <a:pPr algn="ctr"/>
            <a:r>
              <a:rPr sz="2845"/>
              <a:t>Decomposing the given query into a number of tasks.</a:t>
            </a:r>
            <a:endParaRPr sz="2845"/>
          </a:p>
          <a:p>
            <a:pPr algn="ctr"/>
            <a:r>
              <a:rPr sz="2845"/>
              <a:t>Edges in this graph denote that the output of one task</a:t>
            </a:r>
            <a:endParaRPr sz="2845"/>
          </a:p>
          <a:p>
            <a:pPr algn="ctr"/>
            <a:r>
              <a:rPr sz="2845"/>
              <a:t>is needed to accomplish the next.</a:t>
            </a:r>
            <a:endParaRPr sz="2845"/>
          </a:p>
        </p:txBody>
      </p:sp>
      <p:pic>
        <p:nvPicPr>
          <p:cNvPr id="9221" name="Content Placeholder 9220" descr="query-dag"/>
          <p:cNvPicPr>
            <a:picLocks noGrp="1" noChangeAspect="1"/>
          </p:cNvPicPr>
          <p:nvPr>
            <p:ph sz="half" idx="2"/>
          </p:nvPr>
        </p:nvPicPr>
        <p:blipFill>
          <a:blip r:embed="rId1"/>
          <a:stretch>
            <a:fillRect/>
          </a:stretch>
        </p:blipFill>
        <p:spPr>
          <a:xfrm>
            <a:off x="3034453" y="3359573"/>
            <a:ext cx="7369387" cy="4725530"/>
          </a:xfr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Title 10241"/>
          <p:cNvSpPr>
            <a:spLocks noGrp="1"/>
          </p:cNvSpPr>
          <p:nvPr>
            <p:ph type="title"/>
          </p:nvPr>
        </p:nvSpPr>
        <p:spPr/>
        <p:txBody>
          <a:bodyPr anchor="ctr" anchorCtr="0"/>
          <a:p>
            <a:r>
              <a:rPr sz="4000"/>
              <a:t>Example: Database Query Processing </a:t>
            </a:r>
            <a:endParaRPr sz="4000"/>
          </a:p>
        </p:txBody>
      </p:sp>
      <p:sp>
        <p:nvSpPr>
          <p:cNvPr id="10243" name="Text Placeholder 10242"/>
          <p:cNvSpPr>
            <a:spLocks noGrp="1"/>
          </p:cNvSpPr>
          <p:nvPr>
            <p:ph type="body" sz="half" idx="1"/>
          </p:nvPr>
        </p:nvSpPr>
        <p:spPr>
          <a:xfrm>
            <a:off x="650240" y="1691076"/>
            <a:ext cx="11595947" cy="1300480"/>
          </a:xfrm>
        </p:spPr>
        <p:txBody>
          <a:bodyPr/>
          <a:p>
            <a:pPr algn="just">
              <a:buClrTx/>
              <a:buSzTx/>
              <a:buFontTx/>
              <a:buNone/>
            </a:pPr>
            <a:r>
              <a:t>Note that the same problem can be decomposed into subtasks in other</a:t>
            </a:r>
          </a:p>
          <a:p>
            <a:pPr algn="just">
              <a:buClrTx/>
              <a:buSzTx/>
              <a:buFontTx/>
              <a:buNone/>
            </a:pPr>
            <a:r>
              <a:t>ways as well. </a:t>
            </a:r>
          </a:p>
        </p:txBody>
      </p:sp>
      <p:pic>
        <p:nvPicPr>
          <p:cNvPr id="10244" name="Content Placeholder 10243" descr="query-dag-2"/>
          <p:cNvPicPr>
            <a:picLocks noChangeAspect="1"/>
          </p:cNvPicPr>
          <p:nvPr>
            <p:ph sz="half" idx="2"/>
          </p:nvPr>
        </p:nvPicPr>
        <p:blipFill>
          <a:blip r:embed="rId1"/>
          <a:stretch>
            <a:fillRect/>
          </a:stretch>
        </p:blipFill>
        <p:spPr>
          <a:xfrm>
            <a:off x="3034453" y="2693530"/>
            <a:ext cx="7152640" cy="4350737"/>
          </a:xfrm>
        </p:spPr>
      </p:pic>
      <p:sp>
        <p:nvSpPr>
          <p:cNvPr id="10245" name="Rectangles 10244"/>
          <p:cNvSpPr/>
          <p:nvPr/>
        </p:nvSpPr>
        <p:spPr>
          <a:xfrm>
            <a:off x="167641" y="7144844"/>
            <a:ext cx="12628880" cy="968375"/>
          </a:xfrm>
          <a:prstGeom prst="rect">
            <a:avLst/>
          </a:prstGeom>
          <a:noFill/>
          <a:ln w="9525">
            <a:noFill/>
          </a:ln>
        </p:spPr>
        <p:txBody>
          <a:bodyPr wrap="none" anchor="ctr" anchorCtr="0">
            <a:spAutoFit/>
          </a:bodyPr>
          <a:p>
            <a:pPr algn="ctr"/>
            <a:r>
              <a:rPr sz="2845"/>
              <a:t>An alternate decomposition of the given problem into</a:t>
            </a:r>
            <a:endParaRPr sz="2845"/>
          </a:p>
          <a:p>
            <a:pPr algn="ctr"/>
            <a:r>
              <a:rPr sz="2845"/>
              <a:t>subtasks, along with their data dependencies.</a:t>
            </a:r>
            <a:endParaRPr sz="2845"/>
          </a:p>
        </p:txBody>
      </p:sp>
      <p:sp>
        <p:nvSpPr>
          <p:cNvPr id="10247" name="Rectangles 10246"/>
          <p:cNvSpPr/>
          <p:nvPr/>
        </p:nvSpPr>
        <p:spPr>
          <a:xfrm>
            <a:off x="866987" y="8019627"/>
            <a:ext cx="11595947" cy="1300480"/>
          </a:xfrm>
          <a:prstGeom prst="rect">
            <a:avLst/>
          </a:prstGeom>
          <a:noFill/>
          <a:ln w="9525">
            <a:noFill/>
          </a:ln>
        </p:spPr>
        <p: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lvl="0">
              <a:spcBef>
                <a:spcPct val="50000"/>
              </a:spcBef>
              <a:buNone/>
            </a:pPr>
            <a:r>
              <a:rPr sz="2845"/>
              <a:t>Different task decompositions may lead to significant differences with</a:t>
            </a:r>
            <a:endParaRPr sz="2845"/>
          </a:p>
          <a:p>
            <a:pPr lvl="0">
              <a:spcBef>
                <a:spcPct val="50000"/>
              </a:spcBef>
              <a:buNone/>
            </a:pPr>
            <a:r>
              <a:rPr sz="2845"/>
              <a:t>respect to their eventual parallel performance. </a:t>
            </a:r>
            <a:endParaRPr sz="284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Title 11265"/>
          <p:cNvSpPr>
            <a:spLocks noGrp="1"/>
          </p:cNvSpPr>
          <p:nvPr>
            <p:ph type="title"/>
          </p:nvPr>
        </p:nvSpPr>
        <p:spPr/>
        <p:txBody>
          <a:bodyPr anchor="ctr" anchorCtr="0"/>
          <a:p>
            <a:r>
              <a:rPr sz="4000"/>
              <a:t>Granularity of Task Decompositions </a:t>
            </a:r>
            <a:endParaRPr sz="4000"/>
          </a:p>
        </p:txBody>
      </p:sp>
      <p:sp>
        <p:nvSpPr>
          <p:cNvPr id="11267" name="Text Placeholder 11266"/>
          <p:cNvSpPr>
            <a:spLocks noGrp="1"/>
          </p:cNvSpPr>
          <p:nvPr>
            <p:ph type="body" sz="half" idx="1"/>
          </p:nvPr>
        </p:nvSpPr>
        <p:spPr>
          <a:xfrm>
            <a:off x="650240" y="1474330"/>
            <a:ext cx="11704320" cy="2492587"/>
          </a:xfrm>
        </p:spPr>
        <p:txBody>
          <a:bodyPr/>
          <a:p>
            <a:pPr>
              <a:lnSpc>
                <a:spcPct val="100000"/>
              </a:lnSpc>
              <a:buClrTx/>
              <a:buSzTx/>
              <a:buFontTx/>
            </a:pPr>
            <a:r>
              <a:t>The number of tasks into which a problem is decomposed determines its granularity. </a:t>
            </a:r>
          </a:p>
          <a:p>
            <a:pPr>
              <a:lnSpc>
                <a:spcPct val="100000"/>
              </a:lnSpc>
              <a:buClrTx/>
              <a:buSzTx/>
              <a:buFontTx/>
            </a:pPr>
            <a:r>
              <a:t>Decomposition into a large number of tasks results in fine-grained decomposition and that into a small number of tasks results in a coarse grained decomposition. </a:t>
            </a:r>
          </a:p>
        </p:txBody>
      </p:sp>
      <p:pic>
        <p:nvPicPr>
          <p:cNvPr id="11268" name="Content Placeholder 11267" descr="dmv2"/>
          <p:cNvPicPr>
            <a:picLocks noGrp="1" noChangeAspect="1"/>
          </p:cNvPicPr>
          <p:nvPr>
            <p:ph sz="half" idx="2"/>
          </p:nvPr>
        </p:nvPicPr>
        <p:blipFill>
          <a:blip r:embed="rId1"/>
          <a:stretch>
            <a:fillRect/>
          </a:stretch>
        </p:blipFill>
        <p:spPr>
          <a:xfrm>
            <a:off x="3467947" y="4156570"/>
            <a:ext cx="4967111" cy="3330222"/>
          </a:xfrm>
        </p:spPr>
      </p:pic>
      <p:sp>
        <p:nvSpPr>
          <p:cNvPr id="11269" name="Rectangles 11268"/>
          <p:cNvSpPr/>
          <p:nvPr/>
        </p:nvSpPr>
        <p:spPr>
          <a:xfrm>
            <a:off x="866987" y="7706043"/>
            <a:ext cx="11270827" cy="1494155"/>
          </a:xfrm>
          <a:prstGeom prst="rect">
            <a:avLst/>
          </a:prstGeom>
          <a:noFill/>
          <a:ln w="9525">
            <a:noFill/>
          </a:ln>
        </p:spPr>
        <p:txBody>
          <a:bodyPr anchor="ctr" anchorCtr="0">
            <a:spAutoFit/>
          </a:bodyPr>
          <a:p>
            <a:r>
              <a:rPr sz="2275"/>
              <a:t>	A coarse grained counterpart to the dense matrix-vector product example. Each task in this example corresponds to the computation of three elements of the result vector. </a:t>
            </a:r>
            <a:endParaRPr sz="2275"/>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Title 12289"/>
          <p:cNvSpPr>
            <a:spLocks noGrp="1"/>
          </p:cNvSpPr>
          <p:nvPr>
            <p:ph type="title"/>
          </p:nvPr>
        </p:nvSpPr>
        <p:spPr/>
        <p:txBody>
          <a:bodyPr anchor="ctr" anchorCtr="0"/>
          <a:p>
            <a:r>
              <a:rPr sz="4800"/>
              <a:t>Degree of Concurrency </a:t>
            </a:r>
            <a:endParaRPr sz="4800"/>
          </a:p>
        </p:txBody>
      </p:sp>
      <p:sp>
        <p:nvSpPr>
          <p:cNvPr id="12291" name="Text Placeholder 12290"/>
          <p:cNvSpPr>
            <a:spLocks noGrp="1"/>
          </p:cNvSpPr>
          <p:nvPr>
            <p:ph type="body" idx="1"/>
          </p:nvPr>
        </p:nvSpPr>
        <p:spPr/>
        <p:txBody>
          <a:bodyPr/>
          <a:p>
            <a:pPr>
              <a:lnSpc>
                <a:spcPct val="90000"/>
              </a:lnSpc>
            </a:pPr>
            <a:r>
              <a:t>The number of tasks that can be executed in parallel is the </a:t>
            </a:r>
            <a:r>
              <a:rPr i="1"/>
              <a:t>degree of concurrency</a:t>
            </a:r>
            <a:r>
              <a:t> of a decomposition. </a:t>
            </a:r>
          </a:p>
          <a:p>
            <a:pPr>
              <a:lnSpc>
                <a:spcPct val="90000"/>
              </a:lnSpc>
            </a:pPr>
            <a:r>
              <a:t>Since the number of tasks that can be executed in parallel may change over program execution, the </a:t>
            </a:r>
            <a:r>
              <a:rPr i="1"/>
              <a:t>maximum degree of concurrency</a:t>
            </a:r>
            <a:r>
              <a:t> is the maximum number of such tasks at any point during execution. </a:t>
            </a:r>
            <a:r>
              <a:rPr i="1"/>
              <a:t>What is the maximum degree of concurrency of the database query examples?</a:t>
            </a:r>
            <a:r>
              <a:t> </a:t>
            </a:r>
          </a:p>
          <a:p>
            <a:pPr>
              <a:lnSpc>
                <a:spcPct val="90000"/>
              </a:lnSpc>
            </a:pPr>
            <a:r>
              <a:t>The </a:t>
            </a:r>
            <a:r>
              <a:rPr i="1"/>
              <a:t>average degree of concurrency</a:t>
            </a:r>
            <a:r>
              <a:t> is the average number of tasks that can be processed in parallel over the execution of the program. </a:t>
            </a:r>
            <a:r>
              <a:rPr i="1"/>
              <a:t>Assuming that each tasks in the database example takes identical processing time, what is the average degree of concurrency in each decomposition?</a:t>
            </a:r>
            <a:r>
              <a:t> </a:t>
            </a:r>
          </a:p>
          <a:p>
            <a:pPr>
              <a:lnSpc>
                <a:spcPct val="90000"/>
              </a:lnSpc>
            </a:pPr>
            <a:r>
              <a:t>The degree of concurrency increases as the decomposition becomes finer in granularity and vice versa. </a:t>
            </a:r>
          </a:p>
          <a:p>
            <a:pPr>
              <a:lnSpc>
                <a:spcPct val="90000"/>
              </a:lnSpc>
              <a:buNone/>
            </a:p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Title 13313"/>
          <p:cNvSpPr>
            <a:spLocks noGrp="1"/>
          </p:cNvSpPr>
          <p:nvPr>
            <p:ph type="title"/>
          </p:nvPr>
        </p:nvSpPr>
        <p:spPr/>
        <p:txBody>
          <a:bodyPr anchor="ctr" anchorCtr="0"/>
          <a:p>
            <a:r>
              <a:t>Critical Path Length </a:t>
            </a:r>
          </a:p>
        </p:txBody>
      </p:sp>
      <p:sp>
        <p:nvSpPr>
          <p:cNvPr id="13315" name="Text Placeholder 13314"/>
          <p:cNvSpPr>
            <a:spLocks noGrp="1"/>
          </p:cNvSpPr>
          <p:nvPr>
            <p:ph type="body" idx="1"/>
          </p:nvPr>
        </p:nvSpPr>
        <p:spPr/>
        <p:txBody>
          <a:bodyPr/>
          <a:p>
            <a:r>
              <a:t>A directed path in the task dependency graph represents a sequence of tasks that must be processed one after the other. </a:t>
            </a:r>
          </a:p>
          <a:p>
            <a:r>
              <a:t>The longest such path determines the shortest time in which the program can be executed in parallel. </a:t>
            </a:r>
          </a:p>
          <a:p>
            <a:r>
              <a:t>The length of the longest path in a task dependency graph is called the critical path length. </a:t>
            </a:r>
          </a:p>
          <a:p>
            <a:pPr>
              <a:buNone/>
            </a:p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Title 14337"/>
          <p:cNvSpPr>
            <a:spLocks noGrp="1"/>
          </p:cNvSpPr>
          <p:nvPr>
            <p:ph type="title"/>
          </p:nvPr>
        </p:nvSpPr>
        <p:spPr/>
        <p:txBody>
          <a:bodyPr anchor="ctr" anchorCtr="0"/>
          <a:p>
            <a:r>
              <a:t>Critical Path Length </a:t>
            </a:r>
          </a:p>
        </p:txBody>
      </p:sp>
      <p:sp>
        <p:nvSpPr>
          <p:cNvPr id="14339" name="Text Placeholder 14338"/>
          <p:cNvSpPr>
            <a:spLocks noGrp="1"/>
          </p:cNvSpPr>
          <p:nvPr>
            <p:ph type="body" sz="half" idx="1"/>
          </p:nvPr>
        </p:nvSpPr>
        <p:spPr>
          <a:xfrm>
            <a:off x="650240" y="1474330"/>
            <a:ext cx="11162453" cy="1192107"/>
          </a:xfrm>
        </p:spPr>
        <p:txBody>
          <a:bodyPr/>
          <a:p>
            <a:pPr>
              <a:buClrTx/>
              <a:buSzTx/>
              <a:buFontTx/>
              <a:buNone/>
            </a:pPr>
            <a:r>
              <a:t>Consider the task dependency graphs of the two database query</a:t>
            </a:r>
          </a:p>
          <a:p>
            <a:pPr>
              <a:buClrTx/>
              <a:buSzTx/>
              <a:buFontTx/>
              <a:buNone/>
            </a:pPr>
            <a:r>
              <a:t>decompositions: </a:t>
            </a:r>
          </a:p>
        </p:txBody>
      </p:sp>
      <p:pic>
        <p:nvPicPr>
          <p:cNvPr id="14340" name="Content Placeholder 14339" descr="tgex1"/>
          <p:cNvPicPr>
            <a:picLocks noChangeAspect="1"/>
          </p:cNvPicPr>
          <p:nvPr>
            <p:ph sz="half" idx="2"/>
          </p:nvPr>
        </p:nvPicPr>
        <p:blipFill>
          <a:blip r:embed="rId1"/>
          <a:stretch>
            <a:fillRect/>
          </a:stretch>
        </p:blipFill>
        <p:spPr>
          <a:xfrm>
            <a:off x="1733973" y="2883183"/>
            <a:ext cx="9536853" cy="3793067"/>
          </a:xfrm>
        </p:spPr>
      </p:pic>
      <p:sp>
        <p:nvSpPr>
          <p:cNvPr id="14342" name="Rectangles 14341"/>
          <p:cNvSpPr/>
          <p:nvPr/>
        </p:nvSpPr>
        <p:spPr>
          <a:xfrm>
            <a:off x="866987" y="6827520"/>
            <a:ext cx="11162453" cy="2275840"/>
          </a:xfrm>
          <a:prstGeom prst="rect">
            <a:avLst/>
          </a:prstGeom>
          <a:noFill/>
          <a:ln w="9525">
            <a:noFill/>
          </a:ln>
        </p:spPr>
        <p: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lvl="0">
              <a:buNone/>
            </a:pPr>
            <a:r>
              <a:rPr sz="2560"/>
              <a:t>	What are the critical path lengths for the two task dependency graphs?</a:t>
            </a:r>
            <a:endParaRPr sz="2560"/>
          </a:p>
          <a:p>
            <a:pPr lvl="0">
              <a:buNone/>
            </a:pPr>
            <a:r>
              <a:rPr sz="2560"/>
              <a:t>If each task takes 10 time units, what is the shortest parallel execution time</a:t>
            </a:r>
            <a:endParaRPr sz="2560"/>
          </a:p>
          <a:p>
            <a:pPr lvl="0">
              <a:buNone/>
            </a:pPr>
            <a:r>
              <a:rPr sz="2560"/>
              <a:t>for each decomposition? How many processors are needed in each case to</a:t>
            </a:r>
            <a:endParaRPr sz="2560"/>
          </a:p>
          <a:p>
            <a:pPr lvl="0">
              <a:buNone/>
            </a:pPr>
            <a:r>
              <a:rPr sz="2560"/>
              <a:t>achieve this minimum parallel execution time? What is the maximum</a:t>
            </a:r>
            <a:endParaRPr sz="2560"/>
          </a:p>
          <a:p>
            <a:pPr lvl="0">
              <a:buNone/>
            </a:pPr>
            <a:r>
              <a:rPr sz="2560"/>
              <a:t>degree of concurrency? </a:t>
            </a:r>
            <a:endParaRPr sz="256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Title 15361"/>
          <p:cNvSpPr>
            <a:spLocks noGrp="1"/>
          </p:cNvSpPr>
          <p:nvPr>
            <p:ph type="title"/>
          </p:nvPr>
        </p:nvSpPr>
        <p:spPr/>
        <p:txBody>
          <a:bodyPr anchor="ctr" anchorCtr="0"/>
          <a:p>
            <a:r>
              <a:rPr sz="4800"/>
              <a:t>Limits on Parallel Performance </a:t>
            </a:r>
            <a:endParaRPr sz="4800"/>
          </a:p>
        </p:txBody>
      </p:sp>
      <p:sp>
        <p:nvSpPr>
          <p:cNvPr id="15363" name="Text Placeholder 15362"/>
          <p:cNvSpPr>
            <a:spLocks noGrp="1"/>
          </p:cNvSpPr>
          <p:nvPr>
            <p:ph type="body" idx="1"/>
          </p:nvPr>
        </p:nvSpPr>
        <p:spPr/>
        <p:txBody>
          <a:bodyPr/>
          <a:p>
            <a:pPr>
              <a:lnSpc>
                <a:spcPct val="90000"/>
              </a:lnSpc>
            </a:pPr>
            <a:r>
              <a:t>It would appear that the parallel time can be made arbitrarily small by making the decomposition finer in granularity. </a:t>
            </a:r>
          </a:p>
          <a:p>
            <a:pPr>
              <a:lnSpc>
                <a:spcPct val="90000"/>
              </a:lnSpc>
            </a:pPr>
            <a:r>
              <a:t>There is an inherent bound on how fine the granularity of a computation can be. </a:t>
            </a:r>
            <a:r>
              <a:rPr i="1"/>
              <a:t>For example, in the case of multiplying a dense matrix with a vector, there can be no more than </a:t>
            </a:r>
            <a:r>
              <a:rPr b="1" i="1"/>
              <a:t>(n</a:t>
            </a:r>
            <a:r>
              <a:rPr b="1" i="1" baseline="30000"/>
              <a:t>2</a:t>
            </a:r>
            <a:r>
              <a:rPr b="1" i="1"/>
              <a:t>)</a:t>
            </a:r>
            <a:r>
              <a:rPr i="1"/>
              <a:t> concurrent tasks.</a:t>
            </a:r>
            <a:r>
              <a:t> </a:t>
            </a:r>
          </a:p>
          <a:p>
            <a:pPr>
              <a:lnSpc>
                <a:spcPct val="90000"/>
              </a:lnSpc>
            </a:pPr>
            <a:r>
              <a:t>Concurrent tasks may also have to exchange data with other tasks. This results in communication overhead. The tradeoff between the granularity of a decomposition and associated overheads often determines performance bounds. </a:t>
            </a:r>
          </a:p>
          <a:p>
            <a:pPr>
              <a:lnSpc>
                <a:spcPct val="90000"/>
              </a:lnSpc>
              <a:buNone/>
            </a:p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Title 16385"/>
          <p:cNvSpPr>
            <a:spLocks noGrp="1"/>
          </p:cNvSpPr>
          <p:nvPr>
            <p:ph type="title"/>
          </p:nvPr>
        </p:nvSpPr>
        <p:spPr/>
        <p:txBody>
          <a:bodyPr anchor="ctr" anchorCtr="0"/>
          <a:p>
            <a:r>
              <a:t>Task Interaction Graphs </a:t>
            </a:r>
          </a:p>
        </p:txBody>
      </p:sp>
      <p:sp>
        <p:nvSpPr>
          <p:cNvPr id="16387" name="Text Placeholder 16386"/>
          <p:cNvSpPr>
            <a:spLocks noGrp="1"/>
          </p:cNvSpPr>
          <p:nvPr>
            <p:ph type="body" idx="1"/>
          </p:nvPr>
        </p:nvSpPr>
        <p:spPr/>
        <p:txBody>
          <a:bodyPr/>
          <a:p>
            <a:r>
              <a:t>Subtasks generally exchange data with others in a decomposition. For example, even in the trivial decomposition of the dense matrix-vector product, if the vector is not replicated across all tasks, they will have to communicate elements of the vector. </a:t>
            </a:r>
          </a:p>
          <a:p>
            <a:r>
              <a:t>The graph of tasks (nodes) and their interactions/data exchange (edges) is referred to as a </a:t>
            </a:r>
            <a:r>
              <a:rPr i="1"/>
              <a:t>task interaction graph</a:t>
            </a:r>
            <a:r>
              <a:t>. </a:t>
            </a:r>
          </a:p>
          <a:p>
            <a:r>
              <a:t>Note that </a:t>
            </a:r>
            <a:r>
              <a:rPr i="1"/>
              <a:t>task interaction graphs</a:t>
            </a:r>
            <a:r>
              <a:t> represent data dependencies, whereas </a:t>
            </a:r>
            <a:r>
              <a:rPr i="1"/>
              <a:t>task dependency graphs</a:t>
            </a:r>
            <a:r>
              <a:t> represent control dependencies. </a:t>
            </a:r>
          </a:p>
          <a:p>
            <a:pPr>
              <a:buNone/>
            </a:p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Title 17409"/>
          <p:cNvSpPr>
            <a:spLocks noGrp="1"/>
          </p:cNvSpPr>
          <p:nvPr>
            <p:ph type="title"/>
          </p:nvPr>
        </p:nvSpPr>
        <p:spPr/>
        <p:txBody>
          <a:bodyPr anchor="ctr" anchorCtr="0"/>
          <a:p>
            <a:r>
              <a:rPr sz="4000"/>
              <a:t>Task Interaction Graphs: An Example </a:t>
            </a:r>
            <a:endParaRPr sz="4000"/>
          </a:p>
        </p:txBody>
      </p:sp>
      <p:sp>
        <p:nvSpPr>
          <p:cNvPr id="17411" name="Text Placeholder 17410"/>
          <p:cNvSpPr>
            <a:spLocks noGrp="1"/>
          </p:cNvSpPr>
          <p:nvPr>
            <p:ph type="body" sz="half" idx="1"/>
          </p:nvPr>
        </p:nvSpPr>
        <p:spPr>
          <a:xfrm>
            <a:off x="650240" y="1474330"/>
            <a:ext cx="11704320" cy="1126630"/>
          </a:xfrm>
        </p:spPr>
        <p:txBody>
          <a:bodyPr/>
          <a:p>
            <a:pPr>
              <a:buClrTx/>
              <a:buSzTx/>
              <a:buFontTx/>
              <a:buNone/>
            </a:pPr>
            <a:r>
              <a:t>		Consider the problem of multiplying a sparse matrix </a:t>
            </a:r>
            <a:r>
              <a:rPr b="1" i="1"/>
              <a:t>A</a:t>
            </a:r>
            <a:r>
              <a:t> with a vector </a:t>
            </a:r>
            <a:r>
              <a:rPr b="1" i="1"/>
              <a:t>b</a:t>
            </a:r>
            <a:r>
              <a:rPr i="1"/>
              <a:t>. </a:t>
            </a:r>
            <a:r>
              <a:t>The following observations can be made:</a:t>
            </a:r>
          </a:p>
        </p:txBody>
      </p:sp>
      <p:pic>
        <p:nvPicPr>
          <p:cNvPr id="17412" name="Content Placeholder 17411" descr="sparse-matvec1"/>
          <p:cNvPicPr>
            <a:picLocks noChangeAspect="1"/>
          </p:cNvPicPr>
          <p:nvPr>
            <p:ph sz="half" idx="2"/>
          </p:nvPr>
        </p:nvPicPr>
        <p:blipFill>
          <a:blip r:embed="rId1"/>
          <a:stretch>
            <a:fillRect/>
          </a:stretch>
        </p:blipFill>
        <p:spPr>
          <a:xfrm>
            <a:off x="2167467" y="5960533"/>
            <a:ext cx="8453120" cy="3359573"/>
          </a:xfrm>
        </p:spPr>
      </p:pic>
      <p:sp>
        <p:nvSpPr>
          <p:cNvPr id="17413" name="Text Box 17412"/>
          <p:cNvSpPr txBox="1"/>
          <p:nvPr/>
        </p:nvSpPr>
        <p:spPr>
          <a:xfrm>
            <a:off x="866987" y="3142827"/>
            <a:ext cx="4876800" cy="441960"/>
          </a:xfrm>
          <a:prstGeom prst="rect">
            <a:avLst/>
          </a:prstGeom>
          <a:noFill/>
          <a:ln w="9525">
            <a:noFill/>
          </a:ln>
        </p:spPr>
        <p:txBody>
          <a:bodyPr>
            <a:spAutoFit/>
          </a:bodyPr>
          <a:p>
            <a:pPr>
              <a:spcBef>
                <a:spcPct val="50000"/>
              </a:spcBef>
            </a:pPr>
            <a:endParaRPr sz="2275"/>
          </a:p>
        </p:txBody>
      </p:sp>
      <p:sp>
        <p:nvSpPr>
          <p:cNvPr id="17414" name="Rectangles 17413"/>
          <p:cNvSpPr/>
          <p:nvPr/>
        </p:nvSpPr>
        <p:spPr>
          <a:xfrm>
            <a:off x="650240" y="2600960"/>
            <a:ext cx="11704320" cy="3294098"/>
          </a:xfrm>
          <a:prstGeom prst="rect">
            <a:avLst/>
          </a:prstGeom>
          <a:noFill/>
          <a:ln w="9525">
            <a:noFill/>
          </a:ln>
        </p:spPr>
        <p: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lvl="0"/>
            <a:r>
              <a:rPr sz="2560"/>
              <a:t>As before, the computation of each element of the result vector can be viewed as an independent task. </a:t>
            </a:r>
            <a:endParaRPr sz="2560"/>
          </a:p>
          <a:p>
            <a:pPr lvl="0"/>
            <a:r>
              <a:rPr sz="2560"/>
              <a:t>Unlike a dense matrix-vector product though, only non-zero elements of matrix </a:t>
            </a:r>
            <a:r>
              <a:rPr sz="2560" b="1" i="1"/>
              <a:t>A</a:t>
            </a:r>
            <a:r>
              <a:rPr sz="2560"/>
              <a:t> participate in the computation. </a:t>
            </a:r>
            <a:endParaRPr sz="2560"/>
          </a:p>
          <a:p>
            <a:pPr lvl="0"/>
            <a:r>
              <a:rPr sz="2560"/>
              <a:t>If, for memory optimality, we also partition </a:t>
            </a:r>
            <a:r>
              <a:rPr sz="2560" b="1" i="1"/>
              <a:t>b</a:t>
            </a:r>
            <a:r>
              <a:rPr sz="2560"/>
              <a:t> across tasks, then one can see that the task interaction graph of the computation is identical to the graph of the matrix </a:t>
            </a:r>
            <a:r>
              <a:rPr sz="2560" b="1" i="1"/>
              <a:t>A</a:t>
            </a:r>
            <a:r>
              <a:rPr sz="2560"/>
              <a:t> (the graph for which </a:t>
            </a:r>
            <a:r>
              <a:rPr sz="2560" b="1" i="1"/>
              <a:t>A</a:t>
            </a:r>
            <a:r>
              <a:rPr sz="2560"/>
              <a:t> represents the adjacency structure). </a:t>
            </a:r>
            <a:endParaRPr sz="256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Title 18433"/>
          <p:cNvSpPr>
            <a:spLocks noGrp="1"/>
          </p:cNvSpPr>
          <p:nvPr>
            <p:ph type="title"/>
          </p:nvPr>
        </p:nvSpPr>
        <p:spPr/>
        <p:txBody>
          <a:bodyPr anchor="ctr" anchorCtr="0"/>
          <a:p>
            <a:r>
              <a:rPr sz="2400"/>
              <a:t>Task Interaction Graphs, Granularity, and Communication </a:t>
            </a:r>
            <a:endParaRPr sz="2400"/>
          </a:p>
        </p:txBody>
      </p:sp>
      <p:sp>
        <p:nvSpPr>
          <p:cNvPr id="18435" name="Text Placeholder 18434"/>
          <p:cNvSpPr>
            <a:spLocks noGrp="1"/>
          </p:cNvSpPr>
          <p:nvPr>
            <p:ph type="body" idx="1"/>
          </p:nvPr>
        </p:nvSpPr>
        <p:spPr/>
        <p:txBody>
          <a:bodyPr/>
          <a:p>
            <a:pPr>
              <a:buNone/>
            </a:pPr>
            <a:r>
              <a:t>		In general, if the granularity of a decomposition is finer, the associated overhead (as a ratio of useful work </a:t>
            </a:r>
            <a:r>
              <a:rPr dirty="0" err="1"/>
              <a:t>assocaited</a:t>
            </a:r>
            <a:r>
              <a:t> with a task) increases. </a:t>
            </a:r>
          </a:p>
          <a:p>
            <a:pPr>
              <a:buNone/>
            </a:pPr>
            <a:r>
              <a:rPr b="1"/>
              <a:t>	Example:</a:t>
            </a:r>
            <a:r>
              <a:t> Consider the sparse matrix-vector product example from previous foil. Assume that each node takes unit time to process and each interaction (edge) causes an overhead of a unit time. </a:t>
            </a:r>
          </a:p>
          <a:p>
            <a:pPr>
              <a:buNone/>
            </a:pPr>
            <a:r>
              <a:t>		Viewing node 0 as an independent task involves a useful computation of one time unit and overhead (communication) of three time units. </a:t>
            </a:r>
          </a:p>
          <a:p>
            <a:pPr>
              <a:buNone/>
            </a:pPr>
            <a:r>
              <a:t>		Now, if we consider nodes 0, 4, and 5 as one task, then the task has useful computation totaling to three time units and communication corresponding to four time units (four edges). Clearly, this is a more favorable ratio than the former case. </a:t>
            </a:r>
          </a:p>
          <a:p>
            <a:pPr>
              <a:buNone/>
            </a:p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Title 19457"/>
          <p:cNvSpPr>
            <a:spLocks noGrp="1"/>
          </p:cNvSpPr>
          <p:nvPr>
            <p:ph type="title"/>
          </p:nvPr>
        </p:nvSpPr>
        <p:spPr/>
        <p:txBody>
          <a:bodyPr anchor="ctr" anchorCtr="0"/>
          <a:p>
            <a:r>
              <a:t>Processes and Mapping </a:t>
            </a:r>
          </a:p>
        </p:txBody>
      </p:sp>
      <p:sp>
        <p:nvSpPr>
          <p:cNvPr id="19459" name="Text Placeholder 19458"/>
          <p:cNvSpPr>
            <a:spLocks noGrp="1"/>
          </p:cNvSpPr>
          <p:nvPr>
            <p:ph type="body" idx="1"/>
          </p:nvPr>
        </p:nvSpPr>
        <p:spPr>
          <a:xfrm>
            <a:off x="650240" y="1474330"/>
            <a:ext cx="11812693" cy="6978790"/>
          </a:xfrm>
        </p:spPr>
        <p:txBody>
          <a:bodyPr/>
          <a:p>
            <a:pPr>
              <a:lnSpc>
                <a:spcPct val="90000"/>
              </a:lnSpc>
            </a:pPr>
            <a:r>
              <a:t>In general, the number of tasks in a decomposition exceeds the number of processing elements available. </a:t>
            </a:r>
          </a:p>
          <a:p>
            <a:pPr>
              <a:lnSpc>
                <a:spcPct val="90000"/>
              </a:lnSpc>
            </a:pPr>
          </a:p>
          <a:p>
            <a:pPr>
              <a:lnSpc>
                <a:spcPct val="90000"/>
              </a:lnSpc>
            </a:pPr>
            <a:r>
              <a:t>For this reason, a parallel algorithm must also provide a mapping of tasks to processes. </a:t>
            </a:r>
          </a:p>
          <a:p>
            <a:pPr>
              <a:lnSpc>
                <a:spcPct val="90000"/>
              </a:lnSpc>
            </a:pPr>
          </a:p>
          <a:p>
            <a:pPr algn="just">
              <a:lnSpc>
                <a:spcPct val="90000"/>
              </a:lnSpc>
              <a:buNone/>
            </a:pPr>
            <a:r>
              <a:rPr sz="2560" b="1"/>
              <a:t>	Note:</a:t>
            </a:r>
            <a:r>
              <a:rPr sz="2560"/>
              <a:t> We refer to the mapping as being from tasks to processes, as opposed to processors. This is because typical programming APIs, as we shall see, do not allow easy binding of tasks to physical processors. Rather, we aggregate tasks into processes and rely on the system to map these processes to physical processors. We use processes, not in the UNIX sense of a process, rather, simply as a collection of tasks and associated data.  </a:t>
            </a:r>
            <a:endParaRPr sz="256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Title 20481"/>
          <p:cNvSpPr>
            <a:spLocks noGrp="1"/>
          </p:cNvSpPr>
          <p:nvPr>
            <p:ph type="title"/>
          </p:nvPr>
        </p:nvSpPr>
        <p:spPr/>
        <p:txBody>
          <a:bodyPr anchor="ctr" anchorCtr="0"/>
          <a:p>
            <a:r>
              <a:t>Processes and Mapping </a:t>
            </a:r>
          </a:p>
        </p:txBody>
      </p:sp>
      <p:sp>
        <p:nvSpPr>
          <p:cNvPr id="20483" name="Text Placeholder 20482"/>
          <p:cNvSpPr>
            <a:spLocks noGrp="1"/>
          </p:cNvSpPr>
          <p:nvPr>
            <p:ph type="body" idx="1"/>
          </p:nvPr>
        </p:nvSpPr>
        <p:spPr/>
        <p:txBody>
          <a:bodyPr/>
          <a:p>
            <a:r>
              <a:t>Appropriate mapping of tasks to processes is critical to the parallel performance of an algorithm. </a:t>
            </a:r>
          </a:p>
          <a:p>
            <a:r>
              <a:t>Mappings are determined by both the task dependency and task interaction graphs. </a:t>
            </a:r>
          </a:p>
          <a:p>
            <a:r>
              <a:t>Task dependency graphs can be used to ensure that work is equally spread across all processes at any point (minimum idling and optimal load balance). </a:t>
            </a:r>
          </a:p>
          <a:p>
            <a:r>
              <a:t>Task interaction graphs can be used to make sure that processes need minimum interaction with other processes (minimum communication). </a:t>
            </a:r>
          </a:p>
          <a:p>
            <a:pPr>
              <a:buNone/>
            </a:p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Title 21505"/>
          <p:cNvSpPr>
            <a:spLocks noGrp="1"/>
          </p:cNvSpPr>
          <p:nvPr>
            <p:ph type="title"/>
          </p:nvPr>
        </p:nvSpPr>
        <p:spPr/>
        <p:txBody>
          <a:bodyPr anchor="ctr" anchorCtr="0"/>
          <a:p>
            <a:r>
              <a:t>Processes and Mapping </a:t>
            </a:r>
          </a:p>
        </p:txBody>
      </p:sp>
      <p:sp>
        <p:nvSpPr>
          <p:cNvPr id="21507" name="Text Placeholder 21506"/>
          <p:cNvSpPr>
            <a:spLocks noGrp="1"/>
          </p:cNvSpPr>
          <p:nvPr>
            <p:ph type="body" idx="1"/>
          </p:nvPr>
        </p:nvSpPr>
        <p:spPr/>
        <p:txBody>
          <a:bodyPr/>
          <a:p>
            <a:pPr>
              <a:lnSpc>
                <a:spcPct val="90000"/>
              </a:lnSpc>
              <a:buNone/>
            </a:pPr>
            <a:r>
              <a:t>An appropriate mapping must minimize parallel execution time by: </a:t>
            </a:r>
          </a:p>
          <a:p>
            <a:pPr>
              <a:lnSpc>
                <a:spcPct val="90000"/>
              </a:lnSpc>
              <a:buNone/>
            </a:pPr>
          </a:p>
          <a:p>
            <a:pPr>
              <a:lnSpc>
                <a:spcPct val="90000"/>
              </a:lnSpc>
            </a:pPr>
            <a:r>
              <a:t>Mapping independent tasks to different processes. </a:t>
            </a:r>
          </a:p>
          <a:p>
            <a:pPr>
              <a:lnSpc>
                <a:spcPct val="90000"/>
              </a:lnSpc>
            </a:pPr>
          </a:p>
          <a:p>
            <a:pPr>
              <a:lnSpc>
                <a:spcPct val="90000"/>
              </a:lnSpc>
            </a:pPr>
            <a:r>
              <a:t>Assigning tasks on critical path to processes as soon as they become available. </a:t>
            </a:r>
          </a:p>
          <a:p>
            <a:pPr>
              <a:lnSpc>
                <a:spcPct val="90000"/>
              </a:lnSpc>
            </a:pPr>
          </a:p>
          <a:p>
            <a:pPr>
              <a:lnSpc>
                <a:spcPct val="90000"/>
              </a:lnSpc>
            </a:pPr>
            <a:r>
              <a:t>Minimizing interaction between processes by mapping tasks with dense interactions to the same process. </a:t>
            </a:r>
          </a:p>
          <a:p>
            <a:pPr>
              <a:lnSpc>
                <a:spcPct val="90000"/>
              </a:lnSpc>
            </a:pPr>
          </a:p>
          <a:p>
            <a:pPr algn="just">
              <a:lnSpc>
                <a:spcPct val="90000"/>
              </a:lnSpc>
              <a:buNone/>
            </a:pPr>
            <a:r>
              <a:rPr b="1"/>
              <a:t>	Note:</a:t>
            </a:r>
            <a:r>
              <a:t> These criteria often conflict </a:t>
            </a:r>
            <a:r>
              <a:rPr dirty="0" err="1"/>
              <a:t>eith</a:t>
            </a:r>
            <a:r>
              <a:t> each other. For example, a decomposition into one task (or no decomposition at all) minimizes interaction but does not result in a speedup at all! Can you think of other such conflicting cases?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Title 22529"/>
          <p:cNvSpPr>
            <a:spLocks noGrp="1"/>
          </p:cNvSpPr>
          <p:nvPr>
            <p:ph type="title"/>
          </p:nvPr>
        </p:nvSpPr>
        <p:spPr/>
        <p:txBody>
          <a:bodyPr anchor="ctr" anchorCtr="0"/>
          <a:p>
            <a:r>
              <a:t>Processes and Mapping: Example </a:t>
            </a:r>
          </a:p>
        </p:txBody>
      </p:sp>
      <p:sp>
        <p:nvSpPr>
          <p:cNvPr id="22536" name="Text Placeholder 22535"/>
          <p:cNvSpPr>
            <a:spLocks noGrp="1"/>
          </p:cNvSpPr>
          <p:nvPr>
            <p:ph type="body" sz="half" idx="2"/>
          </p:nvPr>
        </p:nvSpPr>
        <p:spPr>
          <a:xfrm>
            <a:off x="650240" y="5946987"/>
            <a:ext cx="11704320" cy="2939627"/>
          </a:xfrm>
        </p:spPr>
        <p:txBody>
          <a:bodyPr/>
          <a:p>
            <a:pPr algn="just">
              <a:buClrTx/>
              <a:buSzTx/>
              <a:buFontTx/>
              <a:buNone/>
            </a:pPr>
            <a:r>
              <a:t>		Mapping tasks in the database query decomposition to processes. These mappings were arrived at by viewing the dependency graph in terms of levels (no two nodes in a level have dependencies). Tasks within a single level are then assigned to different processes. </a:t>
            </a:r>
          </a:p>
        </p:txBody>
      </p:sp>
      <p:pic>
        <p:nvPicPr>
          <p:cNvPr id="22537" name="Content Placeholder 22536" descr="tgex2"/>
          <p:cNvPicPr>
            <a:picLocks noGrp="1" noChangeAspect="1"/>
          </p:cNvPicPr>
          <p:nvPr>
            <p:ph sz="half" idx="1"/>
          </p:nvPr>
        </p:nvPicPr>
        <p:blipFill>
          <a:blip r:embed="rId1"/>
          <a:stretch>
            <a:fillRect/>
          </a:stretch>
        </p:blipFill>
        <p:spPr>
          <a:xfrm>
            <a:off x="1517227" y="1517227"/>
            <a:ext cx="10078720" cy="3835965"/>
          </a:xfrm>
          <a:prstGeom prst="rect">
            <a:avLst/>
          </a:prstGeom>
          <a:solidFill>
            <a:srgbClr val="FFFFFF"/>
          </a:solidFill>
          <a:ln w="9525">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How to Design</a:t>
            </a:r>
            <a:endParaRPr lang="zh-CN" altLang="en-US"/>
          </a:p>
        </p:txBody>
      </p:sp>
      <p:sp>
        <p:nvSpPr>
          <p:cNvPr id="4" name="文本占位符 3"/>
          <p:cNvSpPr>
            <a:spLocks noGrp="1"/>
          </p:cNvSpPr>
          <p:nvPr>
            <p:ph type="body" sz="half" idx="2"/>
          </p:nvPr>
        </p:nvSpPr>
        <p:spPr>
          <a:xfrm>
            <a:off x="894080" y="8231505"/>
            <a:ext cx="11216640" cy="553720"/>
          </a:xfrm>
        </p:spPr>
        <p:txBody>
          <a:bodyPr/>
          <a:p>
            <a:r>
              <a:rPr lang="zh-CN" altLang="en-US"/>
              <a:t>https://www.simplypsychology.org/what-is-a-heuristic.html</a:t>
            </a:r>
            <a:endParaRPr lang="zh-CN" altLang="en-US"/>
          </a:p>
        </p:txBody>
      </p:sp>
      <p:pic>
        <p:nvPicPr>
          <p:cNvPr id="5" name="图片 4" descr="heuristics(1)"/>
          <p:cNvPicPr>
            <a:picLocks noChangeAspect="1"/>
          </p:cNvPicPr>
          <p:nvPr/>
        </p:nvPicPr>
        <p:blipFill>
          <a:blip r:embed="rId1"/>
          <a:stretch>
            <a:fillRect/>
          </a:stretch>
        </p:blipFill>
        <p:spPr>
          <a:xfrm>
            <a:off x="3190240" y="1420495"/>
            <a:ext cx="6276975" cy="627697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Title 26625"/>
          <p:cNvSpPr>
            <a:spLocks noGrp="1"/>
          </p:cNvSpPr>
          <p:nvPr>
            <p:ph type="title"/>
          </p:nvPr>
        </p:nvSpPr>
        <p:spPr/>
        <p:txBody>
          <a:bodyPr anchor="ctr" anchorCtr="0"/>
          <a:p>
            <a:r>
              <a:t>Decomposition Techniques </a:t>
            </a:r>
          </a:p>
        </p:txBody>
      </p:sp>
      <p:sp>
        <p:nvSpPr>
          <p:cNvPr id="26627" name="Text Placeholder 26626"/>
          <p:cNvSpPr>
            <a:spLocks noGrp="1"/>
          </p:cNvSpPr>
          <p:nvPr>
            <p:ph type="body" idx="1"/>
          </p:nvPr>
        </p:nvSpPr>
        <p:spPr/>
        <p:txBody>
          <a:bodyPr/>
          <a:p>
            <a:pPr>
              <a:buNone/>
            </a:pPr>
            <a:r>
              <a:t>	So how does one decompose a task into various subtasks? </a:t>
            </a:r>
          </a:p>
          <a:p>
            <a:pPr>
              <a:buNone/>
            </a:pPr>
            <a:r>
              <a:t>	</a:t>
            </a:r>
          </a:p>
          <a:p>
            <a:pPr>
              <a:buNone/>
            </a:pPr>
            <a:r>
              <a:t>	While there is no single recipe that works for all problems, we present a set of commonly used techniques that apply to broad classes of problems. These include: </a:t>
            </a:r>
          </a:p>
          <a:p>
            <a:pPr>
              <a:buNone/>
            </a:pPr>
          </a:p>
          <a:p>
            <a:pPr>
              <a:buNone/>
            </a:pPr>
            <a:r>
              <a:t>•	recursive decomposition </a:t>
            </a:r>
          </a:p>
          <a:p>
            <a:pPr>
              <a:buNone/>
            </a:pPr>
            <a:r>
              <a:t>•	data decomposition </a:t>
            </a:r>
          </a:p>
          <a:p>
            <a:pPr>
              <a:buNone/>
            </a:pPr>
            <a:r>
              <a:t>•	exploratory decomposition </a:t>
            </a:r>
          </a:p>
          <a:p>
            <a:pPr>
              <a:buNone/>
            </a:pPr>
            <a:r>
              <a:t>•	speculative decomposition </a:t>
            </a:r>
          </a:p>
          <a:p>
            <a:pPr>
              <a:buNone/>
            </a:p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Title 27649"/>
          <p:cNvSpPr>
            <a:spLocks noGrp="1"/>
          </p:cNvSpPr>
          <p:nvPr>
            <p:ph type="title"/>
          </p:nvPr>
        </p:nvSpPr>
        <p:spPr/>
        <p:txBody>
          <a:bodyPr anchor="ctr" anchorCtr="0"/>
          <a:p>
            <a:r>
              <a:t>Recursive Decomposition </a:t>
            </a:r>
          </a:p>
        </p:txBody>
      </p:sp>
      <p:sp>
        <p:nvSpPr>
          <p:cNvPr id="27651" name="Text Placeholder 27650"/>
          <p:cNvSpPr>
            <a:spLocks noGrp="1"/>
          </p:cNvSpPr>
          <p:nvPr>
            <p:ph type="body" idx="1"/>
          </p:nvPr>
        </p:nvSpPr>
        <p:spPr/>
        <p:txBody>
          <a:bodyPr/>
          <a:p>
            <a:r>
              <a:t>Generally suited to problems that are solved using the divide-and-conquer strategy. </a:t>
            </a:r>
          </a:p>
          <a:p/>
          <a:p>
            <a:r>
              <a:t>A given problem is first decomposed into a set of sub-problems. </a:t>
            </a:r>
          </a:p>
          <a:p/>
          <a:p>
            <a:r>
              <a:t>These sub-problems are recursively decomposed further until a desired granularity is reached. </a:t>
            </a:r>
          </a:p>
          <a:p/>
          <a:p>
            <a:pPr>
              <a:buNone/>
            </a:p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80" name="Title 28679"/>
          <p:cNvSpPr>
            <a:spLocks noGrp="1"/>
          </p:cNvSpPr>
          <p:nvPr>
            <p:ph type="title"/>
          </p:nvPr>
        </p:nvSpPr>
        <p:spPr/>
        <p:txBody>
          <a:bodyPr anchor="ctr" anchorCtr="0"/>
          <a:p>
            <a:r>
              <a:t>Recursive Decomposition: Example </a:t>
            </a:r>
          </a:p>
        </p:txBody>
      </p:sp>
      <p:sp>
        <p:nvSpPr>
          <p:cNvPr id="28681" name="Content Placeholder 28680"/>
          <p:cNvSpPr>
            <a:spLocks noGrp="1"/>
          </p:cNvSpPr>
          <p:nvPr>
            <p:ph sz="quarter" idx="1"/>
          </p:nvPr>
        </p:nvSpPr>
        <p:spPr>
          <a:xfrm>
            <a:off x="650240" y="1474330"/>
            <a:ext cx="11054080" cy="1343377"/>
          </a:xfrm>
        </p:spPr>
        <p:txBody>
          <a:bodyPr/>
          <a:p>
            <a:pPr>
              <a:buClrTx/>
              <a:buSzTx/>
              <a:buFontTx/>
              <a:buNone/>
            </a:pPr>
            <a:r>
              <a:t>A classic example of a divide-and-conquer algorithm on which we</a:t>
            </a:r>
          </a:p>
          <a:p>
            <a:pPr>
              <a:buClrTx/>
              <a:buSzTx/>
              <a:buFontTx/>
              <a:buNone/>
            </a:pPr>
            <a:r>
              <a:t>can apply recursive decomposition is </a:t>
            </a:r>
            <a:r>
              <a:rPr err="1"/>
              <a:t>Quicksort</a:t>
            </a:r>
            <a:r>
              <a:t>. </a:t>
            </a:r>
          </a:p>
        </p:txBody>
      </p:sp>
      <p:sp>
        <p:nvSpPr>
          <p:cNvPr id="28682" name="Text Placeholder 28681"/>
          <p:cNvSpPr>
            <a:spLocks noGrp="1"/>
          </p:cNvSpPr>
          <p:nvPr>
            <p:ph type="body" sz="half" idx="3"/>
          </p:nvPr>
        </p:nvSpPr>
        <p:spPr>
          <a:xfrm>
            <a:off x="650240" y="7911253"/>
            <a:ext cx="11704320" cy="1517227"/>
          </a:xfrm>
        </p:spPr>
        <p:txBody>
          <a:bodyPr/>
          <a:p>
            <a:pPr algn="just">
              <a:buClrTx/>
              <a:buSzTx/>
              <a:buFontTx/>
              <a:buNone/>
            </a:pPr>
            <a:r>
              <a:rPr sz="2560"/>
              <a:t>	In this example, once the list has been partitioned around the pivot, each </a:t>
            </a:r>
            <a:r>
              <a:rPr sz="2560" dirty="0" err="1"/>
              <a:t>sublist</a:t>
            </a:r>
            <a:r>
              <a:rPr sz="2560"/>
              <a:t> can be processed concurrently (i.e., each </a:t>
            </a:r>
            <a:r>
              <a:rPr sz="2560" dirty="0" err="1"/>
              <a:t>sublist</a:t>
            </a:r>
            <a:r>
              <a:rPr sz="2560"/>
              <a:t> represents an independent subtask). This can be repeated recursively. </a:t>
            </a:r>
            <a:endParaRPr sz="2560"/>
          </a:p>
        </p:txBody>
      </p:sp>
      <p:pic>
        <p:nvPicPr>
          <p:cNvPr id="28683" name="Content Placeholder 28682" descr="qsort"/>
          <p:cNvPicPr>
            <a:picLocks noChangeAspect="1"/>
          </p:cNvPicPr>
          <p:nvPr>
            <p:ph sz="quarter" idx="2"/>
          </p:nvPr>
        </p:nvPicPr>
        <p:blipFill>
          <a:blip r:embed="rId1"/>
          <a:stretch>
            <a:fillRect/>
          </a:stretch>
        </p:blipFill>
        <p:spPr>
          <a:xfrm>
            <a:off x="1517227" y="2883183"/>
            <a:ext cx="10187093" cy="4811324"/>
          </a:xfr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Title 32769"/>
          <p:cNvSpPr>
            <a:spLocks noGrp="1"/>
          </p:cNvSpPr>
          <p:nvPr>
            <p:ph type="title"/>
          </p:nvPr>
        </p:nvSpPr>
        <p:spPr/>
        <p:txBody>
          <a:bodyPr anchor="ctr" anchorCtr="0"/>
          <a:p>
            <a:r>
              <a:t>Recursive Decomposition: Example </a:t>
            </a:r>
          </a:p>
        </p:txBody>
      </p:sp>
      <p:sp>
        <p:nvSpPr>
          <p:cNvPr id="32771" name="Text Placeholder 32770"/>
          <p:cNvSpPr>
            <a:spLocks noGrp="1"/>
          </p:cNvSpPr>
          <p:nvPr>
            <p:ph type="body" idx="1"/>
          </p:nvPr>
        </p:nvSpPr>
        <p:spPr>
          <a:xfrm>
            <a:off x="650240" y="1474330"/>
            <a:ext cx="11704320" cy="2968977"/>
          </a:xfrm>
        </p:spPr>
        <p:txBody>
          <a:bodyPr/>
          <a:p>
            <a:pPr algn="just">
              <a:buNone/>
            </a:pPr>
            <a:r>
              <a:t>	The problem of finding the minimum number in a given list (or indeed any other associative operation such as sum, AND, etc.) can be fashioned as a divide-and-conquer algorithm. The following algorithm illustrates this. </a:t>
            </a:r>
          </a:p>
          <a:p>
            <a:pPr algn="just">
              <a:buNone/>
            </a:pPr>
            <a:r>
              <a:t>		We first start with a simple serial loop for computing the minimum entry in a given list: </a:t>
            </a:r>
          </a:p>
          <a:p>
            <a:pPr>
              <a:buNone/>
            </a:pPr>
          </a:p>
        </p:txBody>
      </p:sp>
      <p:sp>
        <p:nvSpPr>
          <p:cNvPr id="32772" name="Rectangles 32771"/>
          <p:cNvSpPr/>
          <p:nvPr/>
        </p:nvSpPr>
        <p:spPr>
          <a:xfrm>
            <a:off x="650240" y="4876800"/>
            <a:ext cx="11704320" cy="3793067"/>
          </a:xfrm>
          <a:prstGeom prst="rect">
            <a:avLst/>
          </a:prstGeom>
          <a:noFill/>
          <a:ln w="9525">
            <a:noFill/>
          </a:ln>
        </p:spPr>
        <p:txBody>
          <a:bodyPr/>
          <a:lstStyle>
            <a:lvl1pPr marL="342900" lvl="0" indent="-342900" algn="l" defTabSz="914400" rtl="0" eaLnBrk="1" fontAlgn="base" latinLnBrk="0" hangingPunct="1">
              <a:lnSpc>
                <a:spcPct val="110000"/>
              </a:lnSpc>
              <a:spcBef>
                <a:spcPct val="20000"/>
              </a:spcBef>
              <a:spcAft>
                <a:spcPct val="0"/>
              </a:spcAft>
              <a:buChar char="•"/>
              <a:defRPr sz="20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har char="–"/>
              <a:defRPr sz="18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Arial" panose="020B0604020202020204" pitchFamily="34" charset="0"/>
              </a:defRPr>
            </a:lvl5pPr>
          </a:lstStyle>
          <a:p>
            <a:pPr lvl="0" algn="just">
              <a:lnSpc>
                <a:spcPct val="90000"/>
              </a:lnSpc>
              <a:buNone/>
            </a:pPr>
            <a:r>
              <a:rPr sz="2845">
                <a:latin typeface="AvantGarde-Book" charset="0"/>
              </a:rPr>
              <a:t>	1. </a:t>
            </a:r>
            <a:r>
              <a:rPr sz="2845" b="1">
                <a:latin typeface="AvantGarde-Demi" charset="0"/>
              </a:rPr>
              <a:t>procedure</a:t>
            </a:r>
            <a:r>
              <a:rPr sz="2845">
                <a:latin typeface="AvantGarde-Demi" charset="0"/>
              </a:rPr>
              <a:t> </a:t>
            </a:r>
            <a:r>
              <a:rPr sz="2845">
                <a:latin typeface="AvantGarde-Book" charset="0"/>
              </a:rPr>
              <a:t>SERIAL_MIN (</a:t>
            </a:r>
            <a:r>
              <a:rPr sz="2845" i="1">
                <a:latin typeface="CMMI10" charset="0"/>
              </a:rPr>
              <a:t>A, n</a:t>
            </a:r>
            <a:r>
              <a:rPr sz="2845">
                <a:latin typeface="AvantGarde-Book" charset="0"/>
              </a:rPr>
              <a:t>)	</a:t>
            </a:r>
            <a:endParaRPr sz="2845">
              <a:latin typeface="AvantGarde-Book" charset="0"/>
            </a:endParaRPr>
          </a:p>
          <a:p>
            <a:pPr lvl="0" algn="just">
              <a:lnSpc>
                <a:spcPct val="90000"/>
              </a:lnSpc>
              <a:buNone/>
            </a:pPr>
            <a:r>
              <a:rPr sz="2845">
                <a:latin typeface="AvantGarde-Book" charset="0"/>
              </a:rPr>
              <a:t>	2. </a:t>
            </a:r>
            <a:r>
              <a:rPr sz="2845" b="1">
                <a:latin typeface="AvantGarde-Demi" charset="0"/>
              </a:rPr>
              <a:t>begin</a:t>
            </a:r>
            <a:endParaRPr sz="2845" b="1">
              <a:latin typeface="AvantGarde-Demi" charset="0"/>
            </a:endParaRPr>
          </a:p>
          <a:p>
            <a:pPr lvl="0">
              <a:lnSpc>
                <a:spcPct val="90000"/>
              </a:lnSpc>
              <a:buNone/>
            </a:pPr>
            <a:r>
              <a:rPr sz="2845">
                <a:latin typeface="AvantGarde-Book" charset="0"/>
              </a:rPr>
              <a:t>	3. </a:t>
            </a:r>
            <a:r>
              <a:rPr sz="2845" i="1">
                <a:latin typeface="AvantGarde-BookOblique" charset="0"/>
              </a:rPr>
              <a:t>min </a:t>
            </a:r>
            <a:r>
              <a:rPr sz="2845">
                <a:latin typeface="AvantGarde-Book" charset="0"/>
              </a:rPr>
              <a:t>= </a:t>
            </a:r>
            <a:r>
              <a:rPr sz="2845">
                <a:latin typeface="CMMI10" charset="0"/>
              </a:rPr>
              <a:t>A</a:t>
            </a:r>
            <a:r>
              <a:rPr sz="2845">
                <a:latin typeface="CMR10" charset="0"/>
              </a:rPr>
              <a:t>[0]</a:t>
            </a:r>
            <a:r>
              <a:rPr sz="2845">
                <a:latin typeface="AvantGarde-Book" charset="0"/>
              </a:rPr>
              <a:t>;</a:t>
            </a:r>
            <a:endParaRPr sz="2845">
              <a:latin typeface="AvantGarde-Book" charset="0"/>
            </a:endParaRPr>
          </a:p>
          <a:p>
            <a:pPr lvl="0">
              <a:lnSpc>
                <a:spcPct val="90000"/>
              </a:lnSpc>
              <a:buNone/>
            </a:pPr>
            <a:r>
              <a:rPr sz="2845">
                <a:latin typeface="AvantGarde-Book" charset="0"/>
              </a:rPr>
              <a:t>	4. </a:t>
            </a:r>
            <a:r>
              <a:rPr sz="2845" b="1">
                <a:latin typeface="AvantGarde-Demi" charset="0"/>
              </a:rPr>
              <a:t>for</a:t>
            </a:r>
            <a:r>
              <a:rPr sz="2845">
                <a:latin typeface="AvantGarde-Demi" charset="0"/>
              </a:rPr>
              <a:t> </a:t>
            </a:r>
            <a:r>
              <a:rPr sz="2845" i="1">
                <a:latin typeface="CMMI10" charset="0"/>
              </a:rPr>
              <a:t>i</a:t>
            </a:r>
            <a:r>
              <a:rPr sz="2845">
                <a:latin typeface="CMMI10" charset="0"/>
              </a:rPr>
              <a:t> </a:t>
            </a:r>
            <a:r>
              <a:rPr sz="2845">
                <a:latin typeface="CMR10" charset="0"/>
              </a:rPr>
              <a:t>:= 1 </a:t>
            </a:r>
            <a:r>
              <a:rPr sz="2845" b="1">
                <a:latin typeface="AvantGarde-Demi" charset="0"/>
              </a:rPr>
              <a:t>to</a:t>
            </a:r>
            <a:r>
              <a:rPr sz="2845">
                <a:latin typeface="AvantGarde-Demi" charset="0"/>
              </a:rPr>
              <a:t> </a:t>
            </a:r>
            <a:r>
              <a:rPr sz="2845" i="1">
                <a:latin typeface="CMMI10" charset="0"/>
              </a:rPr>
              <a:t>n </a:t>
            </a:r>
            <a:r>
              <a:rPr sz="2845" i="1">
                <a:latin typeface="CMSY10" charset="0"/>
              </a:rPr>
              <a:t>− </a:t>
            </a:r>
            <a:r>
              <a:rPr sz="2845">
                <a:latin typeface="CMR10" charset="0"/>
              </a:rPr>
              <a:t>1 </a:t>
            </a:r>
            <a:r>
              <a:rPr sz="2845" b="1">
                <a:latin typeface="AvantGarde-Demi" charset="0"/>
              </a:rPr>
              <a:t>do</a:t>
            </a:r>
            <a:endParaRPr sz="2845" b="1">
              <a:latin typeface="AvantGarde-Demi" charset="0"/>
            </a:endParaRPr>
          </a:p>
          <a:p>
            <a:pPr lvl="0">
              <a:lnSpc>
                <a:spcPct val="90000"/>
              </a:lnSpc>
              <a:buNone/>
            </a:pPr>
            <a:r>
              <a:rPr sz="2845">
                <a:latin typeface="AvantGarde-Book" charset="0"/>
              </a:rPr>
              <a:t>	5. 		</a:t>
            </a:r>
            <a:r>
              <a:rPr sz="2845" b="1">
                <a:latin typeface="AvantGarde-Demi" charset="0"/>
              </a:rPr>
              <a:t>if</a:t>
            </a:r>
            <a:r>
              <a:rPr sz="2845">
                <a:latin typeface="AvantGarde-Demi" charset="0"/>
              </a:rPr>
              <a:t> </a:t>
            </a:r>
            <a:r>
              <a:rPr sz="2845">
                <a:latin typeface="AvantGarde-Book" charset="0"/>
              </a:rPr>
              <a:t>(</a:t>
            </a:r>
            <a:r>
              <a:rPr sz="2845" i="1" err="1">
                <a:latin typeface="CMMI10" charset="0"/>
              </a:rPr>
              <a:t>A</a:t>
            </a:r>
            <a:r>
              <a:rPr sz="2845" err="1">
                <a:latin typeface="CMR10" charset="0"/>
              </a:rPr>
              <a:t>[</a:t>
            </a:r>
            <a:r>
              <a:rPr sz="2845" i="1" err="1">
                <a:latin typeface="CMMI10" charset="0"/>
              </a:rPr>
              <a:t>i</a:t>
            </a:r>
            <a:r>
              <a:rPr sz="2845">
                <a:latin typeface="CMR10" charset="0"/>
              </a:rPr>
              <a:t>] </a:t>
            </a:r>
            <a:r>
              <a:rPr sz="2845">
                <a:latin typeface="CMMI10" charset="0"/>
              </a:rPr>
              <a:t>&lt; </a:t>
            </a:r>
            <a:r>
              <a:rPr sz="2845" i="1">
                <a:latin typeface="AvantGarde-BookOblique" charset="0"/>
              </a:rPr>
              <a:t>min</a:t>
            </a:r>
            <a:r>
              <a:rPr sz="2845">
                <a:latin typeface="AvantGarde-Book" charset="0"/>
              </a:rPr>
              <a:t>) </a:t>
            </a:r>
            <a:r>
              <a:rPr sz="2845" i="1">
                <a:latin typeface="AvantGarde-BookOblique" charset="0"/>
              </a:rPr>
              <a:t>min </a:t>
            </a:r>
            <a:r>
              <a:rPr sz="2845">
                <a:latin typeface="AvantGarde-Book" charset="0"/>
              </a:rPr>
              <a:t>:= </a:t>
            </a:r>
            <a:r>
              <a:rPr sz="2845" i="1">
                <a:latin typeface="CMMI10" charset="0"/>
              </a:rPr>
              <a:t>A</a:t>
            </a:r>
            <a:r>
              <a:rPr sz="2845">
                <a:latin typeface="CMR10" charset="0"/>
              </a:rPr>
              <a:t>[</a:t>
            </a:r>
            <a:r>
              <a:rPr sz="2845" i="1">
                <a:latin typeface="CMMI10" charset="0"/>
              </a:rPr>
              <a:t>i</a:t>
            </a:r>
            <a:r>
              <a:rPr sz="2845">
                <a:latin typeface="CMR10" charset="0"/>
              </a:rPr>
              <a:t>]</a:t>
            </a:r>
            <a:r>
              <a:rPr sz="2845">
                <a:latin typeface="AvantGarde-Book" charset="0"/>
              </a:rPr>
              <a:t>;</a:t>
            </a:r>
            <a:endParaRPr sz="2845">
              <a:latin typeface="AvantGarde-Book" charset="0"/>
            </a:endParaRPr>
          </a:p>
          <a:p>
            <a:pPr lvl="0">
              <a:lnSpc>
                <a:spcPct val="90000"/>
              </a:lnSpc>
              <a:buNone/>
            </a:pPr>
            <a:r>
              <a:rPr sz="2845">
                <a:latin typeface="AvantGarde-Book" charset="0"/>
              </a:rPr>
              <a:t>	6. </a:t>
            </a:r>
            <a:r>
              <a:rPr sz="2845" b="1" err="1">
                <a:latin typeface="AvantGarde-Demi" charset="0"/>
              </a:rPr>
              <a:t>endfor</a:t>
            </a:r>
            <a:r>
              <a:rPr sz="2845">
                <a:latin typeface="AvantGarde-Book" charset="0"/>
              </a:rPr>
              <a:t>;</a:t>
            </a:r>
            <a:endParaRPr sz="2845">
              <a:latin typeface="AvantGarde-Book" charset="0"/>
            </a:endParaRPr>
          </a:p>
          <a:p>
            <a:pPr lvl="0">
              <a:lnSpc>
                <a:spcPct val="90000"/>
              </a:lnSpc>
              <a:buNone/>
            </a:pPr>
            <a:r>
              <a:rPr sz="2845">
                <a:latin typeface="AvantGarde-Book" charset="0"/>
              </a:rPr>
              <a:t>	7. </a:t>
            </a:r>
            <a:r>
              <a:rPr sz="2845" b="1">
                <a:latin typeface="AvantGarde-Demi" charset="0"/>
              </a:rPr>
              <a:t>return</a:t>
            </a:r>
            <a:r>
              <a:rPr sz="2845">
                <a:latin typeface="AvantGarde-Demi" charset="0"/>
              </a:rPr>
              <a:t> </a:t>
            </a:r>
            <a:r>
              <a:rPr sz="2845" i="1">
                <a:latin typeface="AvantGarde-BookOblique" charset="0"/>
              </a:rPr>
              <a:t>min</a:t>
            </a:r>
            <a:r>
              <a:rPr sz="2845">
                <a:latin typeface="AvantGarde-Book" charset="0"/>
              </a:rPr>
              <a:t>;</a:t>
            </a:r>
            <a:endParaRPr sz="2845">
              <a:latin typeface="AvantGarde-Book" charset="0"/>
            </a:endParaRPr>
          </a:p>
          <a:p>
            <a:pPr lvl="0">
              <a:lnSpc>
                <a:spcPct val="90000"/>
              </a:lnSpc>
              <a:buNone/>
            </a:pPr>
            <a:r>
              <a:rPr sz="2845">
                <a:latin typeface="AvantGarde-Book" charset="0"/>
              </a:rPr>
              <a:t>	8. </a:t>
            </a:r>
            <a:r>
              <a:rPr sz="2845" b="1">
                <a:latin typeface="AvantGarde-Demi" charset="0"/>
              </a:rPr>
              <a:t>end</a:t>
            </a:r>
            <a:r>
              <a:rPr sz="2845">
                <a:latin typeface="AvantGarde-Demi" charset="0"/>
              </a:rPr>
              <a:t> </a:t>
            </a:r>
            <a:r>
              <a:rPr sz="2845">
                <a:latin typeface="AvantGarde-Book" charset="0"/>
              </a:rPr>
              <a:t>SERIAL_MIN</a:t>
            </a:r>
            <a:endParaRPr sz="2845">
              <a:latin typeface="AvantGarde-Book"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Title 34817"/>
          <p:cNvSpPr>
            <a:spLocks noGrp="1"/>
          </p:cNvSpPr>
          <p:nvPr>
            <p:ph type="title"/>
          </p:nvPr>
        </p:nvSpPr>
        <p:spPr/>
        <p:txBody>
          <a:bodyPr anchor="ctr" anchorCtr="0"/>
          <a:p>
            <a:r>
              <a:t>Recursive Decomposition: Example</a:t>
            </a:r>
          </a:p>
        </p:txBody>
      </p:sp>
      <p:sp>
        <p:nvSpPr>
          <p:cNvPr id="34819" name="Text Placeholder 34818"/>
          <p:cNvSpPr>
            <a:spLocks noGrp="1"/>
          </p:cNvSpPr>
          <p:nvPr>
            <p:ph type="body" idx="1"/>
          </p:nvPr>
        </p:nvSpPr>
        <p:spPr>
          <a:xfrm>
            <a:off x="650240" y="1474330"/>
            <a:ext cx="11704320" cy="693137"/>
          </a:xfrm>
        </p:spPr>
        <p:txBody>
          <a:bodyPr/>
          <a:p>
            <a:pPr>
              <a:buNone/>
            </a:pPr>
            <a:r>
              <a:t>	We can rewrite the loop as follows: </a:t>
            </a:r>
          </a:p>
          <a:p>
            <a:pPr>
              <a:buNone/>
            </a:pPr>
          </a:p>
          <a:p>
            <a:pPr>
              <a:buNone/>
            </a:pPr>
          </a:p>
        </p:txBody>
      </p:sp>
      <p:sp>
        <p:nvSpPr>
          <p:cNvPr id="34820" name="Rectangles 34819"/>
          <p:cNvSpPr/>
          <p:nvPr/>
        </p:nvSpPr>
        <p:spPr>
          <a:xfrm>
            <a:off x="650240" y="2384213"/>
            <a:ext cx="11704320" cy="6719147"/>
          </a:xfrm>
          <a:prstGeom prst="rect">
            <a:avLst/>
          </a:prstGeom>
          <a:noFill/>
          <a:ln w="9525">
            <a:noFill/>
          </a:ln>
        </p:spPr>
        <p:txBody>
          <a:bodyPr/>
          <a:lstStyle>
            <a:lvl1pPr marL="342900" lvl="0" indent="-342900" algn="l" defTabSz="914400" rtl="0" eaLnBrk="1" fontAlgn="base" latinLnBrk="0" hangingPunct="1">
              <a:lnSpc>
                <a:spcPct val="110000"/>
              </a:lnSpc>
              <a:spcBef>
                <a:spcPct val="20000"/>
              </a:spcBef>
              <a:spcAft>
                <a:spcPct val="0"/>
              </a:spcAft>
              <a:buChar char="•"/>
              <a:defRPr sz="20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har char="–"/>
              <a:defRPr sz="18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Arial" panose="020B0604020202020204" pitchFamily="34" charset="0"/>
              </a:defRPr>
            </a:lvl5pPr>
          </a:lstStyle>
          <a:p>
            <a:pPr lvl="0">
              <a:lnSpc>
                <a:spcPct val="100000"/>
              </a:lnSpc>
              <a:buNone/>
            </a:pPr>
            <a:r>
              <a:rPr sz="2845"/>
              <a:t>	1. </a:t>
            </a:r>
            <a:r>
              <a:rPr sz="2845" b="1"/>
              <a:t>procedure</a:t>
            </a:r>
            <a:r>
              <a:rPr sz="2845"/>
              <a:t> RECURSIVE_MIN (</a:t>
            </a:r>
            <a:r>
              <a:rPr sz="2845" b="1" i="1"/>
              <a:t>A, n</a:t>
            </a:r>
            <a:r>
              <a:rPr sz="2845"/>
              <a:t>) </a:t>
            </a:r>
            <a:br>
              <a:rPr sz="2845"/>
            </a:br>
            <a:r>
              <a:rPr sz="2845"/>
              <a:t>2. </a:t>
            </a:r>
            <a:r>
              <a:rPr sz="2845" b="1"/>
              <a:t>begin</a:t>
            </a:r>
            <a:r>
              <a:rPr sz="2845"/>
              <a:t> </a:t>
            </a:r>
            <a:br>
              <a:rPr sz="2845"/>
            </a:br>
            <a:r>
              <a:rPr sz="2845"/>
              <a:t>3. </a:t>
            </a:r>
            <a:r>
              <a:rPr sz="2845" b="1"/>
              <a:t>if</a:t>
            </a:r>
            <a:r>
              <a:rPr sz="2845"/>
              <a:t> ( </a:t>
            </a:r>
            <a:r>
              <a:rPr sz="2845" b="1" i="1"/>
              <a:t>n </a:t>
            </a:r>
            <a:r>
              <a:rPr sz="2845"/>
              <a:t>=</a:t>
            </a:r>
            <a:r>
              <a:rPr sz="2845" i="1"/>
              <a:t> </a:t>
            </a:r>
            <a:r>
              <a:rPr sz="2845"/>
              <a:t>1 ) </a:t>
            </a:r>
            <a:r>
              <a:rPr sz="2845" b="1"/>
              <a:t>then</a:t>
            </a:r>
            <a:r>
              <a:rPr sz="2845"/>
              <a:t> </a:t>
            </a:r>
            <a:br>
              <a:rPr sz="2845"/>
            </a:br>
            <a:r>
              <a:rPr sz="2845"/>
              <a:t>4. 	</a:t>
            </a:r>
            <a:r>
              <a:rPr sz="2845" i="1"/>
              <a:t>min</a:t>
            </a:r>
            <a:r>
              <a:rPr sz="2845"/>
              <a:t> := </a:t>
            </a:r>
            <a:r>
              <a:rPr sz="2845" b="1" i="1"/>
              <a:t>A</a:t>
            </a:r>
            <a:r>
              <a:rPr sz="2845"/>
              <a:t> [0]  ; </a:t>
            </a:r>
            <a:br>
              <a:rPr sz="2845"/>
            </a:br>
            <a:r>
              <a:rPr sz="2845"/>
              <a:t>5. </a:t>
            </a:r>
            <a:r>
              <a:rPr sz="2845" b="1"/>
              <a:t>else</a:t>
            </a:r>
            <a:r>
              <a:rPr sz="2845"/>
              <a:t> </a:t>
            </a:r>
            <a:br>
              <a:rPr sz="2845"/>
            </a:br>
            <a:r>
              <a:rPr sz="2845"/>
              <a:t>6. 	</a:t>
            </a:r>
            <a:r>
              <a:rPr sz="2845" i="1" err="1"/>
              <a:t>lmin</a:t>
            </a:r>
            <a:r>
              <a:rPr sz="2845"/>
              <a:t> := RECURSIVE_MIN ( </a:t>
            </a:r>
            <a:r>
              <a:rPr sz="2845" b="1" i="1"/>
              <a:t>A</a:t>
            </a:r>
            <a:r>
              <a:rPr sz="2845"/>
              <a:t>, </a:t>
            </a:r>
            <a:r>
              <a:rPr sz="2845" b="1" i="1"/>
              <a:t>n/2</a:t>
            </a:r>
            <a:r>
              <a:rPr sz="2845"/>
              <a:t> ); </a:t>
            </a:r>
            <a:br>
              <a:rPr sz="2845"/>
            </a:br>
            <a:r>
              <a:rPr sz="2845"/>
              <a:t>7. 	</a:t>
            </a:r>
            <a:r>
              <a:rPr sz="2845" i="1" err="1"/>
              <a:t>rmin</a:t>
            </a:r>
            <a:r>
              <a:rPr sz="2845"/>
              <a:t> := RECURSIVE_MIN (  &amp;(</a:t>
            </a:r>
            <a:r>
              <a:rPr sz="2845" b="1" i="1"/>
              <a:t>A</a:t>
            </a:r>
            <a:r>
              <a:rPr sz="2845"/>
              <a:t>[</a:t>
            </a:r>
            <a:r>
              <a:rPr sz="2845" b="1"/>
              <a:t>n/2</a:t>
            </a:r>
            <a:r>
              <a:rPr sz="2845"/>
              <a:t>]), </a:t>
            </a:r>
            <a:r>
              <a:rPr sz="2845" b="1" i="1"/>
              <a:t>n - n/2</a:t>
            </a:r>
            <a:r>
              <a:rPr sz="2845" b="1"/>
              <a:t> </a:t>
            </a:r>
            <a:r>
              <a:rPr sz="2845"/>
              <a:t>); </a:t>
            </a:r>
            <a:br>
              <a:rPr sz="2845"/>
            </a:br>
            <a:r>
              <a:rPr sz="2845"/>
              <a:t>8. 	</a:t>
            </a:r>
            <a:r>
              <a:rPr sz="2845" b="1"/>
              <a:t>if</a:t>
            </a:r>
            <a:r>
              <a:rPr sz="2845"/>
              <a:t> (</a:t>
            </a:r>
            <a:r>
              <a:rPr sz="2845" i="1" err="1"/>
              <a:t>lmin</a:t>
            </a:r>
            <a:r>
              <a:rPr sz="2845"/>
              <a:t>  &lt; </a:t>
            </a:r>
            <a:r>
              <a:rPr sz="2845" i="1" err="1"/>
              <a:t>rmin</a:t>
            </a:r>
            <a:r>
              <a:rPr sz="2845"/>
              <a:t>) </a:t>
            </a:r>
            <a:r>
              <a:rPr sz="2845" b="1"/>
              <a:t>then</a:t>
            </a:r>
            <a:r>
              <a:rPr sz="2845"/>
              <a:t> </a:t>
            </a:r>
            <a:br>
              <a:rPr sz="2845"/>
            </a:br>
            <a:r>
              <a:rPr sz="2845"/>
              <a:t>9. 		</a:t>
            </a:r>
            <a:r>
              <a:rPr sz="2845" i="1"/>
              <a:t>min</a:t>
            </a:r>
            <a:r>
              <a:rPr sz="2845"/>
              <a:t> := </a:t>
            </a:r>
            <a:r>
              <a:rPr sz="2845" i="1" err="1"/>
              <a:t>lmin</a:t>
            </a:r>
            <a:r>
              <a:rPr sz="2845"/>
              <a:t>; </a:t>
            </a:r>
            <a:br>
              <a:rPr sz="2845"/>
            </a:br>
            <a:r>
              <a:rPr sz="2845"/>
              <a:t>10. 	</a:t>
            </a:r>
            <a:r>
              <a:rPr sz="2845" b="1"/>
              <a:t>else</a:t>
            </a:r>
            <a:r>
              <a:rPr sz="2845"/>
              <a:t> </a:t>
            </a:r>
            <a:br>
              <a:rPr sz="2845"/>
            </a:br>
            <a:r>
              <a:rPr sz="2845"/>
              <a:t>11. 		</a:t>
            </a:r>
            <a:r>
              <a:rPr sz="2845" i="1"/>
              <a:t>min</a:t>
            </a:r>
            <a:r>
              <a:rPr sz="2845"/>
              <a:t> := </a:t>
            </a:r>
            <a:r>
              <a:rPr sz="2845" i="1" err="1"/>
              <a:t>rmin</a:t>
            </a:r>
            <a:r>
              <a:rPr sz="2845"/>
              <a:t>; </a:t>
            </a:r>
            <a:br>
              <a:rPr sz="2845"/>
            </a:br>
            <a:r>
              <a:rPr sz="2845"/>
              <a:t>12. 	</a:t>
            </a:r>
            <a:r>
              <a:rPr sz="2845" b="1" err="1"/>
              <a:t>endelse</a:t>
            </a:r>
            <a:r>
              <a:rPr sz="2845"/>
              <a:t>; </a:t>
            </a:r>
            <a:br>
              <a:rPr sz="2845"/>
            </a:br>
            <a:r>
              <a:rPr sz="2845"/>
              <a:t>13. </a:t>
            </a:r>
            <a:r>
              <a:rPr sz="2845" b="1" err="1"/>
              <a:t>endelse</a:t>
            </a:r>
            <a:r>
              <a:rPr sz="2845"/>
              <a:t>; </a:t>
            </a:r>
            <a:br>
              <a:rPr sz="2845"/>
            </a:br>
            <a:r>
              <a:rPr sz="2845"/>
              <a:t>14. </a:t>
            </a:r>
            <a:r>
              <a:rPr sz="2845" b="1"/>
              <a:t>return</a:t>
            </a:r>
            <a:r>
              <a:rPr sz="2845"/>
              <a:t> </a:t>
            </a:r>
            <a:r>
              <a:rPr sz="2845" i="1"/>
              <a:t>min</a:t>
            </a:r>
            <a:r>
              <a:rPr sz="2845"/>
              <a:t>; </a:t>
            </a:r>
            <a:br>
              <a:rPr sz="2845"/>
            </a:br>
            <a:r>
              <a:rPr sz="2845"/>
              <a:t>15. </a:t>
            </a:r>
            <a:r>
              <a:rPr sz="2845" b="1"/>
              <a:t>end</a:t>
            </a:r>
            <a:r>
              <a:rPr sz="2845"/>
              <a:t> RECURSIVE_MIN </a:t>
            </a:r>
            <a:endParaRPr sz="2845"/>
          </a:p>
          <a:p>
            <a:pPr lvl="0">
              <a:buNone/>
            </a:pPr>
            <a:endParaRPr sz="2845"/>
          </a:p>
          <a:p>
            <a:pPr lvl="0">
              <a:buNone/>
            </a:pPr>
            <a:endParaRPr sz="2845"/>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Title 35841"/>
          <p:cNvSpPr>
            <a:spLocks noGrp="1"/>
          </p:cNvSpPr>
          <p:nvPr>
            <p:ph type="title"/>
          </p:nvPr>
        </p:nvSpPr>
        <p:spPr/>
        <p:txBody>
          <a:bodyPr anchor="ctr" anchorCtr="0"/>
          <a:p>
            <a:r>
              <a:t>Recursive Decomposition: Example</a:t>
            </a:r>
          </a:p>
        </p:txBody>
      </p:sp>
      <p:sp>
        <p:nvSpPr>
          <p:cNvPr id="35843" name="Text Placeholder 35842"/>
          <p:cNvSpPr>
            <a:spLocks noGrp="1"/>
          </p:cNvSpPr>
          <p:nvPr>
            <p:ph type="body" sz="half" idx="1"/>
          </p:nvPr>
        </p:nvSpPr>
        <p:spPr>
          <a:xfrm>
            <a:off x="650240" y="1517227"/>
            <a:ext cx="11704320" cy="3402472"/>
          </a:xfrm>
        </p:spPr>
        <p:txBody>
          <a:bodyPr/>
          <a:p>
            <a:pPr algn="just">
              <a:buClrTx/>
              <a:buSzTx/>
              <a:buFontTx/>
              <a:buNone/>
            </a:pPr>
            <a:r>
              <a:t>	The code in the previous foil can be decomposed naturally using a recursive decomposition strategy. We illustrate this with the following example of finding the minimum number in the set {4, 9, 1, 7, 8, 11, 2, 12}. The task dependency graph associated with this computation is as follows: </a:t>
            </a:r>
          </a:p>
        </p:txBody>
      </p:sp>
      <p:pic>
        <p:nvPicPr>
          <p:cNvPr id="35844" name="Content Placeholder 35843" descr="minimumdq"/>
          <p:cNvPicPr>
            <a:picLocks noChangeAspect="1"/>
          </p:cNvPicPr>
          <p:nvPr>
            <p:ph sz="half" idx="2"/>
          </p:nvPr>
        </p:nvPicPr>
        <p:blipFill>
          <a:blip r:embed="rId1"/>
          <a:stretch>
            <a:fillRect/>
          </a:stretch>
        </p:blipFill>
        <p:spPr>
          <a:xfrm>
            <a:off x="1408853" y="4590063"/>
            <a:ext cx="9536853" cy="3212817"/>
          </a:xfr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Title 36865"/>
          <p:cNvSpPr>
            <a:spLocks noGrp="1"/>
          </p:cNvSpPr>
          <p:nvPr>
            <p:ph type="title"/>
          </p:nvPr>
        </p:nvSpPr>
        <p:spPr/>
        <p:txBody>
          <a:bodyPr anchor="ctr" anchorCtr="0"/>
          <a:p>
            <a:r>
              <a:t>Data Decomposition </a:t>
            </a:r>
          </a:p>
        </p:txBody>
      </p:sp>
      <p:sp>
        <p:nvSpPr>
          <p:cNvPr id="36867" name="Text Placeholder 36866"/>
          <p:cNvSpPr>
            <a:spLocks noGrp="1"/>
          </p:cNvSpPr>
          <p:nvPr>
            <p:ph type="body" idx="1"/>
          </p:nvPr>
        </p:nvSpPr>
        <p:spPr/>
        <p:txBody>
          <a:bodyPr/>
          <a:p>
            <a:r>
              <a:t>Identify the data on which computations are performed. </a:t>
            </a:r>
          </a:p>
          <a:p>
            <a:r>
              <a:t>Partition this data across various tasks. </a:t>
            </a:r>
          </a:p>
          <a:p>
            <a:r>
              <a:t>This partitioning induces a decomposition of the problem. </a:t>
            </a:r>
          </a:p>
          <a:p>
            <a:r>
              <a:t>Data can be partitioned in various ways - this critically impacts performance of a parallel algorithm.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Title 37889"/>
          <p:cNvSpPr>
            <a:spLocks noGrp="1"/>
          </p:cNvSpPr>
          <p:nvPr>
            <p:ph type="title"/>
          </p:nvPr>
        </p:nvSpPr>
        <p:spPr/>
        <p:txBody>
          <a:bodyPr anchor="ctr" anchorCtr="0"/>
          <a:p>
            <a:r>
              <a:t>Data Decomposition: Output Data Decomposition </a:t>
            </a:r>
          </a:p>
        </p:txBody>
      </p:sp>
      <p:sp>
        <p:nvSpPr>
          <p:cNvPr id="37891" name="Text Placeholder 37890"/>
          <p:cNvSpPr>
            <a:spLocks noGrp="1"/>
          </p:cNvSpPr>
          <p:nvPr>
            <p:ph type="body" idx="1"/>
          </p:nvPr>
        </p:nvSpPr>
        <p:spPr/>
        <p:txBody>
          <a:bodyPr/>
          <a:p>
            <a:r>
              <a:t>Often, each element of the output can be computed independently of others (but simply as a function of the input). </a:t>
            </a:r>
          </a:p>
          <a:p>
            <a:r>
              <a:t>A partition of the output across tasks decomposes the problem naturally.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Title 38913"/>
          <p:cNvSpPr>
            <a:spLocks noGrp="1"/>
          </p:cNvSpPr>
          <p:nvPr>
            <p:ph type="title"/>
          </p:nvPr>
        </p:nvSpPr>
        <p:spPr/>
        <p:txBody>
          <a:bodyPr anchor="ctr" anchorCtr="0"/>
          <a:p>
            <a:r>
              <a:t>Output Data Decomposition: Example </a:t>
            </a:r>
          </a:p>
        </p:txBody>
      </p:sp>
      <p:sp>
        <p:nvSpPr>
          <p:cNvPr id="38915" name="Text Placeholder 38914"/>
          <p:cNvSpPr>
            <a:spLocks noGrp="1"/>
          </p:cNvSpPr>
          <p:nvPr>
            <p:ph type="body" sz="half" idx="1"/>
          </p:nvPr>
        </p:nvSpPr>
        <p:spPr>
          <a:xfrm>
            <a:off x="650240" y="1474330"/>
            <a:ext cx="11921067" cy="1451750"/>
          </a:xfrm>
        </p:spPr>
        <p:txBody>
          <a:bodyPr/>
          <a:p>
            <a:pPr>
              <a:lnSpc>
                <a:spcPct val="100000"/>
              </a:lnSpc>
              <a:buClrTx/>
              <a:buSzTx/>
              <a:buFontTx/>
              <a:buNone/>
            </a:pPr>
            <a:r>
              <a:t>	Consider the problem of multiplying two </a:t>
            </a:r>
            <a:r>
              <a:rPr b="1" i="1"/>
              <a:t>n </a:t>
            </a:r>
            <a:r>
              <a:t>x </a:t>
            </a:r>
            <a:r>
              <a:rPr b="1" i="1"/>
              <a:t>n</a:t>
            </a:r>
            <a:r>
              <a:t> matrices </a:t>
            </a:r>
            <a:r>
              <a:rPr b="1" i="1"/>
              <a:t>A</a:t>
            </a:r>
            <a:r>
              <a:t> and </a:t>
            </a:r>
            <a:r>
              <a:rPr b="1" i="1"/>
              <a:t>B</a:t>
            </a:r>
            <a:r>
              <a:t> to yield matrix </a:t>
            </a:r>
            <a:r>
              <a:rPr b="1" i="1"/>
              <a:t>C</a:t>
            </a:r>
            <a:r>
              <a:t>. The output matrix </a:t>
            </a:r>
            <a:r>
              <a:rPr b="1" i="1"/>
              <a:t>C</a:t>
            </a:r>
            <a:r>
              <a:t> can be partitioned into four tasks as follows: </a:t>
            </a:r>
          </a:p>
        </p:txBody>
      </p:sp>
      <p:sp>
        <p:nvSpPr>
          <p:cNvPr id="38930" name="Text Box 38929"/>
          <p:cNvSpPr txBox="1"/>
          <p:nvPr/>
        </p:nvSpPr>
        <p:spPr>
          <a:xfrm>
            <a:off x="2600960" y="4985173"/>
            <a:ext cx="8778240" cy="3380105"/>
          </a:xfrm>
          <a:prstGeom prst="rect">
            <a:avLst/>
          </a:prstGeom>
          <a:noFill/>
          <a:ln w="9525">
            <a:noFill/>
          </a:ln>
        </p:spPr>
        <p:txBody>
          <a:bodyPr>
            <a:spAutoFit/>
          </a:bodyPr>
          <a:p>
            <a:pPr>
              <a:lnSpc>
                <a:spcPct val="160000"/>
              </a:lnSpc>
              <a:spcBef>
                <a:spcPct val="50000"/>
              </a:spcBef>
            </a:pPr>
            <a:r>
              <a:rPr sz="2845"/>
              <a:t>Task 1:</a:t>
            </a:r>
            <a:r>
              <a:rPr sz="2845" i="1"/>
              <a:t> </a:t>
            </a:r>
            <a:endParaRPr sz="2845" i="1"/>
          </a:p>
          <a:p>
            <a:pPr>
              <a:lnSpc>
                <a:spcPct val="150000"/>
              </a:lnSpc>
              <a:spcBef>
                <a:spcPct val="50000"/>
              </a:spcBef>
            </a:pPr>
            <a:r>
              <a:rPr sz="2845"/>
              <a:t>Task 2:</a:t>
            </a:r>
            <a:endParaRPr sz="3415" b="1" baseline="-25000"/>
          </a:p>
          <a:p>
            <a:pPr>
              <a:lnSpc>
                <a:spcPct val="140000"/>
              </a:lnSpc>
              <a:spcBef>
                <a:spcPct val="50000"/>
              </a:spcBef>
            </a:pPr>
            <a:r>
              <a:rPr sz="2845"/>
              <a:t>Task 3:</a:t>
            </a:r>
            <a:endParaRPr sz="2845" i="1"/>
          </a:p>
          <a:p>
            <a:pPr>
              <a:lnSpc>
                <a:spcPct val="150000"/>
              </a:lnSpc>
              <a:spcBef>
                <a:spcPct val="50000"/>
              </a:spcBef>
            </a:pPr>
            <a:r>
              <a:rPr sz="2845"/>
              <a:t>Task 4:</a:t>
            </a:r>
            <a:r>
              <a:rPr sz="2845" i="1"/>
              <a:t> </a:t>
            </a:r>
            <a:endParaRPr sz="2845" i="1"/>
          </a:p>
        </p:txBody>
      </p:sp>
      <p:grpSp>
        <p:nvGrpSpPr>
          <p:cNvPr id="38940" name="Group 38939"/>
          <p:cNvGrpSpPr/>
          <p:nvPr/>
        </p:nvGrpSpPr>
        <p:grpSpPr>
          <a:xfrm>
            <a:off x="758613" y="3142827"/>
            <a:ext cx="11487573" cy="5527040"/>
            <a:chOff x="336" y="1392"/>
            <a:chExt cx="5088" cy="2448"/>
          </a:xfrm>
        </p:grpSpPr>
        <p:pic>
          <p:nvPicPr>
            <p:cNvPr id="38919" name="Content Placeholder 38918" descr="img19"/>
            <p:cNvPicPr>
              <a:picLocks noChangeAspect="1"/>
            </p:cNvPicPr>
            <p:nvPr>
              <p:ph sz="quarter" idx="2"/>
            </p:nvPr>
          </p:nvPicPr>
          <p:blipFill>
            <a:blip r:embed="rId1"/>
            <a:stretch>
              <a:fillRect/>
            </a:stretch>
          </p:blipFill>
          <p:spPr>
            <a:xfrm>
              <a:off x="336" y="1392"/>
              <a:ext cx="5088" cy="715"/>
            </a:xfrm>
          </p:spPr>
        </p:pic>
        <p:pic>
          <p:nvPicPr>
            <p:cNvPr id="38935" name="Content Placeholder 38934" descr="img20"/>
            <p:cNvPicPr>
              <a:picLocks noChangeAspect="1"/>
            </p:cNvPicPr>
            <p:nvPr>
              <p:ph sz="quarter" idx="3"/>
            </p:nvPr>
          </p:nvPicPr>
          <p:blipFill>
            <a:blip r:embed="rId2"/>
            <a:stretch>
              <a:fillRect/>
            </a:stretch>
          </p:blipFill>
          <p:spPr>
            <a:xfrm>
              <a:off x="1842" y="2292"/>
              <a:ext cx="2334" cy="396"/>
            </a:xfrm>
          </p:spPr>
        </p:pic>
        <p:pic>
          <p:nvPicPr>
            <p:cNvPr id="38937" name="Picture 38936" descr="img21"/>
            <p:cNvPicPr>
              <a:picLocks noChangeAspect="1"/>
            </p:cNvPicPr>
            <p:nvPr/>
          </p:nvPicPr>
          <p:blipFill>
            <a:blip r:embed="rId3"/>
            <a:stretch>
              <a:fillRect/>
            </a:stretch>
          </p:blipFill>
          <p:spPr>
            <a:xfrm>
              <a:off x="1842" y="2688"/>
              <a:ext cx="2334" cy="396"/>
            </a:xfrm>
            <a:prstGeom prst="rect">
              <a:avLst/>
            </a:prstGeom>
            <a:noFill/>
            <a:ln w="9525">
              <a:noFill/>
            </a:ln>
          </p:spPr>
        </p:pic>
        <p:pic>
          <p:nvPicPr>
            <p:cNvPr id="38938" name="Picture 38937" descr="img22"/>
            <p:cNvPicPr>
              <a:picLocks noChangeAspect="1"/>
            </p:cNvPicPr>
            <p:nvPr/>
          </p:nvPicPr>
          <p:blipFill>
            <a:blip r:embed="rId4"/>
            <a:stretch>
              <a:fillRect/>
            </a:stretch>
          </p:blipFill>
          <p:spPr>
            <a:xfrm>
              <a:off x="1872" y="3060"/>
              <a:ext cx="2334" cy="396"/>
            </a:xfrm>
            <a:prstGeom prst="rect">
              <a:avLst/>
            </a:prstGeom>
            <a:noFill/>
            <a:ln w="9525">
              <a:noFill/>
            </a:ln>
          </p:spPr>
        </p:pic>
        <p:pic>
          <p:nvPicPr>
            <p:cNvPr id="38939" name="Picture 38938" descr="img23"/>
            <p:cNvPicPr>
              <a:picLocks noChangeAspect="1"/>
            </p:cNvPicPr>
            <p:nvPr/>
          </p:nvPicPr>
          <p:blipFill>
            <a:blip r:embed="rId5"/>
            <a:stretch>
              <a:fillRect/>
            </a:stretch>
          </p:blipFill>
          <p:spPr>
            <a:xfrm>
              <a:off x="1890" y="3444"/>
              <a:ext cx="2334" cy="396"/>
            </a:xfrm>
            <a:prstGeom prst="rect">
              <a:avLst/>
            </a:prstGeom>
            <a:noFill/>
            <a:ln w="9525">
              <a:noFill/>
            </a:ln>
          </p:spPr>
        </p:pic>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Title 39937"/>
          <p:cNvSpPr>
            <a:spLocks noGrp="1"/>
          </p:cNvSpPr>
          <p:nvPr>
            <p:ph type="title"/>
          </p:nvPr>
        </p:nvSpPr>
        <p:spPr/>
        <p:txBody>
          <a:bodyPr anchor="ctr" anchorCtr="0"/>
          <a:p>
            <a:r>
              <a:t>Output Data Decomposition: Example </a:t>
            </a:r>
          </a:p>
        </p:txBody>
      </p:sp>
      <p:sp>
        <p:nvSpPr>
          <p:cNvPr id="39939" name="Text Placeholder 39938"/>
          <p:cNvSpPr>
            <a:spLocks noGrp="1"/>
          </p:cNvSpPr>
          <p:nvPr>
            <p:ph type="body" sz="half" idx="1"/>
          </p:nvPr>
        </p:nvSpPr>
        <p:spPr>
          <a:xfrm>
            <a:off x="650240" y="1474330"/>
            <a:ext cx="11704320" cy="1885244"/>
          </a:xfrm>
        </p:spPr>
        <p:txBody>
          <a:bodyPr/>
          <a:p>
            <a:pPr>
              <a:buClrTx/>
              <a:buSzTx/>
              <a:buFontTx/>
              <a:buNone/>
            </a:pPr>
            <a:r>
              <a:rPr sz="2560"/>
              <a:t>	A partitioning of output data does not result in a unique decomposition into tasks. For example, for the same problem as in </a:t>
            </a:r>
            <a:r>
              <a:rPr sz="2560" dirty="0" err="1"/>
              <a:t>previus</a:t>
            </a:r>
            <a:r>
              <a:rPr sz="2560"/>
              <a:t> foil, with identical output data distribution, we can derive the following two (other) decompositions: </a:t>
            </a:r>
            <a:endParaRPr sz="2560"/>
          </a:p>
        </p:txBody>
      </p:sp>
      <p:graphicFrame>
        <p:nvGraphicFramePr>
          <p:cNvPr id="39989" name="Content Placeholder 39988"/>
          <p:cNvGraphicFramePr/>
          <p:nvPr>
            <p:ph sz="half" idx="2"/>
          </p:nvPr>
        </p:nvGraphicFramePr>
        <p:xfrm>
          <a:off x="1733973" y="3251200"/>
          <a:ext cx="10078720" cy="6066790"/>
        </p:xfrm>
        <a:graphic>
          <a:graphicData uri="http://schemas.openxmlformats.org/drawingml/2006/table">
            <a:tbl>
              <a:tblPr/>
              <a:tblGrid>
                <a:gridCol w="5039360"/>
                <a:gridCol w="5039360"/>
              </a:tblGrid>
              <a:tr h="607060">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buNone/>
                      </a:pPr>
                      <a:r>
                        <a:rPr sz="2845" b="1"/>
                        <a:t>Decomposition I</a:t>
                      </a:r>
                      <a:endParaRPr lang="en-US" sz="2845" b="1"/>
                    </a:p>
                  </a:txBody>
                  <a:tcPr marL="130048" marR="130048" marT="65024" marB="65024">
                    <a:lnL cap="flat">
                      <a:noFill/>
                    </a:lnL>
                    <a:lnR w="12700" cap="flat" cmpd="sng">
                      <a:solidFill>
                        <a:schemeClr val="tx1"/>
                      </a:solidFill>
                      <a:prstDash val="solid"/>
                      <a:headEnd type="none" w="med" len="med"/>
                      <a:tailEnd type="none" w="med" len="med"/>
                    </a:lnR>
                    <a:lnT cap="fla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buNone/>
                      </a:pPr>
                      <a:r>
                        <a:rPr sz="2845" b="1"/>
                        <a:t>Decomposition II</a:t>
                      </a:r>
                      <a:endParaRPr lang="en-US" sz="2845" b="1"/>
                    </a:p>
                  </a:txBody>
                  <a:tcPr marL="130048" marR="130048" marT="65024" marB="65024">
                    <a:lnL w="12700" cap="flat" cmpd="sng">
                      <a:solidFill>
                        <a:schemeClr val="tx1"/>
                      </a:solidFill>
                      <a:prstDash val="solid"/>
                      <a:headEnd type="none" w="med" len="med"/>
                      <a:tailEnd type="none" w="med" len="med"/>
                    </a:lnL>
                    <a:lnR cap="flat">
                      <a:noFill/>
                    </a:lnR>
                    <a:lnT cap="flat">
                      <a:noFill/>
                    </a:lnT>
                    <a:lnB w="12700" cap="flat" cmpd="sng">
                      <a:solidFill>
                        <a:schemeClr val="tx1"/>
                      </a:solidFill>
                      <a:prstDash val="solid"/>
                      <a:headEnd type="none" w="med" len="med"/>
                      <a:tailEnd type="none" w="med" len="med"/>
                    </a:lnB>
                    <a:lnTlToBr>
                      <a:noFill/>
                    </a:lnTlToBr>
                    <a:lnBlToTr>
                      <a:noFill/>
                    </a:lnBlToTr>
                    <a:noFill/>
                  </a:tcPr>
                </a:tc>
              </a:tr>
              <a:tr h="5459730">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20000"/>
                        </a:lnSpc>
                        <a:buNone/>
                      </a:pPr>
                      <a:r>
                        <a:rPr sz="2560"/>
                        <a:t>Task 1:  </a:t>
                      </a:r>
                      <a:r>
                        <a:rPr sz="2845" b="1" i="1"/>
                        <a:t>C</a:t>
                      </a:r>
                      <a:r>
                        <a:rPr sz="2845" b="1" baseline="-25000"/>
                        <a:t>1,1</a:t>
                      </a:r>
                      <a:r>
                        <a:rPr sz="2845" i="1"/>
                        <a:t> </a:t>
                      </a:r>
                      <a:r>
                        <a:rPr sz="2845"/>
                        <a:t>=</a:t>
                      </a:r>
                      <a:r>
                        <a:rPr sz="2845" i="1"/>
                        <a:t> </a:t>
                      </a:r>
                      <a:r>
                        <a:rPr sz="2845" b="1" i="1"/>
                        <a:t>A</a:t>
                      </a:r>
                      <a:r>
                        <a:rPr sz="2845" b="1" baseline="-25000"/>
                        <a:t>1,1</a:t>
                      </a:r>
                      <a:r>
                        <a:rPr sz="2845" b="1" i="1"/>
                        <a:t> B</a:t>
                      </a:r>
                      <a:r>
                        <a:rPr sz="2845" b="1" baseline="-25000"/>
                        <a:t>1,1</a:t>
                      </a:r>
                      <a:r>
                        <a:rPr sz="2845" i="1"/>
                        <a:t> </a:t>
                      </a:r>
                      <a:r>
                        <a:rPr sz="2560"/>
                        <a:t> </a:t>
                      </a:r>
                      <a:endParaRPr sz="2560"/>
                    </a:p>
                    <a:p>
                      <a:pPr marL="0" lvl="0" indent="0">
                        <a:lnSpc>
                          <a:spcPct val="130000"/>
                        </a:lnSpc>
                        <a:buNone/>
                      </a:pPr>
                      <a:r>
                        <a:rPr sz="2560"/>
                        <a:t>Task 2:  </a:t>
                      </a:r>
                      <a:r>
                        <a:rPr sz="2845" b="1" i="1"/>
                        <a:t>C</a:t>
                      </a:r>
                      <a:r>
                        <a:rPr sz="2845" b="1" baseline="-25000"/>
                        <a:t>1,1</a:t>
                      </a:r>
                      <a:r>
                        <a:rPr sz="2845" i="1"/>
                        <a:t> </a:t>
                      </a:r>
                      <a:r>
                        <a:rPr sz="2845"/>
                        <a:t>=</a:t>
                      </a:r>
                      <a:r>
                        <a:rPr sz="2845" i="1"/>
                        <a:t> </a:t>
                      </a:r>
                      <a:r>
                        <a:rPr sz="2845" b="1" i="1" err="1"/>
                        <a:t>C</a:t>
                      </a:r>
                      <a:r>
                        <a:rPr sz="2845" b="1" baseline="-25000" err="1"/>
                        <a:t>1,1</a:t>
                      </a:r>
                      <a:r>
                        <a:rPr sz="2845" i="1"/>
                        <a:t> </a:t>
                      </a:r>
                      <a:r>
                        <a:rPr sz="2845"/>
                        <a:t>+</a:t>
                      </a:r>
                      <a:r>
                        <a:rPr sz="2845" i="1"/>
                        <a:t> </a:t>
                      </a:r>
                      <a:r>
                        <a:rPr sz="2845" b="1" i="1"/>
                        <a:t>A</a:t>
                      </a:r>
                      <a:r>
                        <a:rPr sz="2845" b="1" baseline="-25000"/>
                        <a:t>1,2</a:t>
                      </a:r>
                      <a:r>
                        <a:rPr sz="2845" b="1" i="1"/>
                        <a:t> B</a:t>
                      </a:r>
                      <a:r>
                        <a:rPr sz="2845" b="1" baseline="-25000"/>
                        <a:t>2,1</a:t>
                      </a:r>
                      <a:r>
                        <a:rPr sz="2560"/>
                        <a:t> </a:t>
                      </a:r>
                      <a:endParaRPr sz="2560"/>
                    </a:p>
                    <a:p>
                      <a:pPr marL="0" lvl="0" indent="0">
                        <a:lnSpc>
                          <a:spcPct val="130000"/>
                        </a:lnSpc>
                        <a:buNone/>
                      </a:pPr>
                      <a:r>
                        <a:rPr sz="2560"/>
                        <a:t>Task 3:  </a:t>
                      </a:r>
                      <a:r>
                        <a:rPr sz="2845" b="1" i="1"/>
                        <a:t>C</a:t>
                      </a:r>
                      <a:r>
                        <a:rPr sz="2845" b="1" baseline="-25000"/>
                        <a:t>1,2</a:t>
                      </a:r>
                      <a:r>
                        <a:rPr sz="2845" i="1"/>
                        <a:t> </a:t>
                      </a:r>
                      <a:r>
                        <a:rPr sz="2845"/>
                        <a:t>=</a:t>
                      </a:r>
                      <a:r>
                        <a:rPr sz="2845" i="1"/>
                        <a:t> </a:t>
                      </a:r>
                      <a:r>
                        <a:rPr sz="2845" b="1" i="1"/>
                        <a:t>A</a:t>
                      </a:r>
                      <a:r>
                        <a:rPr sz="2845" b="1" baseline="-25000"/>
                        <a:t>1,1</a:t>
                      </a:r>
                      <a:r>
                        <a:rPr sz="2845" b="1" i="1"/>
                        <a:t> B</a:t>
                      </a:r>
                      <a:r>
                        <a:rPr sz="2845" b="1" baseline="-25000"/>
                        <a:t>1,2</a:t>
                      </a:r>
                      <a:r>
                        <a:rPr sz="2560"/>
                        <a:t> </a:t>
                      </a:r>
                      <a:endParaRPr sz="2560"/>
                    </a:p>
                    <a:p>
                      <a:pPr marL="0" lvl="0" indent="0">
                        <a:lnSpc>
                          <a:spcPct val="120000"/>
                        </a:lnSpc>
                        <a:buNone/>
                      </a:pPr>
                      <a:r>
                        <a:rPr sz="2560"/>
                        <a:t>Task 4:  </a:t>
                      </a:r>
                      <a:r>
                        <a:rPr sz="2845" b="1" i="1"/>
                        <a:t>C</a:t>
                      </a:r>
                      <a:r>
                        <a:rPr sz="2845" b="1" baseline="-25000"/>
                        <a:t>1,2</a:t>
                      </a:r>
                      <a:r>
                        <a:rPr sz="2845" i="1"/>
                        <a:t> </a:t>
                      </a:r>
                      <a:r>
                        <a:rPr sz="2845"/>
                        <a:t>=</a:t>
                      </a:r>
                      <a:r>
                        <a:rPr sz="2845" i="1"/>
                        <a:t> </a:t>
                      </a:r>
                      <a:r>
                        <a:rPr sz="2845" b="1" i="1" err="1"/>
                        <a:t>C</a:t>
                      </a:r>
                      <a:r>
                        <a:rPr sz="2845" b="1" baseline="-25000" err="1"/>
                        <a:t>1,2</a:t>
                      </a:r>
                      <a:r>
                        <a:rPr sz="2845" b="1" i="1"/>
                        <a:t> </a:t>
                      </a:r>
                      <a:r>
                        <a:rPr sz="2845"/>
                        <a:t>+</a:t>
                      </a:r>
                      <a:r>
                        <a:rPr sz="2845" i="1"/>
                        <a:t> </a:t>
                      </a:r>
                      <a:r>
                        <a:rPr sz="2845" b="1" i="1"/>
                        <a:t>A</a:t>
                      </a:r>
                      <a:r>
                        <a:rPr sz="2845" b="1" baseline="-25000"/>
                        <a:t>1,2</a:t>
                      </a:r>
                      <a:r>
                        <a:rPr sz="2845" b="1" i="1"/>
                        <a:t> B</a:t>
                      </a:r>
                      <a:r>
                        <a:rPr sz="2845" b="1" baseline="-25000"/>
                        <a:t>2,2</a:t>
                      </a:r>
                      <a:r>
                        <a:rPr sz="2560"/>
                        <a:t> </a:t>
                      </a:r>
                      <a:endParaRPr sz="2560"/>
                    </a:p>
                    <a:p>
                      <a:pPr marL="0" lvl="0" indent="0">
                        <a:lnSpc>
                          <a:spcPct val="130000"/>
                        </a:lnSpc>
                        <a:buNone/>
                      </a:pPr>
                      <a:r>
                        <a:rPr sz="2560"/>
                        <a:t>Task 5:  </a:t>
                      </a:r>
                      <a:r>
                        <a:rPr sz="2845" b="1" i="1"/>
                        <a:t>C</a:t>
                      </a:r>
                      <a:r>
                        <a:rPr sz="2845" b="1" baseline="-25000"/>
                        <a:t>2,1</a:t>
                      </a:r>
                      <a:r>
                        <a:rPr sz="2845" i="1"/>
                        <a:t> </a:t>
                      </a:r>
                      <a:r>
                        <a:rPr sz="2845"/>
                        <a:t>=</a:t>
                      </a:r>
                      <a:r>
                        <a:rPr sz="2845" i="1"/>
                        <a:t> </a:t>
                      </a:r>
                      <a:r>
                        <a:rPr sz="2845" b="1" i="1"/>
                        <a:t>A</a:t>
                      </a:r>
                      <a:r>
                        <a:rPr sz="2845" b="1" baseline="-25000"/>
                        <a:t>2,1</a:t>
                      </a:r>
                      <a:r>
                        <a:rPr sz="2845" b="1" i="1"/>
                        <a:t> B</a:t>
                      </a:r>
                      <a:r>
                        <a:rPr sz="2845" b="1" baseline="-25000"/>
                        <a:t>1,1</a:t>
                      </a:r>
                      <a:r>
                        <a:rPr sz="2560"/>
                        <a:t> </a:t>
                      </a:r>
                      <a:endParaRPr sz="2560"/>
                    </a:p>
                    <a:p>
                      <a:pPr marL="0" lvl="0" indent="0">
                        <a:lnSpc>
                          <a:spcPct val="130000"/>
                        </a:lnSpc>
                        <a:buNone/>
                      </a:pPr>
                      <a:r>
                        <a:rPr sz="2560"/>
                        <a:t>Task 6:  </a:t>
                      </a:r>
                      <a:r>
                        <a:rPr sz="2845" b="1" i="1"/>
                        <a:t>C</a:t>
                      </a:r>
                      <a:r>
                        <a:rPr sz="2845" b="1" baseline="-25000"/>
                        <a:t>2,1</a:t>
                      </a:r>
                      <a:r>
                        <a:rPr sz="2845" i="1"/>
                        <a:t> </a:t>
                      </a:r>
                      <a:r>
                        <a:rPr sz="2845"/>
                        <a:t>=</a:t>
                      </a:r>
                      <a:r>
                        <a:rPr sz="2845" i="1"/>
                        <a:t> </a:t>
                      </a:r>
                      <a:r>
                        <a:rPr sz="2845" b="1" i="1" err="1"/>
                        <a:t>C</a:t>
                      </a:r>
                      <a:r>
                        <a:rPr sz="2845" b="1" baseline="-25000" err="1"/>
                        <a:t>2,1</a:t>
                      </a:r>
                      <a:r>
                        <a:rPr sz="2845" i="1"/>
                        <a:t> </a:t>
                      </a:r>
                      <a:r>
                        <a:rPr sz="2845"/>
                        <a:t>+</a:t>
                      </a:r>
                      <a:r>
                        <a:rPr sz="2845" i="1"/>
                        <a:t> </a:t>
                      </a:r>
                      <a:r>
                        <a:rPr sz="2845" b="1" i="1"/>
                        <a:t>A</a:t>
                      </a:r>
                      <a:r>
                        <a:rPr sz="2845" b="1" baseline="-25000"/>
                        <a:t>2,2</a:t>
                      </a:r>
                      <a:r>
                        <a:rPr sz="2845" b="1" i="1"/>
                        <a:t> B</a:t>
                      </a:r>
                      <a:r>
                        <a:rPr sz="2845" b="1" baseline="-25000"/>
                        <a:t>2,1</a:t>
                      </a:r>
                      <a:r>
                        <a:rPr sz="2560"/>
                        <a:t> </a:t>
                      </a:r>
                      <a:endParaRPr sz="2560"/>
                    </a:p>
                    <a:p>
                      <a:pPr marL="0" lvl="0" indent="0">
                        <a:lnSpc>
                          <a:spcPct val="130000"/>
                        </a:lnSpc>
                        <a:buNone/>
                      </a:pPr>
                      <a:r>
                        <a:rPr sz="2560"/>
                        <a:t>Task 7:  </a:t>
                      </a:r>
                      <a:r>
                        <a:rPr sz="2845" b="1" i="1"/>
                        <a:t>C</a:t>
                      </a:r>
                      <a:r>
                        <a:rPr sz="2845" b="1" baseline="-25000"/>
                        <a:t>2,2</a:t>
                      </a:r>
                      <a:r>
                        <a:rPr sz="2845" i="1"/>
                        <a:t> </a:t>
                      </a:r>
                      <a:r>
                        <a:rPr sz="2845"/>
                        <a:t>=</a:t>
                      </a:r>
                      <a:r>
                        <a:rPr sz="2845" i="1"/>
                        <a:t> </a:t>
                      </a:r>
                      <a:r>
                        <a:rPr sz="2845" b="1" i="1"/>
                        <a:t>A</a:t>
                      </a:r>
                      <a:r>
                        <a:rPr sz="2845" b="1" baseline="-25000"/>
                        <a:t>2,1</a:t>
                      </a:r>
                      <a:r>
                        <a:rPr sz="2845" b="1" i="1"/>
                        <a:t> B</a:t>
                      </a:r>
                      <a:r>
                        <a:rPr sz="2845" b="1" baseline="-25000"/>
                        <a:t>1,2</a:t>
                      </a:r>
                      <a:r>
                        <a:rPr sz="2560"/>
                        <a:t> </a:t>
                      </a:r>
                      <a:endParaRPr sz="2560"/>
                    </a:p>
                    <a:p>
                      <a:pPr marL="0" lvl="0" indent="0">
                        <a:lnSpc>
                          <a:spcPct val="140000"/>
                        </a:lnSpc>
                        <a:buNone/>
                      </a:pPr>
                      <a:r>
                        <a:rPr sz="2560"/>
                        <a:t>Task 8:  </a:t>
                      </a:r>
                      <a:r>
                        <a:rPr sz="2845" b="1" i="1"/>
                        <a:t>C</a:t>
                      </a:r>
                      <a:r>
                        <a:rPr sz="2845" b="1" baseline="-25000"/>
                        <a:t>2,2</a:t>
                      </a:r>
                      <a:r>
                        <a:rPr sz="2845" i="1"/>
                        <a:t> </a:t>
                      </a:r>
                      <a:r>
                        <a:rPr sz="2845"/>
                        <a:t>=</a:t>
                      </a:r>
                      <a:r>
                        <a:rPr sz="2845" i="1"/>
                        <a:t> </a:t>
                      </a:r>
                      <a:r>
                        <a:rPr sz="2845" b="1" i="1" err="1"/>
                        <a:t>C</a:t>
                      </a:r>
                      <a:r>
                        <a:rPr sz="2845" b="1" baseline="-25000" err="1"/>
                        <a:t>2,2</a:t>
                      </a:r>
                      <a:r>
                        <a:rPr sz="2845" b="1" i="1"/>
                        <a:t> </a:t>
                      </a:r>
                      <a:r>
                        <a:rPr sz="2845"/>
                        <a:t>+</a:t>
                      </a:r>
                      <a:r>
                        <a:rPr sz="2845" i="1"/>
                        <a:t> </a:t>
                      </a:r>
                      <a:r>
                        <a:rPr sz="2845" b="1" i="1"/>
                        <a:t>A</a:t>
                      </a:r>
                      <a:r>
                        <a:rPr sz="2845" b="1" baseline="-25000"/>
                        <a:t>2,2</a:t>
                      </a:r>
                      <a:r>
                        <a:rPr sz="2845" b="1" i="1"/>
                        <a:t> B</a:t>
                      </a:r>
                      <a:r>
                        <a:rPr sz="2845" b="1" baseline="-25000"/>
                        <a:t>2,2</a:t>
                      </a:r>
                      <a:r>
                        <a:rPr sz="2560"/>
                        <a:t> </a:t>
                      </a:r>
                      <a:endParaRPr lang="en-US" sz="2560"/>
                    </a:p>
                  </a:txBody>
                  <a:tcPr marL="130048" marR="130048" marT="65024" marB="65024">
                    <a:lnL cap="flat">
                      <a:noFill/>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nSpc>
                          <a:spcPct val="120000"/>
                        </a:lnSpc>
                        <a:buNone/>
                      </a:pPr>
                      <a:r>
                        <a:rPr sz="2560"/>
                        <a:t>Task 1:  </a:t>
                      </a:r>
                      <a:r>
                        <a:rPr sz="2845" b="1" i="1"/>
                        <a:t>C</a:t>
                      </a:r>
                      <a:r>
                        <a:rPr sz="2845" b="1" baseline="-25000"/>
                        <a:t>1,1</a:t>
                      </a:r>
                      <a:r>
                        <a:rPr sz="2845" i="1"/>
                        <a:t> </a:t>
                      </a:r>
                      <a:r>
                        <a:rPr sz="2845"/>
                        <a:t>=</a:t>
                      </a:r>
                      <a:r>
                        <a:rPr sz="2845" i="1"/>
                        <a:t> </a:t>
                      </a:r>
                      <a:r>
                        <a:rPr sz="2845" b="1" i="1"/>
                        <a:t>A</a:t>
                      </a:r>
                      <a:r>
                        <a:rPr sz="2845" b="1" baseline="-25000"/>
                        <a:t>1,1</a:t>
                      </a:r>
                      <a:r>
                        <a:rPr sz="2845" b="1" i="1"/>
                        <a:t> B</a:t>
                      </a:r>
                      <a:r>
                        <a:rPr sz="2845" b="1" baseline="-25000"/>
                        <a:t>1,1</a:t>
                      </a:r>
                      <a:r>
                        <a:rPr sz="2845" i="1"/>
                        <a:t> </a:t>
                      </a:r>
                      <a:r>
                        <a:rPr sz="2845"/>
                        <a:t> </a:t>
                      </a:r>
                      <a:r>
                        <a:rPr sz="2560"/>
                        <a:t> </a:t>
                      </a:r>
                      <a:endParaRPr sz="2560"/>
                    </a:p>
                    <a:p>
                      <a:pPr marL="0" lvl="0" indent="0">
                        <a:lnSpc>
                          <a:spcPct val="130000"/>
                        </a:lnSpc>
                        <a:buNone/>
                      </a:pPr>
                      <a:r>
                        <a:rPr sz="2560"/>
                        <a:t>Task 2:  </a:t>
                      </a:r>
                      <a:r>
                        <a:rPr sz="2845" b="1" i="1"/>
                        <a:t>C</a:t>
                      </a:r>
                      <a:r>
                        <a:rPr sz="2845" b="1" baseline="-25000"/>
                        <a:t>1,1</a:t>
                      </a:r>
                      <a:r>
                        <a:rPr sz="2845" i="1"/>
                        <a:t> </a:t>
                      </a:r>
                      <a:r>
                        <a:rPr sz="2845"/>
                        <a:t>=</a:t>
                      </a:r>
                      <a:r>
                        <a:rPr sz="2845" i="1"/>
                        <a:t> </a:t>
                      </a:r>
                      <a:r>
                        <a:rPr sz="2845" b="1" i="1" err="1"/>
                        <a:t>C</a:t>
                      </a:r>
                      <a:r>
                        <a:rPr sz="2845" b="1" baseline="-25000" err="1"/>
                        <a:t>1,1</a:t>
                      </a:r>
                      <a:r>
                        <a:rPr sz="2845" i="1"/>
                        <a:t> </a:t>
                      </a:r>
                      <a:r>
                        <a:rPr sz="2845"/>
                        <a:t>+</a:t>
                      </a:r>
                      <a:r>
                        <a:rPr sz="2845" i="1"/>
                        <a:t> </a:t>
                      </a:r>
                      <a:r>
                        <a:rPr sz="2845" b="1" i="1"/>
                        <a:t>A</a:t>
                      </a:r>
                      <a:r>
                        <a:rPr sz="2845" b="1" baseline="-25000"/>
                        <a:t>1,2</a:t>
                      </a:r>
                      <a:r>
                        <a:rPr sz="2845" b="1" i="1"/>
                        <a:t> B</a:t>
                      </a:r>
                      <a:r>
                        <a:rPr sz="2845" b="1" baseline="-25000"/>
                        <a:t>2,1</a:t>
                      </a:r>
                      <a:r>
                        <a:rPr sz="2560"/>
                        <a:t> </a:t>
                      </a:r>
                      <a:endParaRPr sz="2560"/>
                    </a:p>
                    <a:p>
                      <a:pPr marL="0" lvl="0" indent="0">
                        <a:lnSpc>
                          <a:spcPct val="130000"/>
                        </a:lnSpc>
                        <a:buNone/>
                      </a:pPr>
                      <a:r>
                        <a:rPr sz="2560"/>
                        <a:t>Task 3:  </a:t>
                      </a:r>
                      <a:r>
                        <a:rPr sz="2845" b="1" i="1"/>
                        <a:t>C</a:t>
                      </a:r>
                      <a:r>
                        <a:rPr sz="2845" b="1" baseline="-25000"/>
                        <a:t>1,2</a:t>
                      </a:r>
                      <a:r>
                        <a:rPr sz="2845" i="1"/>
                        <a:t> </a:t>
                      </a:r>
                      <a:r>
                        <a:rPr sz="2845"/>
                        <a:t>=</a:t>
                      </a:r>
                      <a:r>
                        <a:rPr sz="2845" i="1"/>
                        <a:t> </a:t>
                      </a:r>
                      <a:r>
                        <a:rPr sz="2845" b="1" i="1"/>
                        <a:t>A</a:t>
                      </a:r>
                      <a:r>
                        <a:rPr sz="2845" b="1" baseline="-25000"/>
                        <a:t>1,2</a:t>
                      </a:r>
                      <a:r>
                        <a:rPr sz="2845" b="1" i="1"/>
                        <a:t> B</a:t>
                      </a:r>
                      <a:r>
                        <a:rPr sz="2845" b="1" baseline="-25000"/>
                        <a:t>2,2</a:t>
                      </a:r>
                      <a:r>
                        <a:rPr sz="2560"/>
                        <a:t> </a:t>
                      </a:r>
                      <a:endParaRPr sz="2560"/>
                    </a:p>
                    <a:p>
                      <a:pPr marL="0" lvl="0" indent="0">
                        <a:lnSpc>
                          <a:spcPct val="120000"/>
                        </a:lnSpc>
                        <a:buNone/>
                      </a:pPr>
                      <a:r>
                        <a:rPr sz="2560"/>
                        <a:t>Task 4:  </a:t>
                      </a:r>
                      <a:r>
                        <a:rPr sz="2845" b="1" i="1"/>
                        <a:t>C</a:t>
                      </a:r>
                      <a:r>
                        <a:rPr sz="2845" b="1" baseline="-25000"/>
                        <a:t>1,2</a:t>
                      </a:r>
                      <a:r>
                        <a:rPr sz="2845" i="1"/>
                        <a:t> </a:t>
                      </a:r>
                      <a:r>
                        <a:rPr sz="2845"/>
                        <a:t>=</a:t>
                      </a:r>
                      <a:r>
                        <a:rPr sz="2845" i="1"/>
                        <a:t> </a:t>
                      </a:r>
                      <a:r>
                        <a:rPr sz="2845" b="1" i="1" err="1"/>
                        <a:t>C</a:t>
                      </a:r>
                      <a:r>
                        <a:rPr sz="2845" b="1" baseline="-25000" err="1"/>
                        <a:t>1,2</a:t>
                      </a:r>
                      <a:r>
                        <a:rPr sz="2845" b="1" i="1"/>
                        <a:t> </a:t>
                      </a:r>
                      <a:r>
                        <a:rPr sz="2845"/>
                        <a:t>+</a:t>
                      </a:r>
                      <a:r>
                        <a:rPr sz="2845" i="1"/>
                        <a:t> </a:t>
                      </a:r>
                      <a:r>
                        <a:rPr sz="2845" b="1" i="1"/>
                        <a:t>A</a:t>
                      </a:r>
                      <a:r>
                        <a:rPr sz="2845" b="1" baseline="-25000"/>
                        <a:t>1,1</a:t>
                      </a:r>
                      <a:r>
                        <a:rPr sz="2845" b="1" i="1"/>
                        <a:t> B</a:t>
                      </a:r>
                      <a:r>
                        <a:rPr sz="2845" b="1" baseline="-25000"/>
                        <a:t>1,2</a:t>
                      </a:r>
                      <a:r>
                        <a:rPr sz="2560"/>
                        <a:t> </a:t>
                      </a:r>
                      <a:endParaRPr sz="2560"/>
                    </a:p>
                    <a:p>
                      <a:pPr marL="0" lvl="0" indent="0">
                        <a:lnSpc>
                          <a:spcPct val="130000"/>
                        </a:lnSpc>
                        <a:buNone/>
                      </a:pPr>
                      <a:r>
                        <a:rPr sz="2560"/>
                        <a:t>Task 5:  </a:t>
                      </a:r>
                      <a:r>
                        <a:rPr sz="2845" b="1" i="1"/>
                        <a:t>C</a:t>
                      </a:r>
                      <a:r>
                        <a:rPr sz="2845" b="1" baseline="-25000"/>
                        <a:t>2,1</a:t>
                      </a:r>
                      <a:r>
                        <a:rPr sz="2845" i="1"/>
                        <a:t> </a:t>
                      </a:r>
                      <a:r>
                        <a:rPr sz="2845"/>
                        <a:t>=</a:t>
                      </a:r>
                      <a:r>
                        <a:rPr sz="2845" i="1"/>
                        <a:t> </a:t>
                      </a:r>
                      <a:r>
                        <a:rPr sz="2845" b="1" i="1"/>
                        <a:t>A</a:t>
                      </a:r>
                      <a:r>
                        <a:rPr sz="2845" b="1" baseline="-25000"/>
                        <a:t>2,2</a:t>
                      </a:r>
                      <a:r>
                        <a:rPr sz="2845" b="1" i="1"/>
                        <a:t> B</a:t>
                      </a:r>
                      <a:r>
                        <a:rPr sz="2845" b="1" baseline="-25000"/>
                        <a:t>2,1</a:t>
                      </a:r>
                      <a:r>
                        <a:rPr sz="2560"/>
                        <a:t> </a:t>
                      </a:r>
                      <a:endParaRPr sz="2560"/>
                    </a:p>
                    <a:p>
                      <a:pPr marL="0" lvl="0" indent="0">
                        <a:lnSpc>
                          <a:spcPct val="130000"/>
                        </a:lnSpc>
                        <a:buNone/>
                      </a:pPr>
                      <a:r>
                        <a:rPr sz="2560"/>
                        <a:t>Task 6:  </a:t>
                      </a:r>
                      <a:r>
                        <a:rPr sz="2845" b="1" i="1"/>
                        <a:t>C</a:t>
                      </a:r>
                      <a:r>
                        <a:rPr sz="2845" b="1" baseline="-25000"/>
                        <a:t>2,1</a:t>
                      </a:r>
                      <a:r>
                        <a:rPr sz="2845" i="1"/>
                        <a:t> </a:t>
                      </a:r>
                      <a:r>
                        <a:rPr sz="2845"/>
                        <a:t>=</a:t>
                      </a:r>
                      <a:r>
                        <a:rPr sz="2845" i="1"/>
                        <a:t> </a:t>
                      </a:r>
                      <a:r>
                        <a:rPr sz="2845" b="1" i="1" err="1"/>
                        <a:t>C</a:t>
                      </a:r>
                      <a:r>
                        <a:rPr sz="2845" b="1" baseline="-25000" err="1"/>
                        <a:t>2,1</a:t>
                      </a:r>
                      <a:r>
                        <a:rPr sz="2845" i="1"/>
                        <a:t> </a:t>
                      </a:r>
                      <a:r>
                        <a:rPr sz="2845"/>
                        <a:t>+</a:t>
                      </a:r>
                      <a:r>
                        <a:rPr sz="2845" i="1"/>
                        <a:t> </a:t>
                      </a:r>
                      <a:r>
                        <a:rPr sz="2845" b="1" i="1"/>
                        <a:t>A</a:t>
                      </a:r>
                      <a:r>
                        <a:rPr sz="2845" b="1" baseline="-25000"/>
                        <a:t>2,1</a:t>
                      </a:r>
                      <a:r>
                        <a:rPr sz="2845" b="1" i="1"/>
                        <a:t> B</a:t>
                      </a:r>
                      <a:r>
                        <a:rPr sz="2845" b="1" baseline="-25000"/>
                        <a:t>1,1</a:t>
                      </a:r>
                      <a:r>
                        <a:rPr sz="2560"/>
                        <a:t> </a:t>
                      </a:r>
                      <a:endParaRPr sz="2560"/>
                    </a:p>
                    <a:p>
                      <a:pPr marL="0" lvl="0" indent="0">
                        <a:lnSpc>
                          <a:spcPct val="130000"/>
                        </a:lnSpc>
                        <a:buNone/>
                      </a:pPr>
                      <a:r>
                        <a:rPr sz="2560"/>
                        <a:t>Task 7:  </a:t>
                      </a:r>
                      <a:r>
                        <a:rPr sz="2845" b="1" i="1"/>
                        <a:t>C</a:t>
                      </a:r>
                      <a:r>
                        <a:rPr sz="2845" b="1" baseline="-25000"/>
                        <a:t>2,2</a:t>
                      </a:r>
                      <a:r>
                        <a:rPr sz="2845" i="1"/>
                        <a:t> </a:t>
                      </a:r>
                      <a:r>
                        <a:rPr sz="2845"/>
                        <a:t>=</a:t>
                      </a:r>
                      <a:r>
                        <a:rPr sz="2845" i="1"/>
                        <a:t> </a:t>
                      </a:r>
                      <a:r>
                        <a:rPr sz="2845" b="1" i="1"/>
                        <a:t>A</a:t>
                      </a:r>
                      <a:r>
                        <a:rPr sz="2845" b="1" baseline="-25000"/>
                        <a:t>2,1</a:t>
                      </a:r>
                      <a:r>
                        <a:rPr sz="2845" b="1" i="1"/>
                        <a:t> B</a:t>
                      </a:r>
                      <a:r>
                        <a:rPr sz="2845" b="1" baseline="-25000"/>
                        <a:t>1,2</a:t>
                      </a:r>
                      <a:r>
                        <a:rPr sz="2560"/>
                        <a:t> </a:t>
                      </a:r>
                      <a:endParaRPr sz="2560"/>
                    </a:p>
                    <a:p>
                      <a:pPr marL="0" lvl="0" indent="0">
                        <a:lnSpc>
                          <a:spcPct val="140000"/>
                        </a:lnSpc>
                        <a:buNone/>
                      </a:pPr>
                      <a:r>
                        <a:rPr sz="2560"/>
                        <a:t>Task 8:  </a:t>
                      </a:r>
                      <a:r>
                        <a:rPr sz="2845" b="1" i="1"/>
                        <a:t>C</a:t>
                      </a:r>
                      <a:r>
                        <a:rPr sz="2845" b="1" baseline="-25000"/>
                        <a:t>2,2</a:t>
                      </a:r>
                      <a:r>
                        <a:rPr sz="2845" i="1"/>
                        <a:t> </a:t>
                      </a:r>
                      <a:r>
                        <a:rPr sz="2845"/>
                        <a:t>=</a:t>
                      </a:r>
                      <a:r>
                        <a:rPr sz="2845" i="1"/>
                        <a:t> </a:t>
                      </a:r>
                      <a:r>
                        <a:rPr sz="2845" b="1" i="1" err="1"/>
                        <a:t>C</a:t>
                      </a:r>
                      <a:r>
                        <a:rPr sz="2845" b="1" baseline="-25000" err="1"/>
                        <a:t>2,2</a:t>
                      </a:r>
                      <a:r>
                        <a:rPr sz="2845" b="1" i="1"/>
                        <a:t> </a:t>
                      </a:r>
                      <a:r>
                        <a:rPr sz="2845"/>
                        <a:t>+</a:t>
                      </a:r>
                      <a:r>
                        <a:rPr sz="2845" i="1"/>
                        <a:t> </a:t>
                      </a:r>
                      <a:r>
                        <a:rPr sz="2845" b="1" i="1"/>
                        <a:t>A</a:t>
                      </a:r>
                      <a:r>
                        <a:rPr sz="2845" b="1" baseline="-25000"/>
                        <a:t>2,2</a:t>
                      </a:r>
                      <a:r>
                        <a:rPr sz="2845" b="1" i="1"/>
                        <a:t> B</a:t>
                      </a:r>
                      <a:r>
                        <a:rPr sz="2845" b="1" baseline="-25000"/>
                        <a:t>2,2</a:t>
                      </a:r>
                      <a:r>
                        <a:rPr sz="2560"/>
                        <a:t> </a:t>
                      </a:r>
                      <a:endParaRPr lang="en-US" sz="2560"/>
                    </a:p>
                  </a:txBody>
                  <a:tcPr marL="130048" marR="130048" marT="65024" marB="65024">
                    <a:lnL w="12700" cap="flat" cmpd="sng">
                      <a:solidFill>
                        <a:schemeClr val="tx1"/>
                      </a:solidFill>
                      <a:prstDash val="solid"/>
                      <a:headEnd type="none" w="med" len="med"/>
                      <a:tailEnd type="none" w="med" len="med"/>
                    </a:lnL>
                    <a:lnR cap="flat">
                      <a:noFill/>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Title 40961"/>
          <p:cNvSpPr>
            <a:spLocks noGrp="1"/>
          </p:cNvSpPr>
          <p:nvPr>
            <p:ph type="title"/>
          </p:nvPr>
        </p:nvSpPr>
        <p:spPr/>
        <p:txBody>
          <a:bodyPr anchor="ctr" anchorCtr="0"/>
          <a:p>
            <a:r>
              <a:t>Output Data Decomposition: Example </a:t>
            </a:r>
          </a:p>
        </p:txBody>
      </p:sp>
      <p:sp>
        <p:nvSpPr>
          <p:cNvPr id="40963" name="Text Placeholder 40962"/>
          <p:cNvSpPr>
            <a:spLocks noGrp="1"/>
          </p:cNvSpPr>
          <p:nvPr>
            <p:ph type="body" sz="half" idx="1"/>
          </p:nvPr>
        </p:nvSpPr>
        <p:spPr>
          <a:xfrm>
            <a:off x="650240" y="1474330"/>
            <a:ext cx="11595947" cy="1343377"/>
          </a:xfrm>
        </p:spPr>
        <p:txBody>
          <a:bodyPr/>
          <a:p>
            <a:pPr algn="just">
              <a:lnSpc>
                <a:spcPct val="100000"/>
              </a:lnSpc>
              <a:buClrTx/>
              <a:buSzTx/>
              <a:buFontTx/>
              <a:buNone/>
            </a:pPr>
            <a:r>
              <a:rPr sz="2560"/>
              <a:t>	Consider the problem of counting the instances of given </a:t>
            </a:r>
            <a:r>
              <a:rPr sz="2560" dirty="0" err="1"/>
              <a:t>itemsets</a:t>
            </a:r>
            <a:r>
              <a:rPr sz="2560"/>
              <a:t> in a database of transactions. In this case, the output (</a:t>
            </a:r>
            <a:r>
              <a:rPr sz="2560" dirty="0" err="1"/>
              <a:t>itemset</a:t>
            </a:r>
            <a:r>
              <a:rPr sz="2560"/>
              <a:t> frequencies) can be partitioned across tasks. </a:t>
            </a:r>
            <a:endParaRPr sz="2560"/>
          </a:p>
        </p:txBody>
      </p:sp>
      <p:pic>
        <p:nvPicPr>
          <p:cNvPr id="40965" name="Content Placeholder 40964" descr="transdb1"/>
          <p:cNvPicPr>
            <a:picLocks noChangeAspect="1"/>
          </p:cNvPicPr>
          <p:nvPr>
            <p:ph sz="half" idx="2"/>
          </p:nvPr>
        </p:nvPicPr>
        <p:blipFill>
          <a:blip r:embed="rId1"/>
          <a:stretch>
            <a:fillRect/>
          </a:stretch>
        </p:blipFill>
        <p:spPr>
          <a:xfrm>
            <a:off x="2275840" y="2709333"/>
            <a:ext cx="8236373" cy="6935893"/>
          </a:xfr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Title 41985"/>
          <p:cNvSpPr>
            <a:spLocks noGrp="1"/>
          </p:cNvSpPr>
          <p:nvPr>
            <p:ph type="title"/>
          </p:nvPr>
        </p:nvSpPr>
        <p:spPr/>
        <p:txBody>
          <a:bodyPr anchor="ctr" anchorCtr="0"/>
          <a:p>
            <a:r>
              <a:t>Output Data Decomposition: Example </a:t>
            </a:r>
          </a:p>
        </p:txBody>
      </p:sp>
      <p:sp>
        <p:nvSpPr>
          <p:cNvPr id="41987" name="Text Placeholder 41986"/>
          <p:cNvSpPr>
            <a:spLocks noGrp="1"/>
          </p:cNvSpPr>
          <p:nvPr>
            <p:ph type="body" idx="1"/>
          </p:nvPr>
        </p:nvSpPr>
        <p:spPr/>
        <p:txBody>
          <a:bodyPr/>
          <a:p>
            <a:pPr>
              <a:buNone/>
            </a:pPr>
            <a:r>
              <a:t>	From the previous example, the following observations can be made: </a:t>
            </a:r>
          </a:p>
          <a:p>
            <a:pPr>
              <a:buNone/>
            </a:pPr>
          </a:p>
          <a:p>
            <a:r>
              <a:t>If the database of transactions is replicated across the processes, each task can be independently accomplished with no communication. </a:t>
            </a:r>
          </a:p>
          <a:p>
            <a:r>
              <a:t>If the database is partitioned across processes as well (for reasons of memory utilization), each task first computes partial counts. These counts are then aggregated at the appropriate task. </a:t>
            </a:r>
          </a:p>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Title 43009"/>
          <p:cNvSpPr>
            <a:spLocks noGrp="1"/>
          </p:cNvSpPr>
          <p:nvPr>
            <p:ph type="title"/>
          </p:nvPr>
        </p:nvSpPr>
        <p:spPr/>
        <p:txBody>
          <a:bodyPr anchor="ctr" anchorCtr="0"/>
          <a:p>
            <a:r>
              <a:t>Input Data Partitioning </a:t>
            </a:r>
          </a:p>
        </p:txBody>
      </p:sp>
      <p:sp>
        <p:nvSpPr>
          <p:cNvPr id="43011" name="Text Placeholder 43010"/>
          <p:cNvSpPr>
            <a:spLocks noGrp="1"/>
          </p:cNvSpPr>
          <p:nvPr>
            <p:ph type="body" idx="1"/>
          </p:nvPr>
        </p:nvSpPr>
        <p:spPr/>
        <p:txBody>
          <a:bodyPr/>
          <a:p>
            <a:r>
              <a:t>Generally applicable if each output can be naturally computed as a function of the input. </a:t>
            </a:r>
          </a:p>
          <a:p>
            <a:r>
              <a:t>In many cases, this is the only natural decomposition because the output is not clearly known a-priori (e.g., the problem of finding the minimum in a list, sorting a given list, etc.). </a:t>
            </a:r>
          </a:p>
          <a:p>
            <a:r>
              <a:t>A task is associated with each input data partition. The task performs as much of the computation with its part of the data. Subsequent processing combines these partial results.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Title 44033"/>
          <p:cNvSpPr>
            <a:spLocks noGrp="1"/>
          </p:cNvSpPr>
          <p:nvPr>
            <p:ph type="title"/>
          </p:nvPr>
        </p:nvSpPr>
        <p:spPr/>
        <p:txBody>
          <a:bodyPr anchor="ctr" anchorCtr="0"/>
          <a:p>
            <a:r>
              <a:t>Input Data Partitioning: Example </a:t>
            </a:r>
          </a:p>
        </p:txBody>
      </p:sp>
      <p:sp>
        <p:nvSpPr>
          <p:cNvPr id="44035" name="Text Placeholder 44034"/>
          <p:cNvSpPr>
            <a:spLocks noGrp="1"/>
          </p:cNvSpPr>
          <p:nvPr>
            <p:ph type="body" sz="half" idx="1"/>
          </p:nvPr>
        </p:nvSpPr>
        <p:spPr>
          <a:xfrm>
            <a:off x="650240" y="1474330"/>
            <a:ext cx="11704320" cy="2210364"/>
          </a:xfrm>
        </p:spPr>
        <p:txBody>
          <a:bodyPr/>
          <a:p>
            <a:pPr algn="just">
              <a:buClrTx/>
              <a:buSzTx/>
              <a:buFontTx/>
              <a:buNone/>
            </a:pPr>
            <a:r>
              <a:t>	In the database counting example, the input (i.e., the transaction set) can be partitioned. This induces a task decomposition in which each task generates partial counts for all </a:t>
            </a:r>
            <a:r>
              <a:rPr dirty="0" err="1"/>
              <a:t>itemsets</a:t>
            </a:r>
            <a:r>
              <a:t>. These are combined subsequently for aggregate counts. </a:t>
            </a:r>
          </a:p>
        </p:txBody>
      </p:sp>
      <p:pic>
        <p:nvPicPr>
          <p:cNvPr id="44036" name="Content Placeholder 44035" descr="tdb1"/>
          <p:cNvPicPr>
            <a:picLocks noChangeAspect="1"/>
          </p:cNvPicPr>
          <p:nvPr>
            <p:ph sz="half" idx="2"/>
          </p:nvPr>
        </p:nvPicPr>
        <p:blipFill>
          <a:blip r:embed="rId1"/>
          <a:stretch>
            <a:fillRect/>
          </a:stretch>
        </p:blipFill>
        <p:spPr>
          <a:xfrm>
            <a:off x="1733973" y="3901440"/>
            <a:ext cx="10401583" cy="4118187"/>
          </a:xfr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Title 53249"/>
          <p:cNvSpPr>
            <a:spLocks noGrp="1"/>
          </p:cNvSpPr>
          <p:nvPr>
            <p:ph type="title"/>
          </p:nvPr>
        </p:nvSpPr>
        <p:spPr/>
        <p:txBody>
          <a:bodyPr anchor="ctr" anchorCtr="0"/>
          <a:p>
            <a:r>
              <a:t>Partitioning Input </a:t>
            </a:r>
            <a:r>
              <a:rPr i="1"/>
              <a:t>and</a:t>
            </a:r>
            <a:r>
              <a:t> Output Data </a:t>
            </a:r>
          </a:p>
        </p:txBody>
      </p:sp>
      <p:sp>
        <p:nvSpPr>
          <p:cNvPr id="53251" name="Text Placeholder 53250"/>
          <p:cNvSpPr>
            <a:spLocks noGrp="1"/>
          </p:cNvSpPr>
          <p:nvPr>
            <p:ph type="body" sz="half" idx="1"/>
          </p:nvPr>
        </p:nvSpPr>
        <p:spPr>
          <a:xfrm>
            <a:off x="650240" y="1474330"/>
            <a:ext cx="11812693" cy="1885244"/>
          </a:xfrm>
        </p:spPr>
        <p:txBody>
          <a:bodyPr/>
          <a:p>
            <a:pPr algn="just">
              <a:buClrTx/>
              <a:buSzTx/>
              <a:buFontTx/>
              <a:buNone/>
            </a:pPr>
            <a:r>
              <a:t>	Often input and output data decomposition can be combined for a higher degree of concurrency. For the </a:t>
            </a:r>
            <a:r>
              <a:rPr dirty="0" err="1"/>
              <a:t>itemset</a:t>
            </a:r>
            <a:r>
              <a:t> counting example, the transaction set (input) and </a:t>
            </a:r>
            <a:r>
              <a:rPr dirty="0" err="1"/>
              <a:t>itemset</a:t>
            </a:r>
            <a:r>
              <a:t> counts (output) can both be decomposed as follows: </a:t>
            </a:r>
          </a:p>
        </p:txBody>
      </p:sp>
      <p:pic>
        <p:nvPicPr>
          <p:cNvPr id="53252" name="Content Placeholder 53251" descr="tdb2"/>
          <p:cNvPicPr>
            <a:picLocks noChangeAspect="1"/>
          </p:cNvPicPr>
          <p:nvPr>
            <p:ph sz="half" idx="2"/>
          </p:nvPr>
        </p:nvPicPr>
        <p:blipFill>
          <a:blip r:embed="rId1"/>
          <a:stretch>
            <a:fillRect/>
          </a:stretch>
        </p:blipFill>
        <p:spPr>
          <a:xfrm>
            <a:off x="2059093" y="3684693"/>
            <a:ext cx="9751343" cy="5527040"/>
          </a:xfr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Title 54273"/>
          <p:cNvSpPr>
            <a:spLocks noGrp="1"/>
          </p:cNvSpPr>
          <p:nvPr>
            <p:ph type="title"/>
          </p:nvPr>
        </p:nvSpPr>
        <p:spPr/>
        <p:txBody>
          <a:bodyPr anchor="ctr" anchorCtr="0"/>
          <a:p>
            <a:r>
              <a:t>Intermediate Data Partitioning </a:t>
            </a:r>
          </a:p>
        </p:txBody>
      </p:sp>
      <p:sp>
        <p:nvSpPr>
          <p:cNvPr id="54275" name="Text Placeholder 54274"/>
          <p:cNvSpPr>
            <a:spLocks noGrp="1"/>
          </p:cNvSpPr>
          <p:nvPr>
            <p:ph type="body" idx="1"/>
          </p:nvPr>
        </p:nvSpPr>
        <p:spPr/>
        <p:txBody>
          <a:bodyPr/>
          <a:p>
            <a:r>
              <a:t>Computation can often be viewed as a sequence of transformation from the input to the output data. </a:t>
            </a:r>
          </a:p>
          <a:p>
            <a:r>
              <a:t>In these cases, it is often beneficial to use one of the intermediate stages as a basis for decomposition. </a:t>
            </a:r>
          </a:p>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Title 55297"/>
          <p:cNvSpPr>
            <a:spLocks noGrp="1"/>
          </p:cNvSpPr>
          <p:nvPr>
            <p:ph type="title"/>
          </p:nvPr>
        </p:nvSpPr>
        <p:spPr/>
        <p:txBody>
          <a:bodyPr anchor="ctr" anchorCtr="0"/>
          <a:p>
            <a:r>
              <a:t>Intermediate Data Partitioning: Example </a:t>
            </a:r>
          </a:p>
        </p:txBody>
      </p:sp>
      <p:sp>
        <p:nvSpPr>
          <p:cNvPr id="55299" name="Text Placeholder 55298"/>
          <p:cNvSpPr>
            <a:spLocks noGrp="1"/>
          </p:cNvSpPr>
          <p:nvPr>
            <p:ph type="body" sz="half" idx="1"/>
          </p:nvPr>
        </p:nvSpPr>
        <p:spPr>
          <a:xfrm>
            <a:off x="650240" y="1474330"/>
            <a:ext cx="11487573" cy="1668497"/>
          </a:xfrm>
        </p:spPr>
        <p:txBody>
          <a:bodyPr/>
          <a:p>
            <a:pPr algn="just">
              <a:buClrTx/>
              <a:buSzTx/>
              <a:buFontTx/>
              <a:buNone/>
            </a:pPr>
            <a:r>
              <a:t>	Let us revisit the example of dense matrix multiplication. We first show how we can visualize this computation in terms of intermediate matrices  </a:t>
            </a:r>
            <a:r>
              <a:rPr b="1" i="1"/>
              <a:t>D</a:t>
            </a:r>
            <a:r>
              <a:t>. </a:t>
            </a:r>
          </a:p>
        </p:txBody>
      </p:sp>
      <p:pic>
        <p:nvPicPr>
          <p:cNvPr id="55301" name="Content Placeholder 55300" descr="mm3d"/>
          <p:cNvPicPr>
            <a:picLocks noChangeAspect="1"/>
          </p:cNvPicPr>
          <p:nvPr>
            <p:ph sz="half" idx="2"/>
          </p:nvPr>
        </p:nvPicPr>
        <p:blipFill>
          <a:blip r:embed="rId1"/>
          <a:stretch>
            <a:fillRect/>
          </a:stretch>
        </p:blipFill>
        <p:spPr>
          <a:xfrm>
            <a:off x="2819965" y="3251200"/>
            <a:ext cx="7150382" cy="5820551"/>
          </a:xfr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Title 56321"/>
          <p:cNvSpPr>
            <a:spLocks noGrp="1"/>
          </p:cNvSpPr>
          <p:nvPr>
            <p:ph type="title"/>
          </p:nvPr>
        </p:nvSpPr>
        <p:spPr/>
        <p:txBody>
          <a:bodyPr anchor="ctr" anchorCtr="0"/>
          <a:p>
            <a:r>
              <a:t>Intermediate Data Partitioning: Example </a:t>
            </a:r>
          </a:p>
        </p:txBody>
      </p:sp>
      <p:sp>
        <p:nvSpPr>
          <p:cNvPr id="56323" name="Text Placeholder 56322"/>
          <p:cNvSpPr>
            <a:spLocks noGrp="1"/>
          </p:cNvSpPr>
          <p:nvPr>
            <p:ph type="body" sz="half" idx="1"/>
          </p:nvPr>
        </p:nvSpPr>
        <p:spPr>
          <a:xfrm>
            <a:off x="650240" y="975360"/>
            <a:ext cx="11704320" cy="1408853"/>
          </a:xfrm>
        </p:spPr>
        <p:txBody>
          <a:bodyPr/>
          <a:p>
            <a:pPr>
              <a:lnSpc>
                <a:spcPct val="100000"/>
              </a:lnSpc>
              <a:buClrTx/>
              <a:buSzTx/>
              <a:buFontTx/>
              <a:buNone/>
            </a:pPr>
            <a:r>
              <a:rPr sz="2560"/>
              <a:t>	A decomposition of intermediate data structure   leads to the following decomposition into 8 + 4 tasks: </a:t>
            </a:r>
            <a:endParaRPr sz="2560"/>
          </a:p>
          <a:p>
            <a:pPr algn="ctr">
              <a:lnSpc>
                <a:spcPct val="100000"/>
              </a:lnSpc>
              <a:buClrTx/>
              <a:buSzTx/>
              <a:buFontTx/>
              <a:buNone/>
            </a:pPr>
            <a:r>
              <a:rPr sz="2560"/>
              <a:t>Stage I</a:t>
            </a:r>
            <a:endParaRPr sz="2560"/>
          </a:p>
        </p:txBody>
      </p:sp>
      <p:pic>
        <p:nvPicPr>
          <p:cNvPr id="56324" name="Content Placeholder 56323" descr="img37"/>
          <p:cNvPicPr>
            <a:picLocks noChangeAspect="1"/>
          </p:cNvPicPr>
          <p:nvPr>
            <p:ph sz="quarter" idx="2"/>
          </p:nvPr>
        </p:nvPicPr>
        <p:blipFill>
          <a:blip r:embed="rId1"/>
          <a:stretch>
            <a:fillRect/>
          </a:stretch>
        </p:blipFill>
        <p:spPr>
          <a:xfrm>
            <a:off x="1950720" y="2384213"/>
            <a:ext cx="9101103" cy="1885245"/>
          </a:xfrm>
        </p:spPr>
      </p:pic>
      <p:sp>
        <p:nvSpPr>
          <p:cNvPr id="56326" name="Text Box 56325"/>
          <p:cNvSpPr txBox="1"/>
          <p:nvPr/>
        </p:nvSpPr>
        <p:spPr>
          <a:xfrm>
            <a:off x="3034453" y="4334933"/>
            <a:ext cx="7044267" cy="441960"/>
          </a:xfrm>
          <a:prstGeom prst="rect">
            <a:avLst/>
          </a:prstGeom>
          <a:noFill/>
          <a:ln w="9525">
            <a:noFill/>
          </a:ln>
        </p:spPr>
        <p:txBody>
          <a:bodyPr>
            <a:spAutoFit/>
          </a:bodyPr>
          <a:p>
            <a:pPr algn="ctr">
              <a:spcBef>
                <a:spcPct val="50000"/>
              </a:spcBef>
            </a:pPr>
            <a:r>
              <a:rPr sz="2275"/>
              <a:t>Stage II</a:t>
            </a:r>
            <a:endParaRPr sz="2275"/>
          </a:p>
        </p:txBody>
      </p:sp>
      <p:pic>
        <p:nvPicPr>
          <p:cNvPr id="56327" name="Content Placeholder 56326" descr="img38"/>
          <p:cNvPicPr>
            <a:picLocks noChangeAspect="1"/>
          </p:cNvPicPr>
          <p:nvPr>
            <p:ph sz="quarter" idx="3"/>
          </p:nvPr>
        </p:nvPicPr>
        <p:blipFill>
          <a:blip r:embed="rId2"/>
          <a:stretch>
            <a:fillRect/>
          </a:stretch>
        </p:blipFill>
        <p:spPr>
          <a:xfrm>
            <a:off x="1950720" y="4876800"/>
            <a:ext cx="9101103" cy="1108570"/>
          </a:xfrm>
        </p:spPr>
      </p:pic>
      <p:graphicFrame>
        <p:nvGraphicFramePr>
          <p:cNvPr id="56451" name="Table 56450"/>
          <p:cNvGraphicFramePr/>
          <p:nvPr/>
        </p:nvGraphicFramePr>
        <p:xfrm>
          <a:off x="1408853" y="6068907"/>
          <a:ext cx="10078720" cy="3348990"/>
        </p:xfrm>
        <a:graphic>
          <a:graphicData uri="http://schemas.openxmlformats.org/drawingml/2006/table">
            <a:tbl>
              <a:tblPr/>
              <a:tblGrid>
                <a:gridCol w="5039360"/>
                <a:gridCol w="5039360"/>
              </a:tblGrid>
              <a:tr h="558165">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buNone/>
                      </a:pPr>
                      <a:r>
                        <a:rPr sz="2560"/>
                        <a:t>Task 01:  </a:t>
                      </a:r>
                      <a:r>
                        <a:rPr sz="2560" b="1" i="1"/>
                        <a:t>D</a:t>
                      </a:r>
                      <a:r>
                        <a:rPr sz="2560" baseline="-25000"/>
                        <a:t>1,1,1</a:t>
                      </a:r>
                      <a:r>
                        <a:rPr sz="2560"/>
                        <a:t>= </a:t>
                      </a:r>
                      <a:r>
                        <a:rPr sz="2560" b="1" i="1"/>
                        <a:t>A</a:t>
                      </a:r>
                      <a:r>
                        <a:rPr sz="2560" baseline="-25000"/>
                        <a:t>1,1 </a:t>
                      </a:r>
                      <a:r>
                        <a:rPr sz="2560" b="1" i="1"/>
                        <a:t>B</a:t>
                      </a:r>
                      <a:r>
                        <a:rPr sz="2560" baseline="-25000"/>
                        <a:t>1,1</a:t>
                      </a:r>
                      <a:endParaRPr lang="en-US" sz="2560" baseline="-25000"/>
                    </a:p>
                  </a:txBody>
                  <a:tcPr marL="130048" marR="130048" marT="65024" marB="65024">
                    <a:lnL cap="flat">
                      <a:noFill/>
                    </a:lnL>
                    <a:lnR>
                      <a:noFill/>
                    </a:lnR>
                    <a:lnT w="28575" cap="flat" cmpd="sng">
                      <a:solidFill>
                        <a:schemeClr val="tx1"/>
                      </a:solidFill>
                      <a:prstDash val="solid"/>
                      <a:headEnd type="none" w="med" len="med"/>
                      <a:tailEnd type="none" w="med" len="med"/>
                    </a:lnT>
                    <a:lnB>
                      <a:noFill/>
                    </a:lnB>
                    <a:lnTlToBr>
                      <a:noFill/>
                    </a:lnTlToBr>
                    <a:lnBlToTr>
                      <a:noFill/>
                    </a:lnBlToTr>
                    <a:noFill/>
                  </a:tcPr>
                </a:tc>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buNone/>
                      </a:pPr>
                      <a:r>
                        <a:rPr sz="2560"/>
                        <a:t>Task 02:  </a:t>
                      </a:r>
                      <a:r>
                        <a:rPr sz="2560" b="1" i="1"/>
                        <a:t>D</a:t>
                      </a:r>
                      <a:r>
                        <a:rPr sz="2560" baseline="-25000"/>
                        <a:t>2,1,1</a:t>
                      </a:r>
                      <a:r>
                        <a:rPr sz="2560"/>
                        <a:t>= </a:t>
                      </a:r>
                      <a:r>
                        <a:rPr sz="2560" b="1" i="1"/>
                        <a:t>A</a:t>
                      </a:r>
                      <a:r>
                        <a:rPr sz="2560" baseline="-25000"/>
                        <a:t>1,2 </a:t>
                      </a:r>
                      <a:r>
                        <a:rPr sz="2560" b="1" i="1"/>
                        <a:t>B</a:t>
                      </a:r>
                      <a:r>
                        <a:rPr sz="2560" baseline="-25000"/>
                        <a:t>2,1</a:t>
                      </a:r>
                      <a:endParaRPr lang="en-US" sz="2560" baseline="-25000"/>
                    </a:p>
                  </a:txBody>
                  <a:tcPr marL="130048" marR="130048" marT="65024" marB="65024">
                    <a:lnL>
                      <a:noFill/>
                    </a:lnL>
                    <a:lnR cap="flat">
                      <a:noFill/>
                    </a:lnR>
                    <a:lnT w="28575" cap="flat" cmpd="sng">
                      <a:solidFill>
                        <a:schemeClr val="tx1"/>
                      </a:solidFill>
                      <a:prstDash val="solid"/>
                      <a:headEnd type="none" w="med" len="med"/>
                      <a:tailEnd type="none" w="med" len="med"/>
                    </a:lnT>
                    <a:lnB>
                      <a:noFill/>
                    </a:lnB>
                    <a:lnTlToBr>
                      <a:noFill/>
                    </a:lnTlToBr>
                    <a:lnBlToTr>
                      <a:noFill/>
                    </a:lnBlToTr>
                    <a:noFill/>
                  </a:tcPr>
                </a:tc>
              </a:tr>
              <a:tr h="558165">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buNone/>
                      </a:pPr>
                      <a:r>
                        <a:rPr sz="2560"/>
                        <a:t>Task 03:  </a:t>
                      </a:r>
                      <a:r>
                        <a:rPr sz="2560" b="1" i="1"/>
                        <a:t>D</a:t>
                      </a:r>
                      <a:r>
                        <a:rPr sz="2560" baseline="-25000"/>
                        <a:t>1,1,2</a:t>
                      </a:r>
                      <a:r>
                        <a:rPr sz="2560"/>
                        <a:t>= </a:t>
                      </a:r>
                      <a:r>
                        <a:rPr sz="2560" b="1" i="1"/>
                        <a:t>A</a:t>
                      </a:r>
                      <a:r>
                        <a:rPr sz="2560" baseline="-25000"/>
                        <a:t>1,1 </a:t>
                      </a:r>
                      <a:r>
                        <a:rPr sz="2560" b="1" i="1"/>
                        <a:t>B</a:t>
                      </a:r>
                      <a:r>
                        <a:rPr sz="2560" baseline="-25000"/>
                        <a:t>1,2</a:t>
                      </a:r>
                      <a:endParaRPr lang="en-US" sz="2560" baseline="-25000"/>
                    </a:p>
                  </a:txBody>
                  <a:tcPr marL="130048" marR="130048" marT="65024" marB="65024">
                    <a:lnL cap="flat">
                      <a:noFill/>
                    </a:lnL>
                    <a:lnR>
                      <a:noFill/>
                    </a:lnR>
                    <a:lnT>
                      <a:noFill/>
                    </a:lnT>
                    <a:lnB>
                      <a:noFill/>
                    </a:lnB>
                    <a:lnTlToBr>
                      <a:noFill/>
                    </a:lnTlToBr>
                    <a:lnBlToTr>
                      <a:noFill/>
                    </a:lnBlToTr>
                    <a:noFill/>
                  </a:tcPr>
                </a:tc>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buNone/>
                      </a:pPr>
                      <a:r>
                        <a:rPr sz="2560"/>
                        <a:t>Task 04:  </a:t>
                      </a:r>
                      <a:r>
                        <a:rPr sz="2560" b="1" i="1"/>
                        <a:t>D</a:t>
                      </a:r>
                      <a:r>
                        <a:rPr sz="2560" baseline="-25000"/>
                        <a:t>2,1,2</a:t>
                      </a:r>
                      <a:r>
                        <a:rPr sz="2560"/>
                        <a:t>= </a:t>
                      </a:r>
                      <a:r>
                        <a:rPr sz="2560" b="1" i="1"/>
                        <a:t>A</a:t>
                      </a:r>
                      <a:r>
                        <a:rPr sz="2560" baseline="-25000"/>
                        <a:t>1,2 </a:t>
                      </a:r>
                      <a:r>
                        <a:rPr sz="2560" b="1" i="1"/>
                        <a:t>B</a:t>
                      </a:r>
                      <a:r>
                        <a:rPr sz="2560" baseline="-25000"/>
                        <a:t>2,2</a:t>
                      </a:r>
                      <a:endParaRPr lang="en-US" sz="2560"/>
                    </a:p>
                  </a:txBody>
                  <a:tcPr marL="130048" marR="130048" marT="65024" marB="65024">
                    <a:lnL>
                      <a:noFill/>
                    </a:lnL>
                    <a:lnR cap="flat">
                      <a:noFill/>
                    </a:lnR>
                    <a:lnT>
                      <a:noFill/>
                    </a:lnT>
                    <a:lnB>
                      <a:noFill/>
                    </a:lnB>
                    <a:lnTlToBr>
                      <a:noFill/>
                    </a:lnTlToBr>
                    <a:lnBlToTr>
                      <a:noFill/>
                    </a:lnBlToTr>
                    <a:noFill/>
                  </a:tcPr>
                </a:tc>
              </a:tr>
              <a:tr h="558165">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buNone/>
                      </a:pPr>
                      <a:r>
                        <a:rPr sz="2560"/>
                        <a:t>Task 05:  </a:t>
                      </a:r>
                      <a:r>
                        <a:rPr sz="2560" b="1" i="1"/>
                        <a:t>D</a:t>
                      </a:r>
                      <a:r>
                        <a:rPr sz="2560" baseline="-25000"/>
                        <a:t>1,2,1</a:t>
                      </a:r>
                      <a:r>
                        <a:rPr sz="2560"/>
                        <a:t>= </a:t>
                      </a:r>
                      <a:r>
                        <a:rPr sz="2560" b="1" i="1"/>
                        <a:t>A</a:t>
                      </a:r>
                      <a:r>
                        <a:rPr sz="2560" baseline="-25000"/>
                        <a:t>2,1 </a:t>
                      </a:r>
                      <a:r>
                        <a:rPr sz="2560" b="1" i="1"/>
                        <a:t>B</a:t>
                      </a:r>
                      <a:r>
                        <a:rPr sz="2560" baseline="-25000"/>
                        <a:t>1,1</a:t>
                      </a:r>
                      <a:endParaRPr lang="en-US" sz="2560" baseline="-25000"/>
                    </a:p>
                  </a:txBody>
                  <a:tcPr marL="130048" marR="130048" marT="65024" marB="65024">
                    <a:lnL cap="flat">
                      <a:noFill/>
                    </a:lnL>
                    <a:lnR>
                      <a:noFill/>
                    </a:lnR>
                    <a:lnT>
                      <a:noFill/>
                    </a:lnT>
                    <a:lnB>
                      <a:noFill/>
                    </a:lnB>
                    <a:lnTlToBr>
                      <a:noFill/>
                    </a:lnTlToBr>
                    <a:lnBlToTr>
                      <a:noFill/>
                    </a:lnBlToTr>
                    <a:noFill/>
                  </a:tcPr>
                </a:tc>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buNone/>
                      </a:pPr>
                      <a:r>
                        <a:rPr sz="2560"/>
                        <a:t>Task 06:  </a:t>
                      </a:r>
                      <a:r>
                        <a:rPr sz="2560" b="1" i="1"/>
                        <a:t>D</a:t>
                      </a:r>
                      <a:r>
                        <a:rPr sz="2560" baseline="-25000"/>
                        <a:t>2,2,1</a:t>
                      </a:r>
                      <a:r>
                        <a:rPr sz="2560"/>
                        <a:t>= </a:t>
                      </a:r>
                      <a:r>
                        <a:rPr sz="2560" b="1" i="1"/>
                        <a:t>A</a:t>
                      </a:r>
                      <a:r>
                        <a:rPr sz="2560" baseline="-25000"/>
                        <a:t>2,2 </a:t>
                      </a:r>
                      <a:r>
                        <a:rPr sz="2560" b="1" i="1"/>
                        <a:t>B</a:t>
                      </a:r>
                      <a:r>
                        <a:rPr sz="2560" baseline="-25000"/>
                        <a:t>2,1</a:t>
                      </a:r>
                      <a:endParaRPr lang="en-US" sz="2560"/>
                    </a:p>
                  </a:txBody>
                  <a:tcPr marL="130048" marR="130048" marT="65024" marB="65024">
                    <a:lnL>
                      <a:noFill/>
                    </a:lnL>
                    <a:lnR cap="flat">
                      <a:noFill/>
                    </a:lnR>
                    <a:lnT>
                      <a:noFill/>
                    </a:lnT>
                    <a:lnB>
                      <a:noFill/>
                    </a:lnB>
                    <a:lnTlToBr>
                      <a:noFill/>
                    </a:lnTlToBr>
                    <a:lnBlToTr>
                      <a:noFill/>
                    </a:lnBlToTr>
                    <a:noFill/>
                  </a:tcPr>
                </a:tc>
              </a:tr>
              <a:tr h="558165">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buNone/>
                      </a:pPr>
                      <a:r>
                        <a:rPr sz="2560"/>
                        <a:t>Task 07:  </a:t>
                      </a:r>
                      <a:r>
                        <a:rPr sz="2560" b="1" i="1"/>
                        <a:t>D</a:t>
                      </a:r>
                      <a:r>
                        <a:rPr sz="2560" baseline="-25000"/>
                        <a:t>1,2,2</a:t>
                      </a:r>
                      <a:r>
                        <a:rPr sz="2560"/>
                        <a:t>= </a:t>
                      </a:r>
                      <a:r>
                        <a:rPr sz="2560" b="1" i="1"/>
                        <a:t>A</a:t>
                      </a:r>
                      <a:r>
                        <a:rPr sz="2560" baseline="-25000"/>
                        <a:t>2,1 </a:t>
                      </a:r>
                      <a:r>
                        <a:rPr sz="2560" b="1" i="1"/>
                        <a:t>B</a:t>
                      </a:r>
                      <a:r>
                        <a:rPr sz="2560" baseline="-25000"/>
                        <a:t>1,2</a:t>
                      </a:r>
                      <a:endParaRPr lang="en-US" sz="2560" baseline="-25000"/>
                    </a:p>
                  </a:txBody>
                  <a:tcPr marL="130048" marR="130048" marT="65024" marB="65024">
                    <a:lnL cap="flat">
                      <a:noFill/>
                    </a:lnL>
                    <a:lnR>
                      <a:noFill/>
                    </a:lnR>
                    <a:lnT>
                      <a:noFill/>
                    </a:lnT>
                    <a:lnB>
                      <a:noFill/>
                    </a:lnB>
                    <a:lnTlToBr>
                      <a:noFill/>
                    </a:lnTlToBr>
                    <a:lnBlToTr>
                      <a:noFill/>
                    </a:lnBlToTr>
                    <a:noFill/>
                  </a:tcPr>
                </a:tc>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buNone/>
                      </a:pPr>
                      <a:r>
                        <a:rPr sz="2560"/>
                        <a:t>Task 08:  </a:t>
                      </a:r>
                      <a:r>
                        <a:rPr sz="2560" b="1" i="1"/>
                        <a:t>D</a:t>
                      </a:r>
                      <a:r>
                        <a:rPr sz="2560" baseline="-25000"/>
                        <a:t>2,2,2</a:t>
                      </a:r>
                      <a:r>
                        <a:rPr sz="2560"/>
                        <a:t>= </a:t>
                      </a:r>
                      <a:r>
                        <a:rPr sz="2560" b="1" i="1"/>
                        <a:t>A</a:t>
                      </a:r>
                      <a:r>
                        <a:rPr sz="2560" baseline="-25000"/>
                        <a:t>2,2 </a:t>
                      </a:r>
                      <a:r>
                        <a:rPr sz="2560" b="1" i="1"/>
                        <a:t>B</a:t>
                      </a:r>
                      <a:r>
                        <a:rPr sz="2560" baseline="-25000"/>
                        <a:t>2,2</a:t>
                      </a:r>
                      <a:endParaRPr lang="en-US" sz="2560"/>
                    </a:p>
                  </a:txBody>
                  <a:tcPr marL="130048" marR="130048" marT="65024" marB="65024">
                    <a:lnL>
                      <a:noFill/>
                    </a:lnL>
                    <a:lnR cap="flat">
                      <a:noFill/>
                    </a:lnR>
                    <a:lnT>
                      <a:noFill/>
                    </a:lnT>
                    <a:lnB>
                      <a:noFill/>
                    </a:lnB>
                    <a:lnTlToBr>
                      <a:noFill/>
                    </a:lnTlToBr>
                    <a:lnBlToTr>
                      <a:noFill/>
                    </a:lnBlToTr>
                    <a:noFill/>
                  </a:tcPr>
                </a:tc>
              </a:tr>
              <a:tr h="558165">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buNone/>
                      </a:pPr>
                      <a:r>
                        <a:rPr sz="2560"/>
                        <a:t>Task 09:  </a:t>
                      </a:r>
                      <a:r>
                        <a:rPr sz="2560" b="1" i="1"/>
                        <a:t>C</a:t>
                      </a:r>
                      <a:r>
                        <a:rPr sz="2560" baseline="-25000"/>
                        <a:t>1,1 </a:t>
                      </a:r>
                      <a:r>
                        <a:rPr sz="2560"/>
                        <a:t>= </a:t>
                      </a:r>
                      <a:r>
                        <a:rPr sz="2560" b="1" i="1"/>
                        <a:t>D</a:t>
                      </a:r>
                      <a:r>
                        <a:rPr sz="2560" baseline="-25000"/>
                        <a:t>1,1,1</a:t>
                      </a:r>
                      <a:r>
                        <a:rPr sz="2560"/>
                        <a:t> + </a:t>
                      </a:r>
                      <a:r>
                        <a:rPr sz="2560" b="1" i="1"/>
                        <a:t>D</a:t>
                      </a:r>
                      <a:r>
                        <a:rPr sz="2560" baseline="-25000"/>
                        <a:t>2,1,1</a:t>
                      </a:r>
                      <a:endParaRPr lang="en-US" sz="2560" baseline="-25000"/>
                    </a:p>
                  </a:txBody>
                  <a:tcPr marL="130048" marR="130048" marT="65024" marB="65024">
                    <a:lnL cap="flat">
                      <a:noFill/>
                    </a:lnL>
                    <a:lnR>
                      <a:noFill/>
                    </a:lnR>
                    <a:lnT>
                      <a:noFill/>
                    </a:lnT>
                    <a:lnB>
                      <a:noFill/>
                    </a:lnB>
                    <a:lnTlToBr>
                      <a:noFill/>
                    </a:lnTlToBr>
                    <a:lnBlToTr>
                      <a:noFill/>
                    </a:lnBlToTr>
                    <a:noFill/>
                  </a:tcPr>
                </a:tc>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buNone/>
                      </a:pPr>
                      <a:r>
                        <a:rPr sz="2560"/>
                        <a:t>Task 10:  </a:t>
                      </a:r>
                      <a:r>
                        <a:rPr sz="2560" b="1" i="1"/>
                        <a:t>C</a:t>
                      </a:r>
                      <a:r>
                        <a:rPr sz="2560" baseline="-25000"/>
                        <a:t>1,2</a:t>
                      </a:r>
                      <a:r>
                        <a:rPr sz="2560" b="1" i="1"/>
                        <a:t> </a:t>
                      </a:r>
                      <a:r>
                        <a:rPr sz="2560"/>
                        <a:t>= </a:t>
                      </a:r>
                      <a:r>
                        <a:rPr sz="2560" b="1" i="1"/>
                        <a:t>D</a:t>
                      </a:r>
                      <a:r>
                        <a:rPr sz="2560" baseline="-25000"/>
                        <a:t>1,1,2 </a:t>
                      </a:r>
                      <a:r>
                        <a:rPr sz="2560"/>
                        <a:t>+ </a:t>
                      </a:r>
                      <a:r>
                        <a:rPr sz="2560" b="1" i="1"/>
                        <a:t>D</a:t>
                      </a:r>
                      <a:r>
                        <a:rPr sz="2560" baseline="-25000"/>
                        <a:t>2,1,2</a:t>
                      </a:r>
                      <a:endParaRPr lang="en-US" sz="2560" baseline="-25000"/>
                    </a:p>
                  </a:txBody>
                  <a:tcPr marL="130048" marR="130048" marT="65024" marB="65024">
                    <a:lnL>
                      <a:noFill/>
                    </a:lnL>
                    <a:lnR cap="flat">
                      <a:noFill/>
                    </a:lnR>
                    <a:lnT>
                      <a:noFill/>
                    </a:lnT>
                    <a:lnB>
                      <a:noFill/>
                    </a:lnB>
                    <a:lnTlToBr>
                      <a:noFill/>
                    </a:lnTlToBr>
                    <a:lnBlToTr>
                      <a:noFill/>
                    </a:lnBlToTr>
                    <a:noFill/>
                  </a:tcPr>
                </a:tc>
              </a:tr>
              <a:tr h="558165">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buNone/>
                      </a:pPr>
                      <a:r>
                        <a:rPr sz="2560"/>
                        <a:t>Task 11:  </a:t>
                      </a:r>
                      <a:r>
                        <a:rPr sz="2560" b="1" i="1"/>
                        <a:t>C</a:t>
                      </a:r>
                      <a:r>
                        <a:rPr sz="2560" baseline="-25000"/>
                        <a:t>2,1 </a:t>
                      </a:r>
                      <a:r>
                        <a:rPr sz="2560"/>
                        <a:t>= </a:t>
                      </a:r>
                      <a:r>
                        <a:rPr sz="2560" b="1" i="1"/>
                        <a:t>D</a:t>
                      </a:r>
                      <a:r>
                        <a:rPr sz="2560" baseline="-25000"/>
                        <a:t>1,2,1 </a:t>
                      </a:r>
                      <a:r>
                        <a:rPr sz="2560"/>
                        <a:t>+ </a:t>
                      </a:r>
                      <a:r>
                        <a:rPr sz="2560" b="1" i="1"/>
                        <a:t>D</a:t>
                      </a:r>
                      <a:r>
                        <a:rPr sz="2560" baseline="-25000"/>
                        <a:t>2,2,1</a:t>
                      </a:r>
                      <a:endParaRPr lang="en-US" sz="2560" baseline="-25000"/>
                    </a:p>
                  </a:txBody>
                  <a:tcPr marL="130048" marR="130048" marT="65024" marB="65024">
                    <a:lnL cap="flat">
                      <a:noFill/>
                    </a:lnL>
                    <a:lnR>
                      <a:noFill/>
                    </a:lnR>
                    <a:lnT>
                      <a:noFill/>
                    </a:lnT>
                    <a:lnB cap="flat">
                      <a:noFill/>
                    </a:lnB>
                    <a:lnTlToBr>
                      <a:noFill/>
                    </a:lnTlToBr>
                    <a:lnBlToTr>
                      <a:noFill/>
                    </a:lnBlToTr>
                    <a:noFill/>
                  </a:tcPr>
                </a:tc>
                <a:tc>
                  <a: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buNone/>
                      </a:pPr>
                      <a:r>
                        <a:rPr sz="2560"/>
                        <a:t>Task 12:  </a:t>
                      </a:r>
                      <a:r>
                        <a:rPr sz="2560" b="1" i="1"/>
                        <a:t>C</a:t>
                      </a:r>
                      <a:r>
                        <a:rPr sz="2560" baseline="-25000"/>
                        <a:t>2,,2 </a:t>
                      </a:r>
                      <a:r>
                        <a:rPr sz="2560"/>
                        <a:t>= </a:t>
                      </a:r>
                      <a:r>
                        <a:rPr sz="2560" b="1" i="1"/>
                        <a:t>D</a:t>
                      </a:r>
                      <a:r>
                        <a:rPr sz="2560" baseline="-25000"/>
                        <a:t>1,2,2 </a:t>
                      </a:r>
                      <a:r>
                        <a:rPr sz="2560"/>
                        <a:t>+ </a:t>
                      </a:r>
                      <a:r>
                        <a:rPr sz="2560" b="1" i="1"/>
                        <a:t>D</a:t>
                      </a:r>
                      <a:r>
                        <a:rPr sz="2560" baseline="-25000"/>
                        <a:t>2,2,2</a:t>
                      </a:r>
                      <a:endParaRPr lang="en-US" sz="2560" baseline="-25000"/>
                    </a:p>
                  </a:txBody>
                  <a:tcPr marL="130048" marR="130048" marT="65024" marB="65024">
                    <a:lnL>
                      <a:noFill/>
                    </a:lnL>
                    <a:lnR cap="flat">
                      <a:noFill/>
                    </a:lnR>
                    <a:lnT>
                      <a:noFill/>
                    </a:lnT>
                    <a:lnB cap="flat">
                      <a:noFill/>
                    </a:lnB>
                    <a:lnTlToBr>
                      <a:noFill/>
                    </a:lnTlToBr>
                    <a:lnBlToTr>
                      <a:noFill/>
                    </a:lnBlToTr>
                    <a:noFill/>
                  </a:tcPr>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Title 57345"/>
          <p:cNvSpPr>
            <a:spLocks noGrp="1"/>
          </p:cNvSpPr>
          <p:nvPr>
            <p:ph type="title"/>
          </p:nvPr>
        </p:nvSpPr>
        <p:spPr/>
        <p:txBody>
          <a:bodyPr anchor="ctr" anchorCtr="0"/>
          <a:p>
            <a:r>
              <a:t>Intermediate Data Partitioning: Example </a:t>
            </a:r>
          </a:p>
        </p:txBody>
      </p:sp>
      <p:sp>
        <p:nvSpPr>
          <p:cNvPr id="57347" name="Text Placeholder 57346"/>
          <p:cNvSpPr>
            <a:spLocks noGrp="1"/>
          </p:cNvSpPr>
          <p:nvPr>
            <p:ph type="body" sz="half" idx="1"/>
          </p:nvPr>
        </p:nvSpPr>
        <p:spPr>
          <a:xfrm>
            <a:off x="650240" y="1474330"/>
            <a:ext cx="11595947" cy="1343377"/>
          </a:xfrm>
        </p:spPr>
        <p:txBody>
          <a:bodyPr/>
          <a:p>
            <a:pPr algn="just">
              <a:buClrTx/>
              <a:buSzTx/>
              <a:buFontTx/>
              <a:buNone/>
            </a:pPr>
            <a:r>
              <a:t>	The task dependency graph for the decomposition (shown in previous foil) into 12 tasks is as follows: </a:t>
            </a:r>
          </a:p>
        </p:txBody>
      </p:sp>
      <p:pic>
        <p:nvPicPr>
          <p:cNvPr id="57348" name="Content Placeholder 57347" descr="mmtd2"/>
          <p:cNvPicPr>
            <a:picLocks noChangeAspect="1"/>
          </p:cNvPicPr>
          <p:nvPr>
            <p:ph sz="quarter" idx="2"/>
          </p:nvPr>
        </p:nvPicPr>
        <p:blipFill>
          <a:blip r:embed="rId1"/>
          <a:stretch>
            <a:fillRect/>
          </a:stretch>
        </p:blipFill>
        <p:spPr>
          <a:xfrm>
            <a:off x="2275840" y="3576320"/>
            <a:ext cx="9101103" cy="1767841"/>
          </a:xfr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Title 58369"/>
          <p:cNvSpPr>
            <a:spLocks noGrp="1"/>
          </p:cNvSpPr>
          <p:nvPr>
            <p:ph type="title"/>
          </p:nvPr>
        </p:nvSpPr>
        <p:spPr/>
        <p:txBody>
          <a:bodyPr anchor="ctr" anchorCtr="0"/>
          <a:p>
            <a:r>
              <a:t>The Owner Computes Rule </a:t>
            </a:r>
          </a:p>
        </p:txBody>
      </p:sp>
      <p:sp>
        <p:nvSpPr>
          <p:cNvPr id="58371" name="Text Placeholder 58370"/>
          <p:cNvSpPr>
            <a:spLocks noGrp="1"/>
          </p:cNvSpPr>
          <p:nvPr>
            <p:ph type="body" idx="1"/>
          </p:nvPr>
        </p:nvSpPr>
        <p:spPr/>
        <p:txBody>
          <a:bodyPr/>
          <a:p>
            <a:r>
              <a:t>The </a:t>
            </a:r>
            <a:r>
              <a:rPr i="1"/>
              <a:t>Owner Computes Rule</a:t>
            </a:r>
            <a:r>
              <a:t> generally states that the process </a:t>
            </a:r>
            <a:r>
              <a:rPr dirty="0" err="1"/>
              <a:t>assined</a:t>
            </a:r>
            <a:r>
              <a:t> a particular data item is responsible for all computation associated with it. </a:t>
            </a:r>
          </a:p>
          <a:p>
            <a:r>
              <a:t>In the case of input data decomposition, the owner computes rule </a:t>
            </a:r>
            <a:r>
              <a:rPr dirty="0" err="1"/>
              <a:t>imples</a:t>
            </a:r>
            <a:r>
              <a:t> that all computations that use the input data are performed by the process. </a:t>
            </a:r>
          </a:p>
          <a:p>
            <a:r>
              <a:t>In the case of output data decomposition, the owner computes rule implies that the output is computed by the process to which the output data is assigned. </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Title 59393"/>
          <p:cNvSpPr>
            <a:spLocks noGrp="1"/>
          </p:cNvSpPr>
          <p:nvPr>
            <p:ph type="title"/>
          </p:nvPr>
        </p:nvSpPr>
        <p:spPr/>
        <p:txBody>
          <a:bodyPr anchor="ctr" anchorCtr="0"/>
          <a:p>
            <a:r>
              <a:t>Exploratory Decomposition </a:t>
            </a:r>
          </a:p>
        </p:txBody>
      </p:sp>
      <p:sp>
        <p:nvSpPr>
          <p:cNvPr id="59395" name="Text Placeholder 59394"/>
          <p:cNvSpPr>
            <a:spLocks noGrp="1"/>
          </p:cNvSpPr>
          <p:nvPr>
            <p:ph type="body" idx="1"/>
          </p:nvPr>
        </p:nvSpPr>
        <p:spPr/>
        <p:txBody>
          <a:bodyPr/>
          <a:p>
            <a:pPr algn="just"/>
            <a:r>
              <a:t>In many cases, the decomposition of the problem goes hand-in-hand with its execution. </a:t>
            </a:r>
          </a:p>
          <a:p>
            <a:pPr algn="just"/>
            <a:r>
              <a:t>These problems typically involve the exploration (search) of a state space of solutions. </a:t>
            </a:r>
          </a:p>
          <a:p>
            <a:pPr algn="just"/>
            <a:r>
              <a:t>Problems in this class include a variety of discrete optimization problems (0/1 integer programming, QAP, etc.), theorem proving, game playing, etc. </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Title 60417"/>
          <p:cNvSpPr>
            <a:spLocks noGrp="1"/>
          </p:cNvSpPr>
          <p:nvPr>
            <p:ph type="title"/>
          </p:nvPr>
        </p:nvSpPr>
        <p:spPr/>
        <p:txBody>
          <a:bodyPr anchor="ctr" anchorCtr="0"/>
          <a:p>
            <a:r>
              <a:t>Exploratory Decomposition: Example </a:t>
            </a:r>
          </a:p>
        </p:txBody>
      </p:sp>
      <p:sp>
        <p:nvSpPr>
          <p:cNvPr id="60419" name="Text Placeholder 60418"/>
          <p:cNvSpPr>
            <a:spLocks noGrp="1"/>
          </p:cNvSpPr>
          <p:nvPr>
            <p:ph type="body" sz="half" idx="1"/>
          </p:nvPr>
        </p:nvSpPr>
        <p:spPr>
          <a:xfrm>
            <a:off x="650240" y="1474330"/>
            <a:ext cx="11704320" cy="1668497"/>
          </a:xfrm>
        </p:spPr>
        <p:txBody>
          <a:bodyPr/>
          <a:p>
            <a:pPr>
              <a:buClrTx/>
              <a:buSzTx/>
              <a:buFontTx/>
              <a:buNone/>
            </a:pPr>
            <a:r>
              <a:t>	A simple application of exploratory decomposition is in the solution to a 15 puzzle (a tile puzzle). We show a sequence of three moves that transform a given initial state (a) to desired final state (d). </a:t>
            </a:r>
          </a:p>
        </p:txBody>
      </p:sp>
      <p:pic>
        <p:nvPicPr>
          <p:cNvPr id="60420" name="Content Placeholder 60419" descr="fifteen"/>
          <p:cNvPicPr>
            <a:picLocks noChangeAspect="1"/>
          </p:cNvPicPr>
          <p:nvPr>
            <p:ph sz="half" idx="2"/>
          </p:nvPr>
        </p:nvPicPr>
        <p:blipFill>
          <a:blip r:embed="rId1"/>
          <a:stretch>
            <a:fillRect/>
          </a:stretch>
        </p:blipFill>
        <p:spPr>
          <a:xfrm>
            <a:off x="1411112" y="3901440"/>
            <a:ext cx="10401582" cy="2560320"/>
          </a:xfrm>
        </p:spPr>
      </p:pic>
      <p:sp>
        <p:nvSpPr>
          <p:cNvPr id="60423" name="Rectangles 60422"/>
          <p:cNvSpPr/>
          <p:nvPr/>
        </p:nvSpPr>
        <p:spPr>
          <a:xfrm>
            <a:off x="650240" y="7109743"/>
            <a:ext cx="11704320" cy="1668497"/>
          </a:xfrm>
          <a:prstGeom prst="rect">
            <a:avLst/>
          </a:prstGeom>
          <a:noFill/>
          <a:ln w="9525">
            <a:noFill/>
          </a:ln>
        </p:spPr>
        <p:txBody>
          <a:bodyPr/>
          <a:lstStyle>
            <a:lvl1pPr marL="342900" lvl="0" indent="-342900" algn="l" defTabSz="914400" rtl="0" eaLnBrk="1" fontAlgn="base" latinLnBrk="0" hangingPunct="1">
              <a:lnSpc>
                <a:spcPct val="11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2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lvl="0">
              <a:buNone/>
            </a:pPr>
            <a:r>
              <a:rPr sz="2845"/>
              <a:t>	Of-course, the problem of computing the solution, in general, is much more difficult than in this simple example. </a:t>
            </a:r>
            <a:endParaRPr sz="2845"/>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Title 61441"/>
          <p:cNvSpPr>
            <a:spLocks noGrp="1"/>
          </p:cNvSpPr>
          <p:nvPr>
            <p:ph type="title"/>
          </p:nvPr>
        </p:nvSpPr>
        <p:spPr/>
        <p:txBody>
          <a:bodyPr anchor="ctr" anchorCtr="0"/>
          <a:p>
            <a:r>
              <a:t>Exploratory Decomposition: Example </a:t>
            </a:r>
          </a:p>
        </p:txBody>
      </p:sp>
      <p:sp>
        <p:nvSpPr>
          <p:cNvPr id="61443" name="Text Placeholder 61442"/>
          <p:cNvSpPr>
            <a:spLocks noGrp="1"/>
          </p:cNvSpPr>
          <p:nvPr>
            <p:ph type="body" sz="half" idx="1"/>
          </p:nvPr>
        </p:nvSpPr>
        <p:spPr>
          <a:xfrm>
            <a:off x="650240" y="1474330"/>
            <a:ext cx="11812693" cy="1993617"/>
          </a:xfrm>
        </p:spPr>
        <p:txBody>
          <a:bodyPr/>
          <a:p>
            <a:pPr>
              <a:buClrTx/>
              <a:buSzTx/>
              <a:buFontTx/>
              <a:buNone/>
            </a:pPr>
            <a:r>
              <a:t>	The state space can be explored by generating various successor states of the current state and to view them as independent tasks. </a:t>
            </a:r>
          </a:p>
        </p:txBody>
      </p:sp>
      <p:pic>
        <p:nvPicPr>
          <p:cNvPr id="61444" name="Content Placeholder 61443" descr="fifteen-tree"/>
          <p:cNvPicPr>
            <a:picLocks noChangeAspect="1"/>
          </p:cNvPicPr>
          <p:nvPr>
            <p:ph sz="half" idx="2"/>
          </p:nvPr>
        </p:nvPicPr>
        <p:blipFill>
          <a:blip r:embed="rId1"/>
          <a:stretch>
            <a:fillRect/>
          </a:stretch>
        </p:blipFill>
        <p:spPr>
          <a:xfrm rot="5400000">
            <a:off x="3346027" y="-121920"/>
            <a:ext cx="6421120" cy="12246187"/>
          </a:xfr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Title 62465"/>
          <p:cNvSpPr>
            <a:spLocks noGrp="1"/>
          </p:cNvSpPr>
          <p:nvPr>
            <p:ph type="title"/>
          </p:nvPr>
        </p:nvSpPr>
        <p:spPr/>
        <p:txBody>
          <a:bodyPr anchor="ctr" anchorCtr="0"/>
          <a:p>
            <a:r>
              <a:t>Exploratory Decomposition: Anomalous Computations </a:t>
            </a:r>
          </a:p>
        </p:txBody>
      </p:sp>
      <p:sp>
        <p:nvSpPr>
          <p:cNvPr id="62467" name="Text Placeholder 62466"/>
          <p:cNvSpPr>
            <a:spLocks noGrp="1"/>
          </p:cNvSpPr>
          <p:nvPr>
            <p:ph type="body" sz="half" idx="1"/>
          </p:nvPr>
        </p:nvSpPr>
        <p:spPr>
          <a:xfrm>
            <a:off x="650240" y="1474330"/>
            <a:ext cx="11704320" cy="2643857"/>
          </a:xfrm>
        </p:spPr>
        <p:txBody>
          <a:bodyPr/>
          <a:p>
            <a:pPr algn="just">
              <a:buClrTx/>
              <a:buSzTx/>
              <a:buFontTx/>
            </a:pPr>
            <a:r>
              <a:t>In many instances of exploratory decomposition, the decomposition technique may change the amount of work done by the parallel formulation. </a:t>
            </a:r>
          </a:p>
          <a:p>
            <a:pPr>
              <a:buClrTx/>
              <a:buSzTx/>
              <a:buFontTx/>
            </a:pPr>
            <a:r>
              <a:t>This change results in super- or sub-linear speedups. </a:t>
            </a:r>
          </a:p>
        </p:txBody>
      </p:sp>
      <p:pic>
        <p:nvPicPr>
          <p:cNvPr id="62468" name="Content Placeholder 62467" descr="sps01"/>
          <p:cNvPicPr>
            <a:picLocks noChangeAspect="1"/>
          </p:cNvPicPr>
          <p:nvPr>
            <p:ph sz="half" idx="2"/>
          </p:nvPr>
        </p:nvPicPr>
        <p:blipFill>
          <a:blip r:embed="rId1"/>
          <a:stretch>
            <a:fillRect/>
          </a:stretch>
        </p:blipFill>
        <p:spPr>
          <a:xfrm>
            <a:off x="1517227" y="4334933"/>
            <a:ext cx="10401583" cy="3917245"/>
          </a:xfr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Title 63489"/>
          <p:cNvSpPr>
            <a:spLocks noGrp="1"/>
          </p:cNvSpPr>
          <p:nvPr>
            <p:ph type="title"/>
          </p:nvPr>
        </p:nvSpPr>
        <p:spPr/>
        <p:txBody>
          <a:bodyPr anchor="ctr" anchorCtr="0"/>
          <a:p>
            <a:r>
              <a:t>Speculative Decomposition </a:t>
            </a:r>
          </a:p>
        </p:txBody>
      </p:sp>
      <p:sp>
        <p:nvSpPr>
          <p:cNvPr id="63491" name="Text Placeholder 63490"/>
          <p:cNvSpPr>
            <a:spLocks noGrp="1"/>
          </p:cNvSpPr>
          <p:nvPr>
            <p:ph type="body" idx="1"/>
          </p:nvPr>
        </p:nvSpPr>
        <p:spPr/>
        <p:txBody>
          <a:bodyPr/>
          <a:p>
            <a:r>
              <a:t>In some applications, dependencies between tasks are not known a-priori. </a:t>
            </a:r>
          </a:p>
          <a:p>
            <a:r>
              <a:t>For such applications, it is impossible to identify independent tasks. </a:t>
            </a:r>
          </a:p>
          <a:p>
            <a:r>
              <a:t>There are generally two approaches to dealing with such applications: conservative approaches, which identify independent tasks only when they are guaranteed to not have dependencies, and, optimistic approaches, which schedule tasks even when they may potentially be erroneous. </a:t>
            </a:r>
          </a:p>
          <a:p>
            <a:r>
              <a:t>Conservative approaches may yield little concurrency and optimistic approaches may require roll-back mechanism in the case of an error. </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Title 64513"/>
          <p:cNvSpPr>
            <a:spLocks noGrp="1"/>
          </p:cNvSpPr>
          <p:nvPr>
            <p:ph type="title"/>
          </p:nvPr>
        </p:nvSpPr>
        <p:spPr/>
        <p:txBody>
          <a:bodyPr anchor="ctr" anchorCtr="0"/>
          <a:p>
            <a:r>
              <a:t>Speculative Decomposition: Example </a:t>
            </a:r>
          </a:p>
        </p:txBody>
      </p:sp>
      <p:sp>
        <p:nvSpPr>
          <p:cNvPr id="64515" name="Text Placeholder 64514"/>
          <p:cNvSpPr>
            <a:spLocks noGrp="1"/>
          </p:cNvSpPr>
          <p:nvPr>
            <p:ph type="body" idx="1"/>
          </p:nvPr>
        </p:nvSpPr>
        <p:spPr/>
        <p:txBody>
          <a:bodyPr/>
          <a:p>
            <a:pPr>
              <a:lnSpc>
                <a:spcPct val="100000"/>
              </a:lnSpc>
              <a:buNone/>
            </a:pPr>
            <a:r>
              <a:t>	A classic example of speculative decomposition is in discrete event simulation. </a:t>
            </a:r>
          </a:p>
          <a:p>
            <a:pPr>
              <a:lnSpc>
                <a:spcPct val="100000"/>
              </a:lnSpc>
            </a:pPr>
            <a:r>
              <a:t>The central data structure in a discrete event simulation is a time-ordered event list. </a:t>
            </a:r>
          </a:p>
          <a:p>
            <a:pPr>
              <a:lnSpc>
                <a:spcPct val="100000"/>
              </a:lnSpc>
            </a:pPr>
            <a:r>
              <a:t>Events are extracted precisely in time order, processed, and if required, resulting events are inserted back into the event list. </a:t>
            </a:r>
          </a:p>
          <a:p>
            <a:pPr>
              <a:lnSpc>
                <a:spcPct val="100000"/>
              </a:lnSpc>
            </a:pPr>
            <a:r>
              <a:t>Consider your day today as a discrete event system - you get up, get ready, drive to work, work, eat lunch, work some more, drive back, eat dinner, and sleep. </a:t>
            </a:r>
          </a:p>
          <a:p>
            <a:pPr>
              <a:lnSpc>
                <a:spcPct val="100000"/>
              </a:lnSpc>
            </a:pPr>
            <a:r>
              <a:t>Each of these events may be processed independently, however, in driving to work, you might meet with an unfortunate accident and not get to work at all. </a:t>
            </a:r>
          </a:p>
          <a:p>
            <a:pPr>
              <a:lnSpc>
                <a:spcPct val="100000"/>
              </a:lnSpc>
            </a:pPr>
            <a:r>
              <a:t>Therefore, an optimistic scheduling of other events will have to be rolled back. </a:t>
            </a:r>
          </a:p>
          <a:p>
            <a:pPr>
              <a:lnSpc>
                <a:spcPct val="100000"/>
              </a:lnSpc>
            </a:p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Title 65537"/>
          <p:cNvSpPr>
            <a:spLocks noGrp="1"/>
          </p:cNvSpPr>
          <p:nvPr>
            <p:ph type="title"/>
          </p:nvPr>
        </p:nvSpPr>
        <p:spPr/>
        <p:txBody>
          <a:bodyPr anchor="ctr" anchorCtr="0"/>
          <a:p>
            <a:r>
              <a:t>Speculative Decomposition: Example </a:t>
            </a:r>
          </a:p>
        </p:txBody>
      </p:sp>
      <p:sp>
        <p:nvSpPr>
          <p:cNvPr id="65539" name="Text Placeholder 65538"/>
          <p:cNvSpPr>
            <a:spLocks noGrp="1"/>
          </p:cNvSpPr>
          <p:nvPr>
            <p:ph type="body" sz="half" idx="1"/>
          </p:nvPr>
        </p:nvSpPr>
        <p:spPr>
          <a:xfrm>
            <a:off x="650240" y="1474330"/>
            <a:ext cx="11595947" cy="3185724"/>
          </a:xfrm>
        </p:spPr>
        <p:txBody>
          <a:bodyPr/>
          <a:p>
            <a:pPr algn="just">
              <a:buClrTx/>
              <a:buSzTx/>
              <a:buFontTx/>
              <a:buNone/>
            </a:pPr>
            <a:r>
              <a:t>	Another example is the simulation of a network of nodes (for instance, an assembly line or a computer network through which packets pass). The task is to simulate the behavior of this network for various inputs and node delay parameters (note that networks may become unstable for certain values of service rates, queue sizes, etc.). </a:t>
            </a:r>
          </a:p>
        </p:txBody>
      </p:sp>
      <p:pic>
        <p:nvPicPr>
          <p:cNvPr id="65540" name="Content Placeholder 65539" descr="des1"/>
          <p:cNvPicPr>
            <a:picLocks noChangeAspect="1"/>
          </p:cNvPicPr>
          <p:nvPr>
            <p:ph sz="half" idx="2"/>
          </p:nvPr>
        </p:nvPicPr>
        <p:blipFill>
          <a:blip r:embed="rId1">
            <a:lum bright="-1999"/>
          </a:blip>
          <a:stretch>
            <a:fillRect/>
          </a:stretch>
        </p:blipFill>
        <p:spPr>
          <a:xfrm>
            <a:off x="1408853" y="5093547"/>
            <a:ext cx="10401583" cy="3901440"/>
          </a:xfrm>
        </p:spPr>
      </p:pic>
    </p:spTree>
  </p:cSld>
  <p:clrMapOvr>
    <a:masterClrMapping/>
  </p:clrMapOvr>
</p:sld>
</file>

<file path=ppt/tags/tag1.xml><?xml version="1.0" encoding="utf-8"?>
<p:tagLst xmlns:p="http://schemas.openxmlformats.org/presentationml/2006/main">
  <p:tag name="commondata" val="eyJoZGlkIjoiNjJjNTFkOTdkODM4ZDJhZTE0NWNhZWEyMDljZmVjZjEifQ=="/>
</p:tagLst>
</file>

<file path=ppt/theme/theme1.xml><?xml version="1.0" encoding="utf-8"?>
<a:theme xmlns:a="http://schemas.openxmlformats.org/drawingml/2006/main" name="23_ClassicWhite">
  <a:themeElements>
    <a:clrScheme name="">
      <a:dk1>
        <a:srgbClr val="000000"/>
      </a:dk1>
      <a:lt1>
        <a:srgbClr val="FFFFFF"/>
      </a:lt1>
      <a:dk2>
        <a:srgbClr val="5E5E5E"/>
      </a:dk2>
      <a:lt2>
        <a:srgbClr val="D5D5D5"/>
      </a:lt2>
      <a:accent1>
        <a:srgbClr val="3E74D1"/>
      </a:accent1>
      <a:accent2>
        <a:srgbClr val="33C5B9"/>
      </a:accent2>
      <a:accent3>
        <a:srgbClr val="FFFFFF"/>
      </a:accent3>
      <a:accent4>
        <a:srgbClr val="000000"/>
      </a:accent4>
      <a:accent5>
        <a:srgbClr val="AFBCE5"/>
      </a:accent5>
      <a:accent6>
        <a:srgbClr val="2DB2A7"/>
      </a:accent6>
      <a:hlink>
        <a:srgbClr val="0000FF"/>
      </a:hlink>
      <a:folHlink>
        <a:srgbClr val="FF00FF"/>
      </a:folHlink>
    </a:clrScheme>
    <a:fontScheme name="23_ClassicWhite">
      <a:majorFont>
        <a:latin typeface="Helvetica"/>
        <a:ea typeface="Helvetica"/>
        <a:cs typeface="Helvetica"/>
      </a:majorFont>
      <a:minorFont>
        <a:latin typeface="Helvetica"/>
        <a:ea typeface="Helvetica"/>
        <a:cs typeface="Helvetic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ln>
          <a:headEnd type="none" w="med" len="med"/>
          <a:tailEnd type="none" w="med" len="med"/>
        </a:ln>
      </a:spPr>
      <a:bodyPr vert="horz" wrap="square" lIns="50800" tIns="50800" rIns="50800" bIns="50800" numCol="1" rtlCol="0" anchor="ctr" anchorCtr="0" compatLnSpc="1">
        <a:noAutofit/>
      </a:bodyPr>
      <a:lstStyle>
        <a:defPPr marL="0" marR="0" indent="0" algn="ctr" defTabSz="1733550" rtl="0" eaLnBrk="1" fontAlgn="base" latinLnBrk="0" hangingPunct="0">
          <a:lnSpc>
            <a:spcPct val="90000"/>
          </a:lnSpc>
          <a:spcBef>
            <a:spcPct val="0"/>
          </a:spcBef>
          <a:spcAft>
            <a:spcPct val="0"/>
          </a:spcAft>
          <a:buClrTx/>
          <a:buSzTx/>
          <a:buFontTx/>
          <a:buNone/>
          <a:defRPr kumimoji="0" sz="1600" b="0" i="0" u="none" strike="noStrike" cap="none" normalizeH="0" baseline="0" dirty="0" smtClean="0">
            <a:ln>
              <a:noFill/>
            </a:ln>
            <a:solidFill>
              <a:srgbClr val="000000"/>
            </a:solidFill>
            <a:effectLst/>
            <a:latin typeface="Canela Text Regular" charset="0"/>
            <a:ea typeface="Canela Text Regular" charset="0"/>
            <a:cs typeface="Canela Text Regular" charset="0"/>
            <a:sym typeface="Canela Text Regular" charset="0"/>
          </a:defRPr>
        </a:defPPr>
      </a:lstStyle>
      <a:style>
        <a:lnRef idx="2">
          <a:schemeClr val="dk1"/>
        </a:lnRef>
        <a:fillRef idx="1">
          <a:schemeClr val="lt1"/>
        </a:fillRef>
        <a:effectRef idx="0">
          <a:schemeClr val="dk1"/>
        </a:effectRef>
        <a:fontRef idx="minor">
          <a:schemeClr val="dk1"/>
        </a:fontRef>
      </a:style>
    </a:spDef>
    <a:lnDef>
      <a:spPr bwMode="auto">
        <a:xfrm>
          <a:off x="0" y="0"/>
          <a:ext cx="1" cy="1"/>
        </a:xfrm>
        <a:custGeom>
          <a:avLst/>
          <a:gdLst/>
          <a:ahLst/>
          <a:cxnLst/>
          <a:rect l="0" t="0" r="0" b="0"/>
          <a:pathLst/>
        </a:custGeom>
        <a:solidFill>
          <a:srgbClr val="000000"/>
        </a:solidFill>
        <a:ln w="25400" cap="flat" cmpd="sng" algn="ctr">
          <a:solidFill>
            <a:srgbClr val="000000"/>
          </a:solidFill>
          <a:prstDash val="solid"/>
          <a:miter lim="400000"/>
          <a:headEnd type="none" w="med" len="med"/>
          <a:tailEnd type="none" w="med" len="med"/>
        </a:ln>
      </a:spPr>
      <a:bodyPr vert="horz" wrap="square" lIns="50800" tIns="50800" rIns="50800" bIns="50800" numCol="1" anchor="ctr" anchorCtr="0" compatLnSpc="1">
        <a:spAutoFit/>
      </a:bodyPr>
      <a:lstStyle>
        <a:defPPr marL="0" marR="0" indent="0" algn="ctr" defTabSz="1733550" rtl="0" eaLnBrk="1" fontAlgn="base" latinLnBrk="0" hangingPunct="0">
          <a:lnSpc>
            <a:spcPct val="90000"/>
          </a:lnSpc>
          <a:spcBef>
            <a:spcPct val="0"/>
          </a:spcBef>
          <a:spcAft>
            <a:spcPct val="0"/>
          </a:spcAft>
          <a:buClrTx/>
          <a:buSzTx/>
          <a:buFontTx/>
          <a:buNone/>
          <a:defRPr kumimoji="0" lang="en-US" altLang="en-US" sz="1600" b="0" i="0" u="none" strike="noStrike" cap="none" normalizeH="0" baseline="0" smtClean="0">
            <a:ln>
              <a:noFill/>
            </a:ln>
            <a:solidFill>
              <a:srgbClr val="000000"/>
            </a:solidFill>
            <a:effectLst/>
            <a:latin typeface="Canela Text Regular" charset="0"/>
            <a:ea typeface="Canela Text Regular" charset="0"/>
            <a:cs typeface="Canela Text Regular" charset="0"/>
            <a:sym typeface="Canela Text Regular" charset="0"/>
          </a:defRPr>
        </a:defPPr>
      </a:lst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5E5E5E"/>
      </a:dk2>
      <a:lt2>
        <a:srgbClr val="D5D5D5"/>
      </a:lt2>
      <a:accent1>
        <a:srgbClr val="3E74D1"/>
      </a:accent1>
      <a:accent2>
        <a:srgbClr val="33C5B9"/>
      </a:accent2>
      <a:accent3>
        <a:srgbClr val="FFFFFF"/>
      </a:accent3>
      <a:accent4>
        <a:srgbClr val="000000"/>
      </a:accent4>
      <a:accent5>
        <a:srgbClr val="AFBCE5"/>
      </a:accent5>
      <a:accent6>
        <a:srgbClr val="2DB2A7"/>
      </a:accent6>
      <a:hlink>
        <a:srgbClr val="0000FF"/>
      </a:hlink>
      <a:folHlink>
        <a:srgbClr val="FF00FF"/>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20273</Words>
  <Application>WPS 演示</Application>
  <PresentationFormat>Custom</PresentationFormat>
  <Paragraphs>601</Paragraphs>
  <Slides>53</Slides>
  <Notes>2</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53</vt:i4>
      </vt:variant>
    </vt:vector>
  </HeadingPairs>
  <TitlesOfParts>
    <vt:vector size="72" baseType="lpstr">
      <vt:lpstr>Arial</vt:lpstr>
      <vt:lpstr>宋体</vt:lpstr>
      <vt:lpstr>Wingdings</vt:lpstr>
      <vt:lpstr>Canela Text Regular</vt:lpstr>
      <vt:lpstr>Segoe Print</vt:lpstr>
      <vt:lpstr>Helvetica</vt:lpstr>
      <vt:lpstr>Graphik</vt:lpstr>
      <vt:lpstr>Helvetica Neue</vt:lpstr>
      <vt:lpstr>Calibri</vt:lpstr>
      <vt:lpstr>微软雅黑</vt:lpstr>
      <vt:lpstr>Arial Unicode MS</vt:lpstr>
      <vt:lpstr>Times New Roman</vt:lpstr>
      <vt:lpstr>AvantGarde-Book</vt:lpstr>
      <vt:lpstr>AvantGarde-Demi</vt:lpstr>
      <vt:lpstr>CMMI10</vt:lpstr>
      <vt:lpstr>AvantGarde-BookOblique</vt:lpstr>
      <vt:lpstr>CMR10</vt:lpstr>
      <vt:lpstr>CMSY10</vt:lpstr>
      <vt:lpstr>23_ClassicWhite</vt:lpstr>
      <vt:lpstr>DTS205TC High Performance Computing</vt:lpstr>
      <vt:lpstr>What is difference from 202? </vt:lpstr>
      <vt:lpstr>Start with a simple example
</vt:lpstr>
      <vt:lpstr>Serial Version</vt:lpstr>
      <vt:lpstr>Chance</vt:lpstr>
      <vt:lpstr>There is more than one possible solution
</vt:lpstr>
      <vt:lpstr>This is a planning issue
</vt:lpstr>
      <vt:lpstr>Parallel Algorithm Design</vt:lpstr>
      <vt:lpstr>Preliminaries: Decomposition, Tasks, and  Dependency Graphs</vt:lpstr>
      <vt:lpstr>Example: Multiplying a Dense Matrix with a Vector</vt:lpstr>
      <vt:lpstr>Example: Database Query Processing </vt:lpstr>
      <vt:lpstr>Example: Database Query Processing</vt:lpstr>
      <vt:lpstr>Example: Database Query Processing </vt:lpstr>
      <vt:lpstr>Granularity of Task Decompositions </vt:lpstr>
      <vt:lpstr>Degree of Concurrency </vt:lpstr>
      <vt:lpstr>Critical Path Length </vt:lpstr>
      <vt:lpstr>Critical Path Length </vt:lpstr>
      <vt:lpstr>Limits on Parallel Performance </vt:lpstr>
      <vt:lpstr>Task Interaction Graphs </vt:lpstr>
      <vt:lpstr>Task Interaction Graphs: An Example </vt:lpstr>
      <vt:lpstr>Task Interaction Graphs, Granularity, and Communication </vt:lpstr>
      <vt:lpstr>Processes and Mapping </vt:lpstr>
      <vt:lpstr>Processes and Mapping </vt:lpstr>
      <vt:lpstr>Processes and Mapping </vt:lpstr>
      <vt:lpstr>Processes and Mapping: Example </vt:lpstr>
      <vt:lpstr>PowerPoint 演示文稿</vt:lpstr>
      <vt:lpstr>Decomposition Techniques </vt:lpstr>
      <vt:lpstr>Recursive Decomposition </vt:lpstr>
      <vt:lpstr>Recursive Decomposition: Example </vt:lpstr>
      <vt:lpstr>Recursive Decomposition: Example </vt:lpstr>
      <vt:lpstr>Recursive Decomposition: Example</vt:lpstr>
      <vt:lpstr>Recursive Decomposition: Example</vt:lpstr>
      <vt:lpstr>Data Decomposition </vt:lpstr>
      <vt:lpstr>Data Decomposition: Output Data Decomposition </vt:lpstr>
      <vt:lpstr>Output Data Decomposition: Example </vt:lpstr>
      <vt:lpstr>Output Data Decomposition: Example </vt:lpstr>
      <vt:lpstr>Output Data Decomposition: Example </vt:lpstr>
      <vt:lpstr>Output Data Decomposition: Example </vt:lpstr>
      <vt:lpstr>Input Data Partitioning </vt:lpstr>
      <vt:lpstr>Input Data Partitioning: Example </vt:lpstr>
      <vt:lpstr>Partitioning Input and Output Data </vt:lpstr>
      <vt:lpstr>Intermediate Data Partitioning </vt:lpstr>
      <vt:lpstr>Intermediate Data Partitioning: Example </vt:lpstr>
      <vt:lpstr>Intermediate Data Partitioning: Example </vt:lpstr>
      <vt:lpstr>Intermediate Data Partitioning: Example </vt:lpstr>
      <vt:lpstr>The Owner Computes Rule </vt:lpstr>
      <vt:lpstr>Exploratory Decomposition </vt:lpstr>
      <vt:lpstr>Exploratory Decomposition: Example </vt:lpstr>
      <vt:lpstr>Exploratory Decomposition: Example </vt:lpstr>
      <vt:lpstr>Exploratory Decomposition: Anomalous Computations </vt:lpstr>
      <vt:lpstr>Speculative Decomposition </vt:lpstr>
      <vt:lpstr>Speculative Decomposition: Example </vt:lpstr>
      <vt:lpstr>Speculative Decomposition: Example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DTS205TC High Performance Computing</dc:title>
  <dc:creator>andyz</dc:creator>
  <cp:lastModifiedBy>ZD</cp:lastModifiedBy>
  <cp:revision>2348</cp:revision>
  <dcterms:created xsi:type="dcterms:W3CDTF">2024-02-15T03:27:00Z</dcterms:created>
  <dcterms:modified xsi:type="dcterms:W3CDTF">2024-03-24T02:47:12Z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3D7B659A05524AF58280713333B09D7D_13</vt:lpwstr>
  </property>
  <property fmtid="{D5CDD505-2E9C-101B-9397-08002B2CF9AE}" pid="3" name="KSOProductBuildVer">
    <vt:lpwstr>2052-12.1.0.16417</vt:lpwstr>
  </property>
</Properties>
</file>